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7" r:id="rId1"/>
  </p:sldMasterIdLst>
  <p:notesMasterIdLst>
    <p:notesMasterId r:id="rId33"/>
  </p:notesMasterIdLst>
  <p:sldIdLst>
    <p:sldId id="277" r:id="rId2"/>
    <p:sldId id="257" r:id="rId3"/>
    <p:sldId id="273" r:id="rId4"/>
    <p:sldId id="278" r:id="rId5"/>
    <p:sldId id="279" r:id="rId6"/>
    <p:sldId id="275" r:id="rId7"/>
    <p:sldId id="272" r:id="rId8"/>
    <p:sldId id="259" r:id="rId9"/>
    <p:sldId id="271" r:id="rId10"/>
    <p:sldId id="290" r:id="rId11"/>
    <p:sldId id="292" r:id="rId12"/>
    <p:sldId id="293" r:id="rId13"/>
    <p:sldId id="286" r:id="rId14"/>
    <p:sldId id="267" r:id="rId15"/>
    <p:sldId id="269" r:id="rId16"/>
    <p:sldId id="260" r:id="rId17"/>
    <p:sldId id="280" r:id="rId18"/>
    <p:sldId id="262" r:id="rId19"/>
    <p:sldId id="263" r:id="rId20"/>
    <p:sldId id="281" r:id="rId21"/>
    <p:sldId id="282" r:id="rId22"/>
    <p:sldId id="283" r:id="rId23"/>
    <p:sldId id="284" r:id="rId24"/>
    <p:sldId id="268" r:id="rId25"/>
    <p:sldId id="270" r:id="rId26"/>
    <p:sldId id="265" r:id="rId27"/>
    <p:sldId id="285" r:id="rId28"/>
    <p:sldId id="287" r:id="rId29"/>
    <p:sldId id="288" r:id="rId30"/>
    <p:sldId id="289" r:id="rId31"/>
    <p:sldId id="31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9966FF"/>
    <a:srgbClr val="FF33CC"/>
    <a:srgbClr val="CC0000"/>
    <a:srgbClr val="5F5F5F"/>
    <a:srgbClr val="FFFFFF"/>
    <a:srgbClr val="FF7C80"/>
    <a:srgbClr val="EAEAEA"/>
    <a:srgbClr val="E3DBD3"/>
    <a:srgbClr val="E6E3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11" autoAdjust="0"/>
  </p:normalViewPr>
  <p:slideViewPr>
    <p:cSldViewPr showGuides="1">
      <p:cViewPr varScale="1">
        <p:scale>
          <a:sx n="144" d="100"/>
          <a:sy n="144" d="100"/>
        </p:scale>
        <p:origin x="1428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1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859EB5-399D-4039-BEC3-24FE7E4B87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859EB5-399D-4039-BEC3-24FE7E4B8776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5757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77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1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746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089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6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41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407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20A4C6F-869F-4FAB-9362-F99C7B41916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274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1797DE3-DCAD-46BB-B862-8A7B09E95AF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776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7A9FA77-F5B3-475E-B66C-A721E392840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6267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83EF96F-2A93-48F1-AA7E-6F81F1D409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5280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76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157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hyperlink" Target="mailto:john.abela@um.edu.m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2.jpg"/><Relationship Id="rId7" Type="http://schemas.openxmlformats.org/officeDocument/2006/relationships/image" Target="../media/image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4.jpeg"/><Relationship Id="rId10" Type="http://schemas.openxmlformats.org/officeDocument/2006/relationships/image" Target="../media/image17.png"/><Relationship Id="rId4" Type="http://schemas.openxmlformats.org/officeDocument/2006/relationships/image" Target="../media/image13.jpg"/><Relationship Id="rId9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john.abela@um.edu.mt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620661"/>
            <a:ext cx="10058400" cy="2241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33025" y="5560209"/>
            <a:ext cx="1743975" cy="1297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chemeClr val="bg1"/>
                </a:solidFill>
                <a:latin typeface="Arial Rounded MT Bold" panose="020F0704030504030204" pitchFamily="34" charset="0"/>
                <a:cs typeface="Calibri" panose="020F0502020204030204" pitchFamily="34" charset="0"/>
              </a:rPr>
              <a:t>Faculty of</a:t>
            </a:r>
          </a:p>
          <a:p>
            <a:pPr algn="ctr">
              <a:lnSpc>
                <a:spcPts val="7000"/>
              </a:lnSpc>
              <a:buNone/>
            </a:pPr>
            <a:r>
              <a:rPr lang="en-GB" sz="7200" dirty="0">
                <a:solidFill>
                  <a:schemeClr val="bg1"/>
                </a:solidFill>
                <a:latin typeface="Arial Rounded MT Bold" panose="020F0704030504030204" pitchFamily="34" charset="0"/>
                <a:cs typeface="Calibri" panose="020F0502020204030204" pitchFamily="34" charset="0"/>
              </a:rPr>
              <a:t>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0835" y="6438630"/>
            <a:ext cx="2501646" cy="431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1300"/>
              </a:lnSpc>
            </a:pPr>
            <a:r>
              <a:rPr lang="en-GB" sz="1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 of</a:t>
            </a:r>
          </a:p>
          <a:p>
            <a:pPr algn="r">
              <a:lnSpc>
                <a:spcPts val="1300"/>
              </a:lnSpc>
            </a:pPr>
            <a:r>
              <a:rPr lang="en-GB" sz="1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Information Systems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152400"/>
            <a:ext cx="2807494" cy="914400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9984432" y="88005"/>
            <a:ext cx="2117632" cy="2045595"/>
          </a:xfrm>
          <a:prstGeom prst="rect">
            <a:avLst/>
          </a:prstGeom>
          <a:solidFill>
            <a:srgbClr val="CCFF33"/>
          </a:solidFill>
          <a:ln w="28575">
            <a:solidFill>
              <a:srgbClr val="0066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b="1" dirty="0">
                <a:latin typeface="Arial Rounded MT Bold" panose="020F0704030504030204" pitchFamily="34" charset="0"/>
                <a:cs typeface="Calibri" panose="020F0502020204030204" pitchFamily="34" charset="0"/>
              </a:rPr>
              <a:t>John Abela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latin typeface="Arial Rounded MT Bold" panose="020F0704030504030204" pitchFamily="34" charset="0"/>
                <a:cs typeface="Calibri" panose="020F0502020204030204" pitchFamily="34" charset="0"/>
              </a:rPr>
              <a:t>Department of CIS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latin typeface="Arial Rounded MT Bold" panose="020F0704030504030204" pitchFamily="34" charset="0"/>
                <a:cs typeface="Calibri" panose="020F0502020204030204" pitchFamily="34" charset="0"/>
              </a:rPr>
              <a:t>Faculty of ICT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latin typeface="Arial Rounded MT Bold" panose="020F0704030504030204" pitchFamily="34" charset="0"/>
                <a:cs typeface="Calibri" panose="020F0502020204030204" pitchFamily="34" charset="0"/>
              </a:rPr>
              <a:t>University of Malta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GB" sz="800" dirty="0">
              <a:hlinkClick r:id="rId4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u="sng" dirty="0">
                <a:solidFill>
                  <a:srgbClr val="0070C0"/>
                </a:solidFill>
              </a:rPr>
              <a:t>john.abela@um.edu.mt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GB" sz="800" u="sng" dirty="0">
              <a:solidFill>
                <a:srgbClr val="0070C0"/>
              </a:solidFill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latin typeface="Arial Rounded MT Bold" panose="020F0704030504030204" pitchFamily="34" charset="0"/>
                <a:cs typeface="Calibri" panose="020F0502020204030204" pitchFamily="34" charset="0"/>
              </a:rPr>
              <a:t>+ 365 79367936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latin typeface="Arial Rounded MT Bold" panose="020F0704030504030204" pitchFamily="34" charset="0"/>
                <a:cs typeface="Calibri" panose="020F0502020204030204" pitchFamily="34" charset="0"/>
              </a:rPr>
              <a:t>Room 1A/27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latin typeface="Arial Rounded MT Bold" panose="020F0704030504030204" pitchFamily="34" charset="0"/>
                <a:cs typeface="Calibri" panose="020F0502020204030204" pitchFamily="34" charset="0"/>
              </a:rPr>
              <a:t>FICT Building</a:t>
            </a:r>
            <a:endParaRPr lang="en-GB" sz="1600" dirty="0">
              <a:latin typeface="Arial Rounded MT Bold" panose="020F07040305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GB" sz="1600" dirty="0">
              <a:latin typeface="Arial Rounded MT Bold" panose="020F07040305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42964" y="332656"/>
            <a:ext cx="7741468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800"/>
              </a:lnSpc>
              <a:spcBef>
                <a:spcPts val="0"/>
              </a:spcBef>
              <a:buNone/>
            </a:pPr>
            <a:r>
              <a:rPr lang="en-GB" sz="54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Data Structures</a:t>
            </a:r>
          </a:p>
          <a:p>
            <a:pPr algn="ctr">
              <a:lnSpc>
                <a:spcPts val="5800"/>
              </a:lnSpc>
              <a:spcBef>
                <a:spcPts val="0"/>
              </a:spcBef>
              <a:buNone/>
            </a:pPr>
            <a:r>
              <a:rPr lang="en-GB" sz="54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And</a:t>
            </a:r>
          </a:p>
          <a:p>
            <a:pPr algn="ctr">
              <a:lnSpc>
                <a:spcPts val="5800"/>
              </a:lnSpc>
              <a:spcBef>
                <a:spcPts val="0"/>
              </a:spcBef>
              <a:buNone/>
            </a:pPr>
            <a:r>
              <a:rPr lang="en-GB" sz="54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Algorithms 2</a:t>
            </a:r>
            <a:endParaRPr lang="en-GB" sz="2400" b="1" dirty="0">
              <a:solidFill>
                <a:srgbClr val="0066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73472" y="2850648"/>
            <a:ext cx="367266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GB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Module 4</a:t>
            </a:r>
          </a:p>
          <a:p>
            <a:pPr algn="ctr">
              <a:buNone/>
            </a:pPr>
            <a:r>
              <a:rPr lang="en-GB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The</a:t>
            </a:r>
          </a:p>
          <a:p>
            <a:pPr algn="ctr">
              <a:buNone/>
            </a:pPr>
            <a:r>
              <a:rPr lang="en-GB" sz="28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Stable Marriage Problem</a:t>
            </a:r>
          </a:p>
          <a:p>
            <a:pPr algn="ctr">
              <a:buNone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Arial Rounded MT Bold" panose="020F0704030504030204" pitchFamily="34" charset="0"/>
              </a:rPr>
              <a:t>A</a:t>
            </a:r>
            <a:r>
              <a:rPr lang="en-GB" b="1" dirty="0" err="1">
                <a:solidFill>
                  <a:schemeClr val="bg1">
                    <a:lumMod val="50000"/>
                  </a:schemeClr>
                </a:solidFill>
                <a:latin typeface="Arial Rounded MT Bold" panose="020F0704030504030204" pitchFamily="34" charset="0"/>
              </a:rPr>
              <a:t>cademic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Arial Rounded MT Bold" panose="020F0704030504030204" pitchFamily="34" charset="0"/>
              </a:rPr>
              <a:t> Year 2023-24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781047"/>
            <a:ext cx="4001513" cy="262915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2782824"/>
            <a:ext cx="2785872" cy="27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9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65125"/>
            <a:ext cx="11125200" cy="1325563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The Only Algorithm to ever win </a:t>
            </a:r>
            <a:r>
              <a:rPr lang="en-US" altLang="en-US" b="1">
                <a:solidFill>
                  <a:srgbClr val="002060"/>
                </a:solidFill>
                <a:latin typeface="+mn-lt"/>
              </a:rPr>
              <a:t>a Nobel </a:t>
            </a:r>
            <a:r>
              <a:rPr lang="en-US" altLang="en-US" b="1" dirty="0">
                <a:solidFill>
                  <a:srgbClr val="002060"/>
                </a:solidFill>
                <a:latin typeface="+mn-lt"/>
              </a:rPr>
              <a:t>Prize</a:t>
            </a:r>
          </a:p>
        </p:txBody>
      </p:sp>
      <p:pic>
        <p:nvPicPr>
          <p:cNvPr id="1536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438" y="1317282"/>
            <a:ext cx="6940550" cy="521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pic>
        <p:nvPicPr>
          <p:cNvPr id="1536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8" name="TextBox 8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  <p:sp>
        <p:nvSpPr>
          <p:cNvPr id="2" name="Rectangle 1"/>
          <p:cNvSpPr/>
          <p:nvPr/>
        </p:nvSpPr>
        <p:spPr>
          <a:xfrm>
            <a:off x="3819982" y="6486145"/>
            <a:ext cx="4559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b="1" dirty="0"/>
              <a:t>Partly based on slides by </a:t>
            </a:r>
            <a:r>
              <a:rPr lang="en-US" altLang="en-US" b="1" dirty="0" err="1"/>
              <a:t>Safa</a:t>
            </a:r>
            <a:r>
              <a:rPr lang="en-US" altLang="en-US" b="1" dirty="0"/>
              <a:t> S. </a:t>
            </a:r>
            <a:r>
              <a:rPr lang="en-US" altLang="en-US" b="1" dirty="0" err="1"/>
              <a:t>Mahmoodian</a:t>
            </a:r>
            <a:endParaRPr lang="en-US" altLang="en-US" b="1" dirty="0"/>
          </a:p>
        </p:txBody>
      </p:sp>
      <p:sp>
        <p:nvSpPr>
          <p:cNvPr id="10" name="Right Arrow 9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6934200" cy="1080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The Stable Marriage Problem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idx="1"/>
          </p:nvPr>
        </p:nvSpPr>
        <p:spPr>
          <a:xfrm>
            <a:off x="15240" y="876686"/>
            <a:ext cx="8153400" cy="5574203"/>
          </a:xfrm>
          <a:solidFill>
            <a:srgbClr val="FFFFFF"/>
          </a:solidFill>
        </p:spPr>
        <p:txBody>
          <a:bodyPr vert="horz" wrap="square" lIns="507840" tIns="4761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ClrTx/>
              <a:buFontTx/>
              <a:buNone/>
              <a:tabLst/>
              <a:defRPr/>
            </a:pP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mathematics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economics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science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, the </a:t>
            </a:r>
            <a:r>
              <a:rPr lang="en-US" altLang="en-US" sz="19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stable</a:t>
            </a:r>
            <a:r>
              <a:rPr lang="en-US" altLang="en-US" sz="19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marriage</a:t>
            </a:r>
            <a:r>
              <a:rPr lang="en-US" altLang="en-US" sz="19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 (also 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stable</a:t>
            </a:r>
            <a:r>
              <a:rPr lang="en-US" altLang="en-US" sz="19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matching</a:t>
            </a:r>
            <a:r>
              <a:rPr lang="en-US" altLang="en-US" sz="19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 or 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SMP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) is the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finding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stable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matching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between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equally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sized sets of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altLang="en-US" sz="19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en-US" sz="19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boys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19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girls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) given 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ordering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preferences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each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 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matching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mapping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from the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elements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the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elements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the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A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matching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 </a:t>
            </a:r>
            <a:r>
              <a:rPr lang="en-US" altLang="en-US" sz="1900" b="1" u="sng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 stable 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if:</a:t>
            </a:r>
            <a:endParaRPr lang="en-US" alt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is an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19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of the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matched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which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prefers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some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given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19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of the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second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matched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over the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19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is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already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matched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19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also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prefers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19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over the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19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is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already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matched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/>
              <a:defRPr/>
            </a:pPr>
            <a:endParaRPr lang="en-US" altLang="en-US" sz="1900" dirty="0">
              <a:solidFill>
                <a:srgbClr val="22222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Tx/>
              <a:buFontTx/>
              <a:buNone/>
              <a:tabLst/>
              <a:defRPr/>
            </a:pP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other words, a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matching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stable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when there does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any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en-US" sz="19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en-US" altLang="en-US" sz="19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by which </a:t>
            </a:r>
            <a:r>
              <a:rPr lang="en-US" altLang="en-US" sz="1900" b="1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both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1900" b="1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altLang="en-US" sz="1900" b="1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would be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individually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better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than they are with the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which they are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currently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matched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Tx/>
              <a:buFontTx/>
              <a:buNone/>
              <a:tabLst/>
              <a:defRPr/>
            </a:pPr>
            <a:endParaRPr lang="en-US" alt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Tx/>
              <a:buFontTx/>
              <a:buNone/>
              <a:tabLst/>
              <a:defRPr/>
            </a:pP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Assuming 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heterosexual</a:t>
            </a:r>
            <a:r>
              <a:rPr lang="en-US" altLang="en-US" sz="19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pairings:</a:t>
            </a:r>
            <a:endParaRPr lang="en-US" alt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Tx/>
              <a:buFontTx/>
              <a:buNone/>
              <a:tabLst/>
              <a:defRPr/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Given </a:t>
            </a:r>
            <a:r>
              <a:rPr lang="en-US" altLang="en-US" sz="19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boys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and </a:t>
            </a:r>
            <a:r>
              <a:rPr lang="en-US" altLang="en-US" sz="19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girls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, where each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has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ranked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all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of the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opposite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sex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preference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boys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girls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together such that there are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people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opposite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sex who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would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both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rather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have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than their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current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partners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. When there are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such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people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, the set of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marriages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is deemed </a:t>
            </a:r>
            <a:r>
              <a:rPr lang="en-US" altLang="en-US" sz="19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stable</a:t>
            </a: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638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425" y="6194425"/>
            <a:ext cx="66357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FAEF22-E566-4851-A075-A40AABC160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729" y="1054933"/>
            <a:ext cx="3712318" cy="5410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6934200" cy="1080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More formally…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961283"/>
            <a:ext cx="5638800" cy="5342858"/>
          </a:xfrm>
          <a:solidFill>
            <a:srgbClr val="FFFFFF">
              <a:alpha val="0"/>
            </a:srgbClr>
          </a:solidFill>
        </p:spPr>
        <p:txBody>
          <a:bodyPr vert="horz" wrap="square" lIns="507840" tIns="4761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Clr>
                <a:schemeClr val="accent6">
                  <a:lumMod val="75000"/>
                </a:schemeClr>
              </a:buClr>
            </a:pP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Consider</a:t>
            </a:r>
            <a:r>
              <a:rPr lang="en-US" altLang="zh-TW" dirty="0">
                <a:latin typeface="+mn-lt"/>
              </a:rPr>
              <a:t> a set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Y</a:t>
            </a:r>
            <a:r>
              <a:rPr lang="en-US" altLang="zh-TW" dirty="0">
                <a:latin typeface="+mn-lt"/>
              </a:rPr>
              <a:t> of with </a:t>
            </a:r>
            <a:r>
              <a:rPr lang="en-US" altLang="zh-TW" b="1" i="1" dirty="0">
                <a:solidFill>
                  <a:srgbClr val="7030A0"/>
                </a:solidFill>
                <a:latin typeface="+mn-lt"/>
              </a:rPr>
              <a:t>n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boys</a:t>
            </a:r>
            <a:r>
              <a:rPr lang="en-US" altLang="zh-TW" dirty="0">
                <a:latin typeface="+mn-lt"/>
              </a:rPr>
              <a:t> (denoted by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numbers</a:t>
            </a:r>
            <a:r>
              <a:rPr lang="en-US" altLang="zh-TW" dirty="0">
                <a:latin typeface="+mn-lt"/>
              </a:rPr>
              <a:t>) and a set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X</a:t>
            </a:r>
            <a:r>
              <a:rPr lang="en-US" altLang="zh-TW" dirty="0">
                <a:latin typeface="+mn-lt"/>
              </a:rPr>
              <a:t> of </a:t>
            </a:r>
            <a:r>
              <a:rPr lang="en-US" altLang="zh-TW" b="1" i="1" dirty="0">
                <a:solidFill>
                  <a:srgbClr val="7030A0"/>
                </a:solidFill>
                <a:latin typeface="+mn-lt"/>
              </a:rPr>
              <a:t>n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girls</a:t>
            </a:r>
            <a:r>
              <a:rPr lang="en-US" altLang="zh-TW" dirty="0">
                <a:latin typeface="+mn-lt"/>
              </a:rPr>
              <a:t> (denoted by 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letters</a:t>
            </a:r>
            <a:r>
              <a:rPr lang="en-US" altLang="zh-TW" dirty="0">
                <a:latin typeface="+mn-lt"/>
              </a:rPr>
              <a:t>).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US" altLang="zh-TW" dirty="0">
                <a:latin typeface="+mn-lt"/>
              </a:rPr>
              <a:t>Every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boy</a:t>
            </a:r>
            <a:r>
              <a:rPr lang="en-US" altLang="zh-TW" dirty="0">
                <a:latin typeface="+mn-lt"/>
              </a:rPr>
              <a:t> has a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preference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list</a:t>
            </a:r>
            <a:r>
              <a:rPr lang="en-US" altLang="zh-TW" dirty="0">
                <a:latin typeface="+mn-lt"/>
              </a:rPr>
              <a:t> of the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girls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organized</a:t>
            </a:r>
            <a:r>
              <a:rPr lang="en-US" altLang="zh-TW" dirty="0">
                <a:latin typeface="+mn-lt"/>
              </a:rPr>
              <a:t> in a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decreasing</a:t>
            </a:r>
            <a:r>
              <a:rPr lang="en-US" altLang="zh-TW" dirty="0">
                <a:latin typeface="+mn-lt"/>
              </a:rPr>
              <a:t> order of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desirability</a:t>
            </a:r>
            <a:r>
              <a:rPr lang="en-US" altLang="zh-TW" dirty="0">
                <a:latin typeface="+mn-lt"/>
              </a:rPr>
              <a:t> or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preference</a:t>
            </a:r>
            <a:r>
              <a:rPr lang="en-US" altLang="zh-TW" dirty="0">
                <a:latin typeface="+mn-lt"/>
              </a:rPr>
              <a:t>.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US" altLang="zh-TW" dirty="0">
                <a:latin typeface="+mn-lt"/>
              </a:rPr>
              <a:t>Each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girl</a:t>
            </a:r>
            <a:r>
              <a:rPr lang="en-US" altLang="zh-TW" dirty="0">
                <a:latin typeface="+mn-lt"/>
              </a:rPr>
              <a:t> has a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similar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list</a:t>
            </a:r>
            <a:r>
              <a:rPr lang="en-US" altLang="zh-TW" dirty="0">
                <a:latin typeface="+mn-lt"/>
              </a:rPr>
              <a:t> for the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boys</a:t>
            </a:r>
            <a:r>
              <a:rPr lang="en-US" altLang="zh-TW" dirty="0">
                <a:latin typeface="+mn-lt"/>
              </a:rPr>
              <a:t>.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US" altLang="zh-TW" dirty="0">
                <a:latin typeface="+mn-lt"/>
              </a:rPr>
              <a:t>A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marriage</a:t>
            </a:r>
            <a:r>
              <a:rPr lang="en-US" altLang="zh-TW" dirty="0">
                <a:latin typeface="+mn-lt"/>
              </a:rPr>
              <a:t>, or a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matching</a:t>
            </a:r>
            <a:r>
              <a:rPr lang="en-US" altLang="zh-TW" dirty="0">
                <a:latin typeface="+mn-lt"/>
              </a:rPr>
              <a:t>, </a:t>
            </a:r>
            <a:r>
              <a:rPr lang="en-US" altLang="zh-TW" b="1" i="1" dirty="0">
                <a:solidFill>
                  <a:srgbClr val="7030A0"/>
                </a:solidFill>
                <a:latin typeface="+mn-lt"/>
              </a:rPr>
              <a:t>M</a:t>
            </a:r>
            <a:r>
              <a:rPr lang="en-US" altLang="zh-TW" dirty="0">
                <a:latin typeface="+mn-lt"/>
              </a:rPr>
              <a:t> is a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1-1</a:t>
            </a:r>
            <a:r>
              <a:rPr lang="en-US" altLang="zh-TW" dirty="0">
                <a:latin typeface="+mn-lt"/>
              </a:rPr>
              <a:t> and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onto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mapping</a:t>
            </a:r>
            <a:r>
              <a:rPr lang="en-US" altLang="zh-TW" dirty="0">
                <a:latin typeface="+mn-lt"/>
              </a:rPr>
              <a:t> between the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boys</a:t>
            </a:r>
            <a:r>
              <a:rPr lang="en-US" altLang="zh-TW" dirty="0">
                <a:latin typeface="+mn-lt"/>
              </a:rPr>
              <a:t> and the </a:t>
            </a:r>
            <a:r>
              <a:rPr lang="en-US" altLang="zh-TW" b="1" dirty="0">
                <a:solidFill>
                  <a:srgbClr val="0070C0"/>
                </a:solidFill>
                <a:latin typeface="+mn-lt"/>
              </a:rPr>
              <a:t>girls</a:t>
            </a:r>
            <a:r>
              <a:rPr lang="en-US" altLang="zh-TW" dirty="0">
                <a:latin typeface="+mn-lt"/>
              </a:rPr>
              <a:t>.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 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US" altLang="en-US" dirty="0">
                <a:latin typeface="+mn-lt"/>
                <a:cs typeface="Calibri" panose="020F0502020204030204" pitchFamily="34" charset="0"/>
              </a:rPr>
              <a:t>This will </a:t>
            </a:r>
            <a:r>
              <a:rPr lang="en-US" altLang="en-US" b="1" dirty="0">
                <a:solidFill>
                  <a:srgbClr val="0070C0"/>
                </a:solidFill>
                <a:latin typeface="+mn-lt"/>
                <a:cs typeface="Calibri" panose="020F0502020204030204" pitchFamily="34" charset="0"/>
              </a:rPr>
              <a:t>give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 a </a:t>
            </a:r>
            <a:r>
              <a:rPr lang="en-US" altLang="en-US" b="1" dirty="0">
                <a:solidFill>
                  <a:srgbClr val="7030A0"/>
                </a:solidFill>
                <a:latin typeface="+mn-lt"/>
                <a:cs typeface="Calibri" panose="020F0502020204030204" pitchFamily="34" charset="0"/>
              </a:rPr>
              <a:t>sparse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altLang="en-US" b="1" dirty="0">
                <a:solidFill>
                  <a:srgbClr val="7030A0"/>
                </a:solidFill>
                <a:latin typeface="+mn-lt"/>
                <a:cs typeface="Calibri" panose="020F0502020204030204" pitchFamily="34" charset="0"/>
              </a:rPr>
              <a:t>bi-partite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latin typeface="+mn-lt"/>
                <a:cs typeface="Calibri" panose="020F0502020204030204" pitchFamily="34" charset="0"/>
              </a:rPr>
              <a:t>graph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 with </a:t>
            </a:r>
            <a:r>
              <a:rPr lang="en-US" altLang="en-US" b="1" i="1" dirty="0">
                <a:solidFill>
                  <a:srgbClr val="7030A0"/>
                </a:solidFill>
                <a:latin typeface="+mn-lt"/>
                <a:cs typeface="Calibri" panose="020F0502020204030204" pitchFamily="34" charset="0"/>
              </a:rPr>
              <a:t>2n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latin typeface="+mn-lt"/>
                <a:cs typeface="Calibri" panose="020F0502020204030204" pitchFamily="34" charset="0"/>
              </a:rPr>
              <a:t>nodes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.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US" altLang="en-US" dirty="0">
                <a:latin typeface="+mn-lt"/>
                <a:cs typeface="Calibri" panose="020F0502020204030204" pitchFamily="34" charset="0"/>
              </a:rPr>
              <a:t>The </a:t>
            </a:r>
            <a:r>
              <a:rPr lang="en-US" altLang="en-US" b="1" dirty="0">
                <a:solidFill>
                  <a:srgbClr val="0070C0"/>
                </a:solidFill>
                <a:latin typeface="+mn-lt"/>
                <a:cs typeface="Calibri" panose="020F0502020204030204" pitchFamily="34" charset="0"/>
              </a:rPr>
              <a:t>total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latin typeface="+mn-lt"/>
                <a:cs typeface="Calibri" panose="020F0502020204030204" pitchFamily="34" charset="0"/>
              </a:rPr>
              <a:t>number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 of </a:t>
            </a:r>
            <a:r>
              <a:rPr lang="en-US" altLang="en-US" b="1" dirty="0">
                <a:solidFill>
                  <a:srgbClr val="0070C0"/>
                </a:solidFill>
                <a:latin typeface="+mn-lt"/>
                <a:cs typeface="Calibri" panose="020F0502020204030204" pitchFamily="34" charset="0"/>
              </a:rPr>
              <a:t>persons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 (</a:t>
            </a:r>
            <a:r>
              <a:rPr lang="en-US" altLang="en-US" b="1" dirty="0">
                <a:solidFill>
                  <a:srgbClr val="0070C0"/>
                </a:solidFill>
                <a:latin typeface="+mn-lt"/>
                <a:cs typeface="Calibri" panose="020F0502020204030204" pitchFamily="34" charset="0"/>
              </a:rPr>
              <a:t>boys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 and </a:t>
            </a:r>
            <a:r>
              <a:rPr lang="en-US" altLang="en-US" b="1" dirty="0">
                <a:solidFill>
                  <a:srgbClr val="0070C0"/>
                </a:solidFill>
                <a:latin typeface="+mn-lt"/>
                <a:cs typeface="Calibri" panose="020F0502020204030204" pitchFamily="34" charset="0"/>
              </a:rPr>
              <a:t>girls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) is </a:t>
            </a:r>
            <a:r>
              <a:rPr lang="en-US" altLang="en-US" b="1" dirty="0">
                <a:solidFill>
                  <a:srgbClr val="0070C0"/>
                </a:solidFill>
                <a:latin typeface="+mn-lt"/>
                <a:cs typeface="Calibri" panose="020F0502020204030204" pitchFamily="34" charset="0"/>
              </a:rPr>
              <a:t>always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altLang="en-US" b="1" dirty="0">
                <a:solidFill>
                  <a:srgbClr val="7030A0"/>
                </a:solidFill>
                <a:latin typeface="+mn-lt"/>
                <a:cs typeface="Calibri" panose="020F0502020204030204" pitchFamily="34" charset="0"/>
              </a:rPr>
              <a:t>even</a:t>
            </a:r>
            <a:r>
              <a:rPr lang="en-US" altLang="en-US" dirty="0">
                <a:latin typeface="+mn-lt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0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3" name="TextBox 8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416" y="1752600"/>
            <a:ext cx="581858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334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727938"/>
            <a:ext cx="3505200" cy="3130062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2888" y="3575050"/>
            <a:ext cx="317500" cy="317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328" y="1624394"/>
            <a:ext cx="904691" cy="16314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590166"/>
            <a:ext cx="824702" cy="1745400"/>
          </a:xfrm>
          <a:prstGeom prst="rect">
            <a:avLst/>
          </a:prstGeom>
        </p:spPr>
      </p:pic>
      <p:pic>
        <p:nvPicPr>
          <p:cNvPr id="12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6934200" cy="1080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Unstable Marriages</a:t>
            </a:r>
          </a:p>
        </p:txBody>
      </p:sp>
      <p:pic>
        <p:nvPicPr>
          <p:cNvPr id="10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3" name="TextBox 8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439862"/>
            <a:ext cx="5715000" cy="46561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US" altLang="zh-TW" sz="3100" dirty="0"/>
              <a:t>A </a:t>
            </a:r>
            <a:r>
              <a:rPr lang="en-US" altLang="zh-TW" sz="3100" b="1" dirty="0">
                <a:solidFill>
                  <a:srgbClr val="0070C0"/>
                </a:solidFill>
              </a:rPr>
              <a:t>marriage</a:t>
            </a:r>
            <a:r>
              <a:rPr lang="en-US" altLang="zh-TW" sz="3100" dirty="0"/>
              <a:t> is </a:t>
            </a:r>
            <a:r>
              <a:rPr lang="en-US" altLang="zh-TW" sz="3100" b="1" dirty="0">
                <a:solidFill>
                  <a:srgbClr val="0070C0"/>
                </a:solidFill>
              </a:rPr>
              <a:t>said</a:t>
            </a:r>
            <a:r>
              <a:rPr lang="en-US" altLang="zh-TW" sz="3100" dirty="0"/>
              <a:t> to be </a:t>
            </a:r>
            <a:r>
              <a:rPr lang="en-US" altLang="zh-TW" sz="3100" b="1" dirty="0">
                <a:solidFill>
                  <a:srgbClr val="7030A0"/>
                </a:solidFill>
              </a:rPr>
              <a:t>unstable</a:t>
            </a:r>
            <a:r>
              <a:rPr lang="en-US" altLang="zh-TW" sz="3100" dirty="0"/>
              <a:t> if there </a:t>
            </a:r>
            <a:r>
              <a:rPr lang="en-US" altLang="zh-TW" sz="3100" b="1" dirty="0">
                <a:solidFill>
                  <a:srgbClr val="0070C0"/>
                </a:solidFill>
              </a:rPr>
              <a:t>exist</a:t>
            </a:r>
            <a:r>
              <a:rPr lang="en-US" altLang="zh-TW" sz="3100" dirty="0"/>
              <a:t> </a:t>
            </a:r>
            <a:r>
              <a:rPr lang="en-US" altLang="zh-TW" sz="3100" b="1" dirty="0">
                <a:solidFill>
                  <a:srgbClr val="0070C0"/>
                </a:solidFill>
              </a:rPr>
              <a:t>2</a:t>
            </a:r>
            <a:r>
              <a:rPr lang="en-US" altLang="zh-TW" sz="3100" dirty="0"/>
              <a:t> </a:t>
            </a:r>
            <a:r>
              <a:rPr lang="en-US" altLang="zh-TW" sz="3100" b="1" dirty="0">
                <a:solidFill>
                  <a:srgbClr val="0070C0"/>
                </a:solidFill>
              </a:rPr>
              <a:t>marriage</a:t>
            </a:r>
            <a:r>
              <a:rPr lang="en-US" altLang="zh-TW" sz="3100" dirty="0"/>
              <a:t> couples:</a:t>
            </a:r>
          </a:p>
          <a:p>
            <a:pPr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US" altLang="zh-TW" sz="3100" b="1" dirty="0">
                <a:solidFill>
                  <a:srgbClr val="FF9900"/>
                </a:solidFill>
              </a:rPr>
              <a:t>Boy</a:t>
            </a:r>
            <a:r>
              <a:rPr lang="en-US" altLang="zh-TW" sz="3100" b="1" baseline="-25000" dirty="0">
                <a:solidFill>
                  <a:srgbClr val="FF9900"/>
                </a:solidFill>
              </a:rPr>
              <a:t>1</a:t>
            </a:r>
            <a:r>
              <a:rPr lang="en-US" altLang="zh-TW" sz="3100" dirty="0"/>
              <a:t> – </a:t>
            </a:r>
            <a:r>
              <a:rPr lang="en-US" altLang="zh-TW" sz="3100" b="1" dirty="0">
                <a:solidFill>
                  <a:srgbClr val="FF9900"/>
                </a:solidFill>
              </a:rPr>
              <a:t>Girl</a:t>
            </a:r>
            <a:r>
              <a:rPr lang="en-US" altLang="zh-TW" sz="3100" b="1" baseline="-25000" dirty="0">
                <a:solidFill>
                  <a:srgbClr val="FF9900"/>
                </a:solidFill>
              </a:rPr>
              <a:t>1</a:t>
            </a:r>
            <a:r>
              <a:rPr lang="en-US" altLang="zh-TW" sz="3100" dirty="0"/>
              <a:t>, and</a:t>
            </a:r>
            <a:br>
              <a:rPr lang="en-US" altLang="zh-TW" sz="3100" dirty="0"/>
            </a:br>
            <a:r>
              <a:rPr lang="en-US" altLang="zh-TW" sz="3100" b="1" dirty="0">
                <a:solidFill>
                  <a:schemeClr val="accent6">
                    <a:lumMod val="75000"/>
                  </a:schemeClr>
                </a:solidFill>
              </a:rPr>
              <a:t>Boy</a:t>
            </a:r>
            <a:r>
              <a:rPr lang="en-US" altLang="zh-TW" sz="3100" b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altLang="zh-TW" sz="3100" dirty="0"/>
              <a:t> – </a:t>
            </a:r>
            <a:r>
              <a:rPr lang="en-US" altLang="zh-TW" sz="3100" b="1" dirty="0">
                <a:solidFill>
                  <a:schemeClr val="accent6">
                    <a:lumMod val="75000"/>
                  </a:schemeClr>
                </a:solidFill>
              </a:rPr>
              <a:t>Girl</a:t>
            </a:r>
            <a:r>
              <a:rPr lang="en-US" altLang="zh-TW" sz="3100" b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altLang="zh-TW" sz="3100" dirty="0"/>
              <a:t>, such that:</a:t>
            </a:r>
          </a:p>
          <a:p>
            <a:pPr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US" altLang="zh-TW" sz="3100" b="1" dirty="0">
                <a:solidFill>
                  <a:srgbClr val="FF9900"/>
                </a:solidFill>
              </a:rPr>
              <a:t>Boy</a:t>
            </a:r>
            <a:r>
              <a:rPr lang="en-US" altLang="zh-TW" sz="3100" b="1" baseline="-25000" dirty="0">
                <a:solidFill>
                  <a:srgbClr val="FF9900"/>
                </a:solidFill>
              </a:rPr>
              <a:t>1</a:t>
            </a:r>
            <a:r>
              <a:rPr lang="en-US" altLang="zh-TW" sz="3100" dirty="0"/>
              <a:t> desires </a:t>
            </a:r>
            <a:r>
              <a:rPr lang="en-US" altLang="zh-TW" sz="3100" b="1" dirty="0">
                <a:solidFill>
                  <a:schemeClr val="accent6">
                    <a:lumMod val="75000"/>
                  </a:schemeClr>
                </a:solidFill>
              </a:rPr>
              <a:t>Girl</a:t>
            </a:r>
            <a:r>
              <a:rPr lang="en-US" altLang="zh-TW" sz="3100" b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altLang="zh-TW" sz="3100" dirty="0"/>
              <a:t> more than </a:t>
            </a:r>
            <a:r>
              <a:rPr lang="en-US" altLang="zh-TW" sz="3100" b="1" dirty="0">
                <a:solidFill>
                  <a:srgbClr val="FF9900"/>
                </a:solidFill>
              </a:rPr>
              <a:t>Girl</a:t>
            </a:r>
            <a:r>
              <a:rPr lang="en-US" altLang="zh-TW" sz="3100" b="1" baseline="-25000" dirty="0">
                <a:solidFill>
                  <a:srgbClr val="FF9900"/>
                </a:solidFill>
              </a:rPr>
              <a:t>1</a:t>
            </a:r>
            <a:r>
              <a:rPr lang="en-US" altLang="zh-TW" sz="3100" dirty="0"/>
              <a:t> and</a:t>
            </a:r>
          </a:p>
          <a:p>
            <a:pPr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US" altLang="zh-TW" sz="3100" b="1" dirty="0">
                <a:solidFill>
                  <a:schemeClr val="accent6">
                    <a:lumMod val="75000"/>
                  </a:schemeClr>
                </a:solidFill>
              </a:rPr>
              <a:t>Girl</a:t>
            </a:r>
            <a:r>
              <a:rPr lang="en-US" altLang="zh-TW" sz="3100" b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altLang="zh-TW" sz="3100" dirty="0"/>
              <a:t> desires </a:t>
            </a:r>
            <a:r>
              <a:rPr lang="en-US" altLang="zh-TW" sz="3100" b="1" dirty="0">
                <a:solidFill>
                  <a:srgbClr val="FF9900"/>
                </a:solidFill>
              </a:rPr>
              <a:t>Boy</a:t>
            </a:r>
            <a:r>
              <a:rPr lang="en-US" altLang="zh-TW" sz="3100" b="1" baseline="-25000" dirty="0">
                <a:solidFill>
                  <a:srgbClr val="FF9900"/>
                </a:solidFill>
              </a:rPr>
              <a:t>1</a:t>
            </a:r>
            <a:r>
              <a:rPr lang="en-US" altLang="zh-TW" sz="3100" dirty="0"/>
              <a:t> more than </a:t>
            </a:r>
            <a:r>
              <a:rPr lang="en-US" altLang="zh-TW" sz="3100" b="1" dirty="0">
                <a:solidFill>
                  <a:schemeClr val="accent6">
                    <a:lumMod val="75000"/>
                  </a:schemeClr>
                </a:solidFill>
              </a:rPr>
              <a:t>Boy</a:t>
            </a:r>
            <a:r>
              <a:rPr lang="en-US" altLang="zh-TW" sz="3100" b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altLang="zh-TW" sz="3100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US" altLang="zh-TW" sz="3100" dirty="0"/>
              <a:t>The pair </a:t>
            </a:r>
            <a:r>
              <a:rPr lang="en-US" altLang="zh-TW" sz="3100" b="1" dirty="0">
                <a:solidFill>
                  <a:srgbClr val="FF9900"/>
                </a:solidFill>
              </a:rPr>
              <a:t>Boy</a:t>
            </a:r>
            <a:r>
              <a:rPr lang="en-US" altLang="zh-TW" sz="3100" b="1" baseline="-25000" dirty="0">
                <a:solidFill>
                  <a:srgbClr val="FF9900"/>
                </a:solidFill>
              </a:rPr>
              <a:t>1 </a:t>
            </a:r>
            <a:r>
              <a:rPr lang="en-US" altLang="zh-TW" sz="3100" dirty="0"/>
              <a:t>- </a:t>
            </a:r>
            <a:r>
              <a:rPr lang="en-US" altLang="zh-TW" sz="3100" b="1" dirty="0">
                <a:solidFill>
                  <a:schemeClr val="accent6">
                    <a:lumMod val="75000"/>
                  </a:schemeClr>
                </a:solidFill>
              </a:rPr>
              <a:t>Girl</a:t>
            </a:r>
            <a:r>
              <a:rPr lang="en-US" altLang="zh-TW" sz="3100" b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altLang="zh-TW" sz="3100" dirty="0"/>
              <a:t> is said to be an ‘</a:t>
            </a:r>
            <a:r>
              <a:rPr lang="en-US" altLang="zh-TW" sz="3100" b="1" dirty="0">
                <a:solidFill>
                  <a:srgbClr val="7030A0"/>
                </a:solidFill>
              </a:rPr>
              <a:t>unstable couple</a:t>
            </a:r>
            <a:r>
              <a:rPr lang="en-US" altLang="zh-TW" sz="3100" dirty="0"/>
              <a:t>’. They </a:t>
            </a:r>
            <a:r>
              <a:rPr lang="en-US" altLang="zh-TW" sz="3100" b="1" dirty="0">
                <a:solidFill>
                  <a:srgbClr val="0070C0"/>
                </a:solidFill>
              </a:rPr>
              <a:t>both</a:t>
            </a:r>
            <a:r>
              <a:rPr lang="en-US" altLang="zh-TW" sz="3100" dirty="0"/>
              <a:t> </a:t>
            </a:r>
            <a:r>
              <a:rPr lang="en-US" altLang="zh-TW" sz="3100" b="1" dirty="0">
                <a:solidFill>
                  <a:srgbClr val="0070C0"/>
                </a:solidFill>
              </a:rPr>
              <a:t>prefer</a:t>
            </a:r>
            <a:r>
              <a:rPr lang="en-US" altLang="zh-TW" sz="3100" dirty="0"/>
              <a:t> each </a:t>
            </a:r>
            <a:r>
              <a:rPr lang="en-US" altLang="zh-TW" sz="3100" b="1" dirty="0">
                <a:solidFill>
                  <a:srgbClr val="0070C0"/>
                </a:solidFill>
              </a:rPr>
              <a:t>other</a:t>
            </a:r>
            <a:r>
              <a:rPr lang="en-US" altLang="zh-TW" sz="3100" dirty="0"/>
              <a:t> over their </a:t>
            </a:r>
            <a:r>
              <a:rPr lang="en-US" altLang="zh-TW" sz="3100" b="1" dirty="0">
                <a:solidFill>
                  <a:srgbClr val="0070C0"/>
                </a:solidFill>
              </a:rPr>
              <a:t>assigned</a:t>
            </a:r>
            <a:r>
              <a:rPr lang="en-US" altLang="zh-TW" sz="3100" dirty="0"/>
              <a:t> </a:t>
            </a:r>
            <a:r>
              <a:rPr lang="en-US" altLang="zh-TW" sz="3100" b="1" dirty="0">
                <a:solidFill>
                  <a:srgbClr val="0070C0"/>
                </a:solidFill>
              </a:rPr>
              <a:t>partners</a:t>
            </a:r>
            <a:r>
              <a:rPr lang="en-US" altLang="zh-TW" sz="3100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US" altLang="zh-TW" sz="3100" dirty="0"/>
              <a:t>A marriage </a:t>
            </a:r>
            <a:r>
              <a:rPr lang="en-US" altLang="zh-TW" sz="3100" b="1" i="1" dirty="0">
                <a:solidFill>
                  <a:srgbClr val="7030A0"/>
                </a:solidFill>
              </a:rPr>
              <a:t>M</a:t>
            </a:r>
            <a:r>
              <a:rPr lang="en-US" altLang="zh-TW" sz="3100" dirty="0"/>
              <a:t> is called a ‘</a:t>
            </a:r>
            <a:r>
              <a:rPr lang="en-US" altLang="zh-TW" sz="3100" b="1" dirty="0">
                <a:solidFill>
                  <a:srgbClr val="7030A0"/>
                </a:solidFill>
              </a:rPr>
              <a:t>stable</a:t>
            </a:r>
            <a:r>
              <a:rPr lang="en-US" altLang="zh-TW" sz="3100" dirty="0"/>
              <a:t> </a:t>
            </a:r>
            <a:r>
              <a:rPr lang="en-US" altLang="zh-TW" sz="3100" b="1" dirty="0">
                <a:solidFill>
                  <a:srgbClr val="7030A0"/>
                </a:solidFill>
              </a:rPr>
              <a:t>marriage</a:t>
            </a:r>
            <a:r>
              <a:rPr lang="en-US" altLang="zh-TW" sz="3100" dirty="0"/>
              <a:t>’ if there are </a:t>
            </a:r>
            <a:r>
              <a:rPr lang="en-US" altLang="zh-TW" sz="3100" b="1" dirty="0">
                <a:solidFill>
                  <a:srgbClr val="0070C0"/>
                </a:solidFill>
              </a:rPr>
              <a:t>no</a:t>
            </a:r>
            <a:r>
              <a:rPr lang="en-US" altLang="zh-TW" sz="3100" dirty="0"/>
              <a:t> </a:t>
            </a:r>
            <a:r>
              <a:rPr lang="en-US" altLang="zh-TW" sz="3100" b="1" dirty="0">
                <a:solidFill>
                  <a:srgbClr val="0070C0"/>
                </a:solidFill>
              </a:rPr>
              <a:t>unstable</a:t>
            </a:r>
            <a:r>
              <a:rPr lang="en-US" altLang="zh-TW" sz="3100" dirty="0"/>
              <a:t> </a:t>
            </a:r>
            <a:r>
              <a:rPr lang="en-US" altLang="zh-TW" sz="3100" b="1" dirty="0">
                <a:solidFill>
                  <a:srgbClr val="0070C0"/>
                </a:solidFill>
              </a:rPr>
              <a:t>couples</a:t>
            </a:r>
            <a:r>
              <a:rPr lang="en-US" altLang="zh-TW" sz="3100" dirty="0"/>
              <a:t>.</a:t>
            </a:r>
          </a:p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1624394"/>
            <a:ext cx="718968" cy="16522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624394"/>
            <a:ext cx="824356" cy="165220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76520" y="3200578"/>
            <a:ext cx="76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rgbClr val="FF9900"/>
                </a:solidFill>
              </a:rPr>
              <a:t>Boy</a:t>
            </a:r>
            <a:r>
              <a:rPr lang="en-GB" sz="2200" b="1" baseline="-25000" dirty="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8056" y="3209722"/>
            <a:ext cx="76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rgbClr val="FF9900"/>
                </a:solidFill>
              </a:rPr>
              <a:t>Girl</a:t>
            </a:r>
            <a:r>
              <a:rPr lang="en-GB" sz="2200" b="1" baseline="-25000" dirty="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9187" y="3213555"/>
            <a:ext cx="76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accent6">
                    <a:lumMod val="75000"/>
                  </a:schemeClr>
                </a:solidFill>
              </a:rPr>
              <a:t>Boy</a:t>
            </a:r>
            <a:r>
              <a:rPr lang="en-GB" sz="2200" b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38059" y="3213556"/>
            <a:ext cx="76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>
                <a:solidFill>
                  <a:schemeClr val="accent6">
                    <a:lumMod val="75000"/>
                  </a:schemeClr>
                </a:solidFill>
              </a:rPr>
              <a:t>Girl</a:t>
            </a:r>
            <a:r>
              <a:rPr lang="en-GB" sz="2200" b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7696200" y="3733800"/>
            <a:ext cx="245668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454" y="1301231"/>
            <a:ext cx="317500" cy="317500"/>
          </a:xfrm>
          <a:prstGeom prst="rect">
            <a:avLst/>
          </a:prstGeom>
        </p:spPr>
      </p:pic>
      <p:cxnSp>
        <p:nvCxnSpPr>
          <p:cNvPr id="40" name="Straight Arrow Connector 39"/>
          <p:cNvCxnSpPr>
            <a:endCxn id="39" idx="3"/>
          </p:cNvCxnSpPr>
          <p:nvPr/>
        </p:nvCxnSpPr>
        <p:spPr>
          <a:xfrm flipH="1">
            <a:off x="7759954" y="1447800"/>
            <a:ext cx="2527046" cy="121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863155"/>
            <a:ext cx="12954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5906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22222E-6 L 0.00365 0.38541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19259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03379 L 0.00377 0.40231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" y="18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07407E-6 L -0.15247 0.3872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30" y="19352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04 0.04398 L -0.14856 0.40093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30" y="1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5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0"/>
                            </p:stCondLst>
                            <p:childTnLst>
                              <p:par>
                                <p:cTn id="8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3505200"/>
            <a:ext cx="6324600" cy="3364687"/>
          </a:xfrm>
          <a:prstGeom prst="rect">
            <a:avLst/>
          </a:prstGeom>
        </p:spPr>
      </p:pic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10515600" cy="4886326"/>
          </a:xfrm>
        </p:spPr>
        <p:txBody>
          <a:bodyPr>
            <a:normAutofit lnSpcReduction="10000"/>
          </a:bodyPr>
          <a:lstStyle/>
          <a:p>
            <a:pPr marL="860425" lvl="1" indent="-457200">
              <a:buClr>
                <a:schemeClr val="accent6">
                  <a:lumMod val="75000"/>
                </a:schemeClr>
              </a:buClr>
            </a:pPr>
            <a:r>
              <a:rPr lang="en-US" altLang="en-US" sz="2800" dirty="0"/>
              <a:t>The </a:t>
            </a:r>
            <a:r>
              <a:rPr lang="en-US" altLang="en-US" sz="2800" b="1" dirty="0">
                <a:solidFill>
                  <a:srgbClr val="0070C0"/>
                </a:solidFill>
              </a:rPr>
              <a:t>number</a:t>
            </a:r>
            <a:r>
              <a:rPr lang="en-US" altLang="en-US" sz="2800" dirty="0"/>
              <a:t> of </a:t>
            </a:r>
            <a:r>
              <a:rPr lang="en-US" altLang="en-US" sz="2800" b="1" dirty="0">
                <a:solidFill>
                  <a:srgbClr val="0070C0"/>
                </a:solidFill>
              </a:rPr>
              <a:t>boys</a:t>
            </a:r>
            <a:r>
              <a:rPr lang="en-US" altLang="en-US" sz="2800" dirty="0"/>
              <a:t> and </a:t>
            </a:r>
            <a:r>
              <a:rPr lang="en-US" altLang="en-US" sz="2800" b="1" dirty="0">
                <a:solidFill>
                  <a:srgbClr val="0070C0"/>
                </a:solidFill>
              </a:rPr>
              <a:t>girls</a:t>
            </a:r>
            <a:r>
              <a:rPr lang="en-US" altLang="en-US" sz="2800" dirty="0"/>
              <a:t> must be </a:t>
            </a:r>
            <a:r>
              <a:rPr lang="en-US" altLang="en-US" sz="2800" b="1" dirty="0">
                <a:solidFill>
                  <a:srgbClr val="0070C0"/>
                </a:solidFill>
              </a:rPr>
              <a:t>equal</a:t>
            </a:r>
            <a:r>
              <a:rPr lang="en-US" altLang="en-US" sz="2800" dirty="0"/>
              <a:t>.</a:t>
            </a:r>
          </a:p>
          <a:p>
            <a:pPr marL="860425" lvl="1" indent="-457200">
              <a:buClr>
                <a:schemeClr val="accent6">
                  <a:lumMod val="75000"/>
                </a:schemeClr>
              </a:buClr>
            </a:pPr>
            <a:r>
              <a:rPr lang="en-US" altLang="en-US" sz="2800" dirty="0"/>
              <a:t>All </a:t>
            </a:r>
            <a:r>
              <a:rPr lang="en-US" altLang="en-US" sz="2800" b="1" dirty="0">
                <a:solidFill>
                  <a:srgbClr val="0070C0"/>
                </a:solidFill>
              </a:rPr>
              <a:t>boys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0070C0"/>
                </a:solidFill>
              </a:rPr>
              <a:t>rank</a:t>
            </a:r>
            <a:r>
              <a:rPr lang="en-US" altLang="en-US" sz="2800" dirty="0"/>
              <a:t> all the </a:t>
            </a:r>
            <a:r>
              <a:rPr lang="en-US" altLang="en-US" sz="2800" b="1" dirty="0">
                <a:solidFill>
                  <a:srgbClr val="0070C0"/>
                </a:solidFill>
              </a:rPr>
              <a:t>girls</a:t>
            </a:r>
            <a:r>
              <a:rPr lang="en-US" altLang="en-US" sz="2800" dirty="0"/>
              <a:t>, and </a:t>
            </a:r>
            <a:r>
              <a:rPr lang="en-US" altLang="en-US" sz="2800" b="1" dirty="0">
                <a:solidFill>
                  <a:srgbClr val="0070C0"/>
                </a:solidFill>
              </a:rPr>
              <a:t>vice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0070C0"/>
                </a:solidFill>
              </a:rPr>
              <a:t>versa</a:t>
            </a:r>
            <a:r>
              <a:rPr lang="en-US" altLang="en-US" sz="2800" dirty="0"/>
              <a:t>. </a:t>
            </a:r>
          </a:p>
          <a:p>
            <a:pPr marL="860425" lvl="1" indent="-457200">
              <a:buClr>
                <a:schemeClr val="accent6">
                  <a:lumMod val="75000"/>
                </a:schemeClr>
              </a:buClr>
            </a:pPr>
            <a:r>
              <a:rPr lang="en-US" altLang="en-US" sz="2800" b="1" dirty="0">
                <a:solidFill>
                  <a:srgbClr val="0070C0"/>
                </a:solidFill>
              </a:rPr>
              <a:t>Rank-ordered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0070C0"/>
                </a:solidFill>
              </a:rPr>
              <a:t>lists</a:t>
            </a:r>
            <a:r>
              <a:rPr lang="en-US" altLang="en-US" sz="2800" dirty="0"/>
              <a:t> are in </a:t>
            </a:r>
            <a:r>
              <a:rPr lang="en-US" altLang="en-US" sz="2800" b="1" dirty="0">
                <a:solidFill>
                  <a:srgbClr val="0070C0"/>
                </a:solidFill>
              </a:rPr>
              <a:t>decreasing</a:t>
            </a:r>
            <a:r>
              <a:rPr lang="en-US" altLang="en-US" sz="2800" dirty="0"/>
              <a:t> order of </a:t>
            </a:r>
            <a:r>
              <a:rPr lang="en-US" altLang="en-US" sz="2800" b="1" dirty="0">
                <a:solidFill>
                  <a:srgbClr val="0070C0"/>
                </a:solidFill>
              </a:rPr>
              <a:t>preference</a:t>
            </a:r>
            <a:r>
              <a:rPr lang="en-US" altLang="en-US" sz="2800" dirty="0"/>
              <a:t>.</a:t>
            </a:r>
          </a:p>
          <a:p>
            <a:pPr marL="860425" lvl="1" indent="-457200">
              <a:buClr>
                <a:schemeClr val="accent6">
                  <a:lumMod val="75000"/>
                </a:schemeClr>
              </a:buClr>
            </a:pPr>
            <a:r>
              <a:rPr lang="en-US" altLang="en-US" sz="2800" dirty="0"/>
              <a:t>Each </a:t>
            </a:r>
            <a:r>
              <a:rPr lang="en-US" altLang="en-US" sz="2800" b="1" dirty="0">
                <a:solidFill>
                  <a:srgbClr val="0070C0"/>
                </a:solidFill>
              </a:rPr>
              <a:t>boy</a:t>
            </a:r>
            <a:r>
              <a:rPr lang="en-US" altLang="en-US" sz="2800" dirty="0"/>
              <a:t> is </a:t>
            </a:r>
            <a:r>
              <a:rPr lang="en-US" altLang="en-US" sz="2800" b="1" dirty="0">
                <a:solidFill>
                  <a:srgbClr val="0070C0"/>
                </a:solidFill>
              </a:rPr>
              <a:t>paired</a:t>
            </a:r>
            <a:r>
              <a:rPr lang="en-US" altLang="en-US" sz="2800" dirty="0"/>
              <a:t> with </a:t>
            </a:r>
            <a:r>
              <a:rPr lang="en-US" altLang="en-US" sz="2800" b="1" dirty="0">
                <a:solidFill>
                  <a:srgbClr val="0070C0"/>
                </a:solidFill>
              </a:rPr>
              <a:t>one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0070C0"/>
                </a:solidFill>
              </a:rPr>
              <a:t>girl</a:t>
            </a:r>
            <a:r>
              <a:rPr lang="en-US" altLang="en-US" sz="2800" dirty="0"/>
              <a:t> and vice versa.</a:t>
            </a:r>
          </a:p>
          <a:p>
            <a:pPr marL="860425" lvl="1" indent="-457200">
              <a:buClr>
                <a:schemeClr val="accent6">
                  <a:lumMod val="75000"/>
                </a:schemeClr>
              </a:buClr>
            </a:pPr>
            <a:r>
              <a:rPr lang="en-US" altLang="en-US" sz="2800" dirty="0"/>
              <a:t>Every person </a:t>
            </a:r>
            <a:r>
              <a:rPr lang="en-US" altLang="en-US" sz="2800" b="1" dirty="0">
                <a:solidFill>
                  <a:srgbClr val="0070C0"/>
                </a:solidFill>
              </a:rPr>
              <a:t>appears</a:t>
            </a:r>
            <a:r>
              <a:rPr lang="en-US" altLang="en-US" sz="2800" dirty="0"/>
              <a:t> in </a:t>
            </a:r>
            <a:r>
              <a:rPr lang="en-US" altLang="en-US" sz="2800" b="1" dirty="0">
                <a:solidFill>
                  <a:srgbClr val="0070C0"/>
                </a:solidFill>
              </a:rPr>
              <a:t>exactly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0070C0"/>
                </a:solidFill>
              </a:rPr>
              <a:t>one</a:t>
            </a:r>
            <a:r>
              <a:rPr lang="en-US" altLang="en-US" sz="2800" dirty="0"/>
              <a:t> pair.</a:t>
            </a:r>
          </a:p>
          <a:p>
            <a:pPr marL="860425" lvl="1" indent="-457200">
              <a:buClr>
                <a:schemeClr val="accent6">
                  <a:lumMod val="75000"/>
                </a:schemeClr>
              </a:buClr>
            </a:pPr>
            <a:r>
              <a:rPr lang="en-US" altLang="en-US" sz="2800" dirty="0"/>
              <a:t>Each </a:t>
            </a:r>
            <a:r>
              <a:rPr lang="en-US" altLang="en-US" sz="2800" b="1" dirty="0">
                <a:solidFill>
                  <a:srgbClr val="0070C0"/>
                </a:solidFill>
              </a:rPr>
              <a:t>boy</a:t>
            </a:r>
            <a:r>
              <a:rPr lang="en-US" altLang="en-US" sz="2800" dirty="0"/>
              <a:t> or </a:t>
            </a:r>
            <a:r>
              <a:rPr lang="en-US" altLang="en-US" sz="2800" b="1" dirty="0">
                <a:solidFill>
                  <a:srgbClr val="0070C0"/>
                </a:solidFill>
              </a:rPr>
              <a:t>girl</a:t>
            </a:r>
            <a:r>
              <a:rPr lang="en-US" altLang="en-US" sz="2800" dirty="0"/>
              <a:t> is </a:t>
            </a:r>
            <a:r>
              <a:rPr lang="en-US" altLang="en-US" sz="2800" b="1" dirty="0">
                <a:solidFill>
                  <a:srgbClr val="0070C0"/>
                </a:solidFill>
              </a:rPr>
              <a:t>assigned</a:t>
            </a:r>
            <a:r>
              <a:rPr lang="en-US" altLang="en-US" sz="2800" dirty="0"/>
              <a:t> by a </a:t>
            </a:r>
            <a:r>
              <a:rPr lang="en-US" altLang="en-US" sz="2800" b="1" dirty="0">
                <a:solidFill>
                  <a:srgbClr val="0070C0"/>
                </a:solidFill>
              </a:rPr>
              <a:t>deterministic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0070C0"/>
                </a:solidFill>
              </a:rPr>
              <a:t>algorithm</a:t>
            </a:r>
            <a:r>
              <a:rPr lang="en-US" altLang="en-US" sz="2800" dirty="0"/>
              <a:t> – they </a:t>
            </a:r>
            <a:r>
              <a:rPr lang="en-US" altLang="en-US" sz="2800" b="1" u="sng" dirty="0">
                <a:solidFill>
                  <a:srgbClr val="C00000"/>
                </a:solidFill>
              </a:rPr>
              <a:t>cannot</a:t>
            </a:r>
            <a:r>
              <a:rPr lang="en-US" altLang="en-US" sz="2800" dirty="0"/>
              <a:t> </a:t>
            </a:r>
            <a:r>
              <a:rPr lang="en-US" altLang="en-US" sz="2800" b="1" u="sng" dirty="0">
                <a:solidFill>
                  <a:srgbClr val="C00000"/>
                </a:solidFill>
              </a:rPr>
              <a:t>make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0070C0"/>
                </a:solidFill>
              </a:rPr>
              <a:t>choices</a:t>
            </a:r>
            <a:r>
              <a:rPr lang="en-US" altLang="en-US" sz="2800" dirty="0"/>
              <a:t> beyond </a:t>
            </a:r>
            <a:r>
              <a:rPr lang="en-US" altLang="en-US" sz="2800" b="1" dirty="0">
                <a:solidFill>
                  <a:srgbClr val="0070C0"/>
                </a:solidFill>
              </a:rPr>
              <a:t>submitting</a:t>
            </a:r>
            <a:r>
              <a:rPr lang="en-US" altLang="en-US" sz="2800" dirty="0"/>
              <a:t> their </a:t>
            </a:r>
            <a:r>
              <a:rPr lang="en-US" altLang="en-US" sz="2800" b="1" dirty="0">
                <a:solidFill>
                  <a:srgbClr val="0070C0"/>
                </a:solidFill>
              </a:rPr>
              <a:t>list</a:t>
            </a:r>
            <a:r>
              <a:rPr lang="en-US" altLang="en-US" sz="2800" dirty="0"/>
              <a:t> of </a:t>
            </a:r>
            <a:r>
              <a:rPr lang="en-US" altLang="en-US" sz="2800" b="1" dirty="0">
                <a:solidFill>
                  <a:srgbClr val="0070C0"/>
                </a:solidFill>
              </a:rPr>
              <a:t>preferences</a:t>
            </a:r>
            <a:r>
              <a:rPr lang="en-US" altLang="en-US" sz="2800" dirty="0"/>
              <a:t>.</a:t>
            </a:r>
          </a:p>
          <a:p>
            <a:pPr marL="860425" lvl="1" indent="-457200">
              <a:buClr>
                <a:schemeClr val="accent6">
                  <a:lumMod val="75000"/>
                </a:schemeClr>
              </a:buClr>
            </a:pPr>
            <a:r>
              <a:rPr lang="en-US" altLang="en-US" sz="2800" dirty="0"/>
              <a:t>The </a:t>
            </a:r>
            <a:r>
              <a:rPr lang="en-US" altLang="en-US" sz="2800" b="1" dirty="0">
                <a:solidFill>
                  <a:srgbClr val="0070C0"/>
                </a:solidFill>
              </a:rPr>
              <a:t>algorithm</a:t>
            </a:r>
            <a:r>
              <a:rPr lang="en-US" altLang="en-US" sz="2800" dirty="0"/>
              <a:t> must </a:t>
            </a:r>
            <a:r>
              <a:rPr lang="en-US" altLang="en-US" sz="2800" b="1" dirty="0">
                <a:solidFill>
                  <a:srgbClr val="0070C0"/>
                </a:solidFill>
              </a:rPr>
              <a:t>assign</a:t>
            </a:r>
            <a:br>
              <a:rPr lang="en-US" altLang="en-US" sz="2800" dirty="0"/>
            </a:br>
            <a:r>
              <a:rPr lang="en-US" altLang="en-US" sz="2800" dirty="0"/>
              <a:t>each </a:t>
            </a:r>
            <a:r>
              <a:rPr lang="en-US" altLang="en-US" sz="2800" b="1" dirty="0">
                <a:solidFill>
                  <a:srgbClr val="0070C0"/>
                </a:solidFill>
              </a:rPr>
              <a:t>boy</a:t>
            </a:r>
            <a:r>
              <a:rPr lang="en-US" altLang="en-US" sz="2800" dirty="0"/>
              <a:t> to a </a:t>
            </a:r>
            <a:r>
              <a:rPr lang="en-US" altLang="en-US" sz="2800" b="1" dirty="0">
                <a:solidFill>
                  <a:srgbClr val="0070C0"/>
                </a:solidFill>
              </a:rPr>
              <a:t>girl</a:t>
            </a:r>
            <a:r>
              <a:rPr lang="en-US" altLang="en-US" sz="2800" dirty="0"/>
              <a:t> in such</a:t>
            </a:r>
            <a:br>
              <a:rPr lang="en-US" altLang="en-US" sz="2800" dirty="0"/>
            </a:br>
            <a:r>
              <a:rPr lang="en-US" altLang="en-US" sz="2800" dirty="0"/>
              <a:t>a </a:t>
            </a:r>
            <a:r>
              <a:rPr lang="en-US" altLang="en-US" sz="2800" b="1" dirty="0">
                <a:solidFill>
                  <a:srgbClr val="0070C0"/>
                </a:solidFill>
              </a:rPr>
              <a:t>way</a:t>
            </a:r>
            <a:r>
              <a:rPr lang="en-US" altLang="en-US" sz="2800" dirty="0"/>
              <a:t> that </a:t>
            </a:r>
            <a:r>
              <a:rPr lang="en-US" altLang="en-US" sz="2800" b="1" dirty="0">
                <a:solidFill>
                  <a:srgbClr val="0070C0"/>
                </a:solidFill>
              </a:rPr>
              <a:t>there</a:t>
            </a:r>
            <a:r>
              <a:rPr lang="en-US" altLang="en-US" sz="2800" dirty="0"/>
              <a:t> are </a:t>
            </a:r>
            <a:r>
              <a:rPr lang="en-US" altLang="en-US" sz="2800" b="1" dirty="0">
                <a:solidFill>
                  <a:srgbClr val="0070C0"/>
                </a:solidFill>
              </a:rPr>
              <a:t>no</a:t>
            </a:r>
            <a:br>
              <a:rPr lang="en-US" altLang="en-US" sz="2800" dirty="0"/>
            </a:br>
            <a:r>
              <a:rPr lang="en-US" altLang="en-US" sz="2800" b="1" dirty="0">
                <a:solidFill>
                  <a:srgbClr val="0070C0"/>
                </a:solidFill>
              </a:rPr>
              <a:t>unstable</a:t>
            </a:r>
            <a:r>
              <a:rPr lang="en-US" altLang="en-US" sz="2800" dirty="0"/>
              <a:t> couples.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38200" y="0"/>
            <a:ext cx="69342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002060"/>
                </a:solidFill>
                <a:latin typeface="+mn-lt"/>
              </a:rPr>
              <a:t>Important Notes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uiExpand="1" build="p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6934200" cy="1080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Remember – Unstable Marriage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eaLnBrk="1" hangingPunct="1">
              <a:buClr>
                <a:schemeClr val="accent6">
                  <a:lumMod val="75000"/>
                </a:schemeClr>
              </a:buClr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70C0"/>
                </a:solidFill>
              </a:rPr>
              <a:t>boy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prefers</a:t>
            </a:r>
            <a:r>
              <a:rPr lang="en-US" altLang="en-US" dirty="0"/>
              <a:t> another </a:t>
            </a:r>
            <a:r>
              <a:rPr lang="en-US" altLang="en-US" b="1" dirty="0">
                <a:solidFill>
                  <a:srgbClr val="0070C0"/>
                </a:solidFill>
              </a:rPr>
              <a:t>girl</a:t>
            </a:r>
            <a:r>
              <a:rPr lang="en-US" altLang="en-US" dirty="0"/>
              <a:t> (over his </a:t>
            </a:r>
            <a:r>
              <a:rPr lang="en-US" altLang="en-US" b="1" dirty="0">
                <a:solidFill>
                  <a:srgbClr val="0070C0"/>
                </a:solidFill>
              </a:rPr>
              <a:t>assigned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girlfriend</a:t>
            </a:r>
            <a:r>
              <a:rPr lang="en-US" altLang="en-US" dirty="0"/>
              <a:t>) who, in </a:t>
            </a:r>
            <a:r>
              <a:rPr lang="en-US" altLang="en-US" b="1" dirty="0">
                <a:solidFill>
                  <a:srgbClr val="0070C0"/>
                </a:solidFill>
              </a:rPr>
              <a:t>turn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70C0"/>
                </a:solidFill>
              </a:rPr>
              <a:t>prefers</a:t>
            </a:r>
            <a:r>
              <a:rPr lang="en-US" altLang="en-US" dirty="0"/>
              <a:t> the same </a:t>
            </a:r>
            <a:r>
              <a:rPr lang="en-US" altLang="en-US" b="1" dirty="0">
                <a:solidFill>
                  <a:srgbClr val="0070C0"/>
                </a:solidFill>
              </a:rPr>
              <a:t>boy</a:t>
            </a:r>
            <a:r>
              <a:rPr lang="en-US" altLang="en-US" dirty="0"/>
              <a:t> (over her </a:t>
            </a:r>
            <a:r>
              <a:rPr lang="en-US" altLang="en-US" b="1" dirty="0">
                <a:solidFill>
                  <a:srgbClr val="0070C0"/>
                </a:solidFill>
              </a:rPr>
              <a:t>assigned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boyfriend</a:t>
            </a:r>
            <a:r>
              <a:rPr lang="en-US" altLang="en-US" dirty="0"/>
              <a:t>).</a:t>
            </a:r>
          </a:p>
        </p:txBody>
      </p:sp>
      <p:pic>
        <p:nvPicPr>
          <p:cNvPr id="1946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854" y="2481262"/>
            <a:ext cx="8763000" cy="3386138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667000" y="1447800"/>
            <a:ext cx="6934200" cy="4495800"/>
          </a:xfrm>
        </p:spPr>
        <p:txBody>
          <a:bodyPr/>
          <a:lstStyle/>
          <a:p>
            <a:pPr marL="0" indent="0" algn="ctr" eaLnBrk="1" hangingPunct="1">
              <a:buNone/>
            </a:pPr>
            <a:r>
              <a:rPr lang="en-US" altLang="en-US" dirty="0"/>
              <a:t>The problem is: </a:t>
            </a:r>
          </a:p>
          <a:p>
            <a:pPr marL="0" indent="0" algn="ctr" eaLnBrk="1" hangingPunct="1">
              <a:buNone/>
            </a:pPr>
            <a:endParaRPr lang="en-US" altLang="en-US" dirty="0"/>
          </a:p>
          <a:p>
            <a:pPr marL="0" indent="0" algn="ctr" eaLnBrk="1" hangingPunct="1">
              <a:buNone/>
            </a:pPr>
            <a:r>
              <a:rPr lang="en-US" altLang="en-US" sz="4000" b="1" dirty="0">
                <a:solidFill>
                  <a:srgbClr val="C00000"/>
                </a:solidFill>
              </a:rPr>
              <a:t>“</a:t>
            </a:r>
            <a:r>
              <a:rPr lang="en-US" altLang="en-US" sz="4000" b="1" dirty="0">
                <a:solidFill>
                  <a:srgbClr val="5F5F5F"/>
                </a:solidFill>
              </a:rPr>
              <a:t>Given the preference rankings of a group of </a:t>
            </a:r>
            <a:r>
              <a:rPr lang="en-US" altLang="en-US" sz="4000" b="1" i="1" dirty="0">
                <a:solidFill>
                  <a:srgbClr val="7030A0"/>
                </a:solidFill>
              </a:rPr>
              <a:t>k</a:t>
            </a:r>
            <a:r>
              <a:rPr lang="en-US" altLang="en-US" sz="4000" b="1" dirty="0">
                <a:solidFill>
                  <a:srgbClr val="5F5F5F"/>
                </a:solidFill>
              </a:rPr>
              <a:t> boys and </a:t>
            </a:r>
            <a:r>
              <a:rPr lang="en-US" altLang="en-US" sz="4000" b="1" i="1" dirty="0">
                <a:solidFill>
                  <a:srgbClr val="7030A0"/>
                </a:solidFill>
              </a:rPr>
              <a:t>k</a:t>
            </a:r>
            <a:r>
              <a:rPr lang="en-US" altLang="en-US" sz="4000" b="1" dirty="0">
                <a:solidFill>
                  <a:srgbClr val="5F5F5F"/>
                </a:solidFill>
              </a:rPr>
              <a:t> girls, construct a stable marriage arrangement.</a:t>
            </a:r>
            <a:r>
              <a:rPr lang="en-US" altLang="en-US" sz="4000" b="1" dirty="0">
                <a:solidFill>
                  <a:srgbClr val="C00000"/>
                </a:solidFill>
              </a:rPr>
              <a:t>”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6934200" cy="1080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The Stable Marriage Problem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uiExpand="1" build="p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990600"/>
            <a:ext cx="10515600" cy="4724400"/>
          </a:xfrm>
        </p:spPr>
        <p:txBody>
          <a:bodyPr>
            <a:normAutofit fontScale="92500" lnSpcReduction="10000"/>
          </a:bodyPr>
          <a:lstStyle/>
          <a:p>
            <a:pPr marL="342900" indent="-342900" eaLnBrk="1" hangingPunct="1">
              <a:buClr>
                <a:schemeClr val="accent6">
                  <a:lumMod val="75000"/>
                </a:schemeClr>
              </a:buClr>
              <a:buSzPct val="125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At </a:t>
            </a:r>
            <a:r>
              <a:rPr lang="en-US" altLang="en-US" b="1" dirty="0">
                <a:solidFill>
                  <a:srgbClr val="0070C0"/>
                </a:solidFill>
              </a:rPr>
              <a:t>least</a:t>
            </a:r>
            <a:r>
              <a:rPr lang="en-US" altLang="en-US" dirty="0"/>
              <a:t> one </a:t>
            </a:r>
            <a:r>
              <a:rPr lang="en-US" altLang="en-US" b="1" dirty="0">
                <a:solidFill>
                  <a:srgbClr val="0070C0"/>
                </a:solidFill>
              </a:rPr>
              <a:t>stable</a:t>
            </a:r>
            <a:r>
              <a:rPr lang="en-US" altLang="en-US" dirty="0"/>
              <a:t> marriage is </a:t>
            </a:r>
            <a:r>
              <a:rPr lang="en-US" altLang="en-US" b="1" dirty="0">
                <a:solidFill>
                  <a:srgbClr val="7030A0"/>
                </a:solidFill>
              </a:rPr>
              <a:t>always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7030A0"/>
                </a:solidFill>
              </a:rPr>
              <a:t>guaranteed</a:t>
            </a:r>
            <a:r>
              <a:rPr lang="en-US" altLang="en-US" dirty="0"/>
              <a:t> to exist.</a:t>
            </a:r>
          </a:p>
          <a:p>
            <a:pPr marL="342900" indent="-342900" eaLnBrk="1" hangingPunct="1">
              <a:buClr>
                <a:schemeClr val="accent6">
                  <a:lumMod val="75000"/>
                </a:schemeClr>
              </a:buClr>
              <a:buSzPct val="125000"/>
              <a:buFont typeface="Arial" panose="020B0604020202020204" pitchFamily="34" charset="0"/>
              <a:buChar char="•"/>
              <a:defRPr/>
            </a:pPr>
            <a:r>
              <a:rPr lang="en-US" altLang="en-US" b="1" dirty="0">
                <a:solidFill>
                  <a:srgbClr val="0070C0"/>
                </a:solidFill>
              </a:rPr>
              <a:t>Boy-optimal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70C0"/>
                </a:solidFill>
              </a:rPr>
              <a:t>Girl-optimal</a:t>
            </a:r>
            <a:r>
              <a:rPr lang="en-US" altLang="en-US" dirty="0"/>
              <a:t> matchings (</a:t>
            </a:r>
            <a:r>
              <a:rPr lang="en-US" altLang="en-US" b="1" dirty="0">
                <a:solidFill>
                  <a:srgbClr val="0070C0"/>
                </a:solidFill>
              </a:rPr>
              <a:t>marriages</a:t>
            </a:r>
            <a:r>
              <a:rPr lang="en-US" altLang="en-US" dirty="0"/>
              <a:t>) can be </a:t>
            </a:r>
            <a:r>
              <a:rPr lang="en-US" altLang="en-US" b="1" dirty="0">
                <a:solidFill>
                  <a:srgbClr val="0070C0"/>
                </a:solidFill>
              </a:rPr>
              <a:t>found</a:t>
            </a:r>
            <a:r>
              <a:rPr lang="en-US" altLang="en-US" dirty="0"/>
              <a:t> using the </a:t>
            </a:r>
            <a:r>
              <a:rPr lang="en-US" altLang="en-US" b="1" dirty="0">
                <a:solidFill>
                  <a:srgbClr val="0070C0"/>
                </a:solidFill>
              </a:rPr>
              <a:t>Gale-Shapely Algorithm</a:t>
            </a:r>
            <a:r>
              <a:rPr lang="en-US" altLang="en-US" dirty="0"/>
              <a:t>.</a:t>
            </a:r>
          </a:p>
          <a:p>
            <a:pPr marL="342900" indent="-342900" eaLnBrk="1" hangingPunct="1">
              <a:buClr>
                <a:schemeClr val="accent6">
                  <a:lumMod val="75000"/>
                </a:schemeClr>
              </a:buClr>
              <a:buSzPct val="125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70C0"/>
                </a:solidFill>
              </a:rPr>
              <a:t>Gale-Shapely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Algorithm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0070C0"/>
                </a:solidFill>
              </a:rPr>
              <a:t>guaranteed</a:t>
            </a:r>
            <a:r>
              <a:rPr lang="en-US" altLang="en-US" dirty="0"/>
              <a:t> to find </a:t>
            </a:r>
            <a:r>
              <a:rPr lang="en-US" altLang="en-US" b="1" dirty="0">
                <a:solidFill>
                  <a:srgbClr val="0070C0"/>
                </a:solidFill>
              </a:rPr>
              <a:t>one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stable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marriage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70C0"/>
                </a:solidFill>
              </a:rPr>
              <a:t>there may be many</a:t>
            </a:r>
            <a:r>
              <a:rPr lang="en-US" altLang="en-US" dirty="0"/>
              <a:t>) in polynomial time.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US" altLang="en-US" dirty="0"/>
              <a:t>Used for </a:t>
            </a:r>
            <a:r>
              <a:rPr lang="en-US" altLang="en-US" b="1" dirty="0">
                <a:solidFill>
                  <a:srgbClr val="0070C0"/>
                </a:solidFill>
              </a:rPr>
              <a:t>student-doctor</a:t>
            </a:r>
            <a:r>
              <a:rPr lang="en-US" altLang="en-US" dirty="0"/>
              <a:t> assignment to </a:t>
            </a:r>
            <a:r>
              <a:rPr lang="en-US" altLang="en-US" b="1" dirty="0">
                <a:solidFill>
                  <a:srgbClr val="0070C0"/>
                </a:solidFill>
              </a:rPr>
              <a:t>hospitals</a:t>
            </a:r>
            <a:r>
              <a:rPr lang="en-US" altLang="en-US" dirty="0"/>
              <a:t>, or assigning </a:t>
            </a:r>
            <a:r>
              <a:rPr lang="en-US" altLang="en-US" b="1" dirty="0">
                <a:solidFill>
                  <a:srgbClr val="0070C0"/>
                </a:solidFill>
              </a:rPr>
              <a:t>applicants</a:t>
            </a:r>
            <a:r>
              <a:rPr lang="en-US" altLang="en-US" dirty="0"/>
              <a:t> to </a:t>
            </a:r>
            <a:r>
              <a:rPr lang="en-US" altLang="en-US" b="1" dirty="0">
                <a:solidFill>
                  <a:srgbClr val="0070C0"/>
                </a:solidFill>
              </a:rPr>
              <a:t>universities</a:t>
            </a:r>
            <a:r>
              <a:rPr lang="en-US" altLang="en-US" dirty="0"/>
              <a:t>, etc.</a:t>
            </a:r>
          </a:p>
          <a:p>
            <a:pPr marL="342900" indent="-342900" eaLnBrk="1" hangingPunct="1">
              <a:buClr>
                <a:schemeClr val="accent6">
                  <a:lumMod val="75000"/>
                </a:schemeClr>
              </a:buClr>
              <a:buSzPct val="125000"/>
              <a:buFont typeface="Arial" panose="020B0604020202020204" pitchFamily="34" charset="0"/>
              <a:buChar char="•"/>
              <a:defRPr/>
            </a:pPr>
            <a:r>
              <a:rPr lang="en-US" altLang="en-US" b="1" dirty="0">
                <a:solidFill>
                  <a:srgbClr val="0070C0"/>
                </a:solidFill>
              </a:rPr>
              <a:t>Time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complexity</a:t>
            </a:r>
            <a:r>
              <a:rPr lang="en-US" altLang="en-US" dirty="0"/>
              <a:t> is </a:t>
            </a:r>
            <a:r>
              <a:rPr lang="en-US" altLang="en-US" b="1" i="1" dirty="0">
                <a:solidFill>
                  <a:srgbClr val="7030A0"/>
                </a:solidFill>
              </a:rPr>
              <a:t>O(n</a:t>
            </a:r>
            <a:r>
              <a:rPr lang="en-US" altLang="en-US" b="1" i="1" baseline="30000" dirty="0">
                <a:solidFill>
                  <a:srgbClr val="7030A0"/>
                </a:solidFill>
              </a:rPr>
              <a:t>2</a:t>
            </a:r>
            <a:r>
              <a:rPr lang="en-US" altLang="en-US" b="1" i="1" dirty="0">
                <a:solidFill>
                  <a:srgbClr val="7030A0"/>
                </a:solidFill>
              </a:rPr>
              <a:t>)</a:t>
            </a:r>
            <a:r>
              <a:rPr lang="en-US" altLang="en-US" dirty="0"/>
              <a:t>.</a:t>
            </a:r>
          </a:p>
          <a:p>
            <a:pPr marL="342900" indent="-342900" eaLnBrk="1" hangingPunct="1">
              <a:buClr>
                <a:schemeClr val="accent6">
                  <a:lumMod val="75000"/>
                </a:schemeClr>
              </a:buClr>
              <a:buSzPct val="125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Do </a:t>
            </a:r>
            <a:r>
              <a:rPr lang="en-US" altLang="en-US" b="1" dirty="0">
                <a:solidFill>
                  <a:srgbClr val="0070C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assume</a:t>
            </a:r>
            <a:r>
              <a:rPr lang="en-US" altLang="en-US" dirty="0"/>
              <a:t> a </a:t>
            </a:r>
            <a:r>
              <a:rPr lang="en-US" altLang="en-US" b="1" dirty="0">
                <a:solidFill>
                  <a:srgbClr val="0070C0"/>
                </a:solidFill>
              </a:rPr>
              <a:t>problem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0070C0"/>
                </a:solidFill>
              </a:rPr>
              <a:t>NP-Hard</a:t>
            </a:r>
            <a:r>
              <a:rPr lang="en-US" altLang="en-US" dirty="0"/>
              <a:t>. You </a:t>
            </a:r>
            <a:r>
              <a:rPr lang="en-US" altLang="en-US" b="1" dirty="0">
                <a:solidFill>
                  <a:srgbClr val="0070C0"/>
                </a:solidFill>
              </a:rPr>
              <a:t>have</a:t>
            </a:r>
            <a:r>
              <a:rPr lang="en-US" altLang="en-US" dirty="0"/>
              <a:t> to </a:t>
            </a:r>
            <a:r>
              <a:rPr lang="en-US" altLang="en-US" b="1" dirty="0">
                <a:solidFill>
                  <a:srgbClr val="0070C0"/>
                </a:solidFill>
              </a:rPr>
              <a:t>prove</a:t>
            </a:r>
            <a:r>
              <a:rPr lang="en-US" altLang="en-US" dirty="0"/>
              <a:t> it. The </a:t>
            </a:r>
            <a:r>
              <a:rPr lang="en-US" altLang="en-US" b="1" dirty="0">
                <a:solidFill>
                  <a:srgbClr val="0070C0"/>
                </a:solidFill>
              </a:rPr>
              <a:t>SMP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fooled</a:t>
            </a:r>
            <a:r>
              <a:rPr lang="en-US" altLang="en-US" dirty="0"/>
              <a:t> some people.</a:t>
            </a:r>
          </a:p>
          <a:p>
            <a:pPr marL="342900" indent="-342900" eaLnBrk="1" hangingPunct="1">
              <a:buClr>
                <a:schemeClr val="accent6">
                  <a:lumMod val="75000"/>
                </a:schemeClr>
              </a:buClr>
              <a:buSzPct val="125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Do </a:t>
            </a:r>
            <a:r>
              <a:rPr lang="en-US" altLang="en-US" b="1" dirty="0">
                <a:solidFill>
                  <a:srgbClr val="0070C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confuse</a:t>
            </a:r>
            <a:r>
              <a:rPr lang="en-US" altLang="en-US" dirty="0"/>
              <a:t> with the </a:t>
            </a:r>
            <a:r>
              <a:rPr lang="en-US" altLang="en-US" b="1" dirty="0">
                <a:solidFill>
                  <a:srgbClr val="0070C0"/>
                </a:solidFill>
              </a:rPr>
              <a:t>Stable Roommate Problem </a:t>
            </a:r>
            <a:r>
              <a:rPr lang="en-US" altLang="en-US" dirty="0"/>
              <a:t>which </a:t>
            </a:r>
            <a:r>
              <a:rPr lang="en-US" altLang="en-US" b="1" dirty="0">
                <a:solidFill>
                  <a:srgbClr val="0070C0"/>
                </a:solidFill>
              </a:rPr>
              <a:t>can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also</a:t>
            </a:r>
            <a:r>
              <a:rPr lang="en-US" altLang="en-US" dirty="0"/>
              <a:t> be </a:t>
            </a:r>
            <a:r>
              <a:rPr lang="en-US" altLang="en-US" b="1" dirty="0">
                <a:solidFill>
                  <a:srgbClr val="0070C0"/>
                </a:solidFill>
              </a:rPr>
              <a:t>solved</a:t>
            </a:r>
            <a:r>
              <a:rPr lang="en-US" altLang="en-US" dirty="0"/>
              <a:t> in </a:t>
            </a:r>
            <a:r>
              <a:rPr lang="en-US" altLang="en-US" b="1" dirty="0">
                <a:solidFill>
                  <a:srgbClr val="0070C0"/>
                </a:solidFill>
              </a:rPr>
              <a:t>polynomial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time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70C0"/>
                </a:solidFill>
              </a:rPr>
              <a:t>Irving</a:t>
            </a:r>
            <a:r>
              <a:rPr lang="en-US" altLang="en-US" dirty="0"/>
              <a:t>, </a:t>
            </a:r>
            <a:r>
              <a:rPr lang="en-US" altLang="en-US" b="1" i="1" dirty="0">
                <a:solidFill>
                  <a:srgbClr val="7030A0"/>
                </a:solidFill>
              </a:rPr>
              <a:t>O(n</a:t>
            </a:r>
            <a:r>
              <a:rPr lang="en-US" altLang="en-US" b="1" i="1" baseline="30000" dirty="0">
                <a:solidFill>
                  <a:srgbClr val="7030A0"/>
                </a:solidFill>
              </a:rPr>
              <a:t>2</a:t>
            </a:r>
            <a:r>
              <a:rPr lang="en-US" altLang="en-US" b="1" i="1" dirty="0">
                <a:solidFill>
                  <a:srgbClr val="7030A0"/>
                </a:solidFill>
              </a:rPr>
              <a:t>)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70C0"/>
                </a:solidFill>
              </a:rPr>
              <a:t>1985</a:t>
            </a:r>
            <a:r>
              <a:rPr lang="en-US" altLang="en-US" dirty="0"/>
              <a:t>).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6096000" cy="1080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Stable Marriage Problem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838200"/>
            <a:ext cx="10515600" cy="4724400"/>
          </a:xfrm>
        </p:spPr>
        <p:txBody>
          <a:bodyPr>
            <a:normAutofit/>
          </a:bodyPr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b="1" dirty="0">
                <a:solidFill>
                  <a:srgbClr val="0070C0"/>
                </a:solidFill>
              </a:rPr>
              <a:t>Suppose</a:t>
            </a:r>
            <a:r>
              <a:rPr lang="en-US" dirty="0"/>
              <a:t> we </a:t>
            </a:r>
            <a:r>
              <a:rPr lang="en-US" b="1" dirty="0">
                <a:solidFill>
                  <a:srgbClr val="0070C0"/>
                </a:solidFill>
              </a:rPr>
              <a:t>have</a:t>
            </a:r>
            <a:r>
              <a:rPr lang="en-US" dirty="0"/>
              <a:t> a </a:t>
            </a:r>
            <a:r>
              <a:rPr lang="en-US" b="1" dirty="0">
                <a:solidFill>
                  <a:srgbClr val="0070C0"/>
                </a:solidFill>
              </a:rPr>
              <a:t>set</a:t>
            </a:r>
            <a:r>
              <a:rPr lang="en-US" dirty="0"/>
              <a:t> </a:t>
            </a:r>
            <a:r>
              <a:rPr lang="en-US" b="1" dirty="0">
                <a:solidFill>
                  <a:srgbClr val="7030A0"/>
                </a:solidFill>
              </a:rPr>
              <a:t>B</a:t>
            </a:r>
            <a:r>
              <a:rPr lang="en-US" dirty="0"/>
              <a:t> of </a:t>
            </a:r>
            <a:r>
              <a:rPr lang="en-US" b="1" dirty="0">
                <a:solidFill>
                  <a:srgbClr val="7030A0"/>
                </a:solidFill>
              </a:rPr>
              <a:t>n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boys</a:t>
            </a:r>
            <a:r>
              <a:rPr lang="en-US" dirty="0"/>
              <a:t> and a </a:t>
            </a:r>
            <a:r>
              <a:rPr lang="en-US" b="1" dirty="0">
                <a:solidFill>
                  <a:srgbClr val="0070C0"/>
                </a:solidFill>
              </a:rPr>
              <a:t>set</a:t>
            </a:r>
            <a:r>
              <a:rPr lang="en-US" dirty="0"/>
              <a:t> </a:t>
            </a:r>
            <a:r>
              <a:rPr lang="en-US" b="1" dirty="0">
                <a:solidFill>
                  <a:srgbClr val="7030A0"/>
                </a:solidFill>
              </a:rPr>
              <a:t>G</a:t>
            </a:r>
            <a:r>
              <a:rPr lang="en-US" dirty="0"/>
              <a:t> of </a:t>
            </a:r>
            <a:r>
              <a:rPr lang="en-US" b="1" dirty="0">
                <a:solidFill>
                  <a:srgbClr val="7030A0"/>
                </a:solidFill>
              </a:rPr>
              <a:t>n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girls</a:t>
            </a:r>
            <a:r>
              <a:rPr lang="en-US" dirty="0"/>
              <a:t>.</a:t>
            </a:r>
            <a:endParaRPr lang="en-GB" dirty="0"/>
          </a:p>
          <a:p>
            <a:pPr marL="342900" indent="-342900">
              <a:buClr>
                <a:schemeClr val="accent6">
                  <a:lumMod val="75000"/>
                </a:schemeClr>
              </a:buClr>
              <a:defRPr/>
            </a:pPr>
            <a:endParaRPr lang="en-GB" sz="800" dirty="0"/>
          </a:p>
          <a:p>
            <a:pPr marL="342900" indent="-342900"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Definition</a:t>
            </a:r>
            <a:br>
              <a:rPr lang="en-GB" dirty="0"/>
            </a:br>
            <a:r>
              <a:rPr lang="en-GB" dirty="0"/>
              <a:t>A </a:t>
            </a:r>
            <a:r>
              <a:rPr lang="en-GB" b="1" dirty="0">
                <a:solidFill>
                  <a:srgbClr val="0070C0"/>
                </a:solidFill>
              </a:rPr>
              <a:t>matching</a:t>
            </a:r>
            <a:r>
              <a:rPr lang="en-GB" dirty="0"/>
              <a:t> </a:t>
            </a:r>
            <a:r>
              <a:rPr lang="en-GB" b="1" dirty="0">
                <a:solidFill>
                  <a:srgbClr val="7030A0"/>
                </a:solidFill>
              </a:rPr>
              <a:t>M</a:t>
            </a:r>
            <a:r>
              <a:rPr lang="en-GB" dirty="0"/>
              <a:t> is a </a:t>
            </a:r>
            <a:r>
              <a:rPr lang="en-GB" b="1" dirty="0">
                <a:solidFill>
                  <a:srgbClr val="0070C0"/>
                </a:solidFill>
              </a:rPr>
              <a:t>set</a:t>
            </a:r>
            <a:r>
              <a:rPr lang="en-GB" dirty="0"/>
              <a:t> of </a:t>
            </a:r>
            <a:r>
              <a:rPr lang="en-GB" b="1" dirty="0">
                <a:solidFill>
                  <a:srgbClr val="0070C0"/>
                </a:solidFill>
              </a:rPr>
              <a:t>ordered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pairs</a:t>
            </a:r>
            <a:r>
              <a:rPr lang="en-GB" dirty="0"/>
              <a:t> (</a:t>
            </a:r>
            <a:r>
              <a:rPr lang="en-GB" b="1" dirty="0">
                <a:solidFill>
                  <a:srgbClr val="7030A0"/>
                </a:solidFill>
              </a:rPr>
              <a:t>b</a:t>
            </a:r>
            <a:r>
              <a:rPr lang="en-GB" dirty="0"/>
              <a:t>, </a:t>
            </a:r>
            <a:r>
              <a:rPr lang="en-GB" b="1" dirty="0">
                <a:solidFill>
                  <a:srgbClr val="7030A0"/>
                </a:solidFill>
              </a:rPr>
              <a:t>g</a:t>
            </a:r>
            <a:r>
              <a:rPr lang="en-GB" dirty="0"/>
              <a:t>) with </a:t>
            </a:r>
            <a:r>
              <a:rPr lang="en-GB" b="1" dirty="0">
                <a:solidFill>
                  <a:srgbClr val="7030A0"/>
                </a:solidFill>
              </a:rPr>
              <a:t>b</a:t>
            </a:r>
            <a:r>
              <a:rPr lang="en-GB" dirty="0"/>
              <a:t> ∈ </a:t>
            </a:r>
            <a:r>
              <a:rPr lang="en-GB" b="1" dirty="0">
                <a:solidFill>
                  <a:srgbClr val="7030A0"/>
                </a:solidFill>
              </a:rPr>
              <a:t>B</a:t>
            </a:r>
            <a:r>
              <a:rPr lang="en-GB" dirty="0"/>
              <a:t> and </a:t>
            </a:r>
            <a:r>
              <a:rPr lang="en-GB" b="1" dirty="0">
                <a:solidFill>
                  <a:srgbClr val="7030A0"/>
                </a:solidFill>
              </a:rPr>
              <a:t>g</a:t>
            </a:r>
            <a:r>
              <a:rPr lang="en-GB" dirty="0"/>
              <a:t> ∈ </a:t>
            </a:r>
            <a:r>
              <a:rPr lang="en-GB" b="1" dirty="0">
                <a:solidFill>
                  <a:srgbClr val="7030A0"/>
                </a:solidFill>
              </a:rPr>
              <a:t>G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such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that</a:t>
            </a:r>
            <a:r>
              <a:rPr lang="en-GB" dirty="0"/>
              <a:t>:</a:t>
            </a:r>
          </a:p>
          <a:p>
            <a:pPr marL="800100" lvl="1" indent="-342900"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GB" b="1" dirty="0">
                <a:solidFill>
                  <a:srgbClr val="0070C0"/>
                </a:solidFill>
              </a:rPr>
              <a:t>Each</a:t>
            </a:r>
            <a:r>
              <a:rPr lang="en-GB" dirty="0"/>
              <a:t> boy </a:t>
            </a:r>
            <a:r>
              <a:rPr lang="en-GB" b="1" dirty="0">
                <a:solidFill>
                  <a:srgbClr val="7030A0"/>
                </a:solidFill>
              </a:rPr>
              <a:t>b</a:t>
            </a:r>
            <a:r>
              <a:rPr lang="en-GB" dirty="0"/>
              <a:t> ∈ </a:t>
            </a:r>
            <a:r>
              <a:rPr lang="en-GB" b="1" dirty="0">
                <a:solidFill>
                  <a:srgbClr val="7030A0"/>
                </a:solidFill>
              </a:rPr>
              <a:t>B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appears</a:t>
            </a:r>
            <a:r>
              <a:rPr lang="en-GB" dirty="0"/>
              <a:t> in at </a:t>
            </a:r>
            <a:r>
              <a:rPr lang="en-GB" b="1" dirty="0">
                <a:solidFill>
                  <a:srgbClr val="0070C0"/>
                </a:solidFill>
              </a:rPr>
              <a:t>most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one</a:t>
            </a:r>
            <a:r>
              <a:rPr lang="en-GB" dirty="0"/>
              <a:t> pair of </a:t>
            </a:r>
            <a:r>
              <a:rPr lang="en-GB" b="1" dirty="0">
                <a:solidFill>
                  <a:srgbClr val="7030A0"/>
                </a:solidFill>
              </a:rPr>
              <a:t>M</a:t>
            </a:r>
            <a:r>
              <a:rPr lang="en-GB" dirty="0"/>
              <a:t>.</a:t>
            </a:r>
          </a:p>
          <a:p>
            <a:pPr marL="800100" lvl="1" indent="-342900"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GB" b="1" dirty="0">
                <a:solidFill>
                  <a:srgbClr val="0070C0"/>
                </a:solidFill>
              </a:rPr>
              <a:t>Each</a:t>
            </a:r>
            <a:r>
              <a:rPr lang="en-GB" dirty="0"/>
              <a:t> girl </a:t>
            </a:r>
            <a:r>
              <a:rPr lang="en-GB" b="1" dirty="0">
                <a:solidFill>
                  <a:srgbClr val="7030A0"/>
                </a:solidFill>
              </a:rPr>
              <a:t>g</a:t>
            </a:r>
            <a:r>
              <a:rPr lang="en-GB" dirty="0"/>
              <a:t> ∈ </a:t>
            </a:r>
            <a:r>
              <a:rPr lang="en-GB" b="1" dirty="0">
                <a:solidFill>
                  <a:srgbClr val="7030A0"/>
                </a:solidFill>
              </a:rPr>
              <a:t>G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appears</a:t>
            </a:r>
            <a:r>
              <a:rPr lang="en-GB" dirty="0"/>
              <a:t> in at </a:t>
            </a:r>
            <a:r>
              <a:rPr lang="en-GB" b="1" dirty="0">
                <a:solidFill>
                  <a:srgbClr val="0070C0"/>
                </a:solidFill>
              </a:rPr>
              <a:t>most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one</a:t>
            </a:r>
            <a:r>
              <a:rPr lang="en-GB" dirty="0"/>
              <a:t> pair of </a:t>
            </a:r>
            <a:r>
              <a:rPr lang="en-GB" b="1" dirty="0">
                <a:solidFill>
                  <a:srgbClr val="7030A0"/>
                </a:solidFill>
              </a:rPr>
              <a:t>M</a:t>
            </a:r>
            <a:r>
              <a:rPr lang="en-GB" dirty="0"/>
              <a:t>.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Definition</a:t>
            </a:r>
            <a:br>
              <a:rPr lang="en-GB" dirty="0"/>
            </a:br>
            <a:r>
              <a:rPr lang="en-GB" dirty="0"/>
              <a:t>A </a:t>
            </a:r>
            <a:r>
              <a:rPr lang="en-GB" b="1" dirty="0">
                <a:solidFill>
                  <a:srgbClr val="0070C0"/>
                </a:solidFill>
              </a:rPr>
              <a:t>matching</a:t>
            </a:r>
            <a:r>
              <a:rPr lang="en-GB" dirty="0"/>
              <a:t> </a:t>
            </a:r>
            <a:r>
              <a:rPr lang="en-GB" b="1" dirty="0">
                <a:solidFill>
                  <a:srgbClr val="7030A0"/>
                </a:solidFill>
              </a:rPr>
              <a:t>M</a:t>
            </a:r>
            <a:r>
              <a:rPr lang="en-GB" dirty="0"/>
              <a:t> is </a:t>
            </a:r>
            <a:r>
              <a:rPr lang="en-GB" b="1" dirty="0">
                <a:solidFill>
                  <a:srgbClr val="0070C0"/>
                </a:solidFill>
              </a:rPr>
              <a:t>perfect</a:t>
            </a:r>
            <a:r>
              <a:rPr lang="en-GB" dirty="0"/>
              <a:t> if |</a:t>
            </a:r>
            <a:r>
              <a:rPr lang="en-GB" b="1" dirty="0">
                <a:solidFill>
                  <a:srgbClr val="7030A0"/>
                </a:solidFill>
              </a:rPr>
              <a:t>M</a:t>
            </a:r>
            <a:r>
              <a:rPr lang="en-GB" dirty="0"/>
              <a:t>| = |</a:t>
            </a:r>
            <a:r>
              <a:rPr lang="en-GB" b="1" dirty="0">
                <a:solidFill>
                  <a:srgbClr val="7030A0"/>
                </a:solidFill>
              </a:rPr>
              <a:t>B</a:t>
            </a:r>
            <a:r>
              <a:rPr lang="en-GB" dirty="0"/>
              <a:t>| = |</a:t>
            </a:r>
            <a:r>
              <a:rPr lang="en-GB" b="1" dirty="0">
                <a:solidFill>
                  <a:srgbClr val="7030A0"/>
                </a:solidFill>
              </a:rPr>
              <a:t>G</a:t>
            </a:r>
            <a:r>
              <a:rPr lang="en-GB" dirty="0"/>
              <a:t>| = </a:t>
            </a:r>
            <a:r>
              <a:rPr lang="en-GB" b="1" dirty="0">
                <a:solidFill>
                  <a:srgbClr val="7030A0"/>
                </a:solidFill>
              </a:rPr>
              <a:t>n</a:t>
            </a:r>
            <a:r>
              <a:rPr lang="en-GB" dirty="0"/>
              <a:t>.</a:t>
            </a:r>
            <a:endParaRPr lang="en-US" altLang="en-US" dirty="0"/>
          </a:p>
          <a:p>
            <a:pPr marL="0" indent="0" eaLnBrk="1" hangingPunct="1">
              <a:buNone/>
              <a:defRPr/>
            </a:pPr>
            <a:endParaRPr lang="en-US" altLang="en-US" dirty="0"/>
          </a:p>
          <a:p>
            <a:pPr marL="0" indent="0" eaLnBrk="1" hangingPunct="1">
              <a:buNone/>
              <a:defRPr/>
            </a:pPr>
            <a:endParaRPr lang="en-US" alt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610600" cy="1080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Formal Definition – Perfect Matching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  <p:pic>
        <p:nvPicPr>
          <p:cNvPr id="11" name="Picture 2" descr="Image result for stable marriage perfect match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590551"/>
            <a:ext cx="4803775" cy="2247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60170C39-99D8-4777-B14B-42306603FA53}"/>
              </a:ext>
            </a:extLst>
          </p:cNvPr>
          <p:cNvSpPr/>
          <p:nvPr/>
        </p:nvSpPr>
        <p:spPr>
          <a:xfrm>
            <a:off x="9198429" y="4973963"/>
            <a:ext cx="2133600" cy="1219200"/>
          </a:xfrm>
          <a:prstGeom prst="wedgeRectCallout">
            <a:avLst>
              <a:gd name="adj1" fmla="val -93986"/>
              <a:gd name="adj2" fmla="val 11422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Sparse bi-partite graph.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65265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990600"/>
            <a:ext cx="10515600" cy="4724400"/>
          </a:xfrm>
        </p:spPr>
        <p:txBody>
          <a:bodyPr>
            <a:normAutofit/>
          </a:bodyPr>
          <a:lstStyle/>
          <a:p>
            <a:pPr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Definition</a:t>
            </a:r>
            <a:br>
              <a:rPr lang="en-GB" dirty="0"/>
            </a:br>
            <a:r>
              <a:rPr lang="en-GB" dirty="0"/>
              <a:t>Given a </a:t>
            </a:r>
            <a:r>
              <a:rPr lang="en-GB" b="1" dirty="0">
                <a:solidFill>
                  <a:srgbClr val="0070C0"/>
                </a:solidFill>
              </a:rPr>
              <a:t>perfect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matching</a:t>
            </a:r>
            <a:r>
              <a:rPr lang="en-GB" dirty="0"/>
              <a:t> </a:t>
            </a:r>
            <a:r>
              <a:rPr lang="en-GB" b="1" i="1" dirty="0">
                <a:solidFill>
                  <a:srgbClr val="7030A0"/>
                </a:solidFill>
              </a:rPr>
              <a:t>M</a:t>
            </a:r>
            <a:r>
              <a:rPr lang="en-GB" dirty="0"/>
              <a:t>, boy </a:t>
            </a:r>
            <a:r>
              <a:rPr lang="en-GB" b="1" i="1" dirty="0">
                <a:solidFill>
                  <a:srgbClr val="7030A0"/>
                </a:solidFill>
              </a:rPr>
              <a:t>b</a:t>
            </a:r>
            <a:r>
              <a:rPr lang="en-GB" dirty="0"/>
              <a:t> and girl </a:t>
            </a:r>
            <a:r>
              <a:rPr lang="en-GB" b="1" i="1" dirty="0">
                <a:solidFill>
                  <a:srgbClr val="7030A0"/>
                </a:solidFill>
              </a:rPr>
              <a:t>g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form</a:t>
            </a:r>
            <a:r>
              <a:rPr lang="en-GB" dirty="0"/>
              <a:t> an </a:t>
            </a:r>
            <a:r>
              <a:rPr lang="en-GB" b="1" dirty="0">
                <a:solidFill>
                  <a:srgbClr val="0070C0"/>
                </a:solidFill>
              </a:rPr>
              <a:t>unstable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pair</a:t>
            </a:r>
            <a:r>
              <a:rPr lang="en-GB" dirty="0"/>
              <a:t> if both the </a:t>
            </a:r>
            <a:r>
              <a:rPr lang="en-GB" b="1" dirty="0">
                <a:solidFill>
                  <a:srgbClr val="0070C0"/>
                </a:solidFill>
              </a:rPr>
              <a:t>following</a:t>
            </a:r>
            <a:r>
              <a:rPr lang="en-GB" dirty="0"/>
              <a:t> are </a:t>
            </a:r>
            <a:r>
              <a:rPr lang="en-GB" b="1" dirty="0">
                <a:solidFill>
                  <a:srgbClr val="0070C0"/>
                </a:solidFill>
              </a:rPr>
              <a:t>true</a:t>
            </a:r>
            <a:r>
              <a:rPr lang="en-GB" dirty="0"/>
              <a:t>: </a:t>
            </a:r>
          </a:p>
          <a:p>
            <a:pPr lvl="1"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GB" b="1" i="1" dirty="0">
                <a:solidFill>
                  <a:srgbClr val="7030A0"/>
                </a:solidFill>
              </a:rPr>
              <a:t>b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prefers</a:t>
            </a:r>
            <a:r>
              <a:rPr lang="en-GB" dirty="0"/>
              <a:t> </a:t>
            </a:r>
            <a:r>
              <a:rPr lang="en-GB" b="1" i="1" dirty="0">
                <a:solidFill>
                  <a:srgbClr val="7030A0"/>
                </a:solidFill>
              </a:rPr>
              <a:t>g</a:t>
            </a:r>
            <a:r>
              <a:rPr lang="en-GB" dirty="0"/>
              <a:t> to his </a:t>
            </a:r>
            <a:r>
              <a:rPr lang="en-GB" b="1" dirty="0">
                <a:solidFill>
                  <a:srgbClr val="0070C0"/>
                </a:solidFill>
              </a:rPr>
              <a:t>matched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girl</a:t>
            </a:r>
            <a:r>
              <a:rPr lang="en-GB" dirty="0"/>
              <a:t> in </a:t>
            </a:r>
            <a:r>
              <a:rPr lang="en-GB" b="1" i="1" dirty="0">
                <a:solidFill>
                  <a:srgbClr val="7030A0"/>
                </a:solidFill>
              </a:rPr>
              <a:t>M</a:t>
            </a:r>
            <a:r>
              <a:rPr lang="en-GB" dirty="0"/>
              <a:t>. </a:t>
            </a:r>
          </a:p>
          <a:p>
            <a:pPr lvl="1"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GB" b="1" i="1" dirty="0">
                <a:solidFill>
                  <a:srgbClr val="7030A0"/>
                </a:solidFill>
              </a:rPr>
              <a:t>g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prefers</a:t>
            </a:r>
            <a:r>
              <a:rPr lang="en-GB" b="1" i="1" dirty="0">
                <a:solidFill>
                  <a:srgbClr val="7030A0"/>
                </a:solidFill>
              </a:rPr>
              <a:t> b </a:t>
            </a:r>
            <a:r>
              <a:rPr lang="en-GB" dirty="0"/>
              <a:t>to her </a:t>
            </a:r>
            <a:r>
              <a:rPr lang="en-GB" b="1" dirty="0">
                <a:solidFill>
                  <a:srgbClr val="0070C0"/>
                </a:solidFill>
              </a:rPr>
              <a:t>matched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boy</a:t>
            </a:r>
            <a:r>
              <a:rPr lang="en-GB" dirty="0"/>
              <a:t> in </a:t>
            </a:r>
            <a:r>
              <a:rPr lang="en-GB" b="1" i="1" dirty="0">
                <a:solidFill>
                  <a:srgbClr val="7030A0"/>
                </a:solidFill>
              </a:rPr>
              <a:t>M</a:t>
            </a:r>
            <a:r>
              <a:rPr lang="en-GB" dirty="0"/>
              <a:t>.</a:t>
            </a:r>
          </a:p>
          <a:p>
            <a:pPr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Key Point</a:t>
            </a:r>
            <a:br>
              <a:rPr lang="en-GB" dirty="0"/>
            </a:br>
            <a:r>
              <a:rPr lang="en-GB" dirty="0"/>
              <a:t>An </a:t>
            </a:r>
            <a:r>
              <a:rPr lang="en-GB" b="1" dirty="0">
                <a:solidFill>
                  <a:srgbClr val="0070C0"/>
                </a:solidFill>
              </a:rPr>
              <a:t>unstable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pair</a:t>
            </a:r>
            <a:r>
              <a:rPr lang="en-GB" dirty="0"/>
              <a:t> </a:t>
            </a:r>
            <a:r>
              <a:rPr lang="en-GB" b="1" i="1" dirty="0">
                <a:solidFill>
                  <a:srgbClr val="7030A0"/>
                </a:solidFill>
              </a:rPr>
              <a:t>b</a:t>
            </a:r>
            <a:r>
              <a:rPr lang="en-GB" dirty="0"/>
              <a:t> and </a:t>
            </a:r>
            <a:r>
              <a:rPr lang="en-GB" b="1" i="1" dirty="0">
                <a:solidFill>
                  <a:srgbClr val="7030A0"/>
                </a:solidFill>
              </a:rPr>
              <a:t>g</a:t>
            </a:r>
            <a:r>
              <a:rPr lang="en-GB" dirty="0"/>
              <a:t> could </a:t>
            </a:r>
            <a:r>
              <a:rPr lang="en-GB" b="1" dirty="0">
                <a:solidFill>
                  <a:srgbClr val="0070C0"/>
                </a:solidFill>
              </a:rPr>
              <a:t>each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improve</a:t>
            </a:r>
            <a:r>
              <a:rPr lang="en-GB" dirty="0"/>
              <a:t> by </a:t>
            </a:r>
            <a:r>
              <a:rPr lang="en-GB" b="1" dirty="0">
                <a:solidFill>
                  <a:srgbClr val="0070C0"/>
                </a:solidFill>
              </a:rPr>
              <a:t>being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assigned</a:t>
            </a:r>
            <a:r>
              <a:rPr lang="en-GB" dirty="0"/>
              <a:t> each </a:t>
            </a:r>
            <a:r>
              <a:rPr lang="en-GB" b="1" dirty="0">
                <a:solidFill>
                  <a:srgbClr val="0070C0"/>
                </a:solidFill>
              </a:rPr>
              <a:t>other</a:t>
            </a:r>
            <a:r>
              <a:rPr lang="en-GB" dirty="0"/>
              <a:t>.</a:t>
            </a:r>
            <a:endParaRPr lang="en-US" alt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610600" cy="1080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Formal Definition – Unstable Pair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267200"/>
            <a:ext cx="6507543" cy="25146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19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10515600" cy="4419600"/>
          </a:xfrm>
        </p:spPr>
        <p:txBody>
          <a:bodyPr>
            <a:normAutofit lnSpcReduction="10000"/>
          </a:bodyPr>
          <a:lstStyle/>
          <a:p>
            <a:pPr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Definition</a:t>
            </a:r>
            <a:br>
              <a:rPr lang="en-GB" dirty="0"/>
            </a:br>
            <a:r>
              <a:rPr lang="en-GB" dirty="0"/>
              <a:t>A </a:t>
            </a:r>
            <a:r>
              <a:rPr lang="en-GB" b="1" dirty="0">
                <a:solidFill>
                  <a:srgbClr val="0070C0"/>
                </a:solidFill>
              </a:rPr>
              <a:t>stable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matching</a:t>
            </a:r>
            <a:r>
              <a:rPr lang="en-GB" dirty="0"/>
              <a:t> is a </a:t>
            </a:r>
            <a:r>
              <a:rPr lang="en-GB" b="1" dirty="0">
                <a:solidFill>
                  <a:srgbClr val="0070C0"/>
                </a:solidFill>
              </a:rPr>
              <a:t>perfect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matching</a:t>
            </a:r>
            <a:r>
              <a:rPr lang="en-GB" dirty="0"/>
              <a:t> with </a:t>
            </a:r>
            <a:r>
              <a:rPr lang="en-GB" b="1" dirty="0">
                <a:solidFill>
                  <a:srgbClr val="0070C0"/>
                </a:solidFill>
              </a:rPr>
              <a:t>no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unstable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pairs</a:t>
            </a:r>
            <a:r>
              <a:rPr lang="en-GB" dirty="0"/>
              <a:t>.</a:t>
            </a:r>
          </a:p>
          <a:p>
            <a:pPr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The Stable Marriage Problem</a:t>
            </a:r>
            <a:br>
              <a:rPr lang="en-GB" dirty="0"/>
            </a:br>
            <a:r>
              <a:rPr lang="en-GB" dirty="0"/>
              <a:t>Given the </a:t>
            </a:r>
            <a:r>
              <a:rPr lang="en-GB" b="1" dirty="0">
                <a:solidFill>
                  <a:srgbClr val="0070C0"/>
                </a:solidFill>
              </a:rPr>
              <a:t>preference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lists</a:t>
            </a:r>
            <a:r>
              <a:rPr lang="en-GB" dirty="0"/>
              <a:t> of </a:t>
            </a:r>
            <a:r>
              <a:rPr lang="en-GB" b="1" i="1" dirty="0">
                <a:solidFill>
                  <a:srgbClr val="7030A0"/>
                </a:solidFill>
              </a:rPr>
              <a:t>n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boys</a:t>
            </a:r>
            <a:r>
              <a:rPr lang="en-GB" dirty="0"/>
              <a:t> and </a:t>
            </a:r>
            <a:r>
              <a:rPr lang="en-GB" b="1" i="1" dirty="0">
                <a:solidFill>
                  <a:srgbClr val="7030A0"/>
                </a:solidFill>
              </a:rPr>
              <a:t>n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girls</a:t>
            </a:r>
            <a:r>
              <a:rPr lang="en-GB" dirty="0"/>
              <a:t>, find a </a:t>
            </a:r>
            <a:r>
              <a:rPr lang="en-GB" b="1" dirty="0">
                <a:solidFill>
                  <a:srgbClr val="0070C0"/>
                </a:solidFill>
              </a:rPr>
              <a:t>stable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matching</a:t>
            </a:r>
            <a:r>
              <a:rPr lang="en-GB" dirty="0"/>
              <a:t> (if </a:t>
            </a:r>
            <a:r>
              <a:rPr lang="en-GB" b="1" dirty="0">
                <a:solidFill>
                  <a:srgbClr val="0070C0"/>
                </a:solidFill>
              </a:rPr>
              <a:t>one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exists</a:t>
            </a:r>
            <a:r>
              <a:rPr lang="en-GB" dirty="0"/>
              <a:t>).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SzPct val="125000"/>
              <a:buNone/>
              <a:defRPr/>
            </a:pPr>
            <a:endParaRPr lang="en-US" altLang="en-US" dirty="0"/>
          </a:p>
          <a:p>
            <a:pPr>
              <a:buClr>
                <a:schemeClr val="accent6">
                  <a:lumMod val="75000"/>
                </a:schemeClr>
              </a:buClr>
              <a:buSzPct val="125000"/>
              <a:defRPr/>
            </a:pPr>
            <a:endParaRPr lang="en-US" altLang="en-US" dirty="0"/>
          </a:p>
          <a:p>
            <a:pPr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US" altLang="en-US" dirty="0"/>
              <a:t>Note that a </a:t>
            </a:r>
            <a:r>
              <a:rPr lang="en-US" altLang="en-US" b="1" dirty="0">
                <a:solidFill>
                  <a:srgbClr val="0070C0"/>
                </a:solidFill>
              </a:rPr>
              <a:t>stable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matching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0070C0"/>
                </a:solidFill>
              </a:rPr>
              <a:t>guaranteed</a:t>
            </a:r>
            <a:r>
              <a:rPr lang="en-US" altLang="en-US" dirty="0"/>
              <a:t> to </a:t>
            </a:r>
            <a:r>
              <a:rPr lang="en-US" altLang="en-US" b="1" dirty="0">
                <a:solidFill>
                  <a:srgbClr val="0070C0"/>
                </a:solidFill>
              </a:rPr>
              <a:t>exist</a:t>
            </a:r>
            <a:r>
              <a:rPr lang="en-US" altLang="en-US" dirty="0"/>
              <a:t> and also the </a:t>
            </a:r>
            <a:r>
              <a:rPr lang="en-US" altLang="en-US" b="1" dirty="0">
                <a:solidFill>
                  <a:srgbClr val="0070C0"/>
                </a:solidFill>
              </a:rPr>
              <a:t>Gale-Shapley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algorithm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0070C0"/>
                </a:solidFill>
              </a:rPr>
              <a:t>guaranteed</a:t>
            </a:r>
            <a:r>
              <a:rPr lang="en-US" altLang="en-US" dirty="0"/>
              <a:t> to find a </a:t>
            </a:r>
            <a:r>
              <a:rPr lang="en-US" altLang="en-US" b="1" dirty="0">
                <a:solidFill>
                  <a:srgbClr val="0070C0"/>
                </a:solidFill>
              </a:rPr>
              <a:t>stable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matching</a:t>
            </a:r>
            <a:r>
              <a:rPr lang="en-US" altLang="en-US" dirty="0"/>
              <a:t>.</a:t>
            </a:r>
          </a:p>
          <a:p>
            <a:pPr>
              <a:buClr>
                <a:schemeClr val="accent6">
                  <a:lumMod val="75000"/>
                </a:schemeClr>
              </a:buClr>
              <a:buSzPct val="125000"/>
              <a:defRPr/>
            </a:pPr>
            <a:r>
              <a:rPr lang="en-US" altLang="en-US" dirty="0"/>
              <a:t>There </a:t>
            </a:r>
            <a:r>
              <a:rPr lang="en-US" altLang="en-US" b="1" dirty="0">
                <a:solidFill>
                  <a:srgbClr val="0070C0"/>
                </a:solidFill>
              </a:rPr>
              <a:t>may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70C0"/>
                </a:solidFill>
              </a:rPr>
              <a:t>however</a:t>
            </a:r>
            <a:r>
              <a:rPr lang="en-US" altLang="en-US" dirty="0"/>
              <a:t>, be </a:t>
            </a:r>
            <a:r>
              <a:rPr lang="en-US" altLang="en-US" b="1" dirty="0">
                <a:solidFill>
                  <a:srgbClr val="0070C0"/>
                </a:solidFill>
              </a:rPr>
              <a:t>more</a:t>
            </a:r>
            <a:r>
              <a:rPr lang="en-US" altLang="en-US" dirty="0"/>
              <a:t> than one </a:t>
            </a:r>
            <a:r>
              <a:rPr lang="en-US" altLang="en-US" b="1" dirty="0">
                <a:solidFill>
                  <a:srgbClr val="0070C0"/>
                </a:solidFill>
              </a:rPr>
              <a:t>stable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matching</a:t>
            </a:r>
            <a:r>
              <a:rPr lang="en-US" altLang="en-US" dirty="0"/>
              <a:t>.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610600" cy="1080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Formal Definition – Stable Matching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  <p:extLst>
      <p:ext uri="{BB962C8B-B14F-4D97-AF65-F5344CB8AC3E}">
        <p14:creationId xmlns:p14="http://schemas.microsoft.com/office/powerpoint/2010/main" val="375129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066800"/>
            <a:ext cx="10820400" cy="4953000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accent6">
                  <a:lumMod val="75000"/>
                </a:schemeClr>
              </a:buClr>
              <a:defRPr/>
            </a:pPr>
            <a:r>
              <a:rPr lang="en-GB" dirty="0"/>
              <a:t>In </a:t>
            </a:r>
            <a:r>
              <a:rPr lang="en-GB" b="1" dirty="0">
                <a:solidFill>
                  <a:srgbClr val="0070C0"/>
                </a:solidFill>
              </a:rPr>
              <a:t>mathematics</a:t>
            </a:r>
            <a:r>
              <a:rPr lang="en-GB" dirty="0"/>
              <a:t>, </a:t>
            </a:r>
            <a:r>
              <a:rPr lang="en-GB" b="1" dirty="0">
                <a:solidFill>
                  <a:srgbClr val="0070C0"/>
                </a:solidFill>
              </a:rPr>
              <a:t>economics</a:t>
            </a:r>
            <a:r>
              <a:rPr lang="en-GB" dirty="0"/>
              <a:t>, and </a:t>
            </a:r>
            <a:r>
              <a:rPr lang="en-GB" b="1" dirty="0">
                <a:solidFill>
                  <a:srgbClr val="0070C0"/>
                </a:solidFill>
              </a:rPr>
              <a:t>computer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science</a:t>
            </a:r>
            <a:r>
              <a:rPr lang="en-GB" dirty="0"/>
              <a:t>, the </a:t>
            </a:r>
            <a:r>
              <a:rPr lang="en-GB" b="1" dirty="0">
                <a:solidFill>
                  <a:srgbClr val="7030A0"/>
                </a:solidFill>
              </a:rPr>
              <a:t>Gale–Shapley</a:t>
            </a:r>
            <a:r>
              <a:rPr lang="en-GB" b="1" dirty="0"/>
              <a:t> </a:t>
            </a:r>
            <a:r>
              <a:rPr lang="en-GB" b="1" dirty="0">
                <a:solidFill>
                  <a:srgbClr val="7030A0"/>
                </a:solidFill>
              </a:rPr>
              <a:t>algorithm</a:t>
            </a:r>
            <a:r>
              <a:rPr lang="en-GB" dirty="0"/>
              <a:t> (also known as the </a:t>
            </a:r>
            <a:r>
              <a:rPr lang="en-GB" b="1" dirty="0">
                <a:solidFill>
                  <a:srgbClr val="7030A0"/>
                </a:solidFill>
              </a:rPr>
              <a:t>deferred</a:t>
            </a:r>
            <a:r>
              <a:rPr lang="en-GB" b="1" dirty="0"/>
              <a:t> </a:t>
            </a:r>
            <a:r>
              <a:rPr lang="en-GB" b="1" dirty="0">
                <a:solidFill>
                  <a:srgbClr val="7030A0"/>
                </a:solidFill>
              </a:rPr>
              <a:t>acceptance</a:t>
            </a:r>
            <a:r>
              <a:rPr lang="en-GB" b="1" dirty="0"/>
              <a:t> </a:t>
            </a:r>
            <a:r>
              <a:rPr lang="en-GB" b="1" dirty="0">
                <a:solidFill>
                  <a:srgbClr val="7030A0"/>
                </a:solidFill>
              </a:rPr>
              <a:t>algorithm</a:t>
            </a:r>
            <a:r>
              <a:rPr lang="en-GB" dirty="0"/>
              <a:t>) is an </a:t>
            </a:r>
            <a:r>
              <a:rPr lang="en-GB" b="1" dirty="0">
                <a:solidFill>
                  <a:srgbClr val="0070C0"/>
                </a:solidFill>
              </a:rPr>
              <a:t>algorithm</a:t>
            </a:r>
            <a:r>
              <a:rPr lang="en-GB" dirty="0"/>
              <a:t> for </a:t>
            </a:r>
            <a:r>
              <a:rPr lang="en-GB" b="1" dirty="0">
                <a:solidFill>
                  <a:srgbClr val="0070C0"/>
                </a:solidFill>
              </a:rPr>
              <a:t>finding</a:t>
            </a:r>
            <a:r>
              <a:rPr lang="en-GB" dirty="0"/>
              <a:t> a </a:t>
            </a:r>
            <a:r>
              <a:rPr lang="en-GB" b="1" dirty="0">
                <a:solidFill>
                  <a:srgbClr val="0070C0"/>
                </a:solidFill>
              </a:rPr>
              <a:t>solution</a:t>
            </a:r>
            <a:r>
              <a:rPr lang="en-GB" dirty="0"/>
              <a:t> to the </a:t>
            </a:r>
            <a:r>
              <a:rPr lang="en-GB" b="1" dirty="0">
                <a:solidFill>
                  <a:srgbClr val="0070C0"/>
                </a:solidFill>
              </a:rPr>
              <a:t>stable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marriage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problem</a:t>
            </a:r>
            <a:r>
              <a:rPr lang="en-GB" dirty="0"/>
              <a:t>, </a:t>
            </a:r>
            <a:r>
              <a:rPr lang="en-GB" b="1" dirty="0">
                <a:solidFill>
                  <a:srgbClr val="0070C0"/>
                </a:solidFill>
              </a:rPr>
              <a:t>named</a:t>
            </a:r>
            <a:r>
              <a:rPr lang="en-GB" dirty="0"/>
              <a:t> after </a:t>
            </a:r>
            <a:r>
              <a:rPr lang="en-GB" b="1" dirty="0">
                <a:solidFill>
                  <a:srgbClr val="0070C0"/>
                </a:solidFill>
              </a:rPr>
              <a:t>mathematicians</a:t>
            </a:r>
            <a:r>
              <a:rPr lang="en-GB" dirty="0"/>
              <a:t> </a:t>
            </a:r>
            <a:r>
              <a:rPr lang="en-GB" b="1" dirty="0">
                <a:solidFill>
                  <a:srgbClr val="7030A0"/>
                </a:solidFill>
              </a:rPr>
              <a:t>David</a:t>
            </a:r>
            <a:r>
              <a:rPr lang="en-GB" dirty="0"/>
              <a:t> </a:t>
            </a:r>
            <a:r>
              <a:rPr lang="en-GB" b="1" dirty="0">
                <a:solidFill>
                  <a:srgbClr val="7030A0"/>
                </a:solidFill>
              </a:rPr>
              <a:t>Gale</a:t>
            </a:r>
            <a:r>
              <a:rPr lang="en-GB" dirty="0"/>
              <a:t> and </a:t>
            </a:r>
            <a:r>
              <a:rPr lang="en-GB" b="1" dirty="0">
                <a:solidFill>
                  <a:srgbClr val="7030A0"/>
                </a:solidFill>
              </a:rPr>
              <a:t>Lloyd</a:t>
            </a:r>
            <a:r>
              <a:rPr lang="en-GB" dirty="0"/>
              <a:t> </a:t>
            </a:r>
            <a:r>
              <a:rPr lang="en-GB" b="1" dirty="0">
                <a:solidFill>
                  <a:srgbClr val="7030A0"/>
                </a:solidFill>
              </a:rPr>
              <a:t>Shapley</a:t>
            </a:r>
            <a:r>
              <a:rPr lang="en-GB" dirty="0"/>
              <a:t>.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defRPr/>
            </a:pPr>
            <a:r>
              <a:rPr lang="en-US" altLang="en-US" b="1" dirty="0">
                <a:solidFill>
                  <a:srgbClr val="0070C0"/>
                </a:solidFill>
              </a:rPr>
              <a:t>Published</a:t>
            </a:r>
            <a:r>
              <a:rPr lang="en-US" altLang="en-US" dirty="0"/>
              <a:t> by </a:t>
            </a:r>
            <a:r>
              <a:rPr lang="en-US" altLang="en-US" b="1" dirty="0">
                <a:solidFill>
                  <a:srgbClr val="0070C0"/>
                </a:solidFill>
              </a:rPr>
              <a:t>Gale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70C0"/>
                </a:solidFill>
              </a:rPr>
              <a:t>Shapely</a:t>
            </a:r>
            <a:r>
              <a:rPr lang="en-US" altLang="en-US" dirty="0"/>
              <a:t> in </a:t>
            </a:r>
            <a:r>
              <a:rPr lang="en-US" altLang="en-US" b="1" dirty="0">
                <a:solidFill>
                  <a:srgbClr val="0070C0"/>
                </a:solidFill>
              </a:rPr>
              <a:t>1962</a:t>
            </a:r>
            <a:r>
              <a:rPr lang="en-US" altLang="en-US" dirty="0"/>
              <a:t>.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defRPr/>
            </a:pPr>
            <a:r>
              <a:rPr lang="en-US" altLang="en-US" dirty="0"/>
              <a:t>In </a:t>
            </a:r>
            <a:r>
              <a:rPr lang="en-US" altLang="en-US" b="1" dirty="0">
                <a:solidFill>
                  <a:srgbClr val="0070C0"/>
                </a:solidFill>
              </a:rPr>
              <a:t>2012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70C0"/>
                </a:solidFill>
              </a:rPr>
              <a:t>Shapely</a:t>
            </a:r>
            <a:r>
              <a:rPr lang="en-US" altLang="en-US" dirty="0"/>
              <a:t> was a </a:t>
            </a:r>
            <a:r>
              <a:rPr lang="en-US" altLang="en-US" b="1" dirty="0">
                <a:solidFill>
                  <a:srgbClr val="0070C0"/>
                </a:solidFill>
              </a:rPr>
              <a:t>joint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recipient</a:t>
            </a:r>
            <a:r>
              <a:rPr lang="en-US" altLang="en-US" dirty="0"/>
              <a:t> of the </a:t>
            </a:r>
            <a:r>
              <a:rPr lang="en-US" altLang="en-US" b="1" dirty="0">
                <a:solidFill>
                  <a:srgbClr val="0070C0"/>
                </a:solidFill>
              </a:rPr>
              <a:t>Noble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Prize</a:t>
            </a:r>
            <a:r>
              <a:rPr lang="en-US" altLang="en-US" dirty="0"/>
              <a:t> in </a:t>
            </a:r>
            <a:r>
              <a:rPr lang="en-US" altLang="en-US" b="1" dirty="0">
                <a:solidFill>
                  <a:srgbClr val="0070C0"/>
                </a:solidFill>
              </a:rPr>
              <a:t>Economics</a:t>
            </a:r>
            <a:r>
              <a:rPr lang="en-US" altLang="en-US" dirty="0"/>
              <a:t> (with </a:t>
            </a:r>
            <a:r>
              <a:rPr lang="en-US" altLang="en-US" b="1" dirty="0">
                <a:solidFill>
                  <a:srgbClr val="0070C0"/>
                </a:solidFill>
              </a:rPr>
              <a:t>Alvin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Roth</a:t>
            </a:r>
            <a:r>
              <a:rPr lang="en-US" altLang="en-US" dirty="0"/>
              <a:t>).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defRPr/>
            </a:pPr>
            <a:r>
              <a:rPr lang="en-US" altLang="en-US" b="1" dirty="0">
                <a:solidFill>
                  <a:srgbClr val="0070C0"/>
                </a:solidFill>
              </a:rPr>
              <a:t>David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Gale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passed</a:t>
            </a:r>
            <a:r>
              <a:rPr lang="en-US" altLang="en-US" dirty="0"/>
              <a:t> away </a:t>
            </a:r>
            <a:r>
              <a:rPr lang="en-US" altLang="en-US" b="1" dirty="0">
                <a:solidFill>
                  <a:srgbClr val="0070C0"/>
                </a:solidFill>
              </a:rPr>
              <a:t>before</a:t>
            </a:r>
            <a:br>
              <a:rPr lang="en-US" altLang="en-US" dirty="0"/>
            </a:b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70C0"/>
                </a:solidFill>
              </a:rPr>
              <a:t>award</a:t>
            </a:r>
            <a:r>
              <a:rPr lang="en-US" altLang="en-US" dirty="0"/>
              <a:t> was </a:t>
            </a:r>
            <a:r>
              <a:rPr lang="en-US" altLang="en-US" b="1" dirty="0">
                <a:solidFill>
                  <a:srgbClr val="0070C0"/>
                </a:solidFill>
              </a:rPr>
              <a:t>given</a:t>
            </a:r>
            <a:r>
              <a:rPr lang="en-US" altLang="en-US" dirty="0"/>
              <a:t>.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defRPr/>
            </a:pPr>
            <a:endParaRPr lang="en-US" altLang="en-US" dirty="0"/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6096000" cy="1080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The Gale Shapely Algorithm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  <p:pic>
        <p:nvPicPr>
          <p:cNvPr id="1026" name="Picture 2" descr="Image result for david gale lloyd shaple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710026"/>
            <a:ext cx="5591175" cy="314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712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4114800"/>
            <a:ext cx="2895600" cy="2895600"/>
          </a:xfrm>
          <a:prstGeom prst="rect">
            <a:avLst/>
          </a:prstGeom>
        </p:spPr>
      </p:pic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914399"/>
            <a:ext cx="10744200" cy="5349319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method</a:t>
            </a:r>
            <a:r>
              <a:rPr lang="en-US" altLang="zh-CN" dirty="0">
                <a:ea typeface="宋体" panose="02010600030101010101" pitchFamily="2" charset="-122"/>
              </a:rPr>
              <a:t> for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solving</a:t>
            </a:r>
            <a:r>
              <a:rPr lang="en-US" altLang="zh-CN" dirty="0">
                <a:ea typeface="宋体" panose="02010600030101010101" pitchFamily="2" charset="-122"/>
              </a:rPr>
              <a:t> this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problem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works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something</a:t>
            </a:r>
            <a:r>
              <a:rPr lang="en-US" altLang="zh-CN" dirty="0">
                <a:ea typeface="宋体" panose="02010600030101010101" pitchFamily="2" charset="-122"/>
              </a:rPr>
              <a:t> like this:</a:t>
            </a:r>
          </a:p>
          <a:p>
            <a:pPr eaLnBrk="1" hangingPunct="1"/>
            <a:endParaRPr lang="en-US" altLang="zh-CN" sz="1000" dirty="0">
              <a:ea typeface="宋体" panose="02010600030101010101" pitchFamily="2" charset="-122"/>
            </a:endParaRPr>
          </a:p>
          <a:p>
            <a:pPr marL="509588" lvl="1" indent="-342900">
              <a:buClr>
                <a:schemeClr val="accent6">
                  <a:lumMod val="75000"/>
                </a:schemeClr>
              </a:buClr>
            </a:pP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Initialize</a:t>
            </a:r>
            <a:r>
              <a:rPr lang="en-US" altLang="zh-CN" sz="3200" dirty="0">
                <a:ea typeface="宋体" panose="02010600030101010101" pitchFamily="2" charset="-122"/>
              </a:rPr>
              <a:t> each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boy</a:t>
            </a:r>
            <a:r>
              <a:rPr lang="en-US" altLang="zh-CN" sz="3200" dirty="0">
                <a:ea typeface="宋体" panose="02010600030101010101" pitchFamily="2" charset="-122"/>
              </a:rPr>
              <a:t> or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girl</a:t>
            </a:r>
            <a:r>
              <a:rPr lang="en-US" altLang="zh-CN" sz="3200" dirty="0">
                <a:ea typeface="宋体" panose="02010600030101010101" pitchFamily="2" charset="-122"/>
              </a:rPr>
              <a:t> to be ‘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free</a:t>
            </a:r>
            <a:r>
              <a:rPr lang="en-US" altLang="zh-CN" sz="3200" dirty="0">
                <a:ea typeface="宋体" panose="02010600030101010101" pitchFamily="2" charset="-122"/>
              </a:rPr>
              <a:t>’</a:t>
            </a:r>
          </a:p>
          <a:p>
            <a:pPr marL="509588" lvl="1" indent="-342900">
              <a:buClr>
                <a:schemeClr val="accent6">
                  <a:lumMod val="75000"/>
                </a:schemeClr>
              </a:buClr>
            </a:pPr>
            <a:r>
              <a:rPr lang="en-US" altLang="zh-CN" sz="3200" dirty="0">
                <a:ea typeface="宋体" panose="02010600030101010101" pitchFamily="2" charset="-122"/>
              </a:rPr>
              <a:t>As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long</a:t>
            </a:r>
            <a:r>
              <a:rPr lang="en-US" altLang="zh-CN" sz="3200" dirty="0">
                <a:ea typeface="宋体" panose="02010600030101010101" pitchFamily="2" charset="-122"/>
              </a:rPr>
              <a:t> as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there</a:t>
            </a:r>
            <a:r>
              <a:rPr lang="en-US" altLang="zh-CN" sz="3200" dirty="0">
                <a:ea typeface="宋体" panose="02010600030101010101" pitchFamily="2" charset="-122"/>
              </a:rPr>
              <a:t> is a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free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boy</a:t>
            </a:r>
            <a:r>
              <a:rPr lang="en-US" altLang="zh-CN" sz="3200" b="1" dirty="0">
                <a:solidFill>
                  <a:srgbClr val="C00000"/>
                </a:solidFill>
                <a:ea typeface="宋体" panose="02010600030101010101" pitchFamily="2" charset="-122"/>
              </a:rPr>
              <a:t>*</a:t>
            </a:r>
            <a:r>
              <a:rPr lang="en-US" altLang="zh-CN" sz="3200" dirty="0">
                <a:ea typeface="宋体" panose="02010600030101010101" pitchFamily="2" charset="-122"/>
              </a:rPr>
              <a:t> do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following</a:t>
            </a:r>
            <a:r>
              <a:rPr lang="en-US" altLang="zh-CN" sz="3200" dirty="0">
                <a:ea typeface="宋体" panose="02010600030101010101" pitchFamily="2" charset="-122"/>
              </a:rPr>
              <a:t>:</a:t>
            </a:r>
          </a:p>
          <a:p>
            <a:pPr marL="509588" lvl="1" indent="-342900">
              <a:buClr>
                <a:schemeClr val="accent6">
                  <a:lumMod val="75000"/>
                </a:schemeClr>
              </a:buClr>
            </a:pPr>
            <a:r>
              <a:rPr lang="en-US" altLang="zh-CN" sz="3200" dirty="0">
                <a:ea typeface="宋体" panose="02010600030101010101" pitchFamily="2" charset="-122"/>
              </a:rPr>
              <a:t>The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first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free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boy</a:t>
            </a:r>
            <a:r>
              <a:rPr lang="en-US" altLang="zh-CN" sz="3200" dirty="0">
                <a:ea typeface="宋体" panose="02010600030101010101" pitchFamily="2" charset="-122"/>
              </a:rPr>
              <a:t> (in some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order</a:t>
            </a:r>
            <a:r>
              <a:rPr lang="en-US" altLang="zh-CN" sz="3200" dirty="0">
                <a:ea typeface="宋体" panose="02010600030101010101" pitchFamily="2" charset="-122"/>
              </a:rPr>
              <a:t>) will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propose</a:t>
            </a:r>
            <a:r>
              <a:rPr lang="en-US" altLang="zh-CN" sz="3200" dirty="0">
                <a:ea typeface="宋体" panose="02010600030101010101" pitchFamily="2" charset="-122"/>
              </a:rPr>
              <a:t> to the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first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girl</a:t>
            </a:r>
            <a:r>
              <a:rPr lang="en-US" altLang="zh-CN" sz="3200" dirty="0">
                <a:ea typeface="宋体" panose="02010600030101010101" pitchFamily="2" charset="-122"/>
              </a:rPr>
              <a:t> on his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list</a:t>
            </a:r>
            <a:r>
              <a:rPr lang="en-US" altLang="zh-CN" sz="3200" dirty="0">
                <a:ea typeface="宋体" panose="02010600030101010101" pitchFamily="2" charset="-122"/>
              </a:rPr>
              <a:t>. </a:t>
            </a:r>
          </a:p>
          <a:p>
            <a:pPr marL="509588" lvl="1" indent="-342900">
              <a:buClr>
                <a:schemeClr val="accent6">
                  <a:lumMod val="75000"/>
                </a:schemeClr>
              </a:buClr>
            </a:pPr>
            <a:r>
              <a:rPr lang="en-US" altLang="zh-CN" sz="3200" dirty="0">
                <a:ea typeface="宋体" panose="02010600030101010101" pitchFamily="2" charset="-122"/>
              </a:rPr>
              <a:t>The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girl</a:t>
            </a:r>
            <a:r>
              <a:rPr lang="en-US" altLang="zh-CN" sz="3200" dirty="0">
                <a:ea typeface="宋体" panose="02010600030101010101" pitchFamily="2" charset="-122"/>
              </a:rPr>
              <a:t>, having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no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better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offer</a:t>
            </a:r>
            <a:r>
              <a:rPr lang="en-US" altLang="zh-CN" sz="3200" dirty="0">
                <a:ea typeface="宋体" panose="02010600030101010101" pitchFamily="2" charset="-122"/>
              </a:rPr>
              <a:t> at this point, will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accept</a:t>
            </a:r>
            <a:r>
              <a:rPr lang="en-US" altLang="zh-CN" sz="3200" dirty="0">
                <a:ea typeface="宋体" panose="02010600030101010101" pitchFamily="2" charset="-122"/>
              </a:rPr>
              <a:t>. </a:t>
            </a:r>
          </a:p>
          <a:p>
            <a:pPr marL="509588" lvl="1" indent="-342900">
              <a:buClr>
                <a:schemeClr val="accent6">
                  <a:lumMod val="75000"/>
                </a:schemeClr>
              </a:buClr>
            </a:pPr>
            <a:r>
              <a:rPr lang="en-US" altLang="zh-CN" sz="3200" dirty="0">
                <a:ea typeface="宋体" panose="02010600030101010101" pitchFamily="2" charset="-122"/>
              </a:rPr>
              <a:t>The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second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boy</a:t>
            </a:r>
            <a:r>
              <a:rPr lang="en-US" altLang="zh-CN" sz="3200" dirty="0">
                <a:ea typeface="宋体" panose="02010600030101010101" pitchFamily="2" charset="-122"/>
              </a:rPr>
              <a:t> will then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propose</a:t>
            </a:r>
            <a:r>
              <a:rPr lang="en-US" altLang="zh-CN" sz="3200" dirty="0">
                <a:ea typeface="宋体" panose="02010600030101010101" pitchFamily="2" charset="-122"/>
              </a:rPr>
              <a:t> to his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first</a:t>
            </a:r>
            <a:r>
              <a:rPr lang="en-US" altLang="zh-CN" sz="3200" dirty="0">
                <a:ea typeface="宋体" panose="02010600030101010101" pitchFamily="2" charset="-122"/>
              </a:rPr>
              <a:t> choice, and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so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on</a:t>
            </a:r>
            <a:r>
              <a:rPr lang="en-US" altLang="zh-CN" sz="3200" dirty="0">
                <a:ea typeface="宋体" panose="02010600030101010101" pitchFamily="2" charset="-122"/>
              </a:rPr>
              <a:t>. </a:t>
            </a:r>
          </a:p>
          <a:p>
            <a:pPr marL="509588" lvl="1" indent="-342900">
              <a:buClr>
                <a:schemeClr val="accent6">
                  <a:lumMod val="75000"/>
                </a:schemeClr>
              </a:buClr>
            </a:pP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Eventually</a:t>
            </a:r>
            <a:r>
              <a:rPr lang="en-US" altLang="zh-CN" sz="3200" dirty="0">
                <a:ea typeface="宋体" panose="02010600030101010101" pitchFamily="2" charset="-122"/>
              </a:rPr>
              <a:t> it may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happen</a:t>
            </a:r>
            <a:r>
              <a:rPr lang="en-US" altLang="zh-CN" sz="3200" dirty="0">
                <a:ea typeface="宋体" panose="02010600030101010101" pitchFamily="2" charset="-122"/>
              </a:rPr>
              <a:t> that a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boy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proposes</a:t>
            </a:r>
            <a:b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</a:br>
            <a:r>
              <a:rPr lang="en-US" altLang="zh-CN" sz="3200" dirty="0">
                <a:ea typeface="宋体" panose="02010600030101010101" pitchFamily="2" charset="-122"/>
              </a:rPr>
              <a:t>to a girl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who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already</a:t>
            </a:r>
            <a:r>
              <a:rPr lang="en-US" altLang="zh-CN" sz="3200" dirty="0">
                <a:ea typeface="宋体" panose="02010600030101010101" pitchFamily="2" charset="-122"/>
              </a:rPr>
              <a:t> has a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partner</a:t>
            </a:r>
            <a:r>
              <a:rPr lang="en-US" altLang="zh-CN" sz="3200" dirty="0">
                <a:ea typeface="宋体" panose="02010600030101010101" pitchFamily="2" charset="-122"/>
              </a:rPr>
              <a:t>. </a:t>
            </a:r>
          </a:p>
          <a:p>
            <a:pPr marL="509588" lvl="1" indent="-342900">
              <a:buClr>
                <a:schemeClr val="accent6">
                  <a:lumMod val="75000"/>
                </a:schemeClr>
              </a:buClr>
            </a:pPr>
            <a:endParaRPr lang="en-US" altLang="zh-CN" sz="1900" dirty="0">
              <a:ea typeface="宋体" panose="02010600030101010101" pitchFamily="2" charset="-122"/>
            </a:endParaRPr>
          </a:p>
          <a:p>
            <a:pPr marL="166688" lvl="1" indent="0">
              <a:buClr>
                <a:schemeClr val="accent6">
                  <a:lumMod val="75000"/>
                </a:schemeClr>
              </a:buClr>
              <a:buNone/>
            </a:pPr>
            <a:r>
              <a:rPr lang="en-US" altLang="zh-CN" sz="1900" b="1" dirty="0">
                <a:solidFill>
                  <a:srgbClr val="C00000"/>
                </a:solidFill>
                <a:ea typeface="宋体" panose="02010600030101010101" pitchFamily="2" charset="-122"/>
              </a:rPr>
              <a:t>*</a:t>
            </a:r>
            <a:r>
              <a:rPr lang="en-US" altLang="zh-CN" sz="1900" dirty="0">
                <a:ea typeface="宋体" panose="02010600030101010101" pitchFamily="2" charset="-122"/>
              </a:rPr>
              <a:t> </a:t>
            </a:r>
            <a:r>
              <a:rPr lang="en-US" altLang="zh-CN" sz="1900" b="1" dirty="0">
                <a:solidFill>
                  <a:schemeClr val="bg1">
                    <a:lumMod val="65000"/>
                  </a:schemeClr>
                </a:solidFill>
                <a:ea typeface="宋体" panose="02010600030101010101" pitchFamily="2" charset="-122"/>
              </a:rPr>
              <a:t>Boy optimal pairings</a:t>
            </a:r>
          </a:p>
          <a:p>
            <a:pPr marL="509588" lvl="1" indent="-342900">
              <a:buClr>
                <a:schemeClr val="accent6">
                  <a:lumMod val="75000"/>
                </a:schemeClr>
              </a:buClr>
            </a:pP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6096000" cy="1080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How it Works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uiExpand="1" build="p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225" y="4284317"/>
            <a:ext cx="2390775" cy="2510860"/>
          </a:xfrm>
          <a:prstGeom prst="rect">
            <a:avLst/>
          </a:prstGeom>
        </p:spPr>
      </p:pic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19200"/>
            <a:ext cx="10591800" cy="4267200"/>
          </a:xfrm>
        </p:spPr>
        <p:txBody>
          <a:bodyPr>
            <a:normAutofit/>
          </a:bodyPr>
          <a:lstStyle/>
          <a:p>
            <a:pPr marL="623888" lvl="1" indent="-457200">
              <a:buClr>
                <a:schemeClr val="accent6">
                  <a:lumMod val="75000"/>
                </a:schemeClr>
              </a:buClr>
            </a:pPr>
            <a:r>
              <a:rPr lang="en-US" altLang="zh-CN" sz="3200" dirty="0">
                <a:ea typeface="宋体" panose="02010600030101010101" pitchFamily="2" charset="-122"/>
              </a:rPr>
              <a:t>She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will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compare</a:t>
            </a:r>
            <a:r>
              <a:rPr lang="en-US" altLang="zh-CN" sz="3200" dirty="0">
                <a:ea typeface="宋体" panose="02010600030101010101" pitchFamily="2" charset="-122"/>
              </a:rPr>
              <a:t> the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new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offer</a:t>
            </a:r>
            <a:r>
              <a:rPr lang="en-US" altLang="zh-CN" sz="3200" dirty="0">
                <a:ea typeface="宋体" panose="02010600030101010101" pitchFamily="2" charset="-122"/>
              </a:rPr>
              <a:t> to her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current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partner</a:t>
            </a:r>
            <a:r>
              <a:rPr lang="en-US" altLang="zh-CN" sz="3200" dirty="0">
                <a:ea typeface="宋体" panose="02010600030101010101" pitchFamily="2" charset="-122"/>
              </a:rPr>
              <a:t> and will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accept</a:t>
            </a:r>
            <a:r>
              <a:rPr lang="en-US" altLang="zh-CN" sz="3200" dirty="0">
                <a:ea typeface="宋体" panose="02010600030101010101" pitchFamily="2" charset="-122"/>
              </a:rPr>
              <a:t> whoever is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higher</a:t>
            </a:r>
            <a:r>
              <a:rPr lang="en-US" altLang="zh-CN" sz="3200" dirty="0">
                <a:ea typeface="宋体" panose="02010600030101010101" pitchFamily="2" charset="-122"/>
              </a:rPr>
              <a:t> on her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list</a:t>
            </a:r>
            <a:r>
              <a:rPr lang="en-US" altLang="zh-CN" sz="3200" dirty="0">
                <a:ea typeface="宋体" panose="02010600030101010101" pitchFamily="2" charset="-122"/>
              </a:rPr>
              <a:t>. </a:t>
            </a:r>
          </a:p>
          <a:p>
            <a:pPr marL="623888" lvl="1" indent="-457200">
              <a:buClr>
                <a:schemeClr val="accent6">
                  <a:lumMod val="75000"/>
                </a:schemeClr>
              </a:buClr>
            </a:pPr>
            <a:r>
              <a:rPr lang="en-US" altLang="zh-CN" sz="3200" dirty="0">
                <a:ea typeface="宋体" panose="02010600030101010101" pitchFamily="2" charset="-122"/>
              </a:rPr>
              <a:t>The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boy</a:t>
            </a:r>
            <a:r>
              <a:rPr lang="en-US" altLang="zh-CN" sz="3200" dirty="0">
                <a:ea typeface="宋体" panose="02010600030101010101" pitchFamily="2" charset="-122"/>
              </a:rPr>
              <a:t> she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rejects</a:t>
            </a:r>
            <a:r>
              <a:rPr lang="en-US" altLang="zh-CN" sz="3200" dirty="0">
                <a:ea typeface="宋体" panose="02010600030101010101" pitchFamily="2" charset="-122"/>
              </a:rPr>
              <a:t> will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then</a:t>
            </a:r>
            <a:r>
              <a:rPr lang="en-US" altLang="zh-CN" sz="3200" dirty="0">
                <a:ea typeface="宋体" panose="02010600030101010101" pitchFamily="2" charset="-122"/>
              </a:rPr>
              <a:t> go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back</a:t>
            </a:r>
            <a:r>
              <a:rPr lang="en-US" altLang="zh-CN" sz="3200" dirty="0">
                <a:ea typeface="宋体" panose="02010600030101010101" pitchFamily="2" charset="-122"/>
              </a:rPr>
              <a:t> to his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list</a:t>
            </a:r>
            <a:r>
              <a:rPr lang="en-US" altLang="zh-CN" sz="3200" dirty="0">
                <a:ea typeface="宋体" panose="02010600030101010101" pitchFamily="2" charset="-122"/>
              </a:rPr>
              <a:t> and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propose</a:t>
            </a:r>
            <a:r>
              <a:rPr lang="en-US" altLang="zh-CN" sz="3200" dirty="0">
                <a:ea typeface="宋体" panose="02010600030101010101" pitchFamily="2" charset="-122"/>
              </a:rPr>
              <a:t> to his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second</a:t>
            </a:r>
            <a:r>
              <a:rPr lang="en-US" altLang="zh-CN" sz="3200" dirty="0">
                <a:ea typeface="宋体" panose="02010600030101010101" pitchFamily="2" charset="-122"/>
              </a:rPr>
              <a:t> choice,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third</a:t>
            </a:r>
            <a:r>
              <a:rPr lang="en-US" altLang="zh-CN" sz="3200" dirty="0">
                <a:ea typeface="宋体" panose="02010600030101010101" pitchFamily="2" charset="-122"/>
              </a:rPr>
              <a:t> choice, and so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forth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until</a:t>
            </a:r>
            <a:r>
              <a:rPr lang="en-US" altLang="zh-CN" sz="3200" dirty="0">
                <a:ea typeface="宋体" panose="02010600030101010101" pitchFamily="2" charset="-122"/>
              </a:rPr>
              <a:t> he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comes</a:t>
            </a:r>
            <a:r>
              <a:rPr lang="en-US" altLang="zh-CN" sz="3200" dirty="0">
                <a:ea typeface="宋体" panose="02010600030101010101" pitchFamily="2" charset="-122"/>
              </a:rPr>
              <a:t> to a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girl</a:t>
            </a:r>
            <a:r>
              <a:rPr lang="en-US" altLang="zh-CN" sz="3200" dirty="0">
                <a:ea typeface="宋体" panose="02010600030101010101" pitchFamily="2" charset="-122"/>
              </a:rPr>
              <a:t> who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accepts</a:t>
            </a:r>
            <a:r>
              <a:rPr lang="en-US" altLang="zh-CN" sz="3200" dirty="0">
                <a:ea typeface="宋体" panose="02010600030101010101" pitchFamily="2" charset="-122"/>
              </a:rPr>
              <a:t> his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offer</a:t>
            </a:r>
            <a:r>
              <a:rPr lang="en-US" altLang="zh-CN" sz="3200" dirty="0">
                <a:ea typeface="宋体" panose="02010600030101010101" pitchFamily="2" charset="-122"/>
              </a:rPr>
              <a:t>. </a:t>
            </a:r>
          </a:p>
          <a:p>
            <a:pPr marL="623888" lvl="1" indent="-457200">
              <a:buClr>
                <a:schemeClr val="accent6">
                  <a:lumMod val="75000"/>
                </a:schemeClr>
              </a:buClr>
            </a:pPr>
            <a:r>
              <a:rPr lang="en-US" altLang="zh-CN" sz="3200" dirty="0">
                <a:ea typeface="宋体" panose="02010600030101010101" pitchFamily="2" charset="-122"/>
              </a:rPr>
              <a:t>If this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girl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already</a:t>
            </a:r>
            <a:r>
              <a:rPr lang="en-US" altLang="zh-CN" sz="3200" dirty="0">
                <a:ea typeface="宋体" panose="02010600030101010101" pitchFamily="2" charset="-122"/>
              </a:rPr>
              <a:t> had a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partner</a:t>
            </a:r>
            <a:r>
              <a:rPr lang="en-US" altLang="zh-CN" sz="3200" dirty="0">
                <a:ea typeface="宋体" panose="02010600030101010101" pitchFamily="2" charset="-122"/>
              </a:rPr>
              <a:t>, her old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partner</a:t>
            </a:r>
            <a:r>
              <a:rPr lang="en-US" altLang="zh-CN" sz="3200" dirty="0">
                <a:ea typeface="宋体" panose="02010600030101010101" pitchFamily="2" charset="-122"/>
              </a:rPr>
              <a:t> gets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rejected</a:t>
            </a:r>
            <a:r>
              <a:rPr lang="en-US" altLang="zh-CN" sz="3200" dirty="0">
                <a:ea typeface="宋体" panose="02010600030101010101" pitchFamily="2" charset="-122"/>
              </a:rPr>
              <a:t> and he, in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turn</a:t>
            </a:r>
            <a:r>
              <a:rPr lang="en-US" altLang="zh-CN" sz="3200" dirty="0">
                <a:ea typeface="宋体" panose="02010600030101010101" pitchFamily="2" charset="-122"/>
              </a:rPr>
              <a:t>, starts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proposing</a:t>
            </a:r>
            <a:r>
              <a:rPr lang="en-US" altLang="zh-CN" sz="3200" dirty="0">
                <a:ea typeface="宋体" panose="02010600030101010101" pitchFamily="2" charset="-122"/>
              </a:rPr>
              <a:t> to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girls</a:t>
            </a:r>
            <a:r>
              <a:rPr lang="en-US" altLang="zh-CN" sz="3200" dirty="0">
                <a:ea typeface="宋体" panose="02010600030101010101" pitchFamily="2" charset="-122"/>
              </a:rPr>
              <a:t> further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down</a:t>
            </a:r>
            <a:r>
              <a:rPr lang="en-US" altLang="zh-CN" sz="3200" dirty="0">
                <a:ea typeface="宋体" panose="02010600030101010101" pitchFamily="2" charset="-122"/>
              </a:rPr>
              <a:t> his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list</a:t>
            </a:r>
            <a:r>
              <a:rPr lang="en-US" altLang="zh-CN" sz="3200" dirty="0">
                <a:ea typeface="宋体" panose="02010600030101010101" pitchFamily="2" charset="-122"/>
              </a:rPr>
              <a:t>.</a:t>
            </a:r>
          </a:p>
          <a:p>
            <a:pPr marL="623888" lvl="1" indent="-457200">
              <a:buClr>
                <a:schemeClr val="accent6">
                  <a:lumMod val="75000"/>
                </a:schemeClr>
              </a:buClr>
            </a:pPr>
            <a:r>
              <a:rPr lang="en-US" altLang="zh-CN" sz="3200" dirty="0">
                <a:ea typeface="宋体" panose="02010600030101010101" pitchFamily="2" charset="-122"/>
              </a:rPr>
              <a:t>Eventually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everything</a:t>
            </a:r>
            <a:r>
              <a:rPr lang="en-US" altLang="zh-CN" sz="3200" dirty="0">
                <a:ea typeface="宋体" panose="02010600030101010101" pitchFamily="2" charset="-122"/>
              </a:rPr>
              <a:t> gets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sorted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70C0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3200" dirty="0">
                <a:ea typeface="宋体" panose="02010600030101010101" pitchFamily="2" charset="-122"/>
              </a:rPr>
              <a:t>. </a:t>
            </a:r>
            <a:endParaRPr lang="en-US" altLang="en-US" sz="3200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38200" y="0"/>
            <a:ext cx="6096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002060"/>
                </a:solidFill>
                <a:latin typeface="+mn-lt"/>
              </a:rPr>
              <a:t>How it Works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uiExpand="1" build="p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899668" y="0"/>
            <a:ext cx="69342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The Gale-Shapely Algorithm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509715"/>
            <a:ext cx="7391400" cy="44958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  <a:tabLst/>
            </a:pPr>
            <a:r>
              <a:rPr lang="en-US" altLang="zh-CN" b="1" dirty="0">
                <a:solidFill>
                  <a:srgbClr val="7030A0"/>
                </a:solidFill>
                <a:ea typeface="宋体" panose="02010600030101010101" pitchFamily="2" charset="-122"/>
              </a:rPr>
              <a:t>Algorithm:</a:t>
            </a:r>
          </a:p>
          <a:p>
            <a:pPr marL="285750" indent="-285750" eaLnBrk="1" hangingPunct="1">
              <a:tabLst/>
            </a:pPr>
            <a:endParaRPr lang="en-US" altLang="zh-CN" u="sng" dirty="0">
              <a:ea typeface="宋体" panose="02010600030101010101" pitchFamily="2" charset="-122"/>
            </a:endParaRP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US" altLang="zh-CN" dirty="0">
                <a:ea typeface="宋体" panose="02010600030101010101" pitchFamily="2" charset="-122"/>
              </a:rPr>
              <a:t>Each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person</a:t>
            </a:r>
            <a:r>
              <a:rPr lang="en-US" altLang="zh-CN" dirty="0">
                <a:ea typeface="宋体" panose="02010600030101010101" pitchFamily="2" charset="-122"/>
              </a:rPr>
              <a:t> starts with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no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people</a:t>
            </a:r>
            <a:r>
              <a:rPr lang="en-US" altLang="zh-CN" dirty="0">
                <a:ea typeface="宋体" panose="02010600030101010101" pitchFamily="2" charset="-122"/>
              </a:rPr>
              <a:t> ‘</a:t>
            </a:r>
            <a:r>
              <a:rPr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cancelled</a:t>
            </a:r>
            <a:r>
              <a:rPr lang="en-US" altLang="zh-CN" dirty="0">
                <a:ea typeface="宋体" panose="02010600030101010101" pitchFamily="2" charset="-122"/>
              </a:rPr>
              <a:t>’ from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his</a:t>
            </a:r>
            <a:r>
              <a:rPr lang="en-US" altLang="zh-CN" dirty="0">
                <a:ea typeface="宋体" panose="02010600030101010101" pitchFamily="2" charset="-122"/>
              </a:rPr>
              <a:t> or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her</a:t>
            </a:r>
            <a:r>
              <a:rPr lang="en-US" altLang="zh-CN" dirty="0">
                <a:ea typeface="宋体" panose="02010600030101010101" pitchFamily="2" charset="-122"/>
              </a:rPr>
              <a:t> list (of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preferences</a:t>
            </a:r>
            <a:r>
              <a:rPr lang="en-US" altLang="zh-CN" dirty="0">
                <a:ea typeface="宋体" panose="02010600030101010101" pitchFamily="2" charset="-122"/>
              </a:rPr>
              <a:t>). 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People</a:t>
            </a:r>
            <a:r>
              <a:rPr lang="en-US" altLang="zh-CN" dirty="0">
                <a:ea typeface="宋体" panose="02010600030101010101" pitchFamily="2" charset="-122"/>
              </a:rPr>
              <a:t> will be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cancelled</a:t>
            </a:r>
            <a:r>
              <a:rPr lang="en-US" altLang="zh-CN" dirty="0">
                <a:ea typeface="宋体" panose="02010600030101010101" pitchFamily="2" charset="-122"/>
              </a:rPr>
              <a:t> from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lists</a:t>
            </a:r>
            <a:r>
              <a:rPr lang="en-US" altLang="zh-CN" dirty="0">
                <a:ea typeface="宋体" panose="02010600030101010101" pitchFamily="2" charset="-122"/>
              </a:rPr>
              <a:t> as the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algorithm</a:t>
            </a:r>
            <a:r>
              <a:rPr lang="en-US" altLang="zh-CN" dirty="0">
                <a:ea typeface="宋体" panose="02010600030101010101" pitchFamily="2" charset="-122"/>
              </a:rPr>
              <a:t> progresses.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US" altLang="zh-CN" dirty="0">
                <a:ea typeface="宋体" panose="02010600030101010101" pitchFamily="2" charset="-122"/>
              </a:rPr>
              <a:t>For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each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boy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70C0"/>
                </a:solidFill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, call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propose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70C0"/>
                </a:solidFill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), as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defined</a:t>
            </a:r>
            <a:r>
              <a:rPr lang="en-US" altLang="zh-CN" dirty="0">
                <a:ea typeface="宋体" panose="02010600030101010101" pitchFamily="2" charset="-122"/>
              </a:rPr>
              <a:t> on the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next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slide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boys</a:t>
            </a:r>
            <a:r>
              <a:rPr lang="en-US" altLang="zh-CN" dirty="0">
                <a:ea typeface="宋体" panose="02010600030101010101" pitchFamily="2" charset="-122"/>
              </a:rPr>
              <a:t> go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first</a:t>
            </a:r>
            <a:r>
              <a:rPr lang="en-US" altLang="zh-CN" dirty="0">
                <a:ea typeface="宋体" panose="02010600030101010101" pitchFamily="2" charset="-122"/>
              </a:rPr>
              <a:t> – more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about</a:t>
            </a:r>
            <a:r>
              <a:rPr lang="en-US" altLang="zh-CN" dirty="0">
                <a:ea typeface="宋体" panose="02010600030101010101" pitchFamily="2" charset="-122"/>
              </a:rPr>
              <a:t> this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later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marL="285750" indent="-285750" eaLnBrk="1" hangingPunct="1">
              <a:tabLst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458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1828800"/>
            <a:ext cx="2806700" cy="185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150" y="3600450"/>
            <a:ext cx="2381250" cy="234315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uiExpand="1" build="p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899668" y="0"/>
            <a:ext cx="69342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The Gale-Shapely Algorithm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940482" y="1143000"/>
            <a:ext cx="8501968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i="1" dirty="0">
                <a:solidFill>
                  <a:srgbClr val="0070C0"/>
                </a:solidFill>
                <a:ea typeface="宋体" panose="02010600030101010101" pitchFamily="2" charset="-122"/>
              </a:rPr>
              <a:t>propose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7030A0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r>
              <a:rPr lang="en-US" altLang="zh-CN" i="1" dirty="0">
                <a:ea typeface="宋体" panose="02010600030101010101" pitchFamily="2" charset="-122"/>
              </a:rPr>
              <a:t>:</a:t>
            </a:r>
            <a:endParaRPr lang="en-US" altLang="zh-CN" dirty="0">
              <a:ea typeface="宋体" panose="02010600030101010101" pitchFamily="2" charset="-122"/>
            </a:endParaRPr>
          </a:p>
          <a:p>
            <a:pPr marL="539750" lvl="1" indent="-182563">
              <a:lnSpc>
                <a:spcPct val="100000"/>
              </a:lnSpc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US" altLang="zh-CN" sz="2200" dirty="0">
                <a:ea typeface="宋体" panose="02010600030101010101" pitchFamily="2" charset="-122"/>
              </a:rPr>
              <a:t>Let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200" dirty="0">
                <a:ea typeface="宋体" panose="02010600030101010101" pitchFamily="2" charset="-122"/>
              </a:rPr>
              <a:t> be the </a:t>
            </a:r>
            <a:r>
              <a:rPr lang="en-US" altLang="zh-CN" sz="2200" b="1" i="1" dirty="0">
                <a:solidFill>
                  <a:srgbClr val="C00000"/>
                </a:solidFill>
                <a:ea typeface="宋体" panose="02010600030101010101" pitchFamily="2" charset="-122"/>
              </a:rPr>
              <a:t>first</a:t>
            </a:r>
            <a:r>
              <a:rPr lang="en-US" altLang="zh-CN" sz="2200" dirty="0">
                <a:ea typeface="宋体" panose="02010600030101010101" pitchFamily="2" charset="-122"/>
              </a:rPr>
              <a:t> uncancelled girl on boy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b'</a:t>
            </a:r>
            <a:r>
              <a:rPr lang="en-US" altLang="zh-CN" sz="2200" b="1" dirty="0">
                <a:solidFill>
                  <a:srgbClr val="7030A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200" dirty="0">
                <a:ea typeface="宋体" panose="02010600030101010101" pitchFamily="2" charset="-122"/>
              </a:rPr>
              <a:t> preference list.</a:t>
            </a:r>
          </a:p>
          <a:p>
            <a:pPr marL="539750" lvl="1" indent="-182563">
              <a:lnSpc>
                <a:spcPct val="100000"/>
              </a:lnSpc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US" altLang="zh-CN" sz="2200" dirty="0">
                <a:ea typeface="宋体" panose="02010600030101010101" pitchFamily="2" charset="-122"/>
              </a:rPr>
              <a:t>Do: </a:t>
            </a:r>
            <a:r>
              <a:rPr lang="en-US" altLang="zh-CN" sz="2200" b="1" dirty="0">
                <a:solidFill>
                  <a:srgbClr val="0070C0"/>
                </a:solidFill>
                <a:ea typeface="宋体" panose="02010600030101010101" pitchFamily="2" charset="-122"/>
              </a:rPr>
              <a:t>refuse</a:t>
            </a:r>
            <a:r>
              <a:rPr lang="en-US" altLang="zh-CN" sz="2200" dirty="0">
                <a:ea typeface="宋体" panose="02010600030101010101" pitchFamily="2" charset="-122"/>
              </a:rPr>
              <a:t>(</a:t>
            </a:r>
            <a:r>
              <a:rPr lang="en-US" altLang="zh-CN" sz="2200" b="1" i="1" dirty="0" err="1">
                <a:solidFill>
                  <a:srgbClr val="7030A0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200" i="1" dirty="0" err="1">
                <a:ea typeface="宋体" panose="02010600030101010101" pitchFamily="2" charset="-122"/>
              </a:rPr>
              <a:t>,</a:t>
            </a:r>
            <a:r>
              <a:rPr lang="en-US" altLang="zh-CN" sz="2200" b="1" i="1" dirty="0" err="1">
                <a:solidFill>
                  <a:srgbClr val="7030A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dirty="0">
                <a:ea typeface="宋体" panose="02010600030101010101" pitchFamily="2" charset="-122"/>
              </a:rPr>
              <a:t>), as defined below. </a:t>
            </a:r>
          </a:p>
          <a:p>
            <a:pPr marL="458787" lvl="1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i="1" dirty="0">
                <a:solidFill>
                  <a:srgbClr val="0070C0"/>
                </a:solidFill>
                <a:ea typeface="宋体" panose="02010600030101010101" pitchFamily="2" charset="-122"/>
              </a:rPr>
              <a:t>refuse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rgbClr val="7030A0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 err="1"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7030A0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r>
              <a:rPr lang="en-US" altLang="zh-CN" i="1" dirty="0">
                <a:ea typeface="宋体" panose="02010600030101010101" pitchFamily="2" charset="-122"/>
              </a:rPr>
              <a:t>:</a:t>
            </a:r>
            <a:endParaRPr lang="en-US" altLang="zh-CN" dirty="0">
              <a:ea typeface="宋体" panose="02010600030101010101" pitchFamily="2" charset="-122"/>
            </a:endParaRPr>
          </a:p>
          <a:p>
            <a:pPr marL="642937" lvl="1" indent="-285750">
              <a:buClr>
                <a:schemeClr val="accent6">
                  <a:lumMod val="75000"/>
                </a:schemeClr>
              </a:buClr>
            </a:pPr>
            <a:r>
              <a:rPr lang="en-US" altLang="zh-CN" sz="2200" dirty="0">
                <a:ea typeface="宋体" panose="02010600030101010101" pitchFamily="2" charset="-122"/>
              </a:rPr>
              <a:t>Let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b' </a:t>
            </a:r>
            <a:r>
              <a:rPr lang="en-US" altLang="zh-CN" sz="2200" dirty="0">
                <a:ea typeface="宋体" panose="02010600030101010101" pitchFamily="2" charset="-122"/>
              </a:rPr>
              <a:t>be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G </a:t>
            </a:r>
            <a:r>
              <a:rPr lang="en-US" altLang="zh-CN" sz="2200" b="1" dirty="0">
                <a:solidFill>
                  <a:srgbClr val="7030A0"/>
                </a:solidFill>
                <a:ea typeface="宋体" panose="02010600030101010101" pitchFamily="2" charset="-122"/>
              </a:rPr>
              <a:t>'s </a:t>
            </a:r>
            <a:r>
              <a:rPr lang="en-US" altLang="zh-CN" sz="2200" dirty="0">
                <a:ea typeface="宋体" panose="02010600030101010101" pitchFamily="2" charset="-122"/>
              </a:rPr>
              <a:t>current partner (</a:t>
            </a:r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if any</a:t>
            </a:r>
            <a:r>
              <a:rPr lang="en-US" altLang="zh-CN" sz="2200" dirty="0">
                <a:ea typeface="宋体" panose="02010600030101010101" pitchFamily="2" charset="-122"/>
              </a:rPr>
              <a:t>).</a:t>
            </a:r>
          </a:p>
          <a:p>
            <a:pPr marL="642937" lvl="1" indent="-285750">
              <a:buClr>
                <a:schemeClr val="accent6">
                  <a:lumMod val="75000"/>
                </a:schemeClr>
              </a:buClr>
            </a:pPr>
            <a:r>
              <a:rPr lang="en-US" altLang="zh-CN" sz="2200" b="1" dirty="0">
                <a:solidFill>
                  <a:srgbClr val="CC0000"/>
                </a:solidFill>
                <a:ea typeface="宋体" panose="02010600030101010101" pitchFamily="2" charset="-122"/>
              </a:rPr>
              <a:t>If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200" dirty="0">
                <a:ea typeface="宋体" panose="02010600030101010101" pitchFamily="2" charset="-122"/>
              </a:rPr>
              <a:t> prefers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b'</a:t>
            </a:r>
            <a:r>
              <a:rPr lang="en-US" altLang="zh-CN" sz="2200" b="1" dirty="0">
                <a:solidFill>
                  <a:srgbClr val="7030A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200" dirty="0">
                <a:ea typeface="宋体" panose="02010600030101010101" pitchFamily="2" charset="-122"/>
              </a:rPr>
              <a:t>to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dirty="0">
                <a:ea typeface="宋体" panose="02010600030101010101" pitchFamily="2" charset="-122"/>
              </a:rPr>
              <a:t>, then she rejects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dirty="0">
                <a:ea typeface="宋体" panose="02010600030101010101" pitchFamily="2" charset="-122"/>
              </a:rPr>
              <a:t>, in which case:</a:t>
            </a:r>
            <a:br>
              <a:rPr lang="en-US" altLang="zh-CN" sz="2200" dirty="0">
                <a:ea typeface="宋体" panose="02010600030101010101" pitchFamily="2" charset="-122"/>
              </a:rPr>
            </a:br>
            <a:r>
              <a:rPr lang="en-US" altLang="zh-CN" sz="2200" dirty="0">
                <a:ea typeface="宋体" panose="02010600030101010101" pitchFamily="2" charset="-122"/>
              </a:rPr>
              <a:t>cancel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dirty="0">
                <a:ea typeface="宋体" panose="02010600030101010101" pitchFamily="2" charset="-122"/>
              </a:rPr>
              <a:t> off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G </a:t>
            </a:r>
            <a:r>
              <a:rPr lang="en-US" altLang="zh-CN" sz="2200" dirty="0">
                <a:ea typeface="宋体" panose="02010600030101010101" pitchFamily="2" charset="-122"/>
              </a:rPr>
              <a:t>'s list and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200" dirty="0">
                <a:ea typeface="宋体" panose="02010600030101010101" pitchFamily="2" charset="-122"/>
              </a:rPr>
              <a:t> off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dirty="0">
                <a:ea typeface="宋体" panose="02010600030101010101" pitchFamily="2" charset="-122"/>
              </a:rPr>
              <a:t>'s list;</a:t>
            </a:r>
            <a:br>
              <a:rPr lang="en-US" altLang="zh-CN" sz="2200" dirty="0">
                <a:ea typeface="宋体" panose="02010600030101010101" pitchFamily="2" charset="-122"/>
              </a:rPr>
            </a:br>
            <a:r>
              <a:rPr lang="en-US" altLang="zh-CN" sz="2200" dirty="0">
                <a:ea typeface="宋体" panose="02010600030101010101" pitchFamily="2" charset="-122"/>
              </a:rPr>
              <a:t>call </a:t>
            </a:r>
            <a:r>
              <a:rPr lang="en-US" altLang="zh-CN" sz="2200" b="1" dirty="0">
                <a:solidFill>
                  <a:srgbClr val="0070C0"/>
                </a:solidFill>
                <a:ea typeface="宋体" panose="02010600030101010101" pitchFamily="2" charset="-122"/>
              </a:rPr>
              <a:t>propose</a:t>
            </a:r>
            <a:r>
              <a:rPr lang="en-US" altLang="zh-CN" sz="2200" dirty="0">
                <a:ea typeface="宋体" panose="02010600030101010101" pitchFamily="2" charset="-122"/>
              </a:rPr>
              <a:t>(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dirty="0">
                <a:ea typeface="宋体" panose="02010600030101010101" pitchFamily="2" charset="-122"/>
              </a:rPr>
              <a:t>) (</a:t>
            </a:r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now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 must now propose to someone else.</a:t>
            </a:r>
            <a:r>
              <a:rPr lang="en-US" altLang="zh-CN" sz="2200" dirty="0">
                <a:ea typeface="宋体" panose="02010600030101010101" pitchFamily="2" charset="-122"/>
              </a:rPr>
              <a:t>)</a:t>
            </a:r>
          </a:p>
          <a:p>
            <a:pPr marL="642937" lvl="1" indent="-285750">
              <a:buClr>
                <a:schemeClr val="accent6">
                  <a:lumMod val="75000"/>
                </a:schemeClr>
              </a:buClr>
            </a:pPr>
            <a:r>
              <a:rPr lang="en-US" altLang="zh-CN" sz="2200" b="1" dirty="0">
                <a:solidFill>
                  <a:srgbClr val="CC0000"/>
                </a:solidFill>
                <a:ea typeface="宋体" panose="02010600030101010101" pitchFamily="2" charset="-122"/>
              </a:rPr>
              <a:t>Otherwise</a:t>
            </a:r>
            <a:r>
              <a:rPr lang="en-US" altLang="zh-CN" sz="2200" dirty="0">
                <a:ea typeface="宋体" panose="02010600030101010101" pitchFamily="2" charset="-122"/>
              </a:rPr>
              <a:t>,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200" dirty="0">
                <a:ea typeface="宋体" panose="02010600030101010101" pitchFamily="2" charset="-122"/>
              </a:rPr>
              <a:t> accepts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dirty="0">
                <a:ea typeface="宋体" panose="02010600030101010101" pitchFamily="2" charset="-122"/>
              </a:rPr>
              <a:t> as her new partner, in which case:</a:t>
            </a:r>
            <a:br>
              <a:rPr lang="en-US" altLang="zh-CN" sz="2200" dirty="0">
                <a:ea typeface="宋体" panose="02010600030101010101" pitchFamily="2" charset="-122"/>
              </a:rPr>
            </a:br>
            <a:r>
              <a:rPr lang="en-US" altLang="zh-CN" sz="2200" dirty="0">
                <a:ea typeface="宋体" panose="02010600030101010101" pitchFamily="2" charset="-122"/>
              </a:rPr>
              <a:t>cancel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b'</a:t>
            </a:r>
            <a:r>
              <a:rPr lang="en-US" altLang="zh-CN" sz="2200" b="1" dirty="0">
                <a:solidFill>
                  <a:srgbClr val="7030A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200" dirty="0">
                <a:ea typeface="宋体" panose="02010600030101010101" pitchFamily="2" charset="-122"/>
              </a:rPr>
              <a:t>off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200" i="1" dirty="0">
                <a:ea typeface="宋体" panose="02010600030101010101" pitchFamily="2" charset="-122"/>
              </a:rPr>
              <a:t> </a:t>
            </a:r>
            <a:r>
              <a:rPr lang="en-US" altLang="zh-CN" sz="2200" dirty="0">
                <a:ea typeface="宋体" panose="02010600030101010101" pitchFamily="2" charset="-122"/>
              </a:rPr>
              <a:t>'s list and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200" dirty="0">
                <a:ea typeface="宋体" panose="02010600030101010101" pitchFamily="2" charset="-122"/>
              </a:rPr>
              <a:t> off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b' </a:t>
            </a:r>
            <a:r>
              <a:rPr lang="en-US" altLang="zh-CN" sz="2200" dirty="0">
                <a:ea typeface="宋体" panose="02010600030101010101" pitchFamily="2" charset="-122"/>
              </a:rPr>
              <a:t>'s list;</a:t>
            </a:r>
            <a:br>
              <a:rPr lang="en-US" altLang="zh-CN" sz="2200" dirty="0">
                <a:ea typeface="宋体" panose="02010600030101010101" pitchFamily="2" charset="-122"/>
              </a:rPr>
            </a:br>
            <a:r>
              <a:rPr lang="en-US" altLang="zh-CN" sz="2200" dirty="0">
                <a:ea typeface="宋体" panose="02010600030101010101" pitchFamily="2" charset="-122"/>
              </a:rPr>
              <a:t>do: </a:t>
            </a:r>
            <a:r>
              <a:rPr lang="en-US" altLang="zh-CN" sz="2200" b="1" dirty="0">
                <a:solidFill>
                  <a:srgbClr val="0070C0"/>
                </a:solidFill>
                <a:ea typeface="宋体" panose="02010600030101010101" pitchFamily="2" charset="-122"/>
              </a:rPr>
              <a:t>propose</a:t>
            </a:r>
            <a:r>
              <a:rPr lang="en-US" altLang="zh-CN" sz="2200" dirty="0">
                <a:ea typeface="宋体" panose="02010600030101010101" pitchFamily="2" charset="-122"/>
              </a:rPr>
              <a:t>(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b'</a:t>
            </a:r>
            <a:r>
              <a:rPr lang="en-US" altLang="zh-CN" sz="2200" dirty="0">
                <a:ea typeface="宋体" panose="02010600030101010101" pitchFamily="2" charset="-122"/>
              </a:rPr>
              <a:t>). (</a:t>
            </a:r>
            <a:r>
              <a:rPr lang="en-US" altLang="zh-CN" sz="2200" b="1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since </a:t>
            </a:r>
            <a:r>
              <a:rPr lang="en-US" altLang="zh-CN" sz="2200" b="1" i="1" dirty="0">
                <a:solidFill>
                  <a:srgbClr val="7030A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b="1" i="1">
                <a:solidFill>
                  <a:srgbClr val="7030A0"/>
                </a:solidFill>
                <a:ea typeface="宋体" panose="02010600030101010101" pitchFamily="2" charset="-122"/>
              </a:rPr>
              <a:t>'</a:t>
            </a:r>
            <a:r>
              <a:rPr lang="en-US" altLang="zh-CN" sz="2200" b="1">
                <a:solidFill>
                  <a:srgbClr val="7030A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must now propose to someone else.</a:t>
            </a:r>
            <a:r>
              <a:rPr lang="en-US" altLang="zh-CN" sz="2200" dirty="0">
                <a:ea typeface="宋体" panose="02010600030101010101" pitchFamily="2" charset="-122"/>
              </a:rPr>
              <a:t>)</a:t>
            </a:r>
            <a:endParaRPr lang="en-US" altLang="en-US" sz="2200" dirty="0"/>
          </a:p>
          <a:p>
            <a:pPr marL="285750" indent="-285750" eaLnBrk="1" hangingPunct="1">
              <a:tabLst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458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1828800"/>
            <a:ext cx="2806700" cy="185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150" y="3600450"/>
            <a:ext cx="2381250" cy="234315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  <p:extLst>
      <p:ext uri="{BB962C8B-B14F-4D97-AF65-F5344CB8AC3E}">
        <p14:creationId xmlns:p14="http://schemas.microsoft.com/office/powerpoint/2010/main" val="37883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uiExpand="1" build="p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086096"/>
            <a:ext cx="10835132" cy="449580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</a:pPr>
            <a:r>
              <a:rPr lang="en-US" altLang="en-US" sz="2400" b="1" dirty="0">
                <a:solidFill>
                  <a:srgbClr val="0070C0"/>
                </a:solidFill>
              </a:rPr>
              <a:t>How</a:t>
            </a:r>
            <a:r>
              <a:rPr lang="en-US" altLang="en-US" sz="2400" dirty="0"/>
              <a:t> do we </a:t>
            </a:r>
            <a:r>
              <a:rPr lang="en-US" altLang="en-US" sz="2400" b="1" dirty="0">
                <a:solidFill>
                  <a:srgbClr val="0070C0"/>
                </a:solidFill>
              </a:rPr>
              <a:t>know</a:t>
            </a:r>
            <a:r>
              <a:rPr lang="en-US" altLang="en-US" sz="2400" dirty="0"/>
              <a:t> the </a:t>
            </a:r>
            <a:r>
              <a:rPr lang="en-US" altLang="en-US" sz="2400" b="1" dirty="0">
                <a:solidFill>
                  <a:srgbClr val="0070C0"/>
                </a:solidFill>
              </a:rPr>
              <a:t>final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arrangement</a:t>
            </a:r>
            <a:r>
              <a:rPr lang="en-US" altLang="en-US" sz="2400" dirty="0"/>
              <a:t> will be </a:t>
            </a:r>
            <a:r>
              <a:rPr lang="en-US" altLang="en-US" sz="2400" b="1" dirty="0">
                <a:solidFill>
                  <a:srgbClr val="0070C0"/>
                </a:solidFill>
              </a:rPr>
              <a:t>stable</a:t>
            </a:r>
            <a:r>
              <a:rPr lang="en-US" altLang="en-US" sz="2400" dirty="0"/>
              <a:t>? </a:t>
            </a:r>
          </a:p>
          <a:p>
            <a:pPr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</a:pPr>
            <a:r>
              <a:rPr lang="en-US" altLang="en-US" sz="2400" b="1" dirty="0">
                <a:solidFill>
                  <a:srgbClr val="0070C0"/>
                </a:solidFill>
              </a:rPr>
              <a:t>Suppose</a:t>
            </a:r>
            <a:r>
              <a:rPr lang="en-US" altLang="en-US" sz="2400" dirty="0"/>
              <a:t> there </a:t>
            </a:r>
            <a:r>
              <a:rPr lang="en-US" altLang="en-US" sz="2400" b="1" dirty="0">
                <a:solidFill>
                  <a:srgbClr val="0070C0"/>
                </a:solidFill>
              </a:rPr>
              <a:t>exists</a:t>
            </a:r>
            <a:r>
              <a:rPr lang="en-US" altLang="en-US" sz="2400" dirty="0"/>
              <a:t> a </a:t>
            </a:r>
            <a:r>
              <a:rPr lang="en-US" altLang="en-US" sz="2400" b="1" dirty="0">
                <a:solidFill>
                  <a:srgbClr val="0070C0"/>
                </a:solidFill>
              </a:rPr>
              <a:t>boy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C00000"/>
                </a:solidFill>
              </a:rPr>
              <a:t>Y</a:t>
            </a:r>
            <a:r>
              <a:rPr lang="en-US" altLang="en-US" sz="2400" dirty="0"/>
              <a:t> and </a:t>
            </a:r>
            <a:r>
              <a:rPr lang="en-US" altLang="en-US" sz="2400" b="1" dirty="0">
                <a:solidFill>
                  <a:srgbClr val="0070C0"/>
                </a:solidFill>
              </a:rPr>
              <a:t>girl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C00000"/>
                </a:solidFill>
              </a:rPr>
              <a:t>X</a:t>
            </a:r>
            <a:r>
              <a:rPr lang="en-US" altLang="en-US" sz="2400" dirty="0"/>
              <a:t> such that they </a:t>
            </a:r>
            <a:r>
              <a:rPr lang="en-US" altLang="en-US" sz="2400" b="1" dirty="0">
                <a:solidFill>
                  <a:srgbClr val="0070C0"/>
                </a:solidFill>
              </a:rPr>
              <a:t>prefer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each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other</a:t>
            </a:r>
            <a:r>
              <a:rPr lang="en-US" altLang="en-US" sz="2400" dirty="0"/>
              <a:t> over their </a:t>
            </a:r>
            <a:r>
              <a:rPr lang="en-US" altLang="en-US" sz="2400" b="1" dirty="0">
                <a:solidFill>
                  <a:srgbClr val="0070C0"/>
                </a:solidFill>
              </a:rPr>
              <a:t>own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spouses</a:t>
            </a:r>
            <a:r>
              <a:rPr lang="en-US" altLang="en-US" sz="2400" dirty="0"/>
              <a:t>. Since </a:t>
            </a:r>
            <a:r>
              <a:rPr lang="en-US" altLang="en-US" sz="2400" b="1" dirty="0">
                <a:solidFill>
                  <a:srgbClr val="C00000"/>
                </a:solidFill>
              </a:rPr>
              <a:t>Y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prefers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C00000"/>
                </a:solidFill>
              </a:rPr>
              <a:t>X</a:t>
            </a:r>
            <a:r>
              <a:rPr lang="en-US" altLang="en-US" sz="2400" dirty="0"/>
              <a:t> over his own </a:t>
            </a:r>
            <a:r>
              <a:rPr lang="en-US" altLang="en-US" sz="2400" b="1" dirty="0">
                <a:solidFill>
                  <a:srgbClr val="0070C0"/>
                </a:solidFill>
              </a:rPr>
              <a:t>spouse</a:t>
            </a:r>
            <a:r>
              <a:rPr lang="en-US" altLang="en-US" sz="2400" dirty="0"/>
              <a:t>, then he must have </a:t>
            </a:r>
            <a:r>
              <a:rPr lang="en-US" altLang="en-US" sz="2400" b="1" dirty="0">
                <a:solidFill>
                  <a:srgbClr val="0070C0"/>
                </a:solidFill>
              </a:rPr>
              <a:t>proposed</a:t>
            </a:r>
            <a:r>
              <a:rPr lang="en-US" altLang="en-US" sz="2400" dirty="0"/>
              <a:t> to </a:t>
            </a:r>
            <a:r>
              <a:rPr lang="en-US" altLang="en-US" sz="2400" b="1" dirty="0">
                <a:solidFill>
                  <a:srgbClr val="0070C0"/>
                </a:solidFill>
              </a:rPr>
              <a:t>her</a:t>
            </a:r>
            <a:r>
              <a:rPr lang="en-US" altLang="en-US" sz="2400" dirty="0"/>
              <a:t> before </a:t>
            </a:r>
            <a:r>
              <a:rPr lang="en-US" altLang="en-US" sz="2400" b="1" dirty="0">
                <a:solidFill>
                  <a:srgbClr val="0070C0"/>
                </a:solidFill>
              </a:rPr>
              <a:t>proposing</a:t>
            </a:r>
            <a:r>
              <a:rPr lang="en-US" altLang="en-US" sz="2400" dirty="0"/>
              <a:t> to his own </a:t>
            </a:r>
            <a:r>
              <a:rPr lang="en-US" altLang="en-US" sz="2400" b="1" dirty="0">
                <a:solidFill>
                  <a:srgbClr val="0070C0"/>
                </a:solidFill>
              </a:rPr>
              <a:t>spouse</a:t>
            </a:r>
            <a:r>
              <a:rPr lang="en-US" altLang="en-US" sz="2400" dirty="0"/>
              <a:t>. So there are two </a:t>
            </a:r>
            <a:r>
              <a:rPr lang="en-US" altLang="en-US" sz="2400" b="1" dirty="0">
                <a:solidFill>
                  <a:srgbClr val="0070C0"/>
                </a:solidFill>
              </a:rPr>
              <a:t>possibilities</a:t>
            </a:r>
            <a:r>
              <a:rPr lang="en-US" altLang="en-US" sz="2400" dirty="0"/>
              <a:t> of what </a:t>
            </a:r>
            <a:r>
              <a:rPr lang="en-US" altLang="en-US" sz="2400" b="1" dirty="0">
                <a:solidFill>
                  <a:srgbClr val="0070C0"/>
                </a:solidFill>
              </a:rPr>
              <a:t>happened</a:t>
            </a:r>
            <a:r>
              <a:rPr lang="en-US" altLang="en-US" sz="2400" dirty="0"/>
              <a:t> at the time of that </a:t>
            </a:r>
            <a:r>
              <a:rPr lang="en-US" altLang="en-US" sz="2400" b="1" dirty="0">
                <a:solidFill>
                  <a:srgbClr val="0070C0"/>
                </a:solidFill>
              </a:rPr>
              <a:t>proposal</a:t>
            </a:r>
            <a:r>
              <a:rPr lang="en-US" altLang="en-US" sz="2400" dirty="0"/>
              <a:t>. </a:t>
            </a:r>
          </a:p>
          <a:p>
            <a:pPr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</a:pPr>
            <a:r>
              <a:rPr lang="en-US" altLang="en-US" sz="2400" dirty="0"/>
              <a:t>Then either:</a:t>
            </a:r>
          </a:p>
          <a:p>
            <a:pPr marL="742950" lvl="1" indent="-457200"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 typeface="+mj-lt"/>
              <a:buAutoNum type="alphaLcParenR"/>
            </a:pPr>
            <a:r>
              <a:rPr lang="en-US" altLang="en-US" b="1" dirty="0">
                <a:solidFill>
                  <a:srgbClr val="C00000"/>
                </a:solidFill>
              </a:rPr>
              <a:t>X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rejected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C00000"/>
                </a:solidFill>
              </a:rPr>
              <a:t>Y</a:t>
            </a:r>
            <a:r>
              <a:rPr lang="en-US" altLang="en-US" dirty="0"/>
              <a:t>, which </a:t>
            </a:r>
            <a:r>
              <a:rPr lang="en-US" altLang="en-US" b="1" dirty="0">
                <a:solidFill>
                  <a:srgbClr val="0070C0"/>
                </a:solidFill>
              </a:rPr>
              <a:t>means</a:t>
            </a:r>
            <a:r>
              <a:rPr lang="en-US" altLang="en-US" dirty="0"/>
              <a:t> that she was </a:t>
            </a:r>
            <a:r>
              <a:rPr lang="en-US" altLang="en-US" b="1" dirty="0">
                <a:solidFill>
                  <a:srgbClr val="0070C0"/>
                </a:solidFill>
              </a:rPr>
              <a:t>already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engaged</a:t>
            </a:r>
            <a:r>
              <a:rPr lang="en-US" altLang="en-US" dirty="0"/>
              <a:t> to </a:t>
            </a:r>
            <a:r>
              <a:rPr lang="en-US" altLang="en-US" b="1" dirty="0">
                <a:solidFill>
                  <a:srgbClr val="0070C0"/>
                </a:solidFill>
              </a:rPr>
              <a:t>someone</a:t>
            </a:r>
            <a:r>
              <a:rPr lang="en-US" altLang="en-US" dirty="0"/>
              <a:t> she </a:t>
            </a:r>
            <a:r>
              <a:rPr lang="en-US" altLang="en-US" b="1" dirty="0">
                <a:solidFill>
                  <a:srgbClr val="0070C0"/>
                </a:solidFill>
              </a:rPr>
              <a:t>preferred</a:t>
            </a:r>
            <a:r>
              <a:rPr lang="en-US" altLang="en-US" dirty="0"/>
              <a:t> over </a:t>
            </a:r>
            <a:r>
              <a:rPr lang="en-US" altLang="en-US" b="1" dirty="0">
                <a:solidFill>
                  <a:srgbClr val="C00000"/>
                </a:solidFill>
              </a:rPr>
              <a:t>Y</a:t>
            </a:r>
            <a:r>
              <a:rPr lang="en-US" altLang="en-US" dirty="0"/>
              <a:t> (she had </a:t>
            </a:r>
            <a:r>
              <a:rPr lang="en-US" altLang="en-US" b="1" dirty="0">
                <a:solidFill>
                  <a:srgbClr val="0070C0"/>
                </a:solidFill>
              </a:rPr>
              <a:t>scratched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C00000"/>
                </a:solidFill>
              </a:rPr>
              <a:t>Y</a:t>
            </a:r>
            <a:r>
              <a:rPr lang="en-US" altLang="en-US" dirty="0"/>
              <a:t> off her list). Therefore, she must </a:t>
            </a:r>
            <a:r>
              <a:rPr lang="en-US" altLang="en-US" b="1" dirty="0">
                <a:solidFill>
                  <a:srgbClr val="0070C0"/>
                </a:solidFill>
              </a:rPr>
              <a:t>either</a:t>
            </a:r>
            <a:r>
              <a:rPr lang="en-US" altLang="en-US" dirty="0"/>
              <a:t> be </a:t>
            </a:r>
            <a:r>
              <a:rPr lang="en-US" altLang="en-US" b="1" dirty="0">
                <a:solidFill>
                  <a:srgbClr val="0070C0"/>
                </a:solidFill>
              </a:rPr>
              <a:t>married</a:t>
            </a:r>
            <a:r>
              <a:rPr lang="en-US" altLang="en-US" dirty="0"/>
              <a:t> to that </a:t>
            </a:r>
            <a:r>
              <a:rPr lang="en-US" altLang="en-US" b="1" dirty="0">
                <a:solidFill>
                  <a:srgbClr val="0070C0"/>
                </a:solidFill>
              </a:rPr>
              <a:t>person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70C0"/>
                </a:solidFill>
              </a:rPr>
              <a:t>someone</a:t>
            </a:r>
            <a:r>
              <a:rPr lang="en-US" altLang="en-US" dirty="0"/>
              <a:t> else </a:t>
            </a:r>
            <a:r>
              <a:rPr lang="en-US" altLang="en-US" b="1" dirty="0">
                <a:solidFill>
                  <a:srgbClr val="0070C0"/>
                </a:solidFill>
              </a:rPr>
              <a:t>who</a:t>
            </a:r>
            <a:r>
              <a:rPr lang="en-US" altLang="en-US" dirty="0"/>
              <a:t> was on her </a:t>
            </a:r>
            <a:r>
              <a:rPr lang="en-US" altLang="en-US" b="1" dirty="0">
                <a:solidFill>
                  <a:srgbClr val="0070C0"/>
                </a:solidFill>
              </a:rPr>
              <a:t>list</a:t>
            </a:r>
            <a:r>
              <a:rPr lang="en-US" altLang="en-US" dirty="0"/>
              <a:t> at the </a:t>
            </a:r>
            <a:r>
              <a:rPr lang="en-US" altLang="en-US" b="1" dirty="0">
                <a:solidFill>
                  <a:srgbClr val="0070C0"/>
                </a:solidFill>
              </a:rPr>
              <a:t>time</a:t>
            </a:r>
            <a:r>
              <a:rPr lang="en-US" altLang="en-US" dirty="0"/>
              <a:t> of the </a:t>
            </a:r>
            <a:r>
              <a:rPr lang="en-US" altLang="en-US" b="1" dirty="0">
                <a:solidFill>
                  <a:srgbClr val="0070C0"/>
                </a:solidFill>
              </a:rPr>
              <a:t>proposal</a:t>
            </a:r>
            <a:r>
              <a:rPr lang="en-US" altLang="en-US" dirty="0"/>
              <a:t>. Therefore, she could not </a:t>
            </a:r>
            <a:r>
              <a:rPr lang="en-US" altLang="en-US" b="1" dirty="0">
                <a:solidFill>
                  <a:srgbClr val="0070C0"/>
                </a:solidFill>
              </a:rPr>
              <a:t>prefer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C00000"/>
                </a:solidFill>
              </a:rPr>
              <a:t>Y</a:t>
            </a:r>
            <a:r>
              <a:rPr lang="en-US" altLang="en-US" dirty="0"/>
              <a:t> to her own </a:t>
            </a:r>
            <a:r>
              <a:rPr lang="en-US" altLang="en-US" b="1" dirty="0">
                <a:solidFill>
                  <a:srgbClr val="0070C0"/>
                </a:solidFill>
              </a:rPr>
              <a:t>spouse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70C0"/>
                </a:solidFill>
              </a:rPr>
              <a:t>contradicting</a:t>
            </a:r>
            <a:r>
              <a:rPr lang="en-US" altLang="en-US" dirty="0"/>
              <a:t> our </a:t>
            </a:r>
            <a:r>
              <a:rPr lang="en-US" altLang="en-US" b="1" dirty="0">
                <a:solidFill>
                  <a:srgbClr val="0070C0"/>
                </a:solidFill>
              </a:rPr>
              <a:t>assumption</a:t>
            </a:r>
            <a:r>
              <a:rPr lang="en-US" altLang="en-US" dirty="0"/>
              <a:t>. </a:t>
            </a:r>
          </a:p>
          <a:p>
            <a:pPr marL="742950" lvl="1" indent="-457200"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 typeface="+mj-lt"/>
              <a:buAutoNum type="alphaLcParenR"/>
            </a:pPr>
            <a:r>
              <a:rPr lang="en-US" altLang="en-US" b="1" dirty="0">
                <a:solidFill>
                  <a:srgbClr val="C00000"/>
                </a:solidFill>
              </a:rPr>
              <a:t>X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accepted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C00000"/>
                </a:solidFill>
              </a:rPr>
              <a:t>Y</a:t>
            </a:r>
            <a:r>
              <a:rPr lang="en-US" altLang="en-US" dirty="0"/>
              <a:t>, but </a:t>
            </a:r>
            <a:r>
              <a:rPr lang="en-US" altLang="en-US" b="1" dirty="0">
                <a:solidFill>
                  <a:srgbClr val="0070C0"/>
                </a:solidFill>
              </a:rPr>
              <a:t>dumped</a:t>
            </a:r>
            <a:r>
              <a:rPr lang="en-US" altLang="en-US" dirty="0"/>
              <a:t> him later. Since she would have </a:t>
            </a:r>
            <a:r>
              <a:rPr lang="en-US" altLang="en-US" b="1" dirty="0">
                <a:solidFill>
                  <a:srgbClr val="0070C0"/>
                </a:solidFill>
              </a:rPr>
              <a:t>dumped</a:t>
            </a:r>
            <a:r>
              <a:rPr lang="en-US" altLang="en-US" dirty="0"/>
              <a:t> him </a:t>
            </a:r>
            <a:r>
              <a:rPr lang="en-US" altLang="en-US" b="1" dirty="0">
                <a:solidFill>
                  <a:srgbClr val="0070C0"/>
                </a:solidFill>
              </a:rPr>
              <a:t>only</a:t>
            </a:r>
            <a:r>
              <a:rPr lang="en-US" altLang="en-US" dirty="0"/>
              <a:t> in </a:t>
            </a:r>
            <a:r>
              <a:rPr lang="en-US" altLang="en-US" b="1" dirty="0">
                <a:solidFill>
                  <a:srgbClr val="0070C0"/>
                </a:solidFill>
              </a:rPr>
              <a:t>order</a:t>
            </a:r>
            <a:r>
              <a:rPr lang="en-US" altLang="en-US" dirty="0"/>
              <a:t> to become </a:t>
            </a:r>
            <a:r>
              <a:rPr lang="en-US" altLang="en-US" b="1" dirty="0">
                <a:solidFill>
                  <a:srgbClr val="0070C0"/>
                </a:solidFill>
              </a:rPr>
              <a:t>engaged</a:t>
            </a:r>
            <a:r>
              <a:rPr lang="en-US" altLang="en-US" dirty="0"/>
              <a:t> to someone </a:t>
            </a:r>
            <a:r>
              <a:rPr lang="en-US" altLang="en-US" b="1" dirty="0">
                <a:solidFill>
                  <a:srgbClr val="0070C0"/>
                </a:solidFill>
              </a:rPr>
              <a:t>higher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ranked</a:t>
            </a:r>
            <a:r>
              <a:rPr lang="en-US" altLang="en-US" dirty="0"/>
              <a:t> on her list, she </a:t>
            </a:r>
            <a:r>
              <a:rPr lang="en-US" altLang="en-US" b="1" dirty="0">
                <a:solidFill>
                  <a:srgbClr val="0070C0"/>
                </a:solidFill>
              </a:rPr>
              <a:t>must</a:t>
            </a:r>
            <a:r>
              <a:rPr lang="en-US" altLang="en-US" dirty="0"/>
              <a:t> not </a:t>
            </a:r>
            <a:r>
              <a:rPr lang="en-US" altLang="en-US" b="1" dirty="0">
                <a:solidFill>
                  <a:srgbClr val="0070C0"/>
                </a:solidFill>
              </a:rPr>
              <a:t>prefer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C00000"/>
                </a:solidFill>
              </a:rPr>
              <a:t>Y</a:t>
            </a:r>
            <a:r>
              <a:rPr lang="en-US" altLang="en-US" dirty="0"/>
              <a:t> over her </a:t>
            </a:r>
            <a:r>
              <a:rPr lang="en-US" altLang="en-US" b="1" dirty="0">
                <a:solidFill>
                  <a:srgbClr val="0070C0"/>
                </a:solidFill>
              </a:rPr>
              <a:t>own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spouse</a:t>
            </a:r>
            <a:r>
              <a:rPr lang="en-US" altLang="en-US" dirty="0"/>
              <a:t>, again </a:t>
            </a:r>
            <a:r>
              <a:rPr lang="en-US" altLang="en-US" b="1" dirty="0">
                <a:solidFill>
                  <a:srgbClr val="0070C0"/>
                </a:solidFill>
              </a:rPr>
              <a:t>contradicting</a:t>
            </a:r>
            <a:r>
              <a:rPr lang="en-US" altLang="en-US" dirty="0"/>
              <a:t> the </a:t>
            </a:r>
            <a:r>
              <a:rPr lang="en-US" altLang="en-US" b="1" dirty="0">
                <a:solidFill>
                  <a:srgbClr val="0070C0"/>
                </a:solidFill>
              </a:rPr>
              <a:t>assumption</a:t>
            </a:r>
            <a:r>
              <a:rPr lang="en-US" altLang="en-US" dirty="0"/>
              <a:t>. 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096"/>
            <a:ext cx="10515600" cy="1080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The Stable Marriage Problem – Stability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uiExpand="1" build="p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096"/>
            <a:ext cx="10515600" cy="1080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The Stable Marriage Problem – Stability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113528"/>
            <a:ext cx="10515600" cy="4351338"/>
          </a:xfrm>
        </p:spPr>
        <p:txBody>
          <a:bodyPr/>
          <a:lstStyle/>
          <a:p>
            <a:pPr eaLnBrk="1" hangingPunct="1"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/>
              <a:t>In </a:t>
            </a:r>
            <a:r>
              <a:rPr lang="en-US" altLang="en-US" b="1" dirty="0">
                <a:solidFill>
                  <a:srgbClr val="0070C0"/>
                </a:solidFill>
              </a:rPr>
              <a:t>both</a:t>
            </a:r>
            <a:r>
              <a:rPr lang="en-US" altLang="en-US" dirty="0"/>
              <a:t> cases, the </a:t>
            </a:r>
            <a:r>
              <a:rPr lang="en-US" altLang="en-US" b="1" dirty="0">
                <a:solidFill>
                  <a:srgbClr val="0070C0"/>
                </a:solidFill>
              </a:rPr>
              <a:t>assumption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0070C0"/>
                </a:solidFill>
              </a:rPr>
              <a:t>contradicted</a:t>
            </a:r>
            <a:r>
              <a:rPr lang="en-US" altLang="en-US" dirty="0"/>
              <a:t>. So, there </a:t>
            </a:r>
            <a:r>
              <a:rPr lang="en-US" altLang="en-US" b="1" dirty="0">
                <a:solidFill>
                  <a:srgbClr val="0070C0"/>
                </a:solidFill>
              </a:rPr>
              <a:t>cannot</a:t>
            </a:r>
            <a:r>
              <a:rPr lang="en-US" altLang="en-US" dirty="0"/>
              <a:t> exist a </a:t>
            </a:r>
            <a:r>
              <a:rPr lang="en-US" altLang="en-US" b="1" dirty="0">
                <a:solidFill>
                  <a:srgbClr val="0070C0"/>
                </a:solidFill>
              </a:rPr>
              <a:t>boy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C00000"/>
                </a:solidFill>
              </a:rPr>
              <a:t>Y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70C0"/>
                </a:solidFill>
              </a:rPr>
              <a:t>girl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C00000"/>
                </a:solidFill>
              </a:rPr>
              <a:t>X</a:t>
            </a:r>
            <a:r>
              <a:rPr lang="en-US" altLang="en-US" dirty="0"/>
              <a:t> such that they </a:t>
            </a:r>
            <a:r>
              <a:rPr lang="en-US" altLang="en-US" b="1" dirty="0">
                <a:solidFill>
                  <a:srgbClr val="0070C0"/>
                </a:solidFill>
              </a:rPr>
              <a:t>prefer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each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other</a:t>
            </a:r>
            <a:r>
              <a:rPr lang="en-US" altLang="en-US" dirty="0"/>
              <a:t> over their </a:t>
            </a:r>
            <a:r>
              <a:rPr lang="en-US" altLang="en-US" b="1" dirty="0">
                <a:solidFill>
                  <a:srgbClr val="0070C0"/>
                </a:solidFill>
              </a:rPr>
              <a:t>own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spouses</a:t>
            </a:r>
            <a:r>
              <a:rPr lang="en-US" altLang="en-US" dirty="0"/>
              <a:t>. </a:t>
            </a:r>
          </a:p>
          <a:p>
            <a:pPr marL="282575" lvl="1" indent="0" eaLnBrk="1" hangingPunct="1">
              <a:buClr>
                <a:schemeClr val="accent6">
                  <a:lumMod val="75000"/>
                </a:schemeClr>
              </a:buClr>
              <a:buNone/>
              <a:tabLst/>
            </a:pP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b="1" i="1" u="sng" dirty="0">
                <a:solidFill>
                  <a:srgbClr val="7030A0"/>
                </a:solidFill>
              </a:rPr>
              <a:t>The arrangement must therefore be stable</a:t>
            </a:r>
            <a:r>
              <a:rPr lang="en-US" altLang="en-US" dirty="0"/>
              <a:t>.</a:t>
            </a:r>
          </a:p>
          <a:p>
            <a:pPr eaLnBrk="1" hangingPunct="1">
              <a:buClr>
                <a:schemeClr val="accent6">
                  <a:lumMod val="75000"/>
                </a:schemeClr>
              </a:buClr>
              <a:tabLst/>
            </a:pPr>
            <a:endParaRPr lang="en-US" altLang="en-US" dirty="0"/>
          </a:p>
          <a:p>
            <a:pPr eaLnBrk="1" hangingPunct="1"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/>
              <a:t>How </a:t>
            </a:r>
            <a:r>
              <a:rPr lang="en-US" altLang="en-US" b="1" dirty="0">
                <a:solidFill>
                  <a:srgbClr val="0070C0"/>
                </a:solidFill>
              </a:rPr>
              <a:t>do</a:t>
            </a:r>
            <a:r>
              <a:rPr lang="en-US" altLang="en-US" dirty="0"/>
              <a:t> we </a:t>
            </a:r>
            <a:r>
              <a:rPr lang="en-US" altLang="en-US" b="1" dirty="0">
                <a:solidFill>
                  <a:srgbClr val="0070C0"/>
                </a:solidFill>
              </a:rPr>
              <a:t>know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everyone</a:t>
            </a:r>
            <a:r>
              <a:rPr lang="en-US" altLang="en-US" dirty="0"/>
              <a:t> gets </a:t>
            </a:r>
            <a:r>
              <a:rPr lang="en-US" altLang="en-US" b="1" dirty="0">
                <a:solidFill>
                  <a:srgbClr val="0070C0"/>
                </a:solidFill>
              </a:rPr>
              <a:t>paired</a:t>
            </a:r>
            <a:r>
              <a:rPr lang="en-US" altLang="en-US" dirty="0"/>
              <a:t> off? </a:t>
            </a:r>
          </a:p>
          <a:p>
            <a:pPr marL="511175" lvl="1" eaLnBrk="1" hangingPunct="1"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/>
              <a:t>Since the number of </a:t>
            </a:r>
            <a:r>
              <a:rPr lang="en-US" altLang="en-US" b="1" dirty="0">
                <a:solidFill>
                  <a:srgbClr val="0070C0"/>
                </a:solidFill>
              </a:rPr>
              <a:t>boys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70C0"/>
                </a:solidFill>
              </a:rPr>
              <a:t>girls</a:t>
            </a:r>
            <a:r>
              <a:rPr lang="en-US" altLang="en-US" dirty="0"/>
              <a:t> are equal, the only </a:t>
            </a:r>
            <a:r>
              <a:rPr lang="en-US" altLang="en-US" b="1" dirty="0">
                <a:solidFill>
                  <a:srgbClr val="0070C0"/>
                </a:solidFill>
              </a:rPr>
              <a:t>way</a:t>
            </a:r>
            <a:r>
              <a:rPr lang="en-US" altLang="en-US" dirty="0"/>
              <a:t> for a </a:t>
            </a:r>
            <a:r>
              <a:rPr lang="en-US" altLang="en-US" b="1" dirty="0">
                <a:solidFill>
                  <a:srgbClr val="0070C0"/>
                </a:solidFill>
              </a:rPr>
              <a:t>boy</a:t>
            </a:r>
            <a:r>
              <a:rPr lang="en-US" altLang="en-US" dirty="0"/>
              <a:t> to </a:t>
            </a:r>
            <a:r>
              <a:rPr lang="en-US" altLang="en-US" b="1" dirty="0">
                <a:solidFill>
                  <a:srgbClr val="0070C0"/>
                </a:solidFill>
              </a:rPr>
              <a:t>remain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eligible</a:t>
            </a:r>
            <a:r>
              <a:rPr lang="en-US" altLang="en-US" dirty="0"/>
              <a:t> at the end is for </a:t>
            </a:r>
            <a:r>
              <a:rPr lang="en-US" altLang="en-US" b="1" dirty="0">
                <a:solidFill>
                  <a:srgbClr val="0070C0"/>
                </a:solidFill>
              </a:rPr>
              <a:t>there</a:t>
            </a:r>
            <a:r>
              <a:rPr lang="en-US" altLang="en-US" dirty="0"/>
              <a:t> to be an </a:t>
            </a:r>
            <a:r>
              <a:rPr lang="en-US" altLang="en-US" b="1" dirty="0">
                <a:solidFill>
                  <a:srgbClr val="0070C0"/>
                </a:solidFill>
              </a:rPr>
              <a:t>unengaged</a:t>
            </a:r>
            <a:r>
              <a:rPr lang="en-US" altLang="en-US" dirty="0"/>
              <a:t> girl who </a:t>
            </a:r>
            <a:r>
              <a:rPr lang="en-US" altLang="en-US" b="1" dirty="0">
                <a:solidFill>
                  <a:srgbClr val="0070C0"/>
                </a:solidFill>
              </a:rPr>
              <a:t>rejects</a:t>
            </a:r>
            <a:r>
              <a:rPr lang="en-US" altLang="en-US" dirty="0"/>
              <a:t> him. However, the only </a:t>
            </a:r>
            <a:r>
              <a:rPr lang="en-US" altLang="en-US" b="1" dirty="0">
                <a:solidFill>
                  <a:srgbClr val="0070C0"/>
                </a:solidFill>
              </a:rPr>
              <a:t>rejections</a:t>
            </a:r>
            <a:r>
              <a:rPr lang="en-US" altLang="en-US" dirty="0"/>
              <a:t> come </a:t>
            </a:r>
            <a:r>
              <a:rPr lang="en-US" altLang="en-US" b="1" u="sng" dirty="0">
                <a:solidFill>
                  <a:srgbClr val="C00000"/>
                </a:solidFill>
              </a:rPr>
              <a:t>only</a:t>
            </a:r>
            <a:r>
              <a:rPr lang="en-US" altLang="en-US" dirty="0"/>
              <a:t> from </a:t>
            </a:r>
            <a:r>
              <a:rPr lang="en-US" altLang="en-US" b="1" dirty="0">
                <a:solidFill>
                  <a:srgbClr val="0070C0"/>
                </a:solidFill>
              </a:rPr>
              <a:t>girls</a:t>
            </a:r>
            <a:r>
              <a:rPr lang="en-US" altLang="en-US" dirty="0"/>
              <a:t> who are </a:t>
            </a:r>
            <a:r>
              <a:rPr lang="en-US" altLang="en-US" b="1" dirty="0">
                <a:solidFill>
                  <a:srgbClr val="0070C0"/>
                </a:solidFill>
              </a:rPr>
              <a:t>engaged</a:t>
            </a:r>
            <a:r>
              <a:rPr lang="en-US" altLang="en-US" dirty="0"/>
              <a:t>. 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uiExpand="1" build="p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9668" y="0"/>
            <a:ext cx="89129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Lemma 1 – The Improvement Lemma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1524000"/>
            <a:ext cx="741970" cy="16505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750" y="3738449"/>
            <a:ext cx="1618870" cy="161887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99668" y="1643062"/>
            <a:ext cx="9920732" cy="4351338"/>
          </a:xfrm>
        </p:spPr>
        <p:txBody>
          <a:bodyPr/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US" altLang="en-US" sz="3200" b="1" u="sng" dirty="0">
                <a:solidFill>
                  <a:srgbClr val="7030A0"/>
                </a:solidFill>
                <a:ea typeface="ＭＳ Ｐゴシック" panose="020B0600070205080204" pitchFamily="34" charset="-128"/>
              </a:rPr>
              <a:t>Improvement Lemma</a:t>
            </a:r>
            <a:r>
              <a:rPr lang="en-US" altLang="en-US" sz="3200" dirty="0">
                <a:ea typeface="ＭＳ Ｐゴシック" panose="020B0600070205080204" pitchFamily="34" charset="-128"/>
              </a:rPr>
              <a:t>: If a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girl</a:t>
            </a:r>
            <a:r>
              <a:rPr lang="en-US" altLang="en-US" sz="3200" dirty="0">
                <a:ea typeface="ＭＳ Ｐゴシック" panose="020B0600070205080204" pitchFamily="34" charset="-128"/>
              </a:rPr>
              <a:t> is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engaged</a:t>
            </a:r>
            <a:r>
              <a:rPr lang="en-US" altLang="en-US" sz="3200" dirty="0">
                <a:ea typeface="ＭＳ Ｐゴシック" panose="020B0600070205080204" pitchFamily="34" charset="-128"/>
              </a:rPr>
              <a:t> to a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boy</a:t>
            </a:r>
            <a:r>
              <a:rPr lang="en-US" altLang="en-US" sz="3200" dirty="0">
                <a:ea typeface="ＭＳ Ｐゴシック" panose="020B0600070205080204" pitchFamily="34" charset="-128"/>
              </a:rPr>
              <a:t>, then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she</a:t>
            </a:r>
            <a:r>
              <a:rPr lang="en-US" altLang="en-US" sz="3200" dirty="0">
                <a:ea typeface="ＭＳ Ｐゴシック" panose="020B0600070205080204" pitchFamily="34" charset="-128"/>
              </a:rPr>
              <a:t> will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always</a:t>
            </a:r>
            <a:r>
              <a:rPr lang="en-US" altLang="en-US" sz="3200" dirty="0">
                <a:ea typeface="ＭＳ Ｐゴシック" panose="020B0600070205080204" pitchFamily="34" charset="-128"/>
              </a:rPr>
              <a:t> be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engaged</a:t>
            </a:r>
            <a:r>
              <a:rPr lang="en-US" altLang="en-US" sz="3200" dirty="0">
                <a:ea typeface="ＭＳ Ｐゴシック" panose="020B0600070205080204" pitchFamily="34" charset="-128"/>
              </a:rPr>
              <a:t> (or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married</a:t>
            </a:r>
            <a:r>
              <a:rPr lang="en-US" altLang="en-US" sz="3200" dirty="0">
                <a:ea typeface="ＭＳ Ｐゴシック" panose="020B0600070205080204" pitchFamily="34" charset="-128"/>
              </a:rPr>
              <a:t>) to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someone</a:t>
            </a:r>
            <a:r>
              <a:rPr lang="en-US" altLang="en-US" sz="3200" dirty="0">
                <a:ea typeface="ＭＳ Ｐゴシック" panose="020B0600070205080204" pitchFamily="34" charset="-128"/>
              </a:rPr>
              <a:t> at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least</a:t>
            </a:r>
            <a:r>
              <a:rPr lang="en-US" altLang="en-US" sz="3200" dirty="0">
                <a:ea typeface="ＭＳ Ｐゴシック" panose="020B0600070205080204" pitchFamily="34" charset="-128"/>
              </a:rPr>
              <a:t> as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good</a:t>
            </a:r>
            <a:r>
              <a:rPr lang="en-US" altLang="en-US" sz="3200" dirty="0">
                <a:ea typeface="ＭＳ Ｐゴシック" panose="020B0600070205080204" pitchFamily="34" charset="-128"/>
              </a:rPr>
              <a:t>.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endParaRPr lang="en-US" sz="3200" dirty="0">
              <a:ea typeface="ＭＳ Ｐゴシック" panose="020B0600070205080204" pitchFamily="34" charset="-128"/>
            </a:endParaRP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US" altLang="en-US" sz="3200" dirty="0">
                <a:ea typeface="ＭＳ Ｐゴシック" panose="020B0600070205080204" pitchFamily="34" charset="-128"/>
              </a:rPr>
              <a:t>This is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because</a:t>
            </a:r>
            <a:r>
              <a:rPr lang="en-US" altLang="en-US" sz="3200" dirty="0">
                <a:ea typeface="ＭＳ Ｐゴシック" panose="020B0600070205080204" pitchFamily="34" charset="-128"/>
              </a:rPr>
              <a:t> she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would</a:t>
            </a:r>
            <a:r>
              <a:rPr lang="en-US" altLang="en-US" sz="3200" dirty="0">
                <a:ea typeface="ＭＳ Ｐゴシック" panose="020B0600070205080204" pitchFamily="34" charset="-128"/>
              </a:rPr>
              <a:t> only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let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go</a:t>
            </a:r>
            <a:r>
              <a:rPr lang="en-US" altLang="en-US" sz="3200" dirty="0">
                <a:ea typeface="ＭＳ Ｐゴシック" panose="020B0600070205080204" pitchFamily="34" charset="-128"/>
              </a:rPr>
              <a:t> of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him</a:t>
            </a:r>
            <a:r>
              <a:rPr lang="en-US" altLang="en-US" sz="3200" dirty="0">
                <a:ea typeface="ＭＳ Ｐゴシック" panose="020B0600070205080204" pitchFamily="34" charset="-128"/>
              </a:rPr>
              <a:t> in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order</a:t>
            </a:r>
            <a:r>
              <a:rPr lang="en-US" altLang="en-US" sz="3200" dirty="0">
                <a:ea typeface="ＭＳ Ｐゴシック" panose="020B0600070205080204" pitchFamily="34" charset="-128"/>
              </a:rPr>
              <a:t> to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accept</a:t>
            </a:r>
            <a:r>
              <a:rPr lang="en-US" altLang="en-US" sz="3200" dirty="0">
                <a:ea typeface="ＭＳ Ｐゴシック" panose="020B0600070205080204" pitchFamily="34" charset="-128"/>
              </a:rPr>
              <a:t> the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proposal</a:t>
            </a:r>
            <a:r>
              <a:rPr lang="en-US" altLang="en-US" sz="3200" dirty="0">
                <a:ea typeface="ＭＳ Ｐゴシック" panose="020B0600070205080204" pitchFamily="34" charset="-128"/>
              </a:rPr>
              <a:t> of someone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better</a:t>
            </a:r>
            <a:r>
              <a:rPr lang="en-US" altLang="en-US" sz="3200" dirty="0">
                <a:ea typeface="ＭＳ Ｐゴシック" panose="020B0600070205080204" pitchFamily="34" charset="-128"/>
              </a:rPr>
              <a:t> (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higher</a:t>
            </a:r>
            <a:r>
              <a:rPr lang="en-US" altLang="en-US" sz="3200" dirty="0">
                <a:ea typeface="ＭＳ Ｐゴシック" panose="020B0600070205080204" pitchFamily="34" charset="-128"/>
              </a:rPr>
              <a:t> up her </a:t>
            </a:r>
            <a:r>
              <a:rPr lang="en-US" altLang="en-US" sz="32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list</a:t>
            </a:r>
            <a:r>
              <a:rPr lang="en-US" altLang="en-US" sz="3200" dirty="0">
                <a:ea typeface="ＭＳ Ｐゴシック" panose="020B0600070205080204" pitchFamily="34" charset="-128"/>
              </a:rPr>
              <a:t>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767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9668" y="0"/>
            <a:ext cx="89129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Lemma 2 – Boys Always Get Accepted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1524000"/>
            <a:ext cx="741970" cy="16505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750" y="3738449"/>
            <a:ext cx="1618870" cy="161887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99668" y="978548"/>
            <a:ext cx="9920732" cy="5193651"/>
          </a:xfrm>
        </p:spPr>
        <p:txBody>
          <a:bodyPr>
            <a:noAutofit/>
          </a:bodyPr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US" sz="2600" b="1" u="sng" dirty="0">
                <a:solidFill>
                  <a:srgbClr val="7030A0"/>
                </a:solidFill>
              </a:rPr>
              <a:t>Lemma</a:t>
            </a:r>
            <a:r>
              <a:rPr lang="en-US" sz="2600" dirty="0"/>
              <a:t>: No </a:t>
            </a:r>
            <a:r>
              <a:rPr lang="en-US" sz="2600" b="1" dirty="0">
                <a:solidFill>
                  <a:srgbClr val="0070C0"/>
                </a:solidFill>
              </a:rPr>
              <a:t>boy</a:t>
            </a:r>
            <a:r>
              <a:rPr lang="en-US" sz="2600" dirty="0"/>
              <a:t> can be </a:t>
            </a:r>
            <a:r>
              <a:rPr lang="en-US" sz="2600" b="1" dirty="0">
                <a:solidFill>
                  <a:srgbClr val="0070C0"/>
                </a:solidFill>
              </a:rPr>
              <a:t>rejected</a:t>
            </a:r>
            <a:r>
              <a:rPr lang="en-US" sz="2600" dirty="0"/>
              <a:t> by </a:t>
            </a:r>
            <a:r>
              <a:rPr lang="en-US" sz="2600" b="1" dirty="0">
                <a:solidFill>
                  <a:srgbClr val="0070C0"/>
                </a:solidFill>
              </a:rPr>
              <a:t>all</a:t>
            </a:r>
            <a:r>
              <a:rPr lang="en-US" sz="2600" dirty="0"/>
              <a:t> the </a:t>
            </a:r>
            <a:r>
              <a:rPr lang="en-US" sz="2600" b="1" dirty="0">
                <a:solidFill>
                  <a:srgbClr val="0070C0"/>
                </a:solidFill>
              </a:rPr>
              <a:t>girls</a:t>
            </a:r>
            <a:r>
              <a:rPr lang="en-US" sz="2600" dirty="0"/>
              <a:t>.</a:t>
            </a:r>
          </a:p>
          <a:p>
            <a:pPr marL="0" indent="0">
              <a:buNone/>
              <a:defRPr/>
            </a:pPr>
            <a:endParaRPr lang="en-US" sz="1100" dirty="0"/>
          </a:p>
          <a:p>
            <a:pPr marL="0" indent="0">
              <a:buNone/>
              <a:defRPr/>
            </a:pPr>
            <a:r>
              <a:rPr lang="en-US" sz="2600" dirty="0"/>
              <a:t>Proof is by </a:t>
            </a:r>
            <a:r>
              <a:rPr lang="en-US" sz="2600" b="1" dirty="0">
                <a:solidFill>
                  <a:srgbClr val="0070C0"/>
                </a:solidFill>
              </a:rPr>
              <a:t>contradiction</a:t>
            </a:r>
            <a:r>
              <a:rPr lang="en-US" sz="2600" dirty="0"/>
              <a:t>.</a:t>
            </a:r>
          </a:p>
          <a:p>
            <a:pPr marL="0" indent="0">
              <a:buNone/>
              <a:defRPr/>
            </a:pPr>
            <a:endParaRPr lang="en-US" sz="1100" dirty="0"/>
          </a:p>
          <a:p>
            <a:pPr marL="0" indent="0">
              <a:buNone/>
              <a:defRPr/>
            </a:pPr>
            <a:r>
              <a:rPr lang="en-US" sz="2600" b="1" dirty="0">
                <a:solidFill>
                  <a:srgbClr val="0070C0"/>
                </a:solidFill>
              </a:rPr>
              <a:t>Suppose</a:t>
            </a:r>
            <a:r>
              <a:rPr lang="en-US" sz="2600" dirty="0"/>
              <a:t> boy </a:t>
            </a:r>
            <a:r>
              <a:rPr lang="en-US" sz="2600" b="1" dirty="0">
                <a:solidFill>
                  <a:srgbClr val="0070C0"/>
                </a:solidFill>
              </a:rPr>
              <a:t>b</a:t>
            </a:r>
            <a:r>
              <a:rPr lang="en-US" sz="2600" dirty="0"/>
              <a:t> is </a:t>
            </a:r>
            <a:r>
              <a:rPr lang="en-US" sz="2600" b="1" dirty="0">
                <a:solidFill>
                  <a:srgbClr val="0070C0"/>
                </a:solidFill>
              </a:rPr>
              <a:t>rejected</a:t>
            </a:r>
            <a:r>
              <a:rPr lang="en-US" sz="2600" dirty="0"/>
              <a:t> by </a:t>
            </a:r>
            <a:r>
              <a:rPr lang="en-US" sz="2600" b="1" dirty="0">
                <a:solidFill>
                  <a:srgbClr val="0070C0"/>
                </a:solidFill>
              </a:rPr>
              <a:t>all</a:t>
            </a:r>
            <a:r>
              <a:rPr lang="en-US" sz="2600" dirty="0"/>
              <a:t> the </a:t>
            </a:r>
            <a:r>
              <a:rPr lang="en-US" sz="2600" b="1" dirty="0">
                <a:solidFill>
                  <a:srgbClr val="0070C0"/>
                </a:solidFill>
              </a:rPr>
              <a:t>girls</a:t>
            </a:r>
            <a:r>
              <a:rPr lang="en-US" sz="2600" dirty="0"/>
              <a:t>. At that point:</a:t>
            </a:r>
          </a:p>
          <a:p>
            <a:pPr lvl="1">
              <a:defRPr/>
            </a:pPr>
            <a:r>
              <a:rPr lang="en-US" sz="2600" dirty="0"/>
              <a:t>Each </a:t>
            </a:r>
            <a:r>
              <a:rPr lang="en-US" sz="2600" b="1" dirty="0">
                <a:solidFill>
                  <a:srgbClr val="0070C0"/>
                </a:solidFill>
              </a:rPr>
              <a:t>girl</a:t>
            </a:r>
            <a:r>
              <a:rPr lang="en-US" sz="2600" dirty="0"/>
              <a:t> must have a </a:t>
            </a:r>
            <a:r>
              <a:rPr lang="en-US" sz="2600" b="1" dirty="0">
                <a:solidFill>
                  <a:srgbClr val="0070C0"/>
                </a:solidFill>
              </a:rPr>
              <a:t>suitor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0070C0"/>
                </a:solidFill>
              </a:rPr>
              <a:t>other</a:t>
            </a:r>
            <a:r>
              <a:rPr lang="en-US" sz="2600" dirty="0"/>
              <a:t> than </a:t>
            </a:r>
            <a:r>
              <a:rPr lang="en-US" sz="2600" b="1" dirty="0">
                <a:solidFill>
                  <a:srgbClr val="0070C0"/>
                </a:solidFill>
              </a:rPr>
              <a:t>b.</a:t>
            </a:r>
            <a:br>
              <a:rPr lang="en-US" sz="2600" dirty="0"/>
            </a:br>
            <a:r>
              <a:rPr lang="en-US" sz="2600" dirty="0"/>
              <a:t>(By </a:t>
            </a:r>
            <a:r>
              <a:rPr lang="en-US" sz="2600" b="1" dirty="0">
                <a:solidFill>
                  <a:srgbClr val="0070C0"/>
                </a:solidFill>
              </a:rPr>
              <a:t>Improvement Lemma</a:t>
            </a:r>
            <a:r>
              <a:rPr lang="en-US" sz="2600" dirty="0"/>
              <a:t>, </a:t>
            </a:r>
            <a:r>
              <a:rPr lang="en-US" sz="2600" b="1" dirty="0">
                <a:solidFill>
                  <a:srgbClr val="0070C0"/>
                </a:solidFill>
              </a:rPr>
              <a:t>once</a:t>
            </a:r>
            <a:r>
              <a:rPr lang="en-US" sz="2600" dirty="0"/>
              <a:t> a </a:t>
            </a:r>
            <a:r>
              <a:rPr lang="en-US" sz="2600" b="1" dirty="0">
                <a:solidFill>
                  <a:srgbClr val="0070C0"/>
                </a:solidFill>
              </a:rPr>
              <a:t>girl</a:t>
            </a:r>
            <a:r>
              <a:rPr lang="en-US" sz="2600" dirty="0"/>
              <a:t> has a </a:t>
            </a:r>
            <a:r>
              <a:rPr lang="en-US" sz="2600" b="1" dirty="0">
                <a:solidFill>
                  <a:srgbClr val="0070C0"/>
                </a:solidFill>
              </a:rPr>
              <a:t>suitor</a:t>
            </a:r>
            <a:r>
              <a:rPr lang="en-US" sz="2600" dirty="0"/>
              <a:t> she will </a:t>
            </a:r>
            <a:r>
              <a:rPr lang="en-US" sz="2600" b="1" dirty="0">
                <a:solidFill>
                  <a:srgbClr val="0070C0"/>
                </a:solidFill>
              </a:rPr>
              <a:t>always</a:t>
            </a:r>
            <a:r>
              <a:rPr lang="en-US" sz="2600" dirty="0"/>
              <a:t> have at </a:t>
            </a:r>
            <a:r>
              <a:rPr lang="en-US" sz="2600" b="1" dirty="0">
                <a:solidFill>
                  <a:srgbClr val="0070C0"/>
                </a:solidFill>
              </a:rPr>
              <a:t>least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0070C0"/>
                </a:solidFill>
              </a:rPr>
              <a:t>one</a:t>
            </a:r>
            <a:r>
              <a:rPr lang="en-US" sz="2600" dirty="0"/>
              <a:t>).</a:t>
            </a:r>
          </a:p>
          <a:p>
            <a:pPr lvl="1">
              <a:defRPr/>
            </a:pPr>
            <a:r>
              <a:rPr lang="en-US" sz="2600" dirty="0"/>
              <a:t>The </a:t>
            </a:r>
            <a:r>
              <a:rPr lang="en-US" sz="2600" b="1" dirty="0">
                <a:solidFill>
                  <a:srgbClr val="0070C0"/>
                </a:solidFill>
              </a:rPr>
              <a:t>n</a:t>
            </a:r>
            <a:r>
              <a:rPr lang="en-US" sz="2600" dirty="0"/>
              <a:t> girls have </a:t>
            </a:r>
            <a:r>
              <a:rPr lang="en-US" sz="2600" b="1" dirty="0">
                <a:solidFill>
                  <a:srgbClr val="0070C0"/>
                </a:solidFill>
              </a:rPr>
              <a:t>n</a:t>
            </a:r>
            <a:r>
              <a:rPr lang="en-US" sz="2600" dirty="0"/>
              <a:t> suitors, </a:t>
            </a:r>
            <a:r>
              <a:rPr lang="en-US" sz="2600" b="1" dirty="0">
                <a:solidFill>
                  <a:srgbClr val="0070C0"/>
                </a:solidFill>
              </a:rPr>
              <a:t>b</a:t>
            </a:r>
            <a:r>
              <a:rPr lang="en-US" sz="2600" dirty="0"/>
              <a:t> not </a:t>
            </a:r>
            <a:r>
              <a:rPr lang="en-US" sz="2600" b="1" dirty="0">
                <a:solidFill>
                  <a:srgbClr val="0070C0"/>
                </a:solidFill>
              </a:rPr>
              <a:t>among</a:t>
            </a:r>
            <a:r>
              <a:rPr lang="en-US" sz="2600" dirty="0"/>
              <a:t> them. Thus, </a:t>
            </a:r>
            <a:r>
              <a:rPr lang="en-US" sz="2600" b="1" dirty="0">
                <a:solidFill>
                  <a:srgbClr val="0070C0"/>
                </a:solidFill>
              </a:rPr>
              <a:t>there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0070C0"/>
                </a:solidFill>
              </a:rPr>
              <a:t>are</a:t>
            </a:r>
            <a:r>
              <a:rPr lang="en-US" sz="2600" dirty="0"/>
              <a:t> at least </a:t>
            </a:r>
            <a:r>
              <a:rPr lang="en-US" sz="2600" b="1" dirty="0">
                <a:solidFill>
                  <a:srgbClr val="0070C0"/>
                </a:solidFill>
              </a:rPr>
              <a:t>n+1</a:t>
            </a:r>
            <a:r>
              <a:rPr lang="en-US" sz="2600" dirty="0"/>
              <a:t> boys.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US" sz="1100" dirty="0"/>
          </a:p>
          <a:p>
            <a:pPr marL="457200" lvl="1" indent="-45720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2600" b="1" u="sng" dirty="0">
                <a:solidFill>
                  <a:srgbClr val="7030A0"/>
                </a:solidFill>
              </a:rPr>
              <a:t>Corollary</a:t>
            </a:r>
            <a:r>
              <a:rPr lang="en-US" sz="2600" dirty="0"/>
              <a:t>: Each </a:t>
            </a:r>
            <a:r>
              <a:rPr lang="en-US" sz="2600" b="1" dirty="0">
                <a:solidFill>
                  <a:srgbClr val="0070C0"/>
                </a:solidFill>
              </a:rPr>
              <a:t>girl</a:t>
            </a:r>
            <a:r>
              <a:rPr lang="en-US" sz="2600" dirty="0"/>
              <a:t> will </a:t>
            </a:r>
            <a:r>
              <a:rPr lang="en-US" sz="2600" b="1" dirty="0">
                <a:solidFill>
                  <a:srgbClr val="0070C0"/>
                </a:solidFill>
              </a:rPr>
              <a:t>marry</a:t>
            </a:r>
            <a:r>
              <a:rPr lang="en-US" sz="2600" dirty="0"/>
              <a:t> her </a:t>
            </a:r>
            <a:r>
              <a:rPr lang="en-US" sz="2600" b="1" dirty="0">
                <a:solidFill>
                  <a:srgbClr val="0070C0"/>
                </a:solidFill>
              </a:rPr>
              <a:t>absolute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0070C0"/>
                </a:solidFill>
              </a:rPr>
              <a:t>favorite</a:t>
            </a:r>
            <a:r>
              <a:rPr lang="en-US" sz="2600" dirty="0"/>
              <a:t> of the </a:t>
            </a:r>
            <a:r>
              <a:rPr lang="en-US" sz="2600" b="1" dirty="0">
                <a:solidFill>
                  <a:srgbClr val="0070C0"/>
                </a:solidFill>
              </a:rPr>
              <a:t>boys</a:t>
            </a:r>
            <a:r>
              <a:rPr lang="en-US" sz="2600" dirty="0"/>
              <a:t> who </a:t>
            </a:r>
            <a:r>
              <a:rPr lang="en-US" sz="2600" b="1" dirty="0">
                <a:solidFill>
                  <a:srgbClr val="0070C0"/>
                </a:solidFill>
              </a:rPr>
              <a:t>visit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0070C0"/>
                </a:solidFill>
              </a:rPr>
              <a:t>her</a:t>
            </a:r>
            <a:r>
              <a:rPr lang="en-US" sz="2600" dirty="0"/>
              <a:t> during the </a:t>
            </a:r>
            <a:r>
              <a:rPr lang="en-US" sz="2600" b="1" dirty="0">
                <a:solidFill>
                  <a:srgbClr val="0070C0"/>
                </a:solidFill>
              </a:rPr>
              <a:t>GS Algorithm</a:t>
            </a:r>
            <a:r>
              <a:rPr lang="en-US" sz="2600" dirty="0"/>
              <a:t>.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279721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9668" y="0"/>
            <a:ext cx="89129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Unstable Couples – An Example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654300" y="2133600"/>
            <a:ext cx="3429000" cy="34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 dirty="0"/>
              <a:t>Boys’ Preference List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6705600" y="2135188"/>
            <a:ext cx="3429000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 dirty="0"/>
              <a:t>Girls’ Preference List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2438400" y="3657600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rgbClr val="00B050"/>
                </a:solidFill>
              </a:rPr>
              <a:t>Z</a:t>
            </a:r>
            <a:r>
              <a:rPr lang="en-US" altLang="en-US" b="1" dirty="0"/>
              <a:t>eus</a:t>
            </a:r>
            <a:endParaRPr lang="en-US" altLang="en-US" dirty="0"/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438400" y="3276600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rgbClr val="00B050"/>
                </a:solidFill>
              </a:rPr>
              <a:t>Y</a:t>
            </a:r>
            <a:r>
              <a:rPr lang="en-US" altLang="en-US" b="1" dirty="0"/>
              <a:t>ancey</a:t>
            </a:r>
            <a:endParaRPr lang="en-US" altLang="en-US" dirty="0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2438400" y="2895600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rgbClr val="00B050"/>
                </a:solidFill>
              </a:rPr>
              <a:t>X</a:t>
            </a:r>
            <a:r>
              <a:rPr lang="en-US" altLang="en-US" b="1" dirty="0"/>
              <a:t>avier</a:t>
            </a:r>
            <a:endParaRPr lang="en-US" altLang="en-US" dirty="0"/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2438400" y="2514600"/>
            <a:ext cx="9906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chemeClr val="bg1"/>
                </a:solidFill>
              </a:rPr>
              <a:t>Boy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3429000" y="3657600"/>
            <a:ext cx="762000" cy="381000"/>
          </a:xfrm>
          <a:prstGeom prst="rect">
            <a:avLst/>
          </a:prstGeom>
          <a:solidFill>
            <a:srgbClr val="CC99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3429000" y="3276600"/>
            <a:ext cx="762000" cy="381000"/>
          </a:xfrm>
          <a:prstGeom prst="rect">
            <a:avLst/>
          </a:prstGeom>
          <a:solidFill>
            <a:srgbClr val="CC99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3429000" y="28956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3429000" y="2514600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1</a:t>
            </a:r>
            <a:r>
              <a:rPr kumimoji="0" lang="en-US" altLang="en-US" b="1" baseline="30000">
                <a:solidFill>
                  <a:schemeClr val="bg1"/>
                </a:solidFill>
              </a:rPr>
              <a:t>st</a:t>
            </a: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4191000" y="36576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4191000" y="32766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4191000" y="28956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4191000" y="2514600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2</a:t>
            </a:r>
            <a:r>
              <a:rPr kumimoji="0" lang="en-US" altLang="en-US" b="1" baseline="30000">
                <a:solidFill>
                  <a:schemeClr val="bg1"/>
                </a:solidFill>
              </a:rPr>
              <a:t>nd</a:t>
            </a:r>
          </a:p>
        </p:txBody>
      </p:sp>
      <p:sp>
        <p:nvSpPr>
          <p:cNvPr id="27" name="Rectangle 21"/>
          <p:cNvSpPr>
            <a:spLocks noChangeArrowheads="1"/>
          </p:cNvSpPr>
          <p:nvPr/>
        </p:nvSpPr>
        <p:spPr bwMode="auto">
          <a:xfrm>
            <a:off x="4953000" y="36576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4953000" y="32766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4953000" y="2895600"/>
            <a:ext cx="762000" cy="381000"/>
          </a:xfrm>
          <a:prstGeom prst="rect">
            <a:avLst/>
          </a:prstGeom>
          <a:solidFill>
            <a:srgbClr val="CC99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30" name="Rectangle 24"/>
          <p:cNvSpPr>
            <a:spLocks noChangeArrowheads="1"/>
          </p:cNvSpPr>
          <p:nvPr/>
        </p:nvSpPr>
        <p:spPr bwMode="auto">
          <a:xfrm>
            <a:off x="4953000" y="2514600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3</a:t>
            </a:r>
            <a:r>
              <a:rPr kumimoji="0" lang="en-US" altLang="en-US" b="1" baseline="30000">
                <a:solidFill>
                  <a:schemeClr val="bg1"/>
                </a:solidFill>
              </a:rPr>
              <a:t>rd</a:t>
            </a:r>
          </a:p>
        </p:txBody>
      </p:sp>
      <p:sp>
        <p:nvSpPr>
          <p:cNvPr id="31" name="Rectangle 25"/>
          <p:cNvSpPr>
            <a:spLocks noChangeArrowheads="1"/>
          </p:cNvSpPr>
          <p:nvPr/>
        </p:nvSpPr>
        <p:spPr bwMode="auto">
          <a:xfrm>
            <a:off x="6553200" y="3657600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rgbClr val="00B050"/>
                </a:solidFill>
              </a:rPr>
              <a:t>C</a:t>
            </a:r>
            <a:r>
              <a:rPr lang="en-US" altLang="en-US" b="1" dirty="0"/>
              <a:t>lare</a:t>
            </a:r>
            <a:endParaRPr lang="en-US" altLang="en-US" dirty="0"/>
          </a:p>
        </p:txBody>
      </p:sp>
      <p:sp>
        <p:nvSpPr>
          <p:cNvPr id="32" name="Rectangle 26"/>
          <p:cNvSpPr>
            <a:spLocks noChangeArrowheads="1"/>
          </p:cNvSpPr>
          <p:nvPr/>
        </p:nvSpPr>
        <p:spPr bwMode="auto">
          <a:xfrm>
            <a:off x="6553200" y="3276600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rgbClr val="00B050"/>
                </a:solidFill>
              </a:rPr>
              <a:t>B</a:t>
            </a:r>
            <a:r>
              <a:rPr lang="en-US" altLang="en-US" b="1" dirty="0"/>
              <a:t>ertha</a:t>
            </a:r>
            <a:endParaRPr lang="en-US" altLang="en-US" dirty="0"/>
          </a:p>
        </p:txBody>
      </p:sp>
      <p:sp>
        <p:nvSpPr>
          <p:cNvPr id="33" name="Rectangle 27"/>
          <p:cNvSpPr>
            <a:spLocks noChangeArrowheads="1"/>
          </p:cNvSpPr>
          <p:nvPr/>
        </p:nvSpPr>
        <p:spPr bwMode="auto">
          <a:xfrm>
            <a:off x="6553200" y="2895600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rgbClr val="00B050"/>
                </a:solidFill>
              </a:rPr>
              <a:t>A</a:t>
            </a:r>
            <a:r>
              <a:rPr lang="en-US" altLang="en-US" b="1" dirty="0"/>
              <a:t>my</a:t>
            </a:r>
            <a:endParaRPr lang="en-US" altLang="en-US" dirty="0"/>
          </a:p>
        </p:txBody>
      </p:sp>
      <p:sp>
        <p:nvSpPr>
          <p:cNvPr id="34" name="Rectangle 28"/>
          <p:cNvSpPr>
            <a:spLocks noChangeArrowheads="1"/>
          </p:cNvSpPr>
          <p:nvPr/>
        </p:nvSpPr>
        <p:spPr bwMode="auto">
          <a:xfrm>
            <a:off x="6553200" y="2514600"/>
            <a:ext cx="9906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chemeClr val="bg1"/>
                </a:solidFill>
              </a:rPr>
              <a:t>Girl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35" name="Rectangle 29"/>
          <p:cNvSpPr>
            <a:spLocks noChangeArrowheads="1"/>
          </p:cNvSpPr>
          <p:nvPr/>
        </p:nvSpPr>
        <p:spPr bwMode="auto">
          <a:xfrm>
            <a:off x="7543800" y="3657600"/>
            <a:ext cx="762000" cy="381000"/>
          </a:xfrm>
          <a:prstGeom prst="rect">
            <a:avLst/>
          </a:prstGeom>
          <a:solidFill>
            <a:srgbClr val="CC99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X</a:t>
            </a:r>
            <a:endParaRPr lang="en-US" altLang="en-US"/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7543800" y="32766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X</a:t>
            </a:r>
            <a:endParaRPr lang="en-US" altLang="en-US"/>
          </a:p>
        </p:txBody>
      </p:sp>
      <p:sp>
        <p:nvSpPr>
          <p:cNvPr id="37" name="Rectangle 31"/>
          <p:cNvSpPr>
            <a:spLocks noChangeArrowheads="1"/>
          </p:cNvSpPr>
          <p:nvPr/>
        </p:nvSpPr>
        <p:spPr bwMode="auto">
          <a:xfrm>
            <a:off x="7543800" y="28956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Y</a:t>
            </a:r>
            <a:endParaRPr lang="en-US" altLang="en-US"/>
          </a:p>
        </p:txBody>
      </p:sp>
      <p:sp>
        <p:nvSpPr>
          <p:cNvPr id="38" name="Rectangle 32"/>
          <p:cNvSpPr>
            <a:spLocks noChangeArrowheads="1"/>
          </p:cNvSpPr>
          <p:nvPr/>
        </p:nvSpPr>
        <p:spPr bwMode="auto">
          <a:xfrm>
            <a:off x="7543800" y="2514600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1</a:t>
            </a:r>
            <a:r>
              <a:rPr kumimoji="0" lang="en-US" altLang="en-US" b="1" baseline="30000">
                <a:solidFill>
                  <a:schemeClr val="bg1"/>
                </a:solidFill>
              </a:rPr>
              <a:t>st</a:t>
            </a:r>
          </a:p>
        </p:txBody>
      </p:sp>
      <p:sp>
        <p:nvSpPr>
          <p:cNvPr id="39" name="Rectangle 33"/>
          <p:cNvSpPr>
            <a:spLocks noChangeArrowheads="1"/>
          </p:cNvSpPr>
          <p:nvPr/>
        </p:nvSpPr>
        <p:spPr bwMode="auto">
          <a:xfrm>
            <a:off x="8305800" y="36576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Y</a:t>
            </a:r>
            <a:endParaRPr lang="en-US" altLang="en-US"/>
          </a:p>
        </p:txBody>
      </p:sp>
      <p:sp>
        <p:nvSpPr>
          <p:cNvPr id="40" name="Rectangle 34"/>
          <p:cNvSpPr>
            <a:spLocks noChangeArrowheads="1"/>
          </p:cNvSpPr>
          <p:nvPr/>
        </p:nvSpPr>
        <p:spPr bwMode="auto">
          <a:xfrm>
            <a:off x="8305800" y="3276600"/>
            <a:ext cx="762000" cy="381000"/>
          </a:xfrm>
          <a:prstGeom prst="rect">
            <a:avLst/>
          </a:prstGeom>
          <a:solidFill>
            <a:srgbClr val="CC99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Y</a:t>
            </a:r>
            <a:endParaRPr lang="en-US" altLang="en-US"/>
          </a:p>
        </p:txBody>
      </p:sp>
      <p:sp>
        <p:nvSpPr>
          <p:cNvPr id="41" name="Rectangle 35"/>
          <p:cNvSpPr>
            <a:spLocks noChangeArrowheads="1"/>
          </p:cNvSpPr>
          <p:nvPr/>
        </p:nvSpPr>
        <p:spPr bwMode="auto">
          <a:xfrm>
            <a:off x="8305800" y="28956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X</a:t>
            </a:r>
            <a:endParaRPr lang="en-US" altLang="en-US"/>
          </a:p>
        </p:txBody>
      </p:sp>
      <p:sp>
        <p:nvSpPr>
          <p:cNvPr id="42" name="Rectangle 36"/>
          <p:cNvSpPr>
            <a:spLocks noChangeArrowheads="1"/>
          </p:cNvSpPr>
          <p:nvPr/>
        </p:nvSpPr>
        <p:spPr bwMode="auto">
          <a:xfrm>
            <a:off x="8305800" y="2514600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2</a:t>
            </a:r>
            <a:r>
              <a:rPr kumimoji="0" lang="en-US" altLang="en-US" b="1" baseline="30000">
                <a:solidFill>
                  <a:schemeClr val="bg1"/>
                </a:solidFill>
              </a:rPr>
              <a:t>nd</a:t>
            </a:r>
          </a:p>
        </p:txBody>
      </p:sp>
      <p:sp>
        <p:nvSpPr>
          <p:cNvPr id="43" name="Rectangle 37"/>
          <p:cNvSpPr>
            <a:spLocks noChangeArrowheads="1"/>
          </p:cNvSpPr>
          <p:nvPr/>
        </p:nvSpPr>
        <p:spPr bwMode="auto">
          <a:xfrm>
            <a:off x="9067800" y="36576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Z</a:t>
            </a:r>
            <a:endParaRPr lang="en-US" altLang="en-US"/>
          </a:p>
        </p:txBody>
      </p:sp>
      <p:sp>
        <p:nvSpPr>
          <p:cNvPr id="44" name="Rectangle 38"/>
          <p:cNvSpPr>
            <a:spLocks noChangeArrowheads="1"/>
          </p:cNvSpPr>
          <p:nvPr/>
        </p:nvSpPr>
        <p:spPr bwMode="auto">
          <a:xfrm>
            <a:off x="9067800" y="32766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Z</a:t>
            </a:r>
            <a:endParaRPr lang="en-US" altLang="en-US"/>
          </a:p>
        </p:txBody>
      </p:sp>
      <p:sp>
        <p:nvSpPr>
          <p:cNvPr id="45" name="Rectangle 39"/>
          <p:cNvSpPr>
            <a:spLocks noChangeArrowheads="1"/>
          </p:cNvSpPr>
          <p:nvPr/>
        </p:nvSpPr>
        <p:spPr bwMode="auto">
          <a:xfrm>
            <a:off x="9067800" y="2895600"/>
            <a:ext cx="762000" cy="381000"/>
          </a:xfrm>
          <a:prstGeom prst="rect">
            <a:avLst/>
          </a:prstGeom>
          <a:solidFill>
            <a:srgbClr val="CC99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Z</a:t>
            </a:r>
            <a:endParaRPr lang="en-US" altLang="en-US"/>
          </a:p>
        </p:txBody>
      </p:sp>
      <p:sp>
        <p:nvSpPr>
          <p:cNvPr id="46" name="Rectangle 40"/>
          <p:cNvSpPr>
            <a:spLocks noChangeArrowheads="1"/>
          </p:cNvSpPr>
          <p:nvPr/>
        </p:nvSpPr>
        <p:spPr bwMode="auto">
          <a:xfrm>
            <a:off x="9067800" y="2514600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3</a:t>
            </a:r>
            <a:r>
              <a:rPr kumimoji="0" lang="en-US" altLang="en-US" b="1" baseline="30000">
                <a:solidFill>
                  <a:schemeClr val="bg1"/>
                </a:solidFill>
              </a:rPr>
              <a:t>rd</a:t>
            </a:r>
          </a:p>
        </p:txBody>
      </p:sp>
      <p:grpSp>
        <p:nvGrpSpPr>
          <p:cNvPr id="47" name="Group 46"/>
          <p:cNvGrpSpPr>
            <a:grpSpLocks/>
          </p:cNvGrpSpPr>
          <p:nvPr/>
        </p:nvGrpSpPr>
        <p:grpSpPr bwMode="auto">
          <a:xfrm>
            <a:off x="4191000" y="2895600"/>
            <a:ext cx="4114800" cy="762000"/>
            <a:chOff x="1632" y="1488"/>
            <a:chExt cx="2592" cy="480"/>
          </a:xfrm>
        </p:grpSpPr>
        <p:sp>
          <p:nvSpPr>
            <p:cNvPr id="49" name="Rectangle 43"/>
            <p:cNvSpPr>
              <a:spLocks noChangeArrowheads="1"/>
            </p:cNvSpPr>
            <p:nvPr/>
          </p:nvSpPr>
          <p:spPr bwMode="auto">
            <a:xfrm>
              <a:off x="1632" y="1488"/>
              <a:ext cx="480" cy="240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b="1">
                  <a:solidFill>
                    <a:srgbClr val="C00000"/>
                  </a:solidFill>
                </a:rPr>
                <a:t>B</a:t>
              </a:r>
              <a:endParaRPr lang="en-US" altLang="en-US">
                <a:solidFill>
                  <a:srgbClr val="C00000"/>
                </a:solidFill>
              </a:endParaRPr>
            </a:p>
          </p:txBody>
        </p:sp>
        <p:sp>
          <p:nvSpPr>
            <p:cNvPr id="50" name="Rectangle 44"/>
            <p:cNvSpPr>
              <a:spLocks noChangeArrowheads="1"/>
            </p:cNvSpPr>
            <p:nvPr/>
          </p:nvSpPr>
          <p:spPr bwMode="auto">
            <a:xfrm>
              <a:off x="3744" y="1728"/>
              <a:ext cx="480" cy="240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b="1">
                  <a:solidFill>
                    <a:srgbClr val="C00000"/>
                  </a:solidFill>
                </a:rPr>
                <a:t>X</a:t>
              </a:r>
              <a:endParaRPr lang="en-US" altLang="en-US">
                <a:solidFill>
                  <a:srgbClr val="C00000"/>
                </a:solidFill>
              </a:endParaRPr>
            </a:p>
          </p:txBody>
        </p:sp>
      </p:grpSp>
      <p:sp>
        <p:nvSpPr>
          <p:cNvPr id="51" name="Rectangle 53"/>
          <p:cNvSpPr txBox="1">
            <a:spLocks noChangeArrowheads="1"/>
          </p:cNvSpPr>
          <p:nvPr/>
        </p:nvSpPr>
        <p:spPr>
          <a:xfrm>
            <a:off x="2337816" y="4267200"/>
            <a:ext cx="7848600" cy="169468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sz="3000" b="1" dirty="0"/>
              <a:t>The </a:t>
            </a:r>
            <a:r>
              <a:rPr lang="en-US" altLang="en-US" sz="3000" b="1" dirty="0">
                <a:solidFill>
                  <a:srgbClr val="9966FF"/>
                </a:solidFill>
              </a:rPr>
              <a:t>lavender</a:t>
            </a:r>
            <a:r>
              <a:rPr lang="en-US" altLang="en-US" sz="3000" b="1" dirty="0"/>
              <a:t> assignment is a </a:t>
            </a:r>
            <a:r>
              <a:rPr lang="en-US" altLang="en-US" sz="3000" b="1" dirty="0">
                <a:solidFill>
                  <a:srgbClr val="0070C0"/>
                </a:solidFill>
              </a:rPr>
              <a:t>perfect</a:t>
            </a:r>
            <a:r>
              <a:rPr lang="en-US" altLang="en-US" sz="3000" b="1" dirty="0"/>
              <a:t> </a:t>
            </a:r>
            <a:r>
              <a:rPr lang="en-US" altLang="en-US" sz="3000" b="1" dirty="0">
                <a:solidFill>
                  <a:srgbClr val="0070C0"/>
                </a:solidFill>
              </a:rPr>
              <a:t>matching</a:t>
            </a:r>
            <a:r>
              <a:rPr lang="en-US" altLang="en-US" sz="3000" b="1" dirty="0"/>
              <a:t>.</a:t>
            </a:r>
            <a:br>
              <a:rPr lang="en-US" altLang="en-US" sz="3000" b="1" dirty="0"/>
            </a:br>
            <a:r>
              <a:rPr lang="en-US" altLang="en-US" sz="3000" b="1" dirty="0"/>
              <a:t>Are there any </a:t>
            </a:r>
            <a:r>
              <a:rPr lang="en-US" altLang="en-US" sz="3000" b="1" dirty="0">
                <a:solidFill>
                  <a:srgbClr val="0070C0"/>
                </a:solidFill>
              </a:rPr>
              <a:t>unstable</a:t>
            </a:r>
            <a:r>
              <a:rPr lang="en-US" altLang="en-US" sz="3000" b="1" dirty="0"/>
              <a:t> pairs?</a:t>
            </a:r>
          </a:p>
          <a:p>
            <a:pPr marL="0" indent="0">
              <a:buNone/>
            </a:pPr>
            <a:r>
              <a:rPr lang="en-US" altLang="en-US" sz="3000" b="1" dirty="0">
                <a:solidFill>
                  <a:srgbClr val="C00000"/>
                </a:solidFill>
              </a:rPr>
              <a:t>Yes</a:t>
            </a:r>
            <a:r>
              <a:rPr lang="en-US" altLang="en-US" sz="3000" b="1" dirty="0"/>
              <a:t>. </a:t>
            </a:r>
            <a:r>
              <a:rPr lang="en-US" altLang="en-US" sz="3000" b="1" dirty="0">
                <a:solidFill>
                  <a:srgbClr val="0070C0"/>
                </a:solidFill>
              </a:rPr>
              <a:t>Bertha</a:t>
            </a:r>
            <a:r>
              <a:rPr lang="en-US" altLang="en-US" sz="3000" b="1" dirty="0"/>
              <a:t> and </a:t>
            </a:r>
            <a:r>
              <a:rPr lang="en-US" altLang="en-US" sz="3000" b="1" dirty="0">
                <a:solidFill>
                  <a:srgbClr val="0070C0"/>
                </a:solidFill>
              </a:rPr>
              <a:t>Xavier</a:t>
            </a:r>
            <a:r>
              <a:rPr lang="en-US" altLang="en-US" sz="3000" b="1" dirty="0"/>
              <a:t> form an </a:t>
            </a:r>
            <a:r>
              <a:rPr lang="en-US" altLang="en-US" sz="3000" b="1" dirty="0">
                <a:solidFill>
                  <a:srgbClr val="0070C0"/>
                </a:solidFill>
              </a:rPr>
              <a:t>unstable</a:t>
            </a:r>
            <a:r>
              <a:rPr lang="en-US" altLang="en-US" sz="3000" b="1" dirty="0"/>
              <a:t> pair.</a:t>
            </a:r>
            <a:br>
              <a:rPr lang="en-US" altLang="en-US" sz="3000" b="1" dirty="0"/>
            </a:br>
            <a:r>
              <a:rPr lang="en-US" altLang="en-US" sz="3000" b="1" dirty="0"/>
              <a:t>They would </a:t>
            </a:r>
            <a:r>
              <a:rPr lang="en-US" altLang="en-US" sz="3000" b="1" dirty="0">
                <a:solidFill>
                  <a:srgbClr val="0070C0"/>
                </a:solidFill>
              </a:rPr>
              <a:t>prefer</a:t>
            </a:r>
            <a:r>
              <a:rPr lang="en-US" altLang="en-US" sz="3000" b="1" dirty="0"/>
              <a:t> </a:t>
            </a:r>
            <a:r>
              <a:rPr lang="en-US" altLang="en-US" sz="3000" b="1" dirty="0">
                <a:solidFill>
                  <a:srgbClr val="0070C0"/>
                </a:solidFill>
              </a:rPr>
              <a:t>each</a:t>
            </a:r>
            <a:r>
              <a:rPr lang="en-US" altLang="en-US" sz="3000" b="1" dirty="0"/>
              <a:t> </a:t>
            </a:r>
            <a:r>
              <a:rPr lang="en-US" altLang="en-US" sz="3000" b="1" dirty="0">
                <a:solidFill>
                  <a:srgbClr val="0070C0"/>
                </a:solidFill>
              </a:rPr>
              <a:t>other</a:t>
            </a:r>
            <a:r>
              <a:rPr lang="en-US" altLang="en-US" sz="3000" b="1" dirty="0"/>
              <a:t> to </a:t>
            </a:r>
            <a:r>
              <a:rPr lang="en-US" altLang="en-US" sz="3000" b="1" dirty="0">
                <a:solidFill>
                  <a:srgbClr val="0070C0"/>
                </a:solidFill>
              </a:rPr>
              <a:t>current</a:t>
            </a:r>
            <a:r>
              <a:rPr lang="en-US" altLang="en-US" sz="3000" b="1" dirty="0"/>
              <a:t> </a:t>
            </a:r>
            <a:r>
              <a:rPr lang="en-US" altLang="en-US" sz="3000" b="1" dirty="0">
                <a:solidFill>
                  <a:srgbClr val="0070C0"/>
                </a:solidFill>
              </a:rPr>
              <a:t>partners</a:t>
            </a:r>
            <a:r>
              <a:rPr lang="en-US" altLang="en-US" sz="3000" b="1" dirty="0"/>
              <a:t>.</a:t>
            </a:r>
          </a:p>
          <a:p>
            <a:pPr marL="0" indent="0">
              <a:buNone/>
            </a:pPr>
            <a:endParaRPr lang="en-US" altLang="en-US" sz="3000" b="1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65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9668" y="0"/>
            <a:ext cx="89129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Stable Matchings – Examples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  <p:sp>
        <p:nvSpPr>
          <p:cNvPr id="48" name="Rectangle 42"/>
          <p:cNvSpPr>
            <a:spLocks noChangeArrowheads="1"/>
          </p:cNvSpPr>
          <p:nvPr/>
        </p:nvSpPr>
        <p:spPr bwMode="auto">
          <a:xfrm>
            <a:off x="3429000" y="29718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52" name="Rectangle 43"/>
          <p:cNvSpPr>
            <a:spLocks noChangeArrowheads="1"/>
          </p:cNvSpPr>
          <p:nvPr/>
        </p:nvSpPr>
        <p:spPr bwMode="auto">
          <a:xfrm>
            <a:off x="3429000" y="2590800"/>
            <a:ext cx="762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B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53" name="Rectangle 44"/>
          <p:cNvSpPr>
            <a:spLocks noChangeArrowheads="1"/>
          </p:cNvSpPr>
          <p:nvPr/>
        </p:nvSpPr>
        <p:spPr bwMode="auto">
          <a:xfrm>
            <a:off x="3429000" y="2209800"/>
            <a:ext cx="762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A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54" name="Rectangle 45"/>
          <p:cNvSpPr>
            <a:spLocks noChangeArrowheads="1"/>
          </p:cNvSpPr>
          <p:nvPr/>
        </p:nvSpPr>
        <p:spPr bwMode="auto">
          <a:xfrm>
            <a:off x="4953000" y="2971800"/>
            <a:ext cx="762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C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55" name="Rectangle 46"/>
          <p:cNvSpPr>
            <a:spLocks noChangeArrowheads="1"/>
          </p:cNvSpPr>
          <p:nvPr/>
        </p:nvSpPr>
        <p:spPr bwMode="auto">
          <a:xfrm>
            <a:off x="7543800" y="29718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X</a:t>
            </a:r>
            <a:endParaRPr lang="en-US" altLang="en-US"/>
          </a:p>
        </p:txBody>
      </p:sp>
      <p:sp>
        <p:nvSpPr>
          <p:cNvPr id="56" name="Rectangle 47"/>
          <p:cNvSpPr>
            <a:spLocks noChangeArrowheads="1"/>
          </p:cNvSpPr>
          <p:nvPr/>
        </p:nvSpPr>
        <p:spPr bwMode="auto">
          <a:xfrm>
            <a:off x="7543800" y="25908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X</a:t>
            </a:r>
            <a:endParaRPr lang="en-US" altLang="en-US"/>
          </a:p>
        </p:txBody>
      </p:sp>
      <p:sp>
        <p:nvSpPr>
          <p:cNvPr id="57" name="Rectangle 48"/>
          <p:cNvSpPr>
            <a:spLocks noChangeArrowheads="1"/>
          </p:cNvSpPr>
          <p:nvPr/>
        </p:nvSpPr>
        <p:spPr bwMode="auto">
          <a:xfrm>
            <a:off x="7543800" y="22098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Y</a:t>
            </a:r>
            <a:endParaRPr lang="en-US" altLang="en-US"/>
          </a:p>
        </p:txBody>
      </p:sp>
      <p:sp>
        <p:nvSpPr>
          <p:cNvPr id="58" name="Rectangle 49"/>
          <p:cNvSpPr>
            <a:spLocks noChangeArrowheads="1"/>
          </p:cNvSpPr>
          <p:nvPr/>
        </p:nvSpPr>
        <p:spPr bwMode="auto">
          <a:xfrm>
            <a:off x="8305800" y="29718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Y</a:t>
            </a:r>
            <a:endParaRPr lang="en-US" altLang="en-US"/>
          </a:p>
        </p:txBody>
      </p:sp>
      <p:sp>
        <p:nvSpPr>
          <p:cNvPr id="59" name="Rectangle 50"/>
          <p:cNvSpPr>
            <a:spLocks noChangeArrowheads="1"/>
          </p:cNvSpPr>
          <p:nvPr/>
        </p:nvSpPr>
        <p:spPr bwMode="auto">
          <a:xfrm>
            <a:off x="8305800" y="2590800"/>
            <a:ext cx="762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Y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60" name="Rectangle 51"/>
          <p:cNvSpPr>
            <a:spLocks noChangeArrowheads="1"/>
          </p:cNvSpPr>
          <p:nvPr/>
        </p:nvSpPr>
        <p:spPr bwMode="auto">
          <a:xfrm>
            <a:off x="8305800" y="2209800"/>
            <a:ext cx="762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X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61" name="Rectangle 52"/>
          <p:cNvSpPr>
            <a:spLocks noChangeArrowheads="1"/>
          </p:cNvSpPr>
          <p:nvPr/>
        </p:nvSpPr>
        <p:spPr bwMode="auto">
          <a:xfrm>
            <a:off x="9067800" y="2971800"/>
            <a:ext cx="762000" cy="3810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Z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62" name="Rectangle 53"/>
          <p:cNvSpPr>
            <a:spLocks noChangeArrowheads="1"/>
          </p:cNvSpPr>
          <p:nvPr/>
        </p:nvSpPr>
        <p:spPr bwMode="auto">
          <a:xfrm>
            <a:off x="9067800" y="25908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Z</a:t>
            </a:r>
            <a:endParaRPr lang="en-US" altLang="en-US"/>
          </a:p>
        </p:txBody>
      </p:sp>
      <p:sp>
        <p:nvSpPr>
          <p:cNvPr id="63" name="Rectangle 54"/>
          <p:cNvSpPr>
            <a:spLocks noChangeArrowheads="1"/>
          </p:cNvSpPr>
          <p:nvPr/>
        </p:nvSpPr>
        <p:spPr bwMode="auto">
          <a:xfrm>
            <a:off x="9067800" y="22098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Z</a:t>
            </a:r>
            <a:endParaRPr lang="en-US" altLang="en-US"/>
          </a:p>
        </p:txBody>
      </p:sp>
      <p:sp>
        <p:nvSpPr>
          <p:cNvPr id="64" name="Rectangle 55"/>
          <p:cNvSpPr>
            <a:spLocks noChangeArrowheads="1"/>
          </p:cNvSpPr>
          <p:nvPr/>
        </p:nvSpPr>
        <p:spPr bwMode="auto">
          <a:xfrm>
            <a:off x="2654300" y="1447800"/>
            <a:ext cx="3429000" cy="34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 dirty="0"/>
              <a:t>Boys’ Preference List</a:t>
            </a:r>
          </a:p>
        </p:txBody>
      </p:sp>
      <p:sp>
        <p:nvSpPr>
          <p:cNvPr id="65" name="Rectangle 56"/>
          <p:cNvSpPr>
            <a:spLocks noChangeArrowheads="1"/>
          </p:cNvSpPr>
          <p:nvPr/>
        </p:nvSpPr>
        <p:spPr bwMode="auto">
          <a:xfrm>
            <a:off x="6705600" y="1449388"/>
            <a:ext cx="3429000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 dirty="0"/>
              <a:t>Girls’ Preference List</a:t>
            </a:r>
          </a:p>
        </p:txBody>
      </p:sp>
      <p:sp>
        <p:nvSpPr>
          <p:cNvPr id="66" name="Rectangle 57"/>
          <p:cNvSpPr>
            <a:spLocks noChangeArrowheads="1"/>
          </p:cNvSpPr>
          <p:nvPr/>
        </p:nvSpPr>
        <p:spPr bwMode="auto">
          <a:xfrm>
            <a:off x="2438400" y="2971800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Zeus</a:t>
            </a:r>
            <a:endParaRPr lang="en-US" altLang="en-US"/>
          </a:p>
        </p:txBody>
      </p:sp>
      <p:sp>
        <p:nvSpPr>
          <p:cNvPr id="67" name="Rectangle 58"/>
          <p:cNvSpPr>
            <a:spLocks noChangeArrowheads="1"/>
          </p:cNvSpPr>
          <p:nvPr/>
        </p:nvSpPr>
        <p:spPr bwMode="auto">
          <a:xfrm>
            <a:off x="2438400" y="2590800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Yancey</a:t>
            </a:r>
            <a:endParaRPr lang="en-US" altLang="en-US"/>
          </a:p>
        </p:txBody>
      </p:sp>
      <p:sp>
        <p:nvSpPr>
          <p:cNvPr id="68" name="Rectangle 59"/>
          <p:cNvSpPr>
            <a:spLocks noChangeArrowheads="1"/>
          </p:cNvSpPr>
          <p:nvPr/>
        </p:nvSpPr>
        <p:spPr bwMode="auto">
          <a:xfrm>
            <a:off x="2438400" y="2209800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Xavier</a:t>
            </a:r>
            <a:endParaRPr lang="en-US" altLang="en-US"/>
          </a:p>
        </p:txBody>
      </p:sp>
      <p:sp>
        <p:nvSpPr>
          <p:cNvPr id="69" name="Rectangle 60"/>
          <p:cNvSpPr>
            <a:spLocks noChangeArrowheads="1"/>
          </p:cNvSpPr>
          <p:nvPr/>
        </p:nvSpPr>
        <p:spPr bwMode="auto">
          <a:xfrm>
            <a:off x="2438400" y="1828800"/>
            <a:ext cx="9906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chemeClr val="bg1"/>
                </a:solidFill>
              </a:rPr>
              <a:t>Boy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70" name="Rectangle 61"/>
          <p:cNvSpPr>
            <a:spLocks noChangeArrowheads="1"/>
          </p:cNvSpPr>
          <p:nvPr/>
        </p:nvSpPr>
        <p:spPr bwMode="auto">
          <a:xfrm>
            <a:off x="3429000" y="1828800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1</a:t>
            </a:r>
            <a:r>
              <a:rPr kumimoji="0" lang="en-US" altLang="en-US" b="1" baseline="30000">
                <a:solidFill>
                  <a:schemeClr val="bg1"/>
                </a:solidFill>
              </a:rPr>
              <a:t>st</a:t>
            </a:r>
          </a:p>
        </p:txBody>
      </p:sp>
      <p:sp>
        <p:nvSpPr>
          <p:cNvPr id="71" name="Rectangle 62"/>
          <p:cNvSpPr>
            <a:spLocks noChangeArrowheads="1"/>
          </p:cNvSpPr>
          <p:nvPr/>
        </p:nvSpPr>
        <p:spPr bwMode="auto">
          <a:xfrm>
            <a:off x="4191000" y="29718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2" name="Rectangle 63"/>
          <p:cNvSpPr>
            <a:spLocks noChangeArrowheads="1"/>
          </p:cNvSpPr>
          <p:nvPr/>
        </p:nvSpPr>
        <p:spPr bwMode="auto">
          <a:xfrm>
            <a:off x="4191000" y="25908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3" name="Rectangle 64"/>
          <p:cNvSpPr>
            <a:spLocks noChangeArrowheads="1"/>
          </p:cNvSpPr>
          <p:nvPr/>
        </p:nvSpPr>
        <p:spPr bwMode="auto">
          <a:xfrm>
            <a:off x="4191000" y="22098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4" name="Rectangle 65"/>
          <p:cNvSpPr>
            <a:spLocks noChangeArrowheads="1"/>
          </p:cNvSpPr>
          <p:nvPr/>
        </p:nvSpPr>
        <p:spPr bwMode="auto">
          <a:xfrm>
            <a:off x="4191000" y="1828800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2</a:t>
            </a:r>
            <a:r>
              <a:rPr kumimoji="0" lang="en-US" altLang="en-US" b="1" baseline="30000">
                <a:solidFill>
                  <a:schemeClr val="bg1"/>
                </a:solidFill>
              </a:rPr>
              <a:t>nd</a:t>
            </a:r>
          </a:p>
        </p:txBody>
      </p:sp>
      <p:sp>
        <p:nvSpPr>
          <p:cNvPr id="75" name="Rectangle 66"/>
          <p:cNvSpPr>
            <a:spLocks noChangeArrowheads="1"/>
          </p:cNvSpPr>
          <p:nvPr/>
        </p:nvSpPr>
        <p:spPr bwMode="auto">
          <a:xfrm>
            <a:off x="4953000" y="22098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6" name="Rectangle 67"/>
          <p:cNvSpPr>
            <a:spLocks noChangeArrowheads="1"/>
          </p:cNvSpPr>
          <p:nvPr/>
        </p:nvSpPr>
        <p:spPr bwMode="auto">
          <a:xfrm>
            <a:off x="4953000" y="2590800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/>
              <a:t>C</a:t>
            </a:r>
            <a:endParaRPr lang="en-US" altLang="en-US" dirty="0"/>
          </a:p>
        </p:txBody>
      </p:sp>
      <p:sp>
        <p:nvSpPr>
          <p:cNvPr id="77" name="Rectangle 68"/>
          <p:cNvSpPr>
            <a:spLocks noChangeArrowheads="1"/>
          </p:cNvSpPr>
          <p:nvPr/>
        </p:nvSpPr>
        <p:spPr bwMode="auto">
          <a:xfrm>
            <a:off x="4953000" y="1828800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3</a:t>
            </a:r>
            <a:r>
              <a:rPr kumimoji="0" lang="en-US" altLang="en-US" b="1" baseline="30000">
                <a:solidFill>
                  <a:schemeClr val="bg1"/>
                </a:solidFill>
              </a:rPr>
              <a:t>rd</a:t>
            </a:r>
          </a:p>
        </p:txBody>
      </p:sp>
      <p:sp>
        <p:nvSpPr>
          <p:cNvPr id="78" name="Rectangle 69"/>
          <p:cNvSpPr>
            <a:spLocks noChangeArrowheads="1"/>
          </p:cNvSpPr>
          <p:nvPr/>
        </p:nvSpPr>
        <p:spPr bwMode="auto">
          <a:xfrm>
            <a:off x="6553200" y="2971800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Clare</a:t>
            </a:r>
            <a:endParaRPr lang="en-US" altLang="en-US"/>
          </a:p>
        </p:txBody>
      </p:sp>
      <p:sp>
        <p:nvSpPr>
          <p:cNvPr id="79" name="Rectangle 70"/>
          <p:cNvSpPr>
            <a:spLocks noChangeArrowheads="1"/>
          </p:cNvSpPr>
          <p:nvPr/>
        </p:nvSpPr>
        <p:spPr bwMode="auto">
          <a:xfrm>
            <a:off x="6553200" y="2590800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Bertha</a:t>
            </a:r>
            <a:endParaRPr lang="en-US" altLang="en-US"/>
          </a:p>
        </p:txBody>
      </p:sp>
      <p:sp>
        <p:nvSpPr>
          <p:cNvPr id="80" name="Rectangle 71"/>
          <p:cNvSpPr>
            <a:spLocks noChangeArrowheads="1"/>
          </p:cNvSpPr>
          <p:nvPr/>
        </p:nvSpPr>
        <p:spPr bwMode="auto">
          <a:xfrm>
            <a:off x="6553200" y="2209800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Amy</a:t>
            </a:r>
            <a:endParaRPr lang="en-US" altLang="en-US"/>
          </a:p>
        </p:txBody>
      </p:sp>
      <p:sp>
        <p:nvSpPr>
          <p:cNvPr id="81" name="Rectangle 72"/>
          <p:cNvSpPr>
            <a:spLocks noChangeArrowheads="1"/>
          </p:cNvSpPr>
          <p:nvPr/>
        </p:nvSpPr>
        <p:spPr bwMode="auto">
          <a:xfrm>
            <a:off x="6553200" y="1828800"/>
            <a:ext cx="9906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chemeClr val="bg1"/>
                </a:solidFill>
              </a:rPr>
              <a:t>Girl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82" name="Rectangle 73"/>
          <p:cNvSpPr>
            <a:spLocks noChangeArrowheads="1"/>
          </p:cNvSpPr>
          <p:nvPr/>
        </p:nvSpPr>
        <p:spPr bwMode="auto">
          <a:xfrm>
            <a:off x="7543800" y="1828800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1</a:t>
            </a:r>
            <a:r>
              <a:rPr kumimoji="0" lang="en-US" altLang="en-US" b="1" baseline="30000">
                <a:solidFill>
                  <a:schemeClr val="bg1"/>
                </a:solidFill>
              </a:rPr>
              <a:t>st</a:t>
            </a:r>
          </a:p>
        </p:txBody>
      </p:sp>
      <p:sp>
        <p:nvSpPr>
          <p:cNvPr id="83" name="Rectangle 74"/>
          <p:cNvSpPr>
            <a:spLocks noChangeArrowheads="1"/>
          </p:cNvSpPr>
          <p:nvPr/>
        </p:nvSpPr>
        <p:spPr bwMode="auto">
          <a:xfrm>
            <a:off x="8305800" y="1828800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2</a:t>
            </a:r>
            <a:r>
              <a:rPr kumimoji="0" lang="en-US" altLang="en-US" b="1" baseline="30000">
                <a:solidFill>
                  <a:schemeClr val="bg1"/>
                </a:solidFill>
              </a:rPr>
              <a:t>nd</a:t>
            </a:r>
          </a:p>
        </p:txBody>
      </p:sp>
      <p:sp>
        <p:nvSpPr>
          <p:cNvPr id="84" name="Rectangle 75"/>
          <p:cNvSpPr>
            <a:spLocks noChangeArrowheads="1"/>
          </p:cNvSpPr>
          <p:nvPr/>
        </p:nvSpPr>
        <p:spPr bwMode="auto">
          <a:xfrm>
            <a:off x="9067800" y="1828800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3</a:t>
            </a:r>
            <a:r>
              <a:rPr kumimoji="0" lang="en-US" altLang="en-US" b="1" baseline="30000">
                <a:solidFill>
                  <a:schemeClr val="bg1"/>
                </a:solidFill>
              </a:rPr>
              <a:t>rd</a:t>
            </a:r>
          </a:p>
        </p:txBody>
      </p:sp>
      <p:sp>
        <p:nvSpPr>
          <p:cNvPr id="85" name="Rectangle 4"/>
          <p:cNvSpPr>
            <a:spLocks noChangeArrowheads="1"/>
          </p:cNvSpPr>
          <p:nvPr/>
        </p:nvSpPr>
        <p:spPr bwMode="auto">
          <a:xfrm>
            <a:off x="3398520" y="5408612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86" name="Rectangle 8"/>
          <p:cNvSpPr>
            <a:spLocks noChangeArrowheads="1"/>
          </p:cNvSpPr>
          <p:nvPr/>
        </p:nvSpPr>
        <p:spPr bwMode="auto">
          <a:xfrm>
            <a:off x="7513320" y="5408612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X</a:t>
            </a:r>
            <a:endParaRPr lang="en-US" altLang="en-US"/>
          </a:p>
        </p:txBody>
      </p:sp>
      <p:sp>
        <p:nvSpPr>
          <p:cNvPr id="87" name="Rectangle 9"/>
          <p:cNvSpPr>
            <a:spLocks noChangeArrowheads="1"/>
          </p:cNvSpPr>
          <p:nvPr/>
        </p:nvSpPr>
        <p:spPr bwMode="auto">
          <a:xfrm>
            <a:off x="8275320" y="4646612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X</a:t>
            </a:r>
            <a:endParaRPr lang="en-US" altLang="en-US"/>
          </a:p>
        </p:txBody>
      </p:sp>
      <p:sp>
        <p:nvSpPr>
          <p:cNvPr id="88" name="Rectangle 10"/>
          <p:cNvSpPr>
            <a:spLocks noChangeArrowheads="1"/>
          </p:cNvSpPr>
          <p:nvPr/>
        </p:nvSpPr>
        <p:spPr bwMode="auto">
          <a:xfrm>
            <a:off x="8275320" y="5027612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Y</a:t>
            </a:r>
            <a:endParaRPr lang="en-US" altLang="en-US"/>
          </a:p>
        </p:txBody>
      </p:sp>
      <p:sp>
        <p:nvSpPr>
          <p:cNvPr id="89" name="Rectangle 11"/>
          <p:cNvSpPr>
            <a:spLocks noChangeArrowheads="1"/>
          </p:cNvSpPr>
          <p:nvPr/>
        </p:nvSpPr>
        <p:spPr bwMode="auto">
          <a:xfrm>
            <a:off x="8275320" y="5408612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Y</a:t>
            </a:r>
            <a:endParaRPr lang="en-US" altLang="en-US"/>
          </a:p>
        </p:txBody>
      </p:sp>
      <p:sp>
        <p:nvSpPr>
          <p:cNvPr id="90" name="Rectangle 15"/>
          <p:cNvSpPr>
            <a:spLocks noChangeArrowheads="1"/>
          </p:cNvSpPr>
          <p:nvPr/>
        </p:nvSpPr>
        <p:spPr bwMode="auto">
          <a:xfrm>
            <a:off x="9037320" y="5027612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Z</a:t>
            </a:r>
            <a:endParaRPr lang="en-US" altLang="en-US"/>
          </a:p>
        </p:txBody>
      </p:sp>
      <p:sp>
        <p:nvSpPr>
          <p:cNvPr id="91" name="Rectangle 16"/>
          <p:cNvSpPr>
            <a:spLocks noChangeArrowheads="1"/>
          </p:cNvSpPr>
          <p:nvPr/>
        </p:nvSpPr>
        <p:spPr bwMode="auto">
          <a:xfrm>
            <a:off x="9037320" y="4646612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Z</a:t>
            </a:r>
            <a:endParaRPr lang="en-US" altLang="en-US"/>
          </a:p>
        </p:txBody>
      </p:sp>
      <p:sp>
        <p:nvSpPr>
          <p:cNvPr id="92" name="Rectangle 17"/>
          <p:cNvSpPr>
            <a:spLocks noChangeArrowheads="1"/>
          </p:cNvSpPr>
          <p:nvPr/>
        </p:nvSpPr>
        <p:spPr bwMode="auto">
          <a:xfrm>
            <a:off x="2623820" y="3884612"/>
            <a:ext cx="3429000" cy="34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 dirty="0"/>
              <a:t>Boys’ Preference List</a:t>
            </a:r>
          </a:p>
        </p:txBody>
      </p:sp>
      <p:sp>
        <p:nvSpPr>
          <p:cNvPr id="93" name="Rectangle 18"/>
          <p:cNvSpPr>
            <a:spLocks noChangeArrowheads="1"/>
          </p:cNvSpPr>
          <p:nvPr/>
        </p:nvSpPr>
        <p:spPr bwMode="auto">
          <a:xfrm>
            <a:off x="6675120" y="3886200"/>
            <a:ext cx="3429000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/>
              <a:t>Girls</a:t>
            </a:r>
            <a:r>
              <a:rPr kumimoji="0" lang="en-US" altLang="en-US" b="1" dirty="0"/>
              <a:t>’ Preference List</a:t>
            </a:r>
          </a:p>
        </p:txBody>
      </p:sp>
      <p:sp>
        <p:nvSpPr>
          <p:cNvPr id="94" name="Rectangle 19"/>
          <p:cNvSpPr>
            <a:spLocks noChangeArrowheads="1"/>
          </p:cNvSpPr>
          <p:nvPr/>
        </p:nvSpPr>
        <p:spPr bwMode="auto">
          <a:xfrm>
            <a:off x="2407920" y="5408612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Zeus</a:t>
            </a:r>
            <a:endParaRPr lang="en-US" altLang="en-US"/>
          </a:p>
        </p:txBody>
      </p:sp>
      <p:sp>
        <p:nvSpPr>
          <p:cNvPr id="95" name="Rectangle 20"/>
          <p:cNvSpPr>
            <a:spLocks noChangeArrowheads="1"/>
          </p:cNvSpPr>
          <p:nvPr/>
        </p:nvSpPr>
        <p:spPr bwMode="auto">
          <a:xfrm>
            <a:off x="2407920" y="5027612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Yancey</a:t>
            </a:r>
            <a:endParaRPr lang="en-US" altLang="en-US"/>
          </a:p>
        </p:txBody>
      </p:sp>
      <p:sp>
        <p:nvSpPr>
          <p:cNvPr id="96" name="Rectangle 21"/>
          <p:cNvSpPr>
            <a:spLocks noChangeArrowheads="1"/>
          </p:cNvSpPr>
          <p:nvPr/>
        </p:nvSpPr>
        <p:spPr bwMode="auto">
          <a:xfrm>
            <a:off x="2407920" y="4646612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Xavier</a:t>
            </a:r>
            <a:endParaRPr lang="en-US" altLang="en-US"/>
          </a:p>
        </p:txBody>
      </p:sp>
      <p:sp>
        <p:nvSpPr>
          <p:cNvPr id="97" name="Rectangle 22"/>
          <p:cNvSpPr>
            <a:spLocks noChangeArrowheads="1"/>
          </p:cNvSpPr>
          <p:nvPr/>
        </p:nvSpPr>
        <p:spPr bwMode="auto">
          <a:xfrm>
            <a:off x="2407920" y="4265612"/>
            <a:ext cx="9906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chemeClr val="bg1"/>
                </a:solidFill>
              </a:rPr>
              <a:t>Boy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98" name="Rectangle 23"/>
          <p:cNvSpPr>
            <a:spLocks noChangeArrowheads="1"/>
          </p:cNvSpPr>
          <p:nvPr/>
        </p:nvSpPr>
        <p:spPr bwMode="auto">
          <a:xfrm>
            <a:off x="3398520" y="4265612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1</a:t>
            </a:r>
            <a:r>
              <a:rPr kumimoji="0" lang="en-US" altLang="en-US" b="1" baseline="30000">
                <a:solidFill>
                  <a:schemeClr val="bg1"/>
                </a:solidFill>
              </a:rPr>
              <a:t>st</a:t>
            </a:r>
          </a:p>
        </p:txBody>
      </p:sp>
      <p:sp>
        <p:nvSpPr>
          <p:cNvPr id="99" name="Rectangle 25"/>
          <p:cNvSpPr>
            <a:spLocks noChangeArrowheads="1"/>
          </p:cNvSpPr>
          <p:nvPr/>
        </p:nvSpPr>
        <p:spPr bwMode="auto">
          <a:xfrm>
            <a:off x="3398520" y="4646612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100" name="Rectangle 26"/>
          <p:cNvSpPr>
            <a:spLocks noChangeArrowheads="1"/>
          </p:cNvSpPr>
          <p:nvPr/>
        </p:nvSpPr>
        <p:spPr bwMode="auto">
          <a:xfrm>
            <a:off x="3398520" y="5027612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101" name="Rectangle 27"/>
          <p:cNvSpPr>
            <a:spLocks noChangeArrowheads="1"/>
          </p:cNvSpPr>
          <p:nvPr/>
        </p:nvSpPr>
        <p:spPr bwMode="auto">
          <a:xfrm>
            <a:off x="4160520" y="4265612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2</a:t>
            </a:r>
            <a:r>
              <a:rPr kumimoji="0" lang="en-US" altLang="en-US" b="1" baseline="30000">
                <a:solidFill>
                  <a:schemeClr val="bg1"/>
                </a:solidFill>
              </a:rPr>
              <a:t>nd</a:t>
            </a:r>
          </a:p>
        </p:txBody>
      </p:sp>
      <p:sp>
        <p:nvSpPr>
          <p:cNvPr id="102" name="Rectangle 28"/>
          <p:cNvSpPr>
            <a:spLocks noChangeArrowheads="1"/>
          </p:cNvSpPr>
          <p:nvPr/>
        </p:nvSpPr>
        <p:spPr bwMode="auto">
          <a:xfrm>
            <a:off x="4922520" y="4646612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103" name="Rectangle 29"/>
          <p:cNvSpPr>
            <a:spLocks noChangeArrowheads="1"/>
          </p:cNvSpPr>
          <p:nvPr/>
        </p:nvSpPr>
        <p:spPr bwMode="auto">
          <a:xfrm>
            <a:off x="4922520" y="5027612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104" name="Rectangle 30"/>
          <p:cNvSpPr>
            <a:spLocks noChangeArrowheads="1"/>
          </p:cNvSpPr>
          <p:nvPr/>
        </p:nvSpPr>
        <p:spPr bwMode="auto">
          <a:xfrm>
            <a:off x="4922520" y="4265612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3</a:t>
            </a:r>
            <a:r>
              <a:rPr kumimoji="0" lang="en-US" altLang="en-US" b="1" baseline="30000">
                <a:solidFill>
                  <a:schemeClr val="bg1"/>
                </a:solidFill>
              </a:rPr>
              <a:t>rd</a:t>
            </a:r>
          </a:p>
        </p:txBody>
      </p:sp>
      <p:sp>
        <p:nvSpPr>
          <p:cNvPr id="105" name="Rectangle 31"/>
          <p:cNvSpPr>
            <a:spLocks noChangeArrowheads="1"/>
          </p:cNvSpPr>
          <p:nvPr/>
        </p:nvSpPr>
        <p:spPr bwMode="auto">
          <a:xfrm>
            <a:off x="6522720" y="5408612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Clare</a:t>
            </a:r>
            <a:endParaRPr lang="en-US" altLang="en-US"/>
          </a:p>
        </p:txBody>
      </p:sp>
      <p:sp>
        <p:nvSpPr>
          <p:cNvPr id="106" name="Rectangle 32"/>
          <p:cNvSpPr>
            <a:spLocks noChangeArrowheads="1"/>
          </p:cNvSpPr>
          <p:nvPr/>
        </p:nvSpPr>
        <p:spPr bwMode="auto">
          <a:xfrm>
            <a:off x="6522720" y="5027612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Bertha</a:t>
            </a:r>
            <a:endParaRPr lang="en-US" altLang="en-US"/>
          </a:p>
        </p:txBody>
      </p:sp>
      <p:sp>
        <p:nvSpPr>
          <p:cNvPr id="107" name="Rectangle 33"/>
          <p:cNvSpPr>
            <a:spLocks noChangeArrowheads="1"/>
          </p:cNvSpPr>
          <p:nvPr/>
        </p:nvSpPr>
        <p:spPr bwMode="auto">
          <a:xfrm>
            <a:off x="6522720" y="4646612"/>
            <a:ext cx="990600" cy="381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Amy</a:t>
            </a:r>
            <a:endParaRPr lang="en-US" altLang="en-US"/>
          </a:p>
        </p:txBody>
      </p:sp>
      <p:sp>
        <p:nvSpPr>
          <p:cNvPr id="108" name="Rectangle 34"/>
          <p:cNvSpPr>
            <a:spLocks noChangeArrowheads="1"/>
          </p:cNvSpPr>
          <p:nvPr/>
        </p:nvSpPr>
        <p:spPr bwMode="auto">
          <a:xfrm>
            <a:off x="6522720" y="4265612"/>
            <a:ext cx="9906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chemeClr val="bg1"/>
                </a:solidFill>
              </a:rPr>
              <a:t>Girl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109" name="Rectangle 35"/>
          <p:cNvSpPr>
            <a:spLocks noChangeArrowheads="1"/>
          </p:cNvSpPr>
          <p:nvPr/>
        </p:nvSpPr>
        <p:spPr bwMode="auto">
          <a:xfrm>
            <a:off x="7513320" y="4265612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1</a:t>
            </a:r>
            <a:r>
              <a:rPr kumimoji="0" lang="en-US" altLang="en-US" b="1" baseline="30000">
                <a:solidFill>
                  <a:schemeClr val="bg1"/>
                </a:solidFill>
              </a:rPr>
              <a:t>st</a:t>
            </a:r>
          </a:p>
        </p:txBody>
      </p:sp>
      <p:sp>
        <p:nvSpPr>
          <p:cNvPr id="110" name="Rectangle 36"/>
          <p:cNvSpPr>
            <a:spLocks noChangeArrowheads="1"/>
          </p:cNvSpPr>
          <p:nvPr/>
        </p:nvSpPr>
        <p:spPr bwMode="auto">
          <a:xfrm>
            <a:off x="8275320" y="4265612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2</a:t>
            </a:r>
            <a:r>
              <a:rPr kumimoji="0" lang="en-US" altLang="en-US" b="1" baseline="30000">
                <a:solidFill>
                  <a:schemeClr val="bg1"/>
                </a:solidFill>
              </a:rPr>
              <a:t>nd</a:t>
            </a:r>
          </a:p>
        </p:txBody>
      </p:sp>
      <p:sp>
        <p:nvSpPr>
          <p:cNvPr id="111" name="Rectangle 37"/>
          <p:cNvSpPr>
            <a:spLocks noChangeArrowheads="1"/>
          </p:cNvSpPr>
          <p:nvPr/>
        </p:nvSpPr>
        <p:spPr bwMode="auto">
          <a:xfrm>
            <a:off x="9037320" y="4265612"/>
            <a:ext cx="762000" cy="3810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en-US" b="1">
                <a:solidFill>
                  <a:schemeClr val="bg1"/>
                </a:solidFill>
              </a:rPr>
              <a:t>3</a:t>
            </a:r>
            <a:r>
              <a:rPr kumimoji="0" lang="en-US" altLang="en-US" b="1" baseline="30000">
                <a:solidFill>
                  <a:schemeClr val="bg1"/>
                </a:solidFill>
              </a:rPr>
              <a:t>rd</a:t>
            </a:r>
          </a:p>
        </p:txBody>
      </p:sp>
      <p:sp>
        <p:nvSpPr>
          <p:cNvPr id="112" name="Rectangle 51"/>
          <p:cNvSpPr>
            <a:spLocks noChangeArrowheads="1"/>
          </p:cNvSpPr>
          <p:nvPr/>
        </p:nvSpPr>
        <p:spPr bwMode="auto">
          <a:xfrm>
            <a:off x="4160520" y="5408612"/>
            <a:ext cx="762000" cy="381000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113" name="Rectangle 52"/>
          <p:cNvSpPr>
            <a:spLocks noChangeArrowheads="1"/>
          </p:cNvSpPr>
          <p:nvPr/>
        </p:nvSpPr>
        <p:spPr bwMode="auto">
          <a:xfrm>
            <a:off x="4160520" y="5027612"/>
            <a:ext cx="762000" cy="381000"/>
          </a:xfrm>
          <a:prstGeom prst="rect">
            <a:avLst/>
          </a:prstGeom>
          <a:solidFill>
            <a:schemeClr val="hlink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A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14" name="Rectangle 53"/>
          <p:cNvSpPr>
            <a:spLocks noChangeArrowheads="1"/>
          </p:cNvSpPr>
          <p:nvPr/>
        </p:nvSpPr>
        <p:spPr bwMode="auto">
          <a:xfrm>
            <a:off x="4160520" y="4646612"/>
            <a:ext cx="762000" cy="381000"/>
          </a:xfrm>
          <a:prstGeom prst="rect">
            <a:avLst/>
          </a:prstGeom>
          <a:solidFill>
            <a:schemeClr val="hlink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B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15" name="Rectangle 55"/>
          <p:cNvSpPr>
            <a:spLocks noChangeArrowheads="1"/>
          </p:cNvSpPr>
          <p:nvPr/>
        </p:nvSpPr>
        <p:spPr bwMode="auto">
          <a:xfrm>
            <a:off x="4922520" y="5408612"/>
            <a:ext cx="762000" cy="381000"/>
          </a:xfrm>
          <a:prstGeom prst="rect">
            <a:avLst/>
          </a:prstGeom>
          <a:solidFill>
            <a:schemeClr val="hlink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C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16" name="Rectangle 64"/>
          <p:cNvSpPr>
            <a:spLocks noChangeArrowheads="1"/>
          </p:cNvSpPr>
          <p:nvPr/>
        </p:nvSpPr>
        <p:spPr bwMode="auto">
          <a:xfrm>
            <a:off x="7513320" y="5027612"/>
            <a:ext cx="762000" cy="381000"/>
          </a:xfrm>
          <a:prstGeom prst="rect">
            <a:avLst/>
          </a:prstGeom>
          <a:solidFill>
            <a:schemeClr val="hlink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X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17" name="Rectangle 65"/>
          <p:cNvSpPr>
            <a:spLocks noChangeArrowheads="1"/>
          </p:cNvSpPr>
          <p:nvPr/>
        </p:nvSpPr>
        <p:spPr bwMode="auto">
          <a:xfrm>
            <a:off x="7513320" y="4646612"/>
            <a:ext cx="762000" cy="381000"/>
          </a:xfrm>
          <a:prstGeom prst="rect">
            <a:avLst/>
          </a:prstGeom>
          <a:solidFill>
            <a:schemeClr val="hlink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Y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18" name="Rectangle 71"/>
          <p:cNvSpPr>
            <a:spLocks noChangeArrowheads="1"/>
          </p:cNvSpPr>
          <p:nvPr/>
        </p:nvSpPr>
        <p:spPr bwMode="auto">
          <a:xfrm>
            <a:off x="9037320" y="5408612"/>
            <a:ext cx="762000" cy="381000"/>
          </a:xfrm>
          <a:prstGeom prst="rect">
            <a:avLst/>
          </a:prstGeom>
          <a:solidFill>
            <a:schemeClr val="hlink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Z</a:t>
            </a:r>
            <a:endParaRPr lang="en-US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05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500"/>
                            </p:stCondLst>
                            <p:childTnLst>
                              <p:par>
                                <p:cTn id="2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8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/>
      <p:bldP spid="65" grpId="0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/>
      <p:bldP spid="93" grpId="0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4 teenage boys and 4 gir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487" y="1988461"/>
            <a:ext cx="7334250" cy="486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34732"/>
            <a:ext cx="10515600" cy="4351338"/>
          </a:xfrm>
        </p:spPr>
        <p:txBody>
          <a:bodyPr/>
          <a:lstStyle/>
          <a:p>
            <a:pPr eaLnBrk="1" hangingPunct="1">
              <a:buClr>
                <a:schemeClr val="accent6">
                  <a:lumMod val="50000"/>
                </a:schemeClr>
              </a:buClr>
              <a:tabLst/>
              <a:defRPr/>
            </a:pPr>
            <a:r>
              <a:rPr lang="en-US" altLang="en-US" sz="2000" dirty="0"/>
              <a:t>We have a </a:t>
            </a:r>
            <a:r>
              <a:rPr lang="en-US" altLang="en-US" sz="2000" b="1" dirty="0">
                <a:solidFill>
                  <a:srgbClr val="0070C0"/>
                </a:solidFill>
              </a:rPr>
              <a:t>list</a:t>
            </a:r>
            <a:r>
              <a:rPr lang="en-US" altLang="en-US" sz="2000" dirty="0"/>
              <a:t> of </a:t>
            </a:r>
            <a:r>
              <a:rPr lang="en-US" altLang="en-US" sz="2000" b="1" dirty="0">
                <a:solidFill>
                  <a:srgbClr val="7030A0"/>
                </a:solidFill>
              </a:rPr>
              <a:t>4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0070C0"/>
                </a:solidFill>
              </a:rPr>
              <a:t>boys</a:t>
            </a:r>
            <a:r>
              <a:rPr lang="en-US" altLang="en-US" sz="2000" dirty="0"/>
              <a:t> and </a:t>
            </a:r>
            <a:r>
              <a:rPr lang="en-US" altLang="en-US" sz="2000" b="1" dirty="0">
                <a:solidFill>
                  <a:srgbClr val="7030A0"/>
                </a:solidFill>
              </a:rPr>
              <a:t>4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0070C0"/>
                </a:solidFill>
              </a:rPr>
              <a:t>girls</a:t>
            </a:r>
            <a:r>
              <a:rPr lang="en-US" altLang="en-US" sz="2000" dirty="0"/>
              <a:t> and their </a:t>
            </a:r>
            <a:r>
              <a:rPr lang="en-US" altLang="en-US" sz="2000" b="1" dirty="0">
                <a:solidFill>
                  <a:srgbClr val="0070C0"/>
                </a:solidFill>
              </a:rPr>
              <a:t>preference list </a:t>
            </a:r>
            <a:r>
              <a:rPr lang="en-US" altLang="en-US" sz="2000" dirty="0"/>
              <a:t>as </a:t>
            </a:r>
            <a:r>
              <a:rPr lang="en-US" altLang="en-US" sz="2000" b="1" dirty="0">
                <a:solidFill>
                  <a:srgbClr val="0070C0"/>
                </a:solidFill>
              </a:rPr>
              <a:t>below</a:t>
            </a:r>
            <a:r>
              <a:rPr lang="en-US" altLang="en-US" sz="2000" dirty="0"/>
              <a:t>:</a:t>
            </a:r>
          </a:p>
          <a:p>
            <a:pPr eaLnBrk="1" hangingPunct="1">
              <a:buClr>
                <a:schemeClr val="accent6">
                  <a:lumMod val="50000"/>
                </a:schemeClr>
              </a:buClr>
              <a:tabLst/>
              <a:defRPr/>
            </a:pPr>
            <a:r>
              <a:rPr lang="en-US" altLang="en-US" sz="2000" b="1" dirty="0" err="1">
                <a:solidFill>
                  <a:schemeClr val="accent5"/>
                </a:solidFill>
              </a:rPr>
              <a:t>Zeppi</a:t>
            </a:r>
            <a:r>
              <a:rPr lang="en-US" altLang="en-US" sz="2000" dirty="0"/>
              <a:t>:    Mary   Anita    Eileen    </a:t>
            </a:r>
            <a:r>
              <a:rPr lang="en-US" altLang="en-US" sz="2000" dirty="0" err="1"/>
              <a:t>Benna</a:t>
            </a:r>
            <a:endParaRPr lang="en-US" altLang="en-US" sz="2000" dirty="0"/>
          </a:p>
          <a:p>
            <a:pPr eaLnBrk="1" hangingPunct="1">
              <a:buClr>
                <a:schemeClr val="accent6">
                  <a:lumMod val="50000"/>
                </a:schemeClr>
              </a:buClr>
              <a:tabLst/>
              <a:defRPr/>
            </a:pPr>
            <a:r>
              <a:rPr lang="en-US" altLang="en-US" sz="2000" b="1" dirty="0" err="1">
                <a:solidFill>
                  <a:schemeClr val="accent5"/>
                </a:solidFill>
              </a:rPr>
              <a:t>Xandru</a:t>
            </a:r>
            <a:r>
              <a:rPr lang="en-US" altLang="en-US" sz="2000" dirty="0"/>
              <a:t>:   Anita    Eileen    Mary   </a:t>
            </a:r>
            <a:r>
              <a:rPr lang="en-US" altLang="en-US" sz="2000" dirty="0" err="1"/>
              <a:t>Benna</a:t>
            </a:r>
            <a:endParaRPr lang="en-US" altLang="en-US" sz="2000" dirty="0"/>
          </a:p>
          <a:p>
            <a:pPr eaLnBrk="1" hangingPunct="1">
              <a:buClr>
                <a:schemeClr val="accent6">
                  <a:lumMod val="50000"/>
                </a:schemeClr>
              </a:buClr>
              <a:tabLst/>
              <a:defRPr/>
            </a:pPr>
            <a:r>
              <a:rPr lang="en-US" altLang="en-US" sz="2000" b="1" dirty="0" err="1">
                <a:solidFill>
                  <a:schemeClr val="accent5"/>
                </a:solidFill>
              </a:rPr>
              <a:t>Kalanc</a:t>
            </a:r>
            <a:r>
              <a:rPr lang="en-US" altLang="en-US" sz="2000" dirty="0"/>
              <a:t>:     Eileen    Mary   </a:t>
            </a:r>
            <a:r>
              <a:rPr lang="en-US" altLang="en-US" sz="2000" dirty="0" err="1"/>
              <a:t>Benna</a:t>
            </a:r>
            <a:r>
              <a:rPr lang="en-US" altLang="en-US" sz="2000" dirty="0"/>
              <a:t>    Anita</a:t>
            </a:r>
          </a:p>
          <a:p>
            <a:pPr eaLnBrk="1" hangingPunct="1">
              <a:buClr>
                <a:schemeClr val="accent6">
                  <a:lumMod val="50000"/>
                </a:schemeClr>
              </a:buClr>
              <a:tabLst/>
              <a:defRPr/>
            </a:pPr>
            <a:r>
              <a:rPr lang="en-US" altLang="en-US" sz="2000" b="1" dirty="0" err="1">
                <a:solidFill>
                  <a:schemeClr val="accent5"/>
                </a:solidFill>
              </a:rPr>
              <a:t>Dru</a:t>
            </a:r>
            <a:r>
              <a:rPr lang="en-US" altLang="en-US" sz="2000" dirty="0"/>
              <a:t>:        Mary    Anita    Eileen    </a:t>
            </a:r>
            <a:r>
              <a:rPr lang="en-US" altLang="en-US" sz="2000" dirty="0" err="1"/>
              <a:t>Benna</a:t>
            </a:r>
            <a:endParaRPr lang="en-US" altLang="en-US" sz="2000" dirty="0"/>
          </a:p>
          <a:p>
            <a:pPr eaLnBrk="1" hangingPunct="1">
              <a:buClr>
                <a:schemeClr val="accent6">
                  <a:lumMod val="50000"/>
                </a:schemeClr>
              </a:buClr>
              <a:tabLst/>
              <a:defRPr/>
            </a:pPr>
            <a:endParaRPr lang="en-US" altLang="en-US" sz="2000" dirty="0"/>
          </a:p>
          <a:p>
            <a:pPr eaLnBrk="1" hangingPunct="1">
              <a:buClr>
                <a:schemeClr val="accent6">
                  <a:lumMod val="50000"/>
                </a:schemeClr>
              </a:buClr>
              <a:tabLst/>
              <a:defRPr/>
            </a:pPr>
            <a:r>
              <a:rPr lang="en-US" altLang="en-US" sz="2000" b="1" dirty="0">
                <a:solidFill>
                  <a:srgbClr val="FF33CC"/>
                </a:solidFill>
              </a:rPr>
              <a:t>Anita</a:t>
            </a:r>
            <a:r>
              <a:rPr lang="en-US" altLang="en-US" sz="2000" dirty="0"/>
              <a:t>:    </a:t>
            </a:r>
            <a:r>
              <a:rPr lang="en-US" altLang="en-US" sz="2000" dirty="0" err="1"/>
              <a:t>Zeppi</a:t>
            </a:r>
            <a:r>
              <a:rPr lang="en-US" altLang="en-US" sz="2000" dirty="0"/>
              <a:t>  </a:t>
            </a:r>
            <a:r>
              <a:rPr lang="en-US" altLang="en-US" sz="2000" dirty="0" err="1"/>
              <a:t>Kalanc</a:t>
            </a:r>
            <a:r>
              <a:rPr lang="en-US" altLang="en-US" sz="2000" dirty="0"/>
              <a:t>    </a:t>
            </a:r>
            <a:r>
              <a:rPr lang="en-US" altLang="en-US" sz="2000" dirty="0" err="1"/>
              <a:t>Dru</a:t>
            </a:r>
            <a:r>
              <a:rPr lang="en-US" altLang="en-US" sz="2000" dirty="0"/>
              <a:t>       </a:t>
            </a:r>
            <a:r>
              <a:rPr lang="en-US" altLang="en-US" sz="2000" dirty="0" err="1"/>
              <a:t>Xandru</a:t>
            </a:r>
            <a:endParaRPr lang="en-US" altLang="en-US" sz="2000" dirty="0"/>
          </a:p>
          <a:p>
            <a:pPr eaLnBrk="1" hangingPunct="1">
              <a:buClr>
                <a:schemeClr val="accent6">
                  <a:lumMod val="50000"/>
                </a:schemeClr>
              </a:buClr>
              <a:tabLst/>
              <a:defRPr/>
            </a:pPr>
            <a:r>
              <a:rPr lang="en-US" altLang="en-US" sz="2000" b="1" dirty="0" err="1">
                <a:solidFill>
                  <a:srgbClr val="FF33CC"/>
                </a:solidFill>
              </a:rPr>
              <a:t>Benna</a:t>
            </a:r>
            <a:r>
              <a:rPr lang="en-US" altLang="en-US" sz="2000" dirty="0"/>
              <a:t>:    </a:t>
            </a:r>
            <a:r>
              <a:rPr lang="en-US" altLang="en-US" sz="2000" dirty="0" err="1"/>
              <a:t>Dru</a:t>
            </a:r>
            <a:r>
              <a:rPr lang="en-US" altLang="en-US" sz="2000" dirty="0"/>
              <a:t>      </a:t>
            </a:r>
            <a:r>
              <a:rPr lang="en-US" altLang="en-US" sz="2000" dirty="0" err="1"/>
              <a:t>Zeppi</a:t>
            </a:r>
            <a:r>
              <a:rPr lang="en-US" altLang="en-US" sz="2000" dirty="0"/>
              <a:t>  </a:t>
            </a:r>
            <a:r>
              <a:rPr lang="en-US" altLang="en-US" sz="2000" dirty="0" err="1"/>
              <a:t>Xandru</a:t>
            </a:r>
            <a:r>
              <a:rPr lang="en-US" altLang="en-US" sz="2000" dirty="0"/>
              <a:t>  </a:t>
            </a:r>
            <a:r>
              <a:rPr lang="en-US" altLang="en-US" sz="2000" dirty="0" err="1"/>
              <a:t>Kalanc</a:t>
            </a:r>
            <a:endParaRPr lang="en-US" altLang="en-US" sz="2000" dirty="0"/>
          </a:p>
          <a:p>
            <a:pPr eaLnBrk="1" hangingPunct="1">
              <a:buClr>
                <a:schemeClr val="accent6">
                  <a:lumMod val="50000"/>
                </a:schemeClr>
              </a:buClr>
              <a:tabLst/>
              <a:defRPr/>
            </a:pPr>
            <a:r>
              <a:rPr lang="en-US" altLang="en-US" sz="2000" b="1" dirty="0">
                <a:solidFill>
                  <a:srgbClr val="FF33CC"/>
                </a:solidFill>
              </a:rPr>
              <a:t>Eileen</a:t>
            </a:r>
            <a:r>
              <a:rPr lang="en-US" altLang="en-US" sz="2000" dirty="0"/>
              <a:t>:    </a:t>
            </a:r>
            <a:r>
              <a:rPr lang="en-US" altLang="en-US" sz="2000" dirty="0" err="1"/>
              <a:t>Kalanc</a:t>
            </a:r>
            <a:r>
              <a:rPr lang="en-US" altLang="en-US" sz="2000" dirty="0"/>
              <a:t>   </a:t>
            </a:r>
            <a:r>
              <a:rPr lang="en-US" altLang="en-US" sz="2000" dirty="0" err="1"/>
              <a:t>Xandru</a:t>
            </a:r>
            <a:r>
              <a:rPr lang="en-US" altLang="en-US" sz="2000" dirty="0"/>
              <a:t>  </a:t>
            </a:r>
            <a:r>
              <a:rPr lang="en-US" altLang="en-US" sz="2000" dirty="0" err="1"/>
              <a:t>Dru</a:t>
            </a:r>
            <a:r>
              <a:rPr lang="en-US" altLang="en-US" sz="2000" dirty="0"/>
              <a:t>       </a:t>
            </a:r>
            <a:r>
              <a:rPr lang="en-US" altLang="en-US" sz="2000" dirty="0" err="1"/>
              <a:t>Zeppi</a:t>
            </a:r>
            <a:r>
              <a:rPr lang="en-US" altLang="en-US" sz="2000" dirty="0"/>
              <a:t>    </a:t>
            </a:r>
          </a:p>
          <a:p>
            <a:pPr eaLnBrk="1" hangingPunct="1">
              <a:buClr>
                <a:schemeClr val="accent6">
                  <a:lumMod val="50000"/>
                </a:schemeClr>
              </a:buClr>
              <a:tabLst/>
              <a:defRPr/>
            </a:pPr>
            <a:r>
              <a:rPr lang="en-US" altLang="en-US" sz="2000" b="1" dirty="0">
                <a:solidFill>
                  <a:srgbClr val="FF33CC"/>
                </a:solidFill>
              </a:rPr>
              <a:t>Mary</a:t>
            </a:r>
            <a:r>
              <a:rPr lang="en-US" altLang="en-US" sz="2000" dirty="0"/>
              <a:t>:   </a:t>
            </a:r>
            <a:r>
              <a:rPr lang="en-US" altLang="en-US" sz="2000" dirty="0" err="1"/>
              <a:t>Xandru</a:t>
            </a:r>
            <a:r>
              <a:rPr lang="en-US" altLang="en-US" sz="2000" dirty="0"/>
              <a:t>  </a:t>
            </a:r>
            <a:r>
              <a:rPr lang="en-US" altLang="en-US" sz="2000" dirty="0" err="1"/>
              <a:t>Dru</a:t>
            </a:r>
            <a:r>
              <a:rPr lang="en-US" altLang="en-US" sz="2000" dirty="0"/>
              <a:t>       </a:t>
            </a:r>
            <a:r>
              <a:rPr lang="en-US" altLang="en-US" sz="2000" dirty="0" err="1"/>
              <a:t>Kalanc</a:t>
            </a:r>
            <a:r>
              <a:rPr lang="en-US" altLang="en-US" sz="2000" dirty="0"/>
              <a:t>   </a:t>
            </a:r>
            <a:r>
              <a:rPr lang="en-US" altLang="en-US" sz="2000" dirty="0" err="1"/>
              <a:t>Zeppi</a:t>
            </a:r>
            <a:endParaRPr lang="en-US" altLang="en-US" sz="2000" dirty="0"/>
          </a:p>
          <a:p>
            <a:pPr eaLnBrk="1" hangingPunct="1">
              <a:tabLst/>
              <a:defRPr/>
            </a:pPr>
            <a:endParaRPr lang="en-US" altLang="en-US" sz="2000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9668" y="0"/>
            <a:ext cx="89129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The Gale-Shapely Algorithm - Example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500"/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uiExpand="1" build="p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2895600" y="1524000"/>
            <a:ext cx="5943600" cy="2743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1800" b="1" dirty="0" err="1">
                <a:solidFill>
                  <a:schemeClr val="accent5"/>
                </a:solidFill>
              </a:rPr>
              <a:t>Zeppi</a:t>
            </a:r>
            <a:r>
              <a:rPr lang="en-US" altLang="en-US" sz="1800" dirty="0"/>
              <a:t>:    Mary   Anita    Eileen    </a:t>
            </a:r>
            <a:r>
              <a:rPr lang="en-US" altLang="en-US" sz="1800" dirty="0" err="1"/>
              <a:t>Benna</a:t>
            </a:r>
            <a:endParaRPr lang="en-US" altLang="en-US" sz="1800" dirty="0"/>
          </a:p>
          <a:p>
            <a:pPr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1800" b="1" dirty="0" err="1">
                <a:solidFill>
                  <a:schemeClr val="accent5"/>
                </a:solidFill>
              </a:rPr>
              <a:t>Xandru</a:t>
            </a:r>
            <a:r>
              <a:rPr lang="en-US" altLang="en-US" sz="1800" dirty="0"/>
              <a:t>:   Anita    Eileen    Mary   </a:t>
            </a:r>
            <a:r>
              <a:rPr lang="en-US" altLang="en-US" sz="1800" dirty="0" err="1"/>
              <a:t>Benna</a:t>
            </a:r>
            <a:endParaRPr lang="en-US" altLang="en-US" sz="1800" dirty="0"/>
          </a:p>
          <a:p>
            <a:pPr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1800" b="1" dirty="0" err="1">
                <a:solidFill>
                  <a:schemeClr val="accent5"/>
                </a:solidFill>
              </a:rPr>
              <a:t>Kalanc</a:t>
            </a:r>
            <a:r>
              <a:rPr lang="en-US" altLang="en-US" sz="1800" dirty="0"/>
              <a:t>:     Eileen    Mary   </a:t>
            </a:r>
            <a:r>
              <a:rPr lang="en-US" altLang="en-US" sz="1800" dirty="0" err="1"/>
              <a:t>Benna</a:t>
            </a:r>
            <a:r>
              <a:rPr lang="en-US" altLang="en-US" sz="1800" dirty="0"/>
              <a:t>    Anita</a:t>
            </a:r>
          </a:p>
          <a:p>
            <a:pPr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1800" b="1" dirty="0" err="1">
                <a:solidFill>
                  <a:schemeClr val="accent5"/>
                </a:solidFill>
              </a:rPr>
              <a:t>Dru</a:t>
            </a:r>
            <a:r>
              <a:rPr lang="en-US" altLang="en-US" sz="1800" dirty="0"/>
              <a:t>:        Mary    Anita    Eileen    </a:t>
            </a:r>
            <a:r>
              <a:rPr lang="en-US" altLang="en-US" sz="1800" dirty="0" err="1"/>
              <a:t>Benna</a:t>
            </a:r>
            <a:endParaRPr lang="en-US" altLang="en-US" sz="1800" dirty="0"/>
          </a:p>
          <a:p>
            <a:pPr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tabLst/>
            </a:pPr>
            <a:endParaRPr lang="en-US" altLang="en-US" sz="800" dirty="0"/>
          </a:p>
          <a:p>
            <a:pPr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1800" b="1" dirty="0">
                <a:solidFill>
                  <a:srgbClr val="FF33CC"/>
                </a:solidFill>
              </a:rPr>
              <a:t>Anita</a:t>
            </a:r>
            <a:r>
              <a:rPr lang="en-US" altLang="en-US" sz="1800" dirty="0"/>
              <a:t>:     </a:t>
            </a:r>
            <a:r>
              <a:rPr lang="en-US" altLang="en-US" sz="1800" dirty="0" err="1"/>
              <a:t>Zeppi</a:t>
            </a:r>
            <a:r>
              <a:rPr lang="en-US" altLang="en-US" sz="1800" dirty="0"/>
              <a:t>   </a:t>
            </a:r>
            <a:r>
              <a:rPr lang="en-US" altLang="en-US" sz="1800" dirty="0" err="1"/>
              <a:t>Kalanc</a:t>
            </a:r>
            <a:r>
              <a:rPr lang="en-US" altLang="en-US" sz="1800" dirty="0"/>
              <a:t>    </a:t>
            </a:r>
            <a:r>
              <a:rPr lang="en-US" altLang="en-US" sz="1800" dirty="0" err="1"/>
              <a:t>Dru</a:t>
            </a:r>
            <a:r>
              <a:rPr lang="en-US" altLang="en-US" sz="1800" dirty="0"/>
              <a:t>       </a:t>
            </a:r>
            <a:r>
              <a:rPr lang="en-US" altLang="en-US" sz="1800" dirty="0" err="1"/>
              <a:t>Xandru</a:t>
            </a:r>
            <a:endParaRPr lang="en-US" altLang="en-US" sz="1800" dirty="0"/>
          </a:p>
          <a:p>
            <a:pPr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1800" b="1" dirty="0" err="1">
                <a:solidFill>
                  <a:srgbClr val="FF33CC"/>
                </a:solidFill>
              </a:rPr>
              <a:t>Benna</a:t>
            </a:r>
            <a:r>
              <a:rPr lang="en-US" altLang="en-US" sz="1800" dirty="0"/>
              <a:t>:    </a:t>
            </a:r>
            <a:r>
              <a:rPr lang="en-US" altLang="en-US" sz="1800" dirty="0" err="1"/>
              <a:t>Dru</a:t>
            </a:r>
            <a:r>
              <a:rPr lang="en-US" altLang="en-US" sz="1800" dirty="0"/>
              <a:t>       </a:t>
            </a:r>
            <a:r>
              <a:rPr lang="en-US" altLang="en-US" sz="1800" dirty="0" err="1"/>
              <a:t>Zeppi</a:t>
            </a:r>
            <a:r>
              <a:rPr lang="en-US" altLang="en-US" sz="1800" dirty="0"/>
              <a:t>   </a:t>
            </a:r>
            <a:r>
              <a:rPr lang="en-US" altLang="en-US" sz="1800" dirty="0" err="1"/>
              <a:t>Xandru</a:t>
            </a:r>
            <a:r>
              <a:rPr lang="en-US" altLang="en-US" sz="1800" dirty="0"/>
              <a:t>  </a:t>
            </a:r>
            <a:r>
              <a:rPr lang="en-US" altLang="en-US" sz="1800" dirty="0" err="1"/>
              <a:t>Kalanc</a:t>
            </a:r>
            <a:endParaRPr lang="en-US" altLang="en-US" sz="1800" dirty="0"/>
          </a:p>
          <a:p>
            <a:pPr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1800" b="1" dirty="0">
                <a:solidFill>
                  <a:srgbClr val="FF33CC"/>
                </a:solidFill>
              </a:rPr>
              <a:t>Eileen</a:t>
            </a:r>
            <a:r>
              <a:rPr lang="en-US" altLang="en-US" sz="1800" dirty="0"/>
              <a:t>:    </a:t>
            </a:r>
            <a:r>
              <a:rPr lang="en-US" altLang="en-US" sz="1800" dirty="0" err="1"/>
              <a:t>Kalanc</a:t>
            </a:r>
            <a:r>
              <a:rPr lang="en-US" altLang="en-US" sz="1800" dirty="0"/>
              <a:t>    </a:t>
            </a:r>
            <a:r>
              <a:rPr lang="en-US" altLang="en-US" sz="1800" dirty="0" err="1"/>
              <a:t>Xandru</a:t>
            </a:r>
            <a:r>
              <a:rPr lang="en-US" altLang="en-US" sz="1800" dirty="0"/>
              <a:t>  </a:t>
            </a:r>
            <a:r>
              <a:rPr lang="en-US" altLang="en-US" sz="1800" dirty="0" err="1"/>
              <a:t>Dru</a:t>
            </a:r>
            <a:r>
              <a:rPr lang="en-US" altLang="en-US" sz="1800" dirty="0"/>
              <a:t>       </a:t>
            </a:r>
            <a:r>
              <a:rPr lang="en-US" altLang="en-US" sz="1800" dirty="0" err="1"/>
              <a:t>Zeppi</a:t>
            </a:r>
            <a:r>
              <a:rPr lang="en-US" altLang="en-US" sz="1800" dirty="0"/>
              <a:t>    </a:t>
            </a:r>
          </a:p>
          <a:p>
            <a:pPr eaLnBrk="1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1800" b="1" dirty="0">
                <a:solidFill>
                  <a:srgbClr val="FF33CC"/>
                </a:solidFill>
              </a:rPr>
              <a:t>Mary</a:t>
            </a:r>
            <a:r>
              <a:rPr lang="en-US" altLang="en-US" sz="1800" dirty="0"/>
              <a:t>:    </a:t>
            </a:r>
            <a:r>
              <a:rPr lang="en-US" altLang="en-US" sz="1800" dirty="0" err="1"/>
              <a:t>Xandru</a:t>
            </a:r>
            <a:r>
              <a:rPr lang="en-US" altLang="en-US" sz="1800" dirty="0"/>
              <a:t>  </a:t>
            </a:r>
            <a:r>
              <a:rPr lang="en-US" altLang="en-US" sz="1800" dirty="0" err="1"/>
              <a:t>Dru</a:t>
            </a:r>
            <a:r>
              <a:rPr lang="en-US" altLang="en-US" sz="1800" dirty="0"/>
              <a:t>       </a:t>
            </a:r>
            <a:r>
              <a:rPr lang="en-US" altLang="en-US" sz="1800" dirty="0" err="1"/>
              <a:t>Kalanc</a:t>
            </a:r>
            <a:r>
              <a:rPr lang="en-US" altLang="en-US" sz="1800" dirty="0"/>
              <a:t>    </a:t>
            </a:r>
            <a:r>
              <a:rPr lang="en-US" altLang="en-US" sz="1800" dirty="0" err="1"/>
              <a:t>Zeppi</a:t>
            </a:r>
            <a:endParaRPr lang="en-US" altLang="en-US" sz="1800" dirty="0"/>
          </a:p>
          <a:p>
            <a:pPr eaLnBrk="1" hangingPunct="1">
              <a:lnSpc>
                <a:spcPct val="80000"/>
              </a:lnSpc>
              <a:tabLst/>
            </a:pPr>
            <a:endParaRPr lang="en-US" altLang="en-US" sz="1800" dirty="0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2895600" y="4495800"/>
            <a:ext cx="1066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 b="1" dirty="0" err="1">
                <a:solidFill>
                  <a:schemeClr val="accent5"/>
                </a:solidFill>
                <a:latin typeface="+mn-lt"/>
              </a:rPr>
              <a:t>Zeppi</a:t>
            </a:r>
            <a:endParaRPr lang="en-US" altLang="en-US" sz="18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>
            <a:off x="3886200" y="498475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>
            <a:off x="3810000" y="4648200"/>
            <a:ext cx="457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>
            <a:off x="3581400" y="5605463"/>
            <a:ext cx="685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3733800" y="5311775"/>
            <a:ext cx="533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35" name="Rectangle 63"/>
          <p:cNvSpPr>
            <a:spLocks noChangeArrowheads="1"/>
          </p:cNvSpPr>
          <p:nvPr/>
        </p:nvSpPr>
        <p:spPr bwMode="auto">
          <a:xfrm>
            <a:off x="4267200" y="44958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+mn-lt"/>
              </a:rPr>
              <a:t>Mary</a:t>
            </a:r>
          </a:p>
        </p:txBody>
      </p:sp>
      <p:sp>
        <p:nvSpPr>
          <p:cNvPr id="54336" name="Rectangle 64"/>
          <p:cNvSpPr>
            <a:spLocks noChangeArrowheads="1"/>
          </p:cNvSpPr>
          <p:nvPr/>
        </p:nvSpPr>
        <p:spPr bwMode="auto">
          <a:xfrm>
            <a:off x="5105400" y="44958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+mn-lt"/>
              </a:rPr>
              <a:t>Anita</a:t>
            </a:r>
          </a:p>
        </p:txBody>
      </p:sp>
      <p:sp>
        <p:nvSpPr>
          <p:cNvPr id="54337" name="Rectangle 65"/>
          <p:cNvSpPr>
            <a:spLocks noChangeArrowheads="1"/>
          </p:cNvSpPr>
          <p:nvPr/>
        </p:nvSpPr>
        <p:spPr bwMode="auto">
          <a:xfrm>
            <a:off x="2895600" y="4800600"/>
            <a:ext cx="1066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 b="1" dirty="0" err="1">
                <a:solidFill>
                  <a:schemeClr val="accent5"/>
                </a:solidFill>
                <a:latin typeface="+mn-lt"/>
              </a:rPr>
              <a:t>Xandru</a:t>
            </a:r>
            <a:endParaRPr lang="en-US" altLang="en-US" sz="18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54338" name="Rectangle 66"/>
          <p:cNvSpPr>
            <a:spLocks noChangeArrowheads="1"/>
          </p:cNvSpPr>
          <p:nvPr/>
        </p:nvSpPr>
        <p:spPr bwMode="auto">
          <a:xfrm>
            <a:off x="4267200" y="4800600"/>
            <a:ext cx="990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+mn-lt"/>
              </a:rPr>
              <a:t>Anita</a:t>
            </a:r>
          </a:p>
        </p:txBody>
      </p:sp>
      <p:sp>
        <p:nvSpPr>
          <p:cNvPr id="54339" name="Rectangle 67"/>
          <p:cNvSpPr>
            <a:spLocks noChangeArrowheads="1"/>
          </p:cNvSpPr>
          <p:nvPr/>
        </p:nvSpPr>
        <p:spPr bwMode="auto">
          <a:xfrm>
            <a:off x="5105400" y="48006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+mn-lt"/>
              </a:rPr>
              <a:t>Eileen</a:t>
            </a:r>
          </a:p>
        </p:txBody>
      </p:sp>
      <p:sp>
        <p:nvSpPr>
          <p:cNvPr id="54340" name="Rectangle 68"/>
          <p:cNvSpPr>
            <a:spLocks noChangeArrowheads="1"/>
          </p:cNvSpPr>
          <p:nvPr/>
        </p:nvSpPr>
        <p:spPr bwMode="auto">
          <a:xfrm>
            <a:off x="5867400" y="4800600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+mn-lt"/>
              </a:rPr>
              <a:t>Mary</a:t>
            </a:r>
          </a:p>
        </p:txBody>
      </p:sp>
      <p:sp>
        <p:nvSpPr>
          <p:cNvPr id="54341" name="Rectangle 69"/>
          <p:cNvSpPr>
            <a:spLocks noChangeArrowheads="1"/>
          </p:cNvSpPr>
          <p:nvPr/>
        </p:nvSpPr>
        <p:spPr bwMode="auto">
          <a:xfrm>
            <a:off x="2906713" y="5127625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 b="1" dirty="0" err="1">
                <a:solidFill>
                  <a:schemeClr val="accent5"/>
                </a:solidFill>
                <a:latin typeface="+mn-lt"/>
              </a:rPr>
              <a:t>Kalanc</a:t>
            </a:r>
            <a:endParaRPr lang="en-US" altLang="en-US" sz="18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54342" name="Rectangle 70"/>
          <p:cNvSpPr>
            <a:spLocks noChangeArrowheads="1"/>
          </p:cNvSpPr>
          <p:nvPr/>
        </p:nvSpPr>
        <p:spPr bwMode="auto">
          <a:xfrm>
            <a:off x="4289425" y="5138738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+mn-lt"/>
              </a:rPr>
              <a:t>Eileen</a:t>
            </a:r>
          </a:p>
        </p:txBody>
      </p:sp>
      <p:sp>
        <p:nvSpPr>
          <p:cNvPr id="54343" name="Rectangle 71"/>
          <p:cNvSpPr>
            <a:spLocks noChangeArrowheads="1"/>
          </p:cNvSpPr>
          <p:nvPr/>
        </p:nvSpPr>
        <p:spPr bwMode="auto">
          <a:xfrm>
            <a:off x="2906713" y="5432425"/>
            <a:ext cx="990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 b="1" dirty="0" err="1">
                <a:solidFill>
                  <a:schemeClr val="accent5"/>
                </a:solidFill>
                <a:latin typeface="+mn-lt"/>
              </a:rPr>
              <a:t>Dru</a:t>
            </a:r>
            <a:endParaRPr lang="en-US" altLang="en-US" sz="18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54344" name="Rectangle 72"/>
          <p:cNvSpPr>
            <a:spLocks noChangeArrowheads="1"/>
          </p:cNvSpPr>
          <p:nvPr/>
        </p:nvSpPr>
        <p:spPr bwMode="auto">
          <a:xfrm>
            <a:off x="4267200" y="5441950"/>
            <a:ext cx="990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+mn-lt"/>
              </a:rPr>
              <a:t>Mary</a:t>
            </a:r>
          </a:p>
        </p:txBody>
      </p:sp>
      <p:sp>
        <p:nvSpPr>
          <p:cNvPr id="54345" name="Rectangle 73"/>
          <p:cNvSpPr>
            <a:spLocks noChangeArrowheads="1"/>
          </p:cNvSpPr>
          <p:nvPr/>
        </p:nvSpPr>
        <p:spPr bwMode="auto">
          <a:xfrm>
            <a:off x="5105400" y="5464175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+mn-lt"/>
              </a:rPr>
              <a:t>Anita</a:t>
            </a:r>
          </a:p>
        </p:txBody>
      </p:sp>
      <p:sp>
        <p:nvSpPr>
          <p:cNvPr id="54346" name="Rectangle 74"/>
          <p:cNvSpPr>
            <a:spLocks noChangeArrowheads="1"/>
          </p:cNvSpPr>
          <p:nvPr/>
        </p:nvSpPr>
        <p:spPr bwMode="auto">
          <a:xfrm>
            <a:off x="5876925" y="5464175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+mn-lt"/>
              </a:rPr>
              <a:t>Eileen</a:t>
            </a:r>
          </a:p>
        </p:txBody>
      </p:sp>
      <p:sp>
        <p:nvSpPr>
          <p:cNvPr id="54347" name="Rectangle 75"/>
          <p:cNvSpPr>
            <a:spLocks noChangeArrowheads="1"/>
          </p:cNvSpPr>
          <p:nvPr/>
        </p:nvSpPr>
        <p:spPr bwMode="auto">
          <a:xfrm>
            <a:off x="6696075" y="5464175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 dirty="0" err="1">
                <a:latin typeface="+mn-lt"/>
              </a:rPr>
              <a:t>Benna</a:t>
            </a:r>
            <a:endParaRPr lang="en-US" altLang="en-US" sz="1800" dirty="0">
              <a:latin typeface="+mn-lt"/>
            </a:endParaRPr>
          </a:p>
        </p:txBody>
      </p:sp>
      <p:sp>
        <p:nvSpPr>
          <p:cNvPr id="54278" name="Line 6"/>
          <p:cNvSpPr>
            <a:spLocks noChangeShapeType="1"/>
          </p:cNvSpPr>
          <p:nvPr/>
        </p:nvSpPr>
        <p:spPr bwMode="auto">
          <a:xfrm flipH="1">
            <a:off x="4419600" y="4495800"/>
            <a:ext cx="609600" cy="30480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48" name="Line 76"/>
          <p:cNvSpPr>
            <a:spLocks noChangeShapeType="1"/>
          </p:cNvSpPr>
          <p:nvPr/>
        </p:nvSpPr>
        <p:spPr bwMode="auto">
          <a:xfrm flipH="1">
            <a:off x="4343400" y="4800600"/>
            <a:ext cx="609600" cy="30480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49" name="Line 77"/>
          <p:cNvSpPr>
            <a:spLocks noChangeShapeType="1"/>
          </p:cNvSpPr>
          <p:nvPr/>
        </p:nvSpPr>
        <p:spPr bwMode="auto">
          <a:xfrm flipH="1">
            <a:off x="4354513" y="5465763"/>
            <a:ext cx="609600" cy="30480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50" name="Line 78"/>
          <p:cNvSpPr>
            <a:spLocks noChangeShapeType="1"/>
          </p:cNvSpPr>
          <p:nvPr/>
        </p:nvSpPr>
        <p:spPr bwMode="auto">
          <a:xfrm flipH="1">
            <a:off x="5181600" y="5443538"/>
            <a:ext cx="609600" cy="30480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51" name="Line 79"/>
          <p:cNvSpPr>
            <a:spLocks noChangeShapeType="1"/>
          </p:cNvSpPr>
          <p:nvPr/>
        </p:nvSpPr>
        <p:spPr bwMode="auto">
          <a:xfrm flipH="1">
            <a:off x="6008688" y="5421313"/>
            <a:ext cx="609600" cy="30480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52" name="Line 80"/>
          <p:cNvSpPr>
            <a:spLocks noChangeShapeType="1"/>
          </p:cNvSpPr>
          <p:nvPr/>
        </p:nvSpPr>
        <p:spPr bwMode="auto">
          <a:xfrm flipH="1">
            <a:off x="5173663" y="4800600"/>
            <a:ext cx="609600" cy="30480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53" name="Line 81"/>
          <p:cNvSpPr>
            <a:spLocks noChangeShapeType="1"/>
          </p:cNvSpPr>
          <p:nvPr/>
        </p:nvSpPr>
        <p:spPr bwMode="auto">
          <a:xfrm flipH="1">
            <a:off x="3962400" y="1524000"/>
            <a:ext cx="609600" cy="30480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54" name="Line 82"/>
          <p:cNvSpPr>
            <a:spLocks noChangeShapeType="1"/>
          </p:cNvSpPr>
          <p:nvPr/>
        </p:nvSpPr>
        <p:spPr bwMode="auto">
          <a:xfrm flipH="1">
            <a:off x="3992880" y="1866900"/>
            <a:ext cx="609600" cy="30480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55" name="Line 83"/>
          <p:cNvSpPr>
            <a:spLocks noChangeShapeType="1"/>
          </p:cNvSpPr>
          <p:nvPr/>
        </p:nvSpPr>
        <p:spPr bwMode="auto">
          <a:xfrm flipH="1">
            <a:off x="4800600" y="1846644"/>
            <a:ext cx="609600" cy="30480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56" name="Line 84"/>
          <p:cNvSpPr>
            <a:spLocks noChangeShapeType="1"/>
          </p:cNvSpPr>
          <p:nvPr/>
        </p:nvSpPr>
        <p:spPr bwMode="auto">
          <a:xfrm flipH="1">
            <a:off x="3916680" y="2499106"/>
            <a:ext cx="609600" cy="30480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57" name="Line 85"/>
          <p:cNvSpPr>
            <a:spLocks noChangeShapeType="1"/>
          </p:cNvSpPr>
          <p:nvPr/>
        </p:nvSpPr>
        <p:spPr bwMode="auto">
          <a:xfrm flipH="1">
            <a:off x="4648200" y="2496312"/>
            <a:ext cx="609600" cy="30480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58" name="Line 86"/>
          <p:cNvSpPr>
            <a:spLocks noChangeShapeType="1"/>
          </p:cNvSpPr>
          <p:nvPr/>
        </p:nvSpPr>
        <p:spPr bwMode="auto">
          <a:xfrm flipH="1">
            <a:off x="5410200" y="2438400"/>
            <a:ext cx="609600" cy="30480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59" name="Line 87"/>
          <p:cNvSpPr>
            <a:spLocks noChangeShapeType="1"/>
          </p:cNvSpPr>
          <p:nvPr/>
        </p:nvSpPr>
        <p:spPr bwMode="auto">
          <a:xfrm flipH="1">
            <a:off x="5501640" y="4085971"/>
            <a:ext cx="1277938" cy="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60" name="Line 88"/>
          <p:cNvSpPr>
            <a:spLocks noChangeShapeType="1"/>
          </p:cNvSpPr>
          <p:nvPr/>
        </p:nvSpPr>
        <p:spPr bwMode="auto">
          <a:xfrm flipH="1" flipV="1">
            <a:off x="4657345" y="3130296"/>
            <a:ext cx="2276475" cy="33338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61" name="Line 89"/>
          <p:cNvSpPr>
            <a:spLocks noChangeShapeType="1"/>
          </p:cNvSpPr>
          <p:nvPr/>
        </p:nvSpPr>
        <p:spPr bwMode="auto">
          <a:xfrm flipH="1" flipV="1">
            <a:off x="4761295" y="3779521"/>
            <a:ext cx="2154237" cy="9525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62" name="Line 90"/>
          <p:cNvSpPr>
            <a:spLocks noChangeShapeType="1"/>
          </p:cNvSpPr>
          <p:nvPr/>
        </p:nvSpPr>
        <p:spPr bwMode="auto">
          <a:xfrm flipH="1">
            <a:off x="4797871" y="4084320"/>
            <a:ext cx="1946275" cy="0"/>
          </a:xfrm>
          <a:prstGeom prst="line">
            <a:avLst/>
          </a:prstGeom>
          <a:noFill/>
          <a:ln w="539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4371" name="Rectangle 99"/>
          <p:cNvSpPr>
            <a:spLocks noChangeArrowheads="1"/>
          </p:cNvSpPr>
          <p:nvPr/>
        </p:nvSpPr>
        <p:spPr bwMode="auto">
          <a:xfrm>
            <a:off x="8984838" y="3668078"/>
            <a:ext cx="12192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0000"/>
              </a:lnSpc>
            </a:pPr>
            <a:r>
              <a:rPr lang="en-US" altLang="en-US" sz="1800" dirty="0" err="1">
                <a:latin typeface="Arial Rounded MT Bold" panose="020F0704030504030204" pitchFamily="34" charset="0"/>
              </a:rPr>
              <a:t>Zeppi</a:t>
            </a:r>
            <a:endParaRPr lang="en-US" altLang="en-US" sz="1800" dirty="0">
              <a:latin typeface="Arial Rounded MT Bold" panose="020F0704030504030204" pitchFamily="34" charset="0"/>
            </a:endParaRPr>
          </a:p>
          <a:p>
            <a:pPr algn="r" eaLnBrk="1" hangingPunct="1">
              <a:lnSpc>
                <a:spcPct val="80000"/>
              </a:lnSpc>
            </a:pPr>
            <a:r>
              <a:rPr lang="en-US" altLang="en-US" sz="1800" dirty="0" err="1">
                <a:latin typeface="Arial Rounded MT Bold" panose="020F0704030504030204" pitchFamily="34" charset="0"/>
              </a:rPr>
              <a:t>Xandru</a:t>
            </a:r>
            <a:endParaRPr lang="en-US" altLang="en-US" sz="1800" dirty="0">
              <a:latin typeface="Arial Rounded MT Bold" panose="020F0704030504030204" pitchFamily="34" charset="0"/>
            </a:endParaRPr>
          </a:p>
          <a:p>
            <a:pPr algn="r" eaLnBrk="1" hangingPunct="1">
              <a:lnSpc>
                <a:spcPct val="80000"/>
              </a:lnSpc>
            </a:pPr>
            <a:r>
              <a:rPr lang="en-US" altLang="en-US" sz="1800" dirty="0" err="1">
                <a:latin typeface="Arial Rounded MT Bold" panose="020F0704030504030204" pitchFamily="34" charset="0"/>
              </a:rPr>
              <a:t>Kalanc</a:t>
            </a:r>
            <a:r>
              <a:rPr lang="en-US" altLang="en-US" sz="1800" dirty="0">
                <a:latin typeface="Arial Rounded MT Bold" panose="020F0704030504030204" pitchFamily="34" charset="0"/>
              </a:rPr>
              <a:t> </a:t>
            </a:r>
          </a:p>
          <a:p>
            <a:pPr algn="r" eaLnBrk="1" hangingPunct="1">
              <a:lnSpc>
                <a:spcPct val="80000"/>
              </a:lnSpc>
            </a:pPr>
            <a:r>
              <a:rPr lang="en-US" altLang="en-US" sz="1800" dirty="0" err="1">
                <a:latin typeface="Arial Rounded MT Bold" panose="020F0704030504030204" pitchFamily="34" charset="0"/>
              </a:rPr>
              <a:t>Dru</a:t>
            </a:r>
            <a:endParaRPr lang="en-US" altLang="en-US" sz="1800" dirty="0">
              <a:latin typeface="Arial Rounded MT Bold" panose="020F0704030504030204" pitchFamily="34" charset="0"/>
            </a:endParaRPr>
          </a:p>
        </p:txBody>
      </p:sp>
      <p:sp>
        <p:nvSpPr>
          <p:cNvPr id="54372" name="Rectangle 100"/>
          <p:cNvSpPr>
            <a:spLocks noChangeArrowheads="1"/>
          </p:cNvSpPr>
          <p:nvPr/>
        </p:nvSpPr>
        <p:spPr bwMode="auto">
          <a:xfrm>
            <a:off x="10436066" y="3681794"/>
            <a:ext cx="9144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Arial Rounded MT Bold" panose="020F0704030504030204" pitchFamily="34" charset="0"/>
              </a:rPr>
              <a:t>Anita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Arial Rounded MT Bold" panose="020F0704030504030204" pitchFamily="34" charset="0"/>
              </a:rPr>
              <a:t>Mary 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Arial Rounded MT Bold" panose="020F0704030504030204" pitchFamily="34" charset="0"/>
              </a:rPr>
              <a:t>Eileen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Arial Rounded MT Bold" panose="020F0704030504030204" pitchFamily="34" charset="0"/>
              </a:rPr>
              <a:t>Benna</a:t>
            </a:r>
          </a:p>
        </p:txBody>
      </p:sp>
      <p:sp>
        <p:nvSpPr>
          <p:cNvPr id="54377" name="Rectangle 105"/>
          <p:cNvSpPr>
            <a:spLocks noChangeArrowheads="1"/>
          </p:cNvSpPr>
          <p:nvPr/>
        </p:nvSpPr>
        <p:spPr bwMode="auto">
          <a:xfrm>
            <a:off x="8946738" y="3360325"/>
            <a:ext cx="2514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7713" indent="-236538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6175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altLang="en-US" sz="1800" dirty="0">
                <a:solidFill>
                  <a:schemeClr val="accent5"/>
                </a:solidFill>
                <a:latin typeface="Arial Rounded MT Bold" panose="020F0704030504030204" pitchFamily="34" charset="0"/>
              </a:rPr>
              <a:t>Stable Marriages!</a:t>
            </a:r>
          </a:p>
        </p:txBody>
      </p:sp>
      <p:sp>
        <p:nvSpPr>
          <p:cNvPr id="54380" name="AutoShape 108"/>
          <p:cNvSpPr>
            <a:spLocks noChangeArrowheads="1"/>
          </p:cNvSpPr>
          <p:nvPr/>
        </p:nvSpPr>
        <p:spPr bwMode="auto">
          <a:xfrm>
            <a:off x="10207467" y="3746882"/>
            <a:ext cx="246063" cy="20955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>
              <a:latin typeface="Arial Rounded MT Bold" panose="020F0704030504030204" pitchFamily="34" charset="0"/>
            </a:endParaRPr>
          </a:p>
        </p:txBody>
      </p:sp>
      <p:sp>
        <p:nvSpPr>
          <p:cNvPr id="54381" name="AutoShape 109"/>
          <p:cNvSpPr>
            <a:spLocks noChangeArrowheads="1"/>
          </p:cNvSpPr>
          <p:nvPr/>
        </p:nvSpPr>
        <p:spPr bwMode="auto">
          <a:xfrm>
            <a:off x="10207467" y="4062794"/>
            <a:ext cx="246063" cy="20955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>
              <a:latin typeface="Arial Rounded MT Bold" panose="020F0704030504030204" pitchFamily="34" charset="0"/>
            </a:endParaRPr>
          </a:p>
        </p:txBody>
      </p:sp>
      <p:sp>
        <p:nvSpPr>
          <p:cNvPr id="54382" name="AutoShape 110"/>
          <p:cNvSpPr>
            <a:spLocks noChangeArrowheads="1"/>
          </p:cNvSpPr>
          <p:nvPr/>
        </p:nvSpPr>
        <p:spPr bwMode="auto">
          <a:xfrm>
            <a:off x="10207467" y="4367594"/>
            <a:ext cx="246063" cy="20955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>
              <a:latin typeface="Arial Rounded MT Bold" panose="020F0704030504030204" pitchFamily="34" charset="0"/>
            </a:endParaRPr>
          </a:p>
        </p:txBody>
      </p:sp>
      <p:sp>
        <p:nvSpPr>
          <p:cNvPr id="54383" name="AutoShape 111"/>
          <p:cNvSpPr>
            <a:spLocks noChangeArrowheads="1"/>
          </p:cNvSpPr>
          <p:nvPr/>
        </p:nvSpPr>
        <p:spPr bwMode="auto">
          <a:xfrm>
            <a:off x="10207467" y="4672394"/>
            <a:ext cx="246063" cy="20955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>
              <a:latin typeface="Arial Rounded MT Bold" panose="020F070403050403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8991600" y="3048000"/>
            <a:ext cx="2514600" cy="2133600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2"/>
          <p:cNvSpPr txBox="1">
            <a:spLocks noChangeArrowheads="1"/>
          </p:cNvSpPr>
          <p:nvPr/>
        </p:nvSpPr>
        <p:spPr>
          <a:xfrm>
            <a:off x="899668" y="0"/>
            <a:ext cx="89129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The Gale-Shapely Algorithm -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784" y="1429768"/>
            <a:ext cx="1530762" cy="1530762"/>
          </a:xfrm>
          <a:prstGeom prst="rect">
            <a:avLst/>
          </a:prstGeom>
        </p:spPr>
      </p:pic>
      <p:sp>
        <p:nvSpPr>
          <p:cNvPr id="47" name="Right Arrow 46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49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5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5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5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1" dur="500"/>
                                        <p:tgtEl>
                                          <p:spTgt spid="5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0" dur="500"/>
                                        <p:tgtEl>
                                          <p:spTgt spid="5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5" dur="500"/>
                                        <p:tgtEl>
                                          <p:spTgt spid="5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0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4" dur="500"/>
                                        <p:tgtEl>
                                          <p:spTgt spid="5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4" dur="500"/>
                                        <p:tgtEl>
                                          <p:spTgt spid="5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5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5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2" dur="500"/>
                                        <p:tgtEl>
                                          <p:spTgt spid="5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5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5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0" dur="500"/>
                                        <p:tgtEl>
                                          <p:spTgt spid="5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5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5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8" dur="500"/>
                                        <p:tgtEl>
                                          <p:spTgt spid="5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5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5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2" dur="500"/>
                                        <p:tgtEl>
                                          <p:spTgt spid="5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5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5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000"/>
                            </p:stCondLst>
                            <p:childTnLst>
                              <p:par>
                                <p:cTn id="18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5" dur="500"/>
                                        <p:tgtEl>
                                          <p:spTgt spid="5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4" dur="500"/>
                                        <p:tgtEl>
                                          <p:spTgt spid="54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54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4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43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5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4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4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543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5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950"/>
                            </p:stCondLst>
                            <p:childTnLst>
                              <p:par>
                                <p:cTn id="20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2950"/>
                            </p:stCondLst>
                            <p:childTnLst>
                              <p:par>
                                <p:cTn id="218" presetID="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9" dur="500" fill="hold"/>
                                        <p:tgtEl>
                                          <p:spTgt spid="54380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220" presetID="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1" dur="500" fill="hold"/>
                                        <p:tgtEl>
                                          <p:spTgt spid="54381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222" presetID="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3" dur="500" fill="hold"/>
                                        <p:tgtEl>
                                          <p:spTgt spid="5438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224" presetID="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5" dur="500" fill="hold"/>
                                        <p:tgtEl>
                                          <p:spTgt spid="54383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450"/>
                            </p:stCondLst>
                            <p:childTnLst>
                              <p:par>
                                <p:cTn id="2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3950"/>
                            </p:stCondLst>
                            <p:childTnLst>
                              <p:par>
                                <p:cTn id="2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  <p:bldP spid="54276" grpId="0"/>
      <p:bldP spid="54335" grpId="0"/>
      <p:bldP spid="54336" grpId="0"/>
      <p:bldP spid="54337" grpId="0"/>
      <p:bldP spid="54338" grpId="0"/>
      <p:bldP spid="54339" grpId="0"/>
      <p:bldP spid="54340" grpId="0"/>
      <p:bldP spid="54341" grpId="0"/>
      <p:bldP spid="54342" grpId="0"/>
      <p:bldP spid="54343" grpId="0"/>
      <p:bldP spid="54344" grpId="0"/>
      <p:bldP spid="54345" grpId="0"/>
      <p:bldP spid="54346" grpId="0"/>
      <p:bldP spid="54347" grpId="0"/>
      <p:bldP spid="54371" grpId="0"/>
      <p:bldP spid="54372" grpId="0"/>
      <p:bldP spid="54377" grpId="0"/>
      <p:bldP spid="2" grpId="0" animBg="1"/>
      <p:bldP spid="4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 descr="Image result for medical studen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347" y="4231637"/>
            <a:ext cx="4038600" cy="263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899668" y="838200"/>
            <a:ext cx="10515600" cy="51054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b="1" dirty="0">
                <a:solidFill>
                  <a:srgbClr val="0070C0"/>
                </a:solidFill>
              </a:rPr>
              <a:t>Who</a:t>
            </a:r>
            <a:r>
              <a:rPr lang="en-US" altLang="en-US" dirty="0"/>
              <a:t> gets a </a:t>
            </a:r>
            <a:r>
              <a:rPr lang="en-US" altLang="en-US" b="1" dirty="0">
                <a:solidFill>
                  <a:srgbClr val="0070C0"/>
                </a:solidFill>
              </a:rPr>
              <a:t>better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deal</a:t>
            </a:r>
            <a:r>
              <a:rPr lang="en-US" altLang="en-US" dirty="0"/>
              <a:t> in this </a:t>
            </a:r>
            <a:r>
              <a:rPr lang="en-US" altLang="en-US" b="1" dirty="0">
                <a:solidFill>
                  <a:srgbClr val="0070C0"/>
                </a:solidFill>
              </a:rPr>
              <a:t>algorithm</a:t>
            </a:r>
            <a:r>
              <a:rPr lang="en-US" altLang="en-US" dirty="0"/>
              <a:t>, the </a:t>
            </a:r>
            <a:r>
              <a:rPr lang="en-US" altLang="en-US" b="1" dirty="0">
                <a:solidFill>
                  <a:srgbClr val="C00000"/>
                </a:solidFill>
              </a:rPr>
              <a:t>boys</a:t>
            </a:r>
            <a:r>
              <a:rPr lang="en-US" altLang="en-US" dirty="0"/>
              <a:t> or the </a:t>
            </a:r>
            <a:r>
              <a:rPr lang="en-US" altLang="en-US" b="1" dirty="0">
                <a:solidFill>
                  <a:srgbClr val="C00000"/>
                </a:solidFill>
              </a:rPr>
              <a:t>girls</a:t>
            </a:r>
            <a:r>
              <a:rPr lang="en-US" altLang="en-US" dirty="0"/>
              <a:t>? 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/>
              <a:t>It </a:t>
            </a:r>
            <a:r>
              <a:rPr lang="en-US" altLang="en-US" b="1" dirty="0">
                <a:solidFill>
                  <a:srgbClr val="0070C0"/>
                </a:solidFill>
              </a:rPr>
              <a:t>turns</a:t>
            </a:r>
            <a:r>
              <a:rPr lang="en-US" altLang="en-US" dirty="0"/>
              <a:t> out that </a:t>
            </a:r>
            <a:r>
              <a:rPr lang="en-US" altLang="en-US" b="1" dirty="0">
                <a:solidFill>
                  <a:srgbClr val="0070C0"/>
                </a:solidFill>
              </a:rPr>
              <a:t>since</a:t>
            </a:r>
            <a:r>
              <a:rPr lang="en-US" altLang="en-US" dirty="0"/>
              <a:t> the </a:t>
            </a:r>
            <a:r>
              <a:rPr lang="en-US" altLang="en-US" b="1" dirty="0">
                <a:solidFill>
                  <a:srgbClr val="0070C0"/>
                </a:solidFill>
              </a:rPr>
              <a:t>unengaged</a:t>
            </a:r>
            <a:r>
              <a:rPr lang="en-US" altLang="en-US" dirty="0"/>
              <a:t> girls in this </a:t>
            </a:r>
            <a:r>
              <a:rPr lang="en-US" altLang="en-US" b="1" dirty="0">
                <a:solidFill>
                  <a:srgbClr val="0070C0"/>
                </a:solidFill>
              </a:rPr>
              <a:t>algorithm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accept</a:t>
            </a:r>
            <a:r>
              <a:rPr lang="en-US" altLang="en-US" dirty="0"/>
              <a:t> any </a:t>
            </a:r>
            <a:r>
              <a:rPr lang="en-US" altLang="en-US" b="1" dirty="0">
                <a:solidFill>
                  <a:srgbClr val="0070C0"/>
                </a:solidFill>
              </a:rPr>
              <a:t>proposal</a:t>
            </a:r>
            <a:r>
              <a:rPr lang="en-US" altLang="en-US" dirty="0"/>
              <a:t>, the </a:t>
            </a:r>
            <a:r>
              <a:rPr lang="en-US" altLang="en-US" b="1" dirty="0">
                <a:solidFill>
                  <a:srgbClr val="0070C0"/>
                </a:solidFill>
              </a:rPr>
              <a:t>boys</a:t>
            </a:r>
            <a:r>
              <a:rPr lang="en-US" altLang="en-US" dirty="0"/>
              <a:t> end up </a:t>
            </a:r>
            <a:r>
              <a:rPr lang="en-US" altLang="en-US" b="1" dirty="0">
                <a:solidFill>
                  <a:srgbClr val="0070C0"/>
                </a:solidFill>
              </a:rPr>
              <a:t>happier</a:t>
            </a:r>
            <a:r>
              <a:rPr lang="en-US" altLang="en-US" dirty="0"/>
              <a:t> on </a:t>
            </a:r>
            <a:r>
              <a:rPr lang="en-US" altLang="en-US" b="1" dirty="0">
                <a:solidFill>
                  <a:srgbClr val="0070C0"/>
                </a:solidFill>
              </a:rPr>
              <a:t>average</a:t>
            </a:r>
            <a:r>
              <a:rPr lang="en-US" altLang="en-US" dirty="0"/>
              <a:t>!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70C0"/>
                </a:solidFill>
              </a:rPr>
              <a:t>example</a:t>
            </a:r>
            <a:r>
              <a:rPr lang="en-US" altLang="en-US" dirty="0"/>
              <a:t>, suppose there are </a:t>
            </a:r>
            <a:r>
              <a:rPr lang="en-US" altLang="en-US" b="1" dirty="0">
                <a:solidFill>
                  <a:srgbClr val="0070C0"/>
                </a:solidFill>
              </a:rPr>
              <a:t>5 boys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70C0"/>
                </a:solidFill>
              </a:rPr>
              <a:t>5 girls</a:t>
            </a:r>
            <a:r>
              <a:rPr lang="en-US" altLang="en-US" dirty="0"/>
              <a:t>, and suppose </a:t>
            </a:r>
            <a:r>
              <a:rPr lang="en-US" altLang="en-US" b="1" dirty="0">
                <a:solidFill>
                  <a:srgbClr val="0070C0"/>
                </a:solidFill>
              </a:rPr>
              <a:t>every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boys</a:t>
            </a:r>
            <a:r>
              <a:rPr lang="en-US" altLang="en-US" dirty="0"/>
              <a:t> has a </a:t>
            </a:r>
            <a:r>
              <a:rPr lang="en-US" altLang="en-US" b="1" dirty="0">
                <a:solidFill>
                  <a:srgbClr val="0070C0"/>
                </a:solidFill>
              </a:rPr>
              <a:t>different</a:t>
            </a:r>
            <a:r>
              <a:rPr lang="en-US" altLang="en-US" dirty="0"/>
              <a:t> first choice. Then they'll all </a:t>
            </a:r>
            <a:r>
              <a:rPr lang="en-US" altLang="en-US" b="1" dirty="0">
                <a:solidFill>
                  <a:srgbClr val="0070C0"/>
                </a:solidFill>
              </a:rPr>
              <a:t>get</a:t>
            </a:r>
            <a:r>
              <a:rPr lang="en-US" altLang="en-US" dirty="0"/>
              <a:t> their </a:t>
            </a:r>
            <a:r>
              <a:rPr lang="en-US" altLang="en-US" b="1" dirty="0">
                <a:solidFill>
                  <a:srgbClr val="0070C0"/>
                </a:solidFill>
              </a:rPr>
              <a:t>first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choice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70C0"/>
                </a:solidFill>
              </a:rPr>
              <a:t>regardless</a:t>
            </a:r>
            <a:r>
              <a:rPr lang="en-US" altLang="en-US" dirty="0"/>
              <a:t> of the </a:t>
            </a:r>
            <a:r>
              <a:rPr lang="en-US" altLang="en-US" b="1" dirty="0">
                <a:solidFill>
                  <a:srgbClr val="0070C0"/>
                </a:solidFill>
              </a:rPr>
              <a:t>preferences</a:t>
            </a:r>
            <a:r>
              <a:rPr lang="en-US" altLang="en-US" dirty="0"/>
              <a:t> of the </a:t>
            </a:r>
            <a:r>
              <a:rPr lang="en-US" altLang="en-US" b="1" dirty="0">
                <a:solidFill>
                  <a:srgbClr val="0070C0"/>
                </a:solidFill>
              </a:rPr>
              <a:t>girls</a:t>
            </a:r>
            <a:r>
              <a:rPr lang="en-US" altLang="en-US" dirty="0"/>
              <a:t>!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/>
              <a:t>You can, of </a:t>
            </a:r>
            <a:r>
              <a:rPr lang="en-US" altLang="en-US" b="1" dirty="0">
                <a:solidFill>
                  <a:srgbClr val="0070C0"/>
                </a:solidFill>
              </a:rPr>
              <a:t>course</a:t>
            </a:r>
            <a:r>
              <a:rPr lang="en-US" altLang="en-US" dirty="0"/>
              <a:t>, let the </a:t>
            </a:r>
            <a:r>
              <a:rPr lang="en-US" altLang="en-US" b="1" dirty="0">
                <a:solidFill>
                  <a:srgbClr val="0070C0"/>
                </a:solidFill>
              </a:rPr>
              <a:t>girls</a:t>
            </a:r>
            <a:r>
              <a:rPr lang="en-US" altLang="en-US" dirty="0"/>
              <a:t> go </a:t>
            </a:r>
            <a:r>
              <a:rPr lang="en-US" altLang="en-US" b="1" dirty="0">
                <a:solidFill>
                  <a:srgbClr val="0070C0"/>
                </a:solidFill>
              </a:rPr>
              <a:t>first</a:t>
            </a:r>
            <a:r>
              <a:rPr lang="en-US" altLang="en-US" dirty="0"/>
              <a:t>.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zh-CN" dirty="0">
                <a:ea typeface="宋体" panose="02010600030101010101" pitchFamily="2" charset="-122"/>
              </a:rPr>
              <a:t>This problem is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typically</a:t>
            </a:r>
            <a:r>
              <a:rPr lang="en-US" altLang="zh-CN" dirty="0">
                <a:ea typeface="宋体" panose="02010600030101010101" pitchFamily="2" charset="-122"/>
              </a:rPr>
              <a:t> applied to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binary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relationships</a:t>
            </a:r>
            <a:r>
              <a:rPr lang="en-US" altLang="zh-CN" dirty="0">
                <a:ea typeface="宋体" panose="02010600030101010101" pitchFamily="2" charset="-122"/>
              </a:rPr>
              <a:t> somewhat more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practical</a:t>
            </a:r>
            <a:r>
              <a:rPr lang="en-US" altLang="zh-CN" dirty="0">
                <a:ea typeface="宋体" panose="02010600030101010101" pitchFamily="2" charset="-122"/>
              </a:rPr>
              <a:t> than </a:t>
            </a:r>
            <a:r>
              <a:rPr lang="en-US" altLang="zh-CN" b="1" dirty="0">
                <a:solidFill>
                  <a:srgbClr val="0070C0"/>
                </a:solidFill>
                <a:ea typeface="宋体" panose="02010600030101010101" pitchFamily="2" charset="-122"/>
              </a:rPr>
              <a:t>marriage</a:t>
            </a:r>
            <a:r>
              <a:rPr lang="en-US" altLang="zh-CN" dirty="0">
                <a:ea typeface="宋体" panose="02010600030101010101" pitchFamily="2" charset="-122"/>
              </a:rPr>
              <a:t>, such as </a:t>
            </a:r>
            <a:r>
              <a:rPr lang="en-US" altLang="zh-CN" b="1" dirty="0">
                <a:solidFill>
                  <a:srgbClr val="7030A0"/>
                </a:solidFill>
                <a:ea typeface="宋体" panose="02010600030101010101" pitchFamily="2" charset="-122"/>
              </a:rPr>
              <a:t>dormitory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7030A0"/>
                </a:solidFill>
                <a:ea typeface="宋体" panose="02010600030101010101" pitchFamily="2" charset="-122"/>
              </a:rPr>
              <a:t>room</a:t>
            </a:r>
            <a:br>
              <a:rPr lang="en-US" altLang="zh-CN" b="1" dirty="0">
                <a:solidFill>
                  <a:srgbClr val="7030A0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7030A0"/>
                </a:solidFill>
                <a:ea typeface="宋体" panose="02010600030101010101" pitchFamily="2" charset="-122"/>
              </a:rPr>
              <a:t>assignment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b="1" dirty="0">
                <a:solidFill>
                  <a:srgbClr val="7030A0"/>
                </a:solidFill>
                <a:ea typeface="宋体" panose="02010600030101010101" pitchFamily="2" charset="-122"/>
              </a:rPr>
              <a:t>university admissions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en-US" b="1" dirty="0">
                <a:solidFill>
                  <a:srgbClr val="7030A0"/>
                </a:solidFill>
              </a:rPr>
              <a:t>matching</a:t>
            </a:r>
            <a:br>
              <a:rPr lang="en-US" altLang="en-US" b="1" dirty="0">
                <a:solidFill>
                  <a:srgbClr val="7030A0"/>
                </a:solidFill>
              </a:rPr>
            </a:br>
            <a:r>
              <a:rPr lang="en-US" altLang="en-US" b="1" dirty="0">
                <a:solidFill>
                  <a:srgbClr val="7030A0"/>
                </a:solidFill>
              </a:rPr>
              <a:t>graduating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7030A0"/>
                </a:solidFill>
              </a:rPr>
              <a:t>medical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7030A0"/>
                </a:solidFill>
              </a:rPr>
              <a:t>students </a:t>
            </a:r>
            <a:r>
              <a:rPr lang="en-US" altLang="en-US" b="1" dirty="0">
                <a:solidFill>
                  <a:srgbClr val="0070C0"/>
                </a:solidFill>
              </a:rPr>
              <a:t>to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7030A0"/>
                </a:solidFill>
              </a:rPr>
              <a:t>hospitals</a:t>
            </a:r>
            <a:r>
              <a:rPr lang="en-US" altLang="en-US" dirty="0"/>
              <a:t>, etc.</a:t>
            </a:r>
            <a:endParaRPr lang="en-US" altLang="en-US" dirty="0">
              <a:ea typeface="宋体" panose="02010600030101010101" pitchFamily="2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9668" y="0"/>
            <a:ext cx="89129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The Gale-Shapely Algorithm - Example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uiExpand="1" build="p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9668" y="304800"/>
            <a:ext cx="913567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The Gale-Shapely Algorithm - Pseudocode</a:t>
            </a: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1828800" y="1694795"/>
            <a:ext cx="8206542" cy="4401205"/>
          </a:xfrm>
          <a:prstGeom prst="rect">
            <a:avLst/>
          </a:prstGeom>
          <a:solidFill>
            <a:srgbClr val="F8F9FA"/>
          </a:solidFill>
          <a:ln w="22225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function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stableMatching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Initialize all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∈ M and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∈ W to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while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∃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free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man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who still has a woman w to propose to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	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 = first woman on m’s list to whom m has not yet proposed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 is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(m, w) become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engaged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else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some pair (m', w) already exists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 prefers m to m‘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m' becomes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(m, w) become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engaged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(m', w) remain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engaged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9368" y="4724400"/>
            <a:ext cx="1194774" cy="1371600"/>
          </a:xfrm>
          <a:prstGeom prst="rect">
            <a:avLst/>
          </a:prstGeom>
        </p:spPr>
      </p:pic>
      <p:sp>
        <p:nvSpPr>
          <p:cNvPr id="9" name="Isosceles Triangle 8"/>
          <p:cNvSpPr/>
          <p:nvPr/>
        </p:nvSpPr>
        <p:spPr>
          <a:xfrm>
            <a:off x="11719362" y="6478096"/>
            <a:ext cx="381000" cy="304800"/>
          </a:xfrm>
          <a:prstGeom prst="triangl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95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899668" y="914400"/>
            <a:ext cx="10515600" cy="51054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2400" b="1" dirty="0">
                <a:solidFill>
                  <a:srgbClr val="0070C0"/>
                </a:solidFill>
              </a:rPr>
              <a:t>Note</a:t>
            </a:r>
            <a:r>
              <a:rPr lang="en-US" altLang="en-US" sz="2400" dirty="0"/>
              <a:t> that the </a:t>
            </a:r>
            <a:r>
              <a:rPr lang="en-US" altLang="en-US" sz="2400" b="1" dirty="0">
                <a:solidFill>
                  <a:srgbClr val="0070C0"/>
                </a:solidFill>
              </a:rPr>
              <a:t>master</a:t>
            </a:r>
            <a:r>
              <a:rPr lang="en-US" altLang="en-US" sz="2400" dirty="0"/>
              <a:t> list of </a:t>
            </a:r>
            <a:r>
              <a:rPr lang="en-US" altLang="en-US" sz="2400" b="1" dirty="0">
                <a:solidFill>
                  <a:srgbClr val="7030A0"/>
                </a:solidFill>
              </a:rPr>
              <a:t>k </a:t>
            </a:r>
            <a:r>
              <a:rPr lang="en-US" altLang="en-US" sz="2400" b="1" dirty="0">
                <a:solidFill>
                  <a:srgbClr val="0070C0"/>
                </a:solidFill>
              </a:rPr>
              <a:t>boys</a:t>
            </a:r>
            <a:r>
              <a:rPr lang="en-US" altLang="en-US" sz="2400" dirty="0"/>
              <a:t> (and </a:t>
            </a:r>
            <a:r>
              <a:rPr lang="en-US" altLang="en-US" sz="2400" b="1" dirty="0">
                <a:solidFill>
                  <a:srgbClr val="7030A0"/>
                </a:solidFill>
              </a:rPr>
              <a:t>k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girls</a:t>
            </a:r>
            <a:r>
              <a:rPr lang="en-US" altLang="en-US" sz="2400" dirty="0"/>
              <a:t>) has </a:t>
            </a:r>
            <a:r>
              <a:rPr lang="en-US" altLang="en-US" sz="2400" b="1" dirty="0">
                <a:solidFill>
                  <a:srgbClr val="7030A0"/>
                </a:solidFill>
              </a:rPr>
              <a:t>k</a:t>
            </a:r>
            <a:r>
              <a:rPr lang="en-US" altLang="en-US" sz="2400" b="1" baseline="30000" dirty="0">
                <a:solidFill>
                  <a:srgbClr val="7030A0"/>
                </a:solidFill>
              </a:rPr>
              <a:t>2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entries</a:t>
            </a:r>
            <a:r>
              <a:rPr lang="en-US" altLang="en-US" sz="2400" dirty="0"/>
              <a:t> since </a:t>
            </a:r>
            <a:r>
              <a:rPr lang="en-US" altLang="en-US" sz="2400" b="1" dirty="0">
                <a:solidFill>
                  <a:srgbClr val="0070C0"/>
                </a:solidFill>
              </a:rPr>
              <a:t>each</a:t>
            </a:r>
            <a:r>
              <a:rPr lang="en-US" altLang="en-US" sz="2400" dirty="0"/>
              <a:t> of the </a:t>
            </a:r>
            <a:r>
              <a:rPr lang="en-US" altLang="en-US" sz="2400" b="1" dirty="0">
                <a:solidFill>
                  <a:srgbClr val="7030A0"/>
                </a:solidFill>
              </a:rPr>
              <a:t>k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boys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ranks</a:t>
            </a:r>
            <a:r>
              <a:rPr lang="en-US" altLang="en-US" sz="2400" dirty="0"/>
              <a:t> each of the </a:t>
            </a:r>
            <a:r>
              <a:rPr lang="en-US" altLang="en-US" sz="2400" b="1" dirty="0">
                <a:solidFill>
                  <a:srgbClr val="7030A0"/>
                </a:solidFill>
              </a:rPr>
              <a:t>k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girls</a:t>
            </a:r>
            <a:r>
              <a:rPr lang="en-US" altLang="en-US" sz="2400" dirty="0"/>
              <a:t>. The </a:t>
            </a:r>
            <a:r>
              <a:rPr lang="en-US" altLang="en-US" sz="2400" b="1" dirty="0">
                <a:solidFill>
                  <a:srgbClr val="0070C0"/>
                </a:solidFill>
              </a:rPr>
              <a:t>space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complexity</a:t>
            </a:r>
            <a:r>
              <a:rPr lang="en-US" altLang="en-US" sz="2400" dirty="0"/>
              <a:t> is therefore O(</a:t>
            </a:r>
            <a:r>
              <a:rPr lang="en-US" altLang="en-US" sz="2400" b="1" dirty="0">
                <a:solidFill>
                  <a:srgbClr val="7030A0"/>
                </a:solidFill>
              </a:rPr>
              <a:t>k</a:t>
            </a:r>
            <a:r>
              <a:rPr lang="en-US" altLang="en-US" sz="2400" b="1" baseline="30000" dirty="0">
                <a:solidFill>
                  <a:srgbClr val="7030A0"/>
                </a:solidFill>
              </a:rPr>
              <a:t>2</a:t>
            </a:r>
            <a:r>
              <a:rPr lang="en-US" altLang="en-US" sz="2400" dirty="0"/>
              <a:t>) </a:t>
            </a:r>
            <a:r>
              <a:rPr lang="en-US" altLang="en-US" sz="2400" b="1" dirty="0">
                <a:solidFill>
                  <a:srgbClr val="0070C0"/>
                </a:solidFill>
              </a:rPr>
              <a:t>where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7030A0"/>
                </a:solidFill>
              </a:rPr>
              <a:t>k</a:t>
            </a:r>
            <a:r>
              <a:rPr lang="en-US" altLang="en-US" sz="2400" dirty="0"/>
              <a:t> is the </a:t>
            </a:r>
            <a:r>
              <a:rPr lang="en-US" altLang="en-US" sz="2400" b="1" dirty="0">
                <a:solidFill>
                  <a:srgbClr val="0070C0"/>
                </a:solidFill>
              </a:rPr>
              <a:t>number</a:t>
            </a:r>
            <a:r>
              <a:rPr lang="en-US" altLang="en-US" sz="2400" dirty="0"/>
              <a:t> of </a:t>
            </a:r>
            <a:r>
              <a:rPr lang="en-US" altLang="en-US" sz="2400" b="1" dirty="0">
                <a:solidFill>
                  <a:srgbClr val="0070C0"/>
                </a:solidFill>
              </a:rPr>
              <a:t>boys</a:t>
            </a:r>
            <a:r>
              <a:rPr lang="en-US" altLang="en-US" sz="2400" dirty="0"/>
              <a:t> (or </a:t>
            </a:r>
            <a:r>
              <a:rPr lang="en-US" altLang="en-US" sz="2400" b="1" dirty="0">
                <a:solidFill>
                  <a:srgbClr val="0070C0"/>
                </a:solidFill>
              </a:rPr>
              <a:t>girls</a:t>
            </a:r>
            <a:r>
              <a:rPr lang="en-US" altLang="en-US" sz="2400" dirty="0"/>
              <a:t>).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2400" dirty="0">
                <a:ea typeface="宋体" panose="02010600030101010101" pitchFamily="2" charset="-122"/>
              </a:rPr>
              <a:t>At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every</a:t>
            </a:r>
            <a:r>
              <a:rPr lang="en-US" altLang="en-US" sz="2400" dirty="0">
                <a:ea typeface="宋体" panose="02010600030101010101" pitchFamily="2" charset="-122"/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step</a:t>
            </a:r>
            <a:r>
              <a:rPr lang="en-US" altLang="en-US" sz="2400" dirty="0">
                <a:ea typeface="宋体" panose="02010600030101010101" pitchFamily="2" charset="-122"/>
              </a:rPr>
              <a:t> where at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least</a:t>
            </a:r>
            <a:r>
              <a:rPr lang="en-US" altLang="en-US" sz="2400" dirty="0">
                <a:ea typeface="宋体" panose="02010600030101010101" pitchFamily="2" charset="-122"/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one</a:t>
            </a:r>
            <a:r>
              <a:rPr lang="en-US" altLang="en-US" sz="2400" dirty="0">
                <a:ea typeface="宋体" panose="02010600030101010101" pitchFamily="2" charset="-122"/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boy</a:t>
            </a:r>
            <a:r>
              <a:rPr lang="en-US" altLang="en-US" sz="2400" dirty="0">
                <a:ea typeface="宋体" panose="02010600030101010101" pitchFamily="2" charset="-122"/>
              </a:rPr>
              <a:t> gets a ‘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No</a:t>
            </a:r>
            <a:r>
              <a:rPr lang="en-US" altLang="en-US" sz="2400" dirty="0">
                <a:ea typeface="宋体" panose="02010600030101010101" pitchFamily="2" charset="-122"/>
              </a:rPr>
              <a:t>’, at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least</a:t>
            </a:r>
            <a:r>
              <a:rPr lang="en-US" altLang="en-US" sz="2400" dirty="0">
                <a:ea typeface="宋体" panose="02010600030101010101" pitchFamily="2" charset="-122"/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one</a:t>
            </a:r>
            <a:r>
              <a:rPr lang="en-US" altLang="en-US" sz="2400" dirty="0">
                <a:ea typeface="宋体" panose="02010600030101010101" pitchFamily="2" charset="-122"/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girl</a:t>
            </a:r>
            <a:r>
              <a:rPr lang="en-US" altLang="en-US" sz="2400" dirty="0">
                <a:ea typeface="宋体" panose="02010600030101010101" pitchFamily="2" charset="-122"/>
              </a:rPr>
              <a:t> gets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crossed</a:t>
            </a:r>
            <a:r>
              <a:rPr lang="en-US" altLang="en-US" sz="2400" dirty="0">
                <a:ea typeface="宋体" panose="02010600030101010101" pitchFamily="2" charset="-122"/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off</a:t>
            </a:r>
            <a:r>
              <a:rPr lang="en-US" altLang="en-US" sz="2400" dirty="0">
                <a:ea typeface="宋体" panose="02010600030101010101" pitchFamily="2" charset="-122"/>
              </a:rPr>
              <a:t> the boys’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master</a:t>
            </a:r>
            <a:r>
              <a:rPr lang="en-US" altLang="en-US" sz="2400" dirty="0">
                <a:ea typeface="宋体" panose="02010600030101010101" pitchFamily="2" charset="-122"/>
              </a:rPr>
              <a:t> list.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2400" dirty="0">
                <a:ea typeface="宋体" panose="02010600030101010101" pitchFamily="2" charset="-122"/>
              </a:rPr>
              <a:t>Since the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number</a:t>
            </a:r>
            <a:r>
              <a:rPr lang="en-US" altLang="en-US" sz="2400" dirty="0">
                <a:ea typeface="宋体" panose="02010600030101010101" pitchFamily="2" charset="-122"/>
              </a:rPr>
              <a:t> of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steps</a:t>
            </a:r>
            <a:r>
              <a:rPr lang="en-US" altLang="en-US" sz="2400" dirty="0">
                <a:ea typeface="宋体" panose="02010600030101010101" pitchFamily="2" charset="-122"/>
              </a:rPr>
              <a:t> is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bounded</a:t>
            </a:r>
            <a:r>
              <a:rPr lang="en-US" altLang="en-US" sz="2400" dirty="0">
                <a:ea typeface="宋体" panose="02010600030101010101" pitchFamily="2" charset="-122"/>
              </a:rPr>
              <a:t> by the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original</a:t>
            </a:r>
            <a:r>
              <a:rPr lang="en-US" altLang="en-US" sz="2400" dirty="0">
                <a:ea typeface="宋体" panose="02010600030101010101" pitchFamily="2" charset="-122"/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size</a:t>
            </a:r>
            <a:r>
              <a:rPr lang="en-US" altLang="en-US" sz="2400" dirty="0">
                <a:ea typeface="宋体" panose="02010600030101010101" pitchFamily="2" charset="-122"/>
              </a:rPr>
              <a:t> of the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master</a:t>
            </a:r>
            <a:r>
              <a:rPr lang="en-US" altLang="en-US" sz="2400" dirty="0">
                <a:ea typeface="宋体" panose="02010600030101010101" pitchFamily="2" charset="-122"/>
              </a:rPr>
              <a:t> list,  then the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number</a:t>
            </a:r>
            <a:r>
              <a:rPr lang="en-US" altLang="en-US" sz="2400" dirty="0">
                <a:ea typeface="宋体" panose="02010600030101010101" pitchFamily="2" charset="-122"/>
              </a:rPr>
              <a:t> of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steps</a:t>
            </a:r>
            <a:r>
              <a:rPr lang="en-US" altLang="en-US" sz="2400" dirty="0">
                <a:ea typeface="宋体" panose="02010600030101010101" pitchFamily="2" charset="-122"/>
              </a:rPr>
              <a:t> is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bounded</a:t>
            </a:r>
            <a:r>
              <a:rPr lang="en-US" altLang="en-US" sz="2400" dirty="0">
                <a:ea typeface="宋体" panose="02010600030101010101" pitchFamily="2" charset="-122"/>
              </a:rPr>
              <a:t> by:</a:t>
            </a:r>
            <a:br>
              <a:rPr lang="en-US" altLang="en-US" sz="2400" dirty="0">
                <a:ea typeface="宋体" panose="02010600030101010101" pitchFamily="2" charset="-122"/>
              </a:rPr>
            </a:br>
            <a:r>
              <a:rPr lang="en-US" altLang="en-US" sz="2400" b="1" dirty="0">
                <a:solidFill>
                  <a:srgbClr val="7030A0"/>
                </a:solidFill>
                <a:ea typeface="宋体" panose="02010600030101010101" pitchFamily="2" charset="-122"/>
              </a:rPr>
              <a:t>n</a:t>
            </a:r>
            <a:r>
              <a:rPr lang="en-US" altLang="en-US" sz="2400" dirty="0">
                <a:ea typeface="宋体" panose="02010600030101010101" pitchFamily="2" charset="-122"/>
              </a:rPr>
              <a:t>.(</a:t>
            </a:r>
            <a:r>
              <a:rPr lang="en-US" altLang="en-US" sz="2400" b="1" dirty="0">
                <a:solidFill>
                  <a:srgbClr val="7030A0"/>
                </a:solidFill>
                <a:ea typeface="宋体" panose="02010600030101010101" pitchFamily="2" charset="-122"/>
              </a:rPr>
              <a:t>n-1</a:t>
            </a:r>
            <a:r>
              <a:rPr lang="en-US" altLang="en-US" sz="2400" dirty="0">
                <a:ea typeface="宋体" panose="02010600030101010101" pitchFamily="2" charset="-122"/>
              </a:rPr>
              <a:t>) = </a:t>
            </a:r>
            <a:r>
              <a:rPr lang="en-US" altLang="en-US" sz="2400" b="1" dirty="0">
                <a:solidFill>
                  <a:srgbClr val="7030A0"/>
                </a:solidFill>
                <a:ea typeface="宋体" panose="02010600030101010101" pitchFamily="2" charset="-122"/>
              </a:rPr>
              <a:t>n</a:t>
            </a:r>
            <a:r>
              <a:rPr lang="en-US" altLang="en-US" sz="2400" b="1" baseline="30000" dirty="0">
                <a:solidFill>
                  <a:srgbClr val="7030A0"/>
                </a:solidFill>
                <a:ea typeface="宋体" panose="02010600030101010101" pitchFamily="2" charset="-122"/>
              </a:rPr>
              <a:t>2</a:t>
            </a:r>
            <a:r>
              <a:rPr lang="en-US" altLang="en-US" sz="2400" dirty="0">
                <a:ea typeface="宋体" panose="02010600030101010101" pitchFamily="2" charset="-122"/>
              </a:rPr>
              <a:t> – </a:t>
            </a:r>
            <a:r>
              <a:rPr lang="en-US" altLang="en-US" sz="2400" b="1" dirty="0">
                <a:solidFill>
                  <a:srgbClr val="7030A0"/>
                </a:solidFill>
                <a:ea typeface="宋体" panose="02010600030101010101" pitchFamily="2" charset="-122"/>
              </a:rPr>
              <a:t>n</a:t>
            </a:r>
            <a:r>
              <a:rPr lang="en-US" altLang="en-US" sz="2400" dirty="0">
                <a:ea typeface="宋体" panose="02010600030101010101" pitchFamily="2" charset="-122"/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which</a:t>
            </a:r>
            <a:r>
              <a:rPr lang="en-US" altLang="en-US" sz="2400" dirty="0">
                <a:ea typeface="宋体" panose="02010600030101010101" pitchFamily="2" charset="-122"/>
              </a:rPr>
              <a:t> is O(</a:t>
            </a:r>
            <a:r>
              <a:rPr lang="en-US" altLang="en-US" sz="2400" b="1" dirty="0">
                <a:solidFill>
                  <a:srgbClr val="7030A0"/>
                </a:solidFill>
                <a:ea typeface="宋体" panose="02010600030101010101" pitchFamily="2" charset="-122"/>
              </a:rPr>
              <a:t>n</a:t>
            </a:r>
            <a:r>
              <a:rPr lang="en-US" altLang="en-US" sz="2400" b="1" baseline="30000" dirty="0">
                <a:solidFill>
                  <a:srgbClr val="7030A0"/>
                </a:solidFill>
                <a:ea typeface="宋体" panose="02010600030101010101" pitchFamily="2" charset="-122"/>
              </a:rPr>
              <a:t>2</a:t>
            </a:r>
            <a:r>
              <a:rPr lang="en-US" altLang="en-US" sz="2400" dirty="0">
                <a:ea typeface="宋体" panose="02010600030101010101" pitchFamily="2" charset="-122"/>
              </a:rPr>
              <a:t>) – a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quadratic</a:t>
            </a:r>
            <a:r>
              <a:rPr lang="en-US" altLang="en-US" sz="2400" dirty="0">
                <a:ea typeface="宋体" panose="02010600030101010101" pitchFamily="2" charset="-122"/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polynomial</a:t>
            </a:r>
            <a:r>
              <a:rPr lang="en-US" altLang="en-US" sz="2400" dirty="0">
                <a:ea typeface="宋体" panose="02010600030101010101" pitchFamily="2" charset="-122"/>
              </a:rPr>
              <a:t>.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GB" sz="2400" dirty="0"/>
              <a:t>In the </a:t>
            </a:r>
            <a:r>
              <a:rPr lang="en-GB" sz="2400" b="1" dirty="0">
                <a:solidFill>
                  <a:srgbClr val="0070C0"/>
                </a:solidFill>
              </a:rPr>
              <a:t>early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1970s</a:t>
            </a:r>
            <a:r>
              <a:rPr lang="en-GB" sz="2400" dirty="0"/>
              <a:t>, </a:t>
            </a:r>
            <a:r>
              <a:rPr lang="en-GB" sz="2400" b="1" dirty="0" err="1">
                <a:solidFill>
                  <a:srgbClr val="0070C0"/>
                </a:solidFill>
              </a:rPr>
              <a:t>McVitie</a:t>
            </a:r>
            <a:r>
              <a:rPr lang="en-GB" sz="2400" dirty="0"/>
              <a:t> and </a:t>
            </a:r>
            <a:r>
              <a:rPr lang="en-GB" sz="2400" b="1" dirty="0">
                <a:solidFill>
                  <a:srgbClr val="0070C0"/>
                </a:solidFill>
              </a:rPr>
              <a:t>Wilson</a:t>
            </a:r>
            <a:r>
              <a:rPr lang="en-GB" sz="2400" dirty="0"/>
              <a:t>, however, </a:t>
            </a:r>
            <a:r>
              <a:rPr lang="en-GB" sz="2400" b="1" dirty="0">
                <a:solidFill>
                  <a:srgbClr val="0070C0"/>
                </a:solidFill>
              </a:rPr>
              <a:t>formulated</a:t>
            </a:r>
            <a:r>
              <a:rPr lang="en-GB" sz="2400" dirty="0"/>
              <a:t> a </a:t>
            </a:r>
            <a:r>
              <a:rPr lang="en-GB" sz="2400" b="1" dirty="0">
                <a:solidFill>
                  <a:srgbClr val="0070C0"/>
                </a:solidFill>
              </a:rPr>
              <a:t>faster</a:t>
            </a:r>
            <a:r>
              <a:rPr lang="en-GB" sz="2400" dirty="0"/>
              <a:t>, </a:t>
            </a:r>
            <a:r>
              <a:rPr lang="en-GB" sz="2400" b="1" dirty="0">
                <a:solidFill>
                  <a:srgbClr val="0070C0"/>
                </a:solidFill>
              </a:rPr>
              <a:t>straight-forward</a:t>
            </a:r>
            <a:r>
              <a:rPr lang="en-GB" sz="2400" dirty="0"/>
              <a:t>, </a:t>
            </a:r>
            <a:r>
              <a:rPr lang="en-GB" sz="2400" b="1" dirty="0">
                <a:solidFill>
                  <a:srgbClr val="0070C0"/>
                </a:solidFill>
              </a:rPr>
              <a:t>backtracking</a:t>
            </a:r>
            <a:r>
              <a:rPr lang="en-GB" sz="2400" dirty="0"/>
              <a:t>, </a:t>
            </a:r>
            <a:r>
              <a:rPr lang="en-GB" sz="2400" b="1" dirty="0">
                <a:solidFill>
                  <a:srgbClr val="0070C0"/>
                </a:solidFill>
              </a:rPr>
              <a:t>scheme</a:t>
            </a:r>
            <a:r>
              <a:rPr lang="en-GB" sz="2400" dirty="0"/>
              <a:t> for the </a:t>
            </a:r>
            <a:r>
              <a:rPr lang="en-GB" sz="2400" b="1" dirty="0">
                <a:solidFill>
                  <a:srgbClr val="0070C0"/>
                </a:solidFill>
              </a:rPr>
              <a:t>stable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marriage</a:t>
            </a:r>
            <a:r>
              <a:rPr lang="en-GB" sz="2400" dirty="0"/>
              <a:t> </a:t>
            </a:r>
            <a:r>
              <a:rPr lang="en-GB" sz="2400" b="1" dirty="0">
                <a:solidFill>
                  <a:srgbClr val="0070C0"/>
                </a:solidFill>
              </a:rPr>
              <a:t>problem</a:t>
            </a:r>
            <a:r>
              <a:rPr lang="en-GB" sz="2400" dirty="0"/>
              <a:t>. </a:t>
            </a:r>
            <a:r>
              <a:rPr lang="en-GB" sz="2400" b="1" dirty="0">
                <a:solidFill>
                  <a:srgbClr val="0070C0"/>
                </a:solidFill>
              </a:rPr>
              <a:t>Look</a:t>
            </a:r>
            <a:r>
              <a:rPr lang="en-GB" sz="2400" dirty="0"/>
              <a:t> it </a:t>
            </a:r>
            <a:r>
              <a:rPr lang="en-GB" sz="2400" b="1" dirty="0">
                <a:solidFill>
                  <a:srgbClr val="0070C0"/>
                </a:solidFill>
              </a:rPr>
              <a:t>up</a:t>
            </a:r>
            <a:r>
              <a:rPr lang="en-GB" sz="2400" dirty="0"/>
              <a:t>.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GB" altLang="en-US" sz="2400" dirty="0">
                <a:ea typeface="宋体" panose="02010600030101010101" pitchFamily="2" charset="-122"/>
              </a:rPr>
              <a:t>In the </a:t>
            </a:r>
            <a:r>
              <a:rPr lang="en-GB" altLang="en-US" sz="2400" b="1" dirty="0">
                <a:solidFill>
                  <a:srgbClr val="0070C0"/>
                </a:solidFill>
              </a:rPr>
              <a:t>Gale-Shapley</a:t>
            </a:r>
            <a:r>
              <a:rPr lang="en-GB" altLang="en-US" sz="2400" dirty="0">
                <a:ea typeface="宋体" panose="02010600030101010101" pitchFamily="2" charset="-122"/>
              </a:rPr>
              <a:t> algorithm, the </a:t>
            </a:r>
            <a:r>
              <a:rPr lang="en-GB" altLang="en-US" sz="2400" b="1" dirty="0">
                <a:solidFill>
                  <a:srgbClr val="0070C0"/>
                </a:solidFill>
              </a:rPr>
              <a:t>specific</a:t>
            </a:r>
            <a:r>
              <a:rPr lang="en-GB" altLang="en-US" sz="2400" dirty="0">
                <a:ea typeface="宋体" panose="02010600030101010101" pitchFamily="2" charset="-122"/>
              </a:rPr>
              <a:t> </a:t>
            </a:r>
            <a:r>
              <a:rPr lang="en-GB" altLang="en-US" sz="2400" b="1" dirty="0">
                <a:solidFill>
                  <a:srgbClr val="0070C0"/>
                </a:solidFill>
              </a:rPr>
              <a:t>stable</a:t>
            </a:r>
            <a:r>
              <a:rPr lang="en-GB" altLang="en-US" sz="2400" dirty="0">
                <a:ea typeface="宋体" panose="02010600030101010101" pitchFamily="2" charset="-122"/>
              </a:rPr>
              <a:t> </a:t>
            </a:r>
            <a:r>
              <a:rPr lang="en-GB" altLang="en-US" sz="2400" b="1" dirty="0">
                <a:solidFill>
                  <a:srgbClr val="0070C0"/>
                </a:solidFill>
              </a:rPr>
              <a:t>matching</a:t>
            </a:r>
            <a:r>
              <a:rPr lang="en-GB" altLang="en-US" sz="2400" dirty="0">
                <a:ea typeface="宋体" panose="02010600030101010101" pitchFamily="2" charset="-122"/>
              </a:rPr>
              <a:t> found </a:t>
            </a:r>
            <a:r>
              <a:rPr lang="en-GB" altLang="en-US" sz="2400" b="1" dirty="0">
                <a:solidFill>
                  <a:srgbClr val="0070C0"/>
                </a:solidFill>
              </a:rPr>
              <a:t>depends</a:t>
            </a:r>
            <a:r>
              <a:rPr lang="en-GB" altLang="en-US" sz="2400" dirty="0">
                <a:ea typeface="宋体" panose="02010600030101010101" pitchFamily="2" charset="-122"/>
              </a:rPr>
              <a:t> on which </a:t>
            </a:r>
            <a:r>
              <a:rPr lang="en-GB" altLang="en-US" sz="2400" b="1" dirty="0">
                <a:solidFill>
                  <a:srgbClr val="0070C0"/>
                </a:solidFill>
              </a:rPr>
              <a:t>group</a:t>
            </a:r>
            <a:r>
              <a:rPr lang="en-GB" altLang="en-US" sz="2400" dirty="0">
                <a:ea typeface="宋体" panose="02010600030101010101" pitchFamily="2" charset="-122"/>
              </a:rPr>
              <a:t> </a:t>
            </a:r>
            <a:r>
              <a:rPr lang="en-GB" altLang="en-US" sz="2400" b="1" dirty="0">
                <a:solidFill>
                  <a:srgbClr val="0070C0"/>
                </a:solidFill>
              </a:rPr>
              <a:t>initiates</a:t>
            </a:r>
            <a:r>
              <a:rPr lang="en-GB" altLang="en-US" sz="2400" dirty="0">
                <a:ea typeface="宋体" panose="02010600030101010101" pitchFamily="2" charset="-122"/>
              </a:rPr>
              <a:t> the </a:t>
            </a:r>
            <a:r>
              <a:rPr lang="en-GB" altLang="en-US" sz="2400" b="1" dirty="0">
                <a:solidFill>
                  <a:srgbClr val="0070C0"/>
                </a:solidFill>
              </a:rPr>
              <a:t>proposals</a:t>
            </a:r>
            <a:r>
              <a:rPr lang="en-GB" altLang="en-US" sz="2400" dirty="0">
                <a:ea typeface="宋体" panose="02010600030101010101" pitchFamily="2" charset="-122"/>
              </a:rPr>
              <a:t>. When the </a:t>
            </a:r>
            <a:r>
              <a:rPr lang="en-GB" altLang="en-US" sz="2400" b="1" dirty="0">
                <a:solidFill>
                  <a:srgbClr val="0070C0"/>
                </a:solidFill>
              </a:rPr>
              <a:t>boys</a:t>
            </a:r>
            <a:r>
              <a:rPr lang="en-GB" altLang="en-US" sz="2400" dirty="0">
                <a:ea typeface="宋体" panose="02010600030101010101" pitchFamily="2" charset="-122"/>
              </a:rPr>
              <a:t> </a:t>
            </a:r>
            <a:r>
              <a:rPr lang="en-GB" altLang="en-US" sz="2400" b="1" dirty="0">
                <a:solidFill>
                  <a:srgbClr val="0070C0"/>
                </a:solidFill>
              </a:rPr>
              <a:t>propose</a:t>
            </a:r>
            <a:r>
              <a:rPr lang="en-GB" altLang="en-US" sz="2400" dirty="0">
                <a:ea typeface="宋体" panose="02010600030101010101" pitchFamily="2" charset="-122"/>
              </a:rPr>
              <a:t>, the </a:t>
            </a:r>
            <a:r>
              <a:rPr lang="en-GB" altLang="en-US" sz="2400" b="1" dirty="0">
                <a:solidFill>
                  <a:srgbClr val="0070C0"/>
                </a:solidFill>
              </a:rPr>
              <a:t>algorithm</a:t>
            </a:r>
            <a:r>
              <a:rPr lang="en-GB" altLang="en-US" sz="2400" dirty="0">
                <a:ea typeface="宋体" panose="02010600030101010101" pitchFamily="2" charset="-122"/>
              </a:rPr>
              <a:t> </a:t>
            </a:r>
            <a:r>
              <a:rPr lang="en-GB" altLang="en-US" sz="2400" b="1" dirty="0">
                <a:solidFill>
                  <a:srgbClr val="0070C0"/>
                </a:solidFill>
              </a:rPr>
              <a:t>produces</a:t>
            </a:r>
            <a:r>
              <a:rPr lang="en-GB" altLang="en-US" sz="2400" dirty="0">
                <a:ea typeface="宋体" panose="02010600030101010101" pitchFamily="2" charset="-122"/>
              </a:rPr>
              <a:t> a </a:t>
            </a:r>
            <a:r>
              <a:rPr lang="en-GB" altLang="en-US" sz="2400" b="1" dirty="0">
                <a:solidFill>
                  <a:srgbClr val="7030A0"/>
                </a:solidFill>
                <a:ea typeface="宋体" panose="02010600030101010101" pitchFamily="2" charset="-122"/>
              </a:rPr>
              <a:t>male-optimal</a:t>
            </a:r>
            <a:r>
              <a:rPr lang="en-GB" altLang="en-US" sz="2400" dirty="0">
                <a:ea typeface="宋体" panose="02010600030101010101" pitchFamily="2" charset="-122"/>
              </a:rPr>
              <a:t> and </a:t>
            </a:r>
            <a:r>
              <a:rPr lang="en-GB" altLang="en-US" sz="2400" b="1" dirty="0">
                <a:solidFill>
                  <a:srgbClr val="7030A0"/>
                </a:solidFill>
                <a:ea typeface="宋体" panose="02010600030101010101" pitchFamily="2" charset="-122"/>
              </a:rPr>
              <a:t>female-pessimal</a:t>
            </a:r>
            <a:r>
              <a:rPr lang="en-GB" altLang="en-US" sz="2400" dirty="0">
                <a:ea typeface="宋体" panose="02010600030101010101" pitchFamily="2" charset="-122"/>
              </a:rPr>
              <a:t> </a:t>
            </a:r>
            <a:r>
              <a:rPr lang="en-GB" altLang="en-US" sz="2400" b="1" dirty="0">
                <a:solidFill>
                  <a:srgbClr val="0070C0"/>
                </a:solidFill>
              </a:rPr>
              <a:t>matching</a:t>
            </a:r>
            <a:r>
              <a:rPr lang="en-GB" altLang="en-US" sz="2400" dirty="0">
                <a:ea typeface="宋体" panose="02010600030101010101" pitchFamily="2" charset="-122"/>
              </a:rPr>
              <a:t>. </a:t>
            </a:r>
            <a:r>
              <a:rPr lang="en-GB" altLang="en-US" sz="2400" b="1" dirty="0">
                <a:solidFill>
                  <a:srgbClr val="0070C0"/>
                </a:solidFill>
              </a:rPr>
              <a:t>Conversely</a:t>
            </a:r>
            <a:r>
              <a:rPr lang="en-GB" altLang="en-US" sz="2400" dirty="0">
                <a:ea typeface="宋体" panose="02010600030101010101" pitchFamily="2" charset="-122"/>
              </a:rPr>
              <a:t>, when the </a:t>
            </a:r>
            <a:r>
              <a:rPr lang="en-GB" altLang="en-US" sz="2400" b="1" dirty="0">
                <a:solidFill>
                  <a:srgbClr val="0070C0"/>
                </a:solidFill>
              </a:rPr>
              <a:t>girls</a:t>
            </a:r>
            <a:r>
              <a:rPr lang="en-GB" altLang="en-US" sz="2400" dirty="0">
                <a:ea typeface="宋体" panose="02010600030101010101" pitchFamily="2" charset="-122"/>
              </a:rPr>
              <a:t> </a:t>
            </a:r>
            <a:r>
              <a:rPr lang="en-GB" altLang="en-US" sz="2400" b="1" dirty="0">
                <a:solidFill>
                  <a:srgbClr val="0070C0"/>
                </a:solidFill>
              </a:rPr>
              <a:t>propose</a:t>
            </a:r>
            <a:r>
              <a:rPr lang="en-GB" altLang="en-US" sz="2400" dirty="0">
                <a:ea typeface="宋体" panose="02010600030101010101" pitchFamily="2" charset="-122"/>
              </a:rPr>
              <a:t>, it </a:t>
            </a:r>
            <a:r>
              <a:rPr lang="en-GB" altLang="en-US" sz="2400" b="1" dirty="0">
                <a:solidFill>
                  <a:srgbClr val="0070C0"/>
                </a:solidFill>
              </a:rPr>
              <a:t>results</a:t>
            </a:r>
            <a:r>
              <a:rPr lang="en-GB" altLang="en-US" sz="2400" dirty="0">
                <a:ea typeface="宋体" panose="02010600030101010101" pitchFamily="2" charset="-122"/>
              </a:rPr>
              <a:t> in a </a:t>
            </a:r>
            <a:r>
              <a:rPr lang="en-GB" altLang="en-US" sz="2400" b="1" dirty="0">
                <a:solidFill>
                  <a:srgbClr val="7030A0"/>
                </a:solidFill>
                <a:ea typeface="宋体" panose="02010600030101010101" pitchFamily="2" charset="-122"/>
              </a:rPr>
              <a:t>female-optimal</a:t>
            </a:r>
            <a:r>
              <a:rPr lang="en-GB" altLang="en-US" sz="2400" dirty="0">
                <a:ea typeface="宋体" panose="02010600030101010101" pitchFamily="2" charset="-122"/>
              </a:rPr>
              <a:t> and </a:t>
            </a:r>
            <a:r>
              <a:rPr lang="en-GB" altLang="en-US" sz="2400" b="1" dirty="0">
                <a:solidFill>
                  <a:srgbClr val="7030A0"/>
                </a:solidFill>
                <a:ea typeface="宋体" panose="02010600030101010101" pitchFamily="2" charset="-122"/>
              </a:rPr>
              <a:t>male-pessimal </a:t>
            </a:r>
            <a:r>
              <a:rPr lang="en-GB" altLang="en-US" sz="2400" b="1" dirty="0">
                <a:solidFill>
                  <a:srgbClr val="0070C0"/>
                </a:solidFill>
              </a:rPr>
              <a:t>matching</a:t>
            </a:r>
            <a:r>
              <a:rPr lang="en-GB" altLang="en-US" sz="2400" dirty="0">
                <a:ea typeface="宋体" panose="02010600030101010101" pitchFamily="2" charset="-122"/>
              </a:rPr>
              <a:t>.</a:t>
            </a:r>
            <a:endParaRPr lang="en-US" altLang="en-US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endParaRPr lang="en-US" altLang="en-US" sz="2400" dirty="0">
              <a:ea typeface="宋体" panose="02010600030101010101" pitchFamily="2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9668" y="0"/>
            <a:ext cx="89129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The Gale-Shapely Algorithm </a:t>
            </a:r>
            <a:r>
              <a:rPr lang="en-US" altLang="en-US" sz="400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–</a:t>
            </a:r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altLang="en-US" sz="4000" b="1" dirty="0">
                <a:solidFill>
                  <a:srgbClr val="00B050"/>
                </a:solidFill>
                <a:latin typeface="+mn-lt"/>
              </a:rPr>
              <a:t>Notes</a:t>
            </a:r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  <p:extLst>
      <p:ext uri="{BB962C8B-B14F-4D97-AF65-F5344CB8AC3E}">
        <p14:creationId xmlns:p14="http://schemas.microsoft.com/office/powerpoint/2010/main" val="235545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uiExpand="1" build="p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066800"/>
            <a:ext cx="11139932" cy="5105400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2600" b="1" dirty="0">
                <a:solidFill>
                  <a:srgbClr val="0070C0"/>
                </a:solidFill>
              </a:rPr>
              <a:t>Suppose</a:t>
            </a:r>
            <a:r>
              <a:rPr lang="en-US" altLang="en-US" sz="2600" dirty="0"/>
              <a:t> the a </a:t>
            </a:r>
            <a:r>
              <a:rPr lang="en-US" altLang="en-US" sz="2600" b="1" dirty="0">
                <a:solidFill>
                  <a:srgbClr val="0070C0"/>
                </a:solidFill>
              </a:rPr>
              <a:t>boy</a:t>
            </a:r>
            <a:r>
              <a:rPr lang="en-US" altLang="en-US" sz="2600" dirty="0"/>
              <a:t> and a </a:t>
            </a:r>
            <a:r>
              <a:rPr lang="en-US" altLang="en-US" sz="2600" b="1" dirty="0">
                <a:solidFill>
                  <a:srgbClr val="0070C0"/>
                </a:solidFill>
              </a:rPr>
              <a:t>girl</a:t>
            </a:r>
            <a:r>
              <a:rPr lang="en-US" altLang="en-US" sz="2600" dirty="0"/>
              <a:t> </a:t>
            </a:r>
            <a:r>
              <a:rPr lang="en-US" altLang="en-US" sz="2600" b="1" dirty="0">
                <a:solidFill>
                  <a:srgbClr val="0070C0"/>
                </a:solidFill>
              </a:rPr>
              <a:t>rank</a:t>
            </a:r>
            <a:r>
              <a:rPr lang="en-US" altLang="en-US" sz="2600" dirty="0"/>
              <a:t> each </a:t>
            </a:r>
            <a:r>
              <a:rPr lang="en-US" altLang="en-US" sz="2600" b="1" dirty="0">
                <a:solidFill>
                  <a:srgbClr val="0070C0"/>
                </a:solidFill>
              </a:rPr>
              <a:t>first</a:t>
            </a:r>
            <a:r>
              <a:rPr lang="en-US" altLang="en-US" sz="2600" dirty="0"/>
              <a:t> on their </a:t>
            </a:r>
            <a:r>
              <a:rPr lang="en-US" altLang="en-US" sz="2600" b="1" dirty="0">
                <a:solidFill>
                  <a:srgbClr val="0070C0"/>
                </a:solidFill>
              </a:rPr>
              <a:t>respective</a:t>
            </a:r>
            <a:r>
              <a:rPr lang="en-US" altLang="en-US" sz="2600" dirty="0"/>
              <a:t> lists. Are they </a:t>
            </a:r>
            <a:r>
              <a:rPr lang="en-US" altLang="en-US" sz="2600" b="1" dirty="0">
                <a:solidFill>
                  <a:srgbClr val="0070C0"/>
                </a:solidFill>
              </a:rPr>
              <a:t>guaranteed</a:t>
            </a:r>
            <a:r>
              <a:rPr lang="en-US" altLang="en-US" sz="2600" dirty="0"/>
              <a:t> that </a:t>
            </a:r>
            <a:r>
              <a:rPr lang="en-US" altLang="en-US" sz="2600" b="1" dirty="0">
                <a:solidFill>
                  <a:srgbClr val="0070C0"/>
                </a:solidFill>
              </a:rPr>
              <a:t>they</a:t>
            </a:r>
            <a:r>
              <a:rPr lang="en-US" altLang="en-US" sz="2600" dirty="0"/>
              <a:t> will </a:t>
            </a:r>
            <a:r>
              <a:rPr lang="en-US" altLang="en-US" sz="2600" b="1" dirty="0">
                <a:solidFill>
                  <a:srgbClr val="0070C0"/>
                </a:solidFill>
              </a:rPr>
              <a:t>get</a:t>
            </a:r>
            <a:r>
              <a:rPr lang="en-US" altLang="en-US" sz="2600" dirty="0"/>
              <a:t> </a:t>
            </a:r>
            <a:r>
              <a:rPr lang="en-US" altLang="en-US" sz="2600" b="1" dirty="0">
                <a:solidFill>
                  <a:srgbClr val="0070C0"/>
                </a:solidFill>
              </a:rPr>
              <a:t>each</a:t>
            </a:r>
            <a:r>
              <a:rPr lang="en-US" altLang="en-US" sz="2600" dirty="0"/>
              <a:t> other?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2600" dirty="0">
                <a:ea typeface="宋体" panose="02010600030101010101" pitchFamily="2" charset="-122"/>
              </a:rPr>
              <a:t>Is it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possible</a:t>
            </a:r>
            <a:r>
              <a:rPr lang="en-US" altLang="en-US" sz="2600" dirty="0">
                <a:ea typeface="宋体" panose="02010600030101010101" pitchFamily="2" charset="-122"/>
              </a:rPr>
              <a:t> for a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boy</a:t>
            </a:r>
            <a:r>
              <a:rPr lang="en-US" altLang="en-US" sz="2600" dirty="0">
                <a:ea typeface="宋体" panose="02010600030101010101" pitchFamily="2" charset="-122"/>
              </a:rPr>
              <a:t> or a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girl</a:t>
            </a:r>
            <a:r>
              <a:rPr lang="en-US" altLang="en-US" sz="2600" dirty="0">
                <a:ea typeface="宋体" panose="02010600030101010101" pitchFamily="2" charset="-122"/>
              </a:rPr>
              <a:t> to remain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unassigned</a:t>
            </a:r>
            <a:r>
              <a:rPr lang="en-US" altLang="en-US" sz="2600" dirty="0">
                <a:ea typeface="宋体" panose="02010600030101010101" pitchFamily="2" charset="-122"/>
              </a:rPr>
              <a:t>?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2600" dirty="0">
                <a:ea typeface="宋体" panose="02010600030101010101" pitchFamily="2" charset="-122"/>
              </a:rPr>
              <a:t>Is the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Gale-Shapley</a:t>
            </a:r>
            <a:r>
              <a:rPr lang="en-US" altLang="en-US" sz="2600" dirty="0">
                <a:ea typeface="宋体" panose="02010600030101010101" pitchFamily="2" charset="-122"/>
              </a:rPr>
              <a:t> algorithm a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greedy</a:t>
            </a:r>
            <a:r>
              <a:rPr lang="en-US" altLang="en-US" sz="2600" dirty="0">
                <a:ea typeface="宋体" panose="02010600030101010101" pitchFamily="2" charset="-122"/>
              </a:rPr>
              <a:t> algorithm?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2600" dirty="0">
                <a:ea typeface="宋体" panose="02010600030101010101" pitchFamily="2" charset="-122"/>
              </a:rPr>
              <a:t>When a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boy</a:t>
            </a:r>
            <a:r>
              <a:rPr lang="en-US" altLang="en-US" sz="2600" dirty="0">
                <a:ea typeface="宋体" panose="02010600030101010101" pitchFamily="2" charset="-122"/>
              </a:rPr>
              <a:t>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proposes</a:t>
            </a:r>
            <a:r>
              <a:rPr lang="en-US" altLang="en-US" sz="2600" dirty="0">
                <a:ea typeface="宋体" panose="02010600030101010101" pitchFamily="2" charset="-122"/>
              </a:rPr>
              <a:t> to a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free</a:t>
            </a:r>
            <a:r>
              <a:rPr lang="en-US" altLang="en-US" sz="2600" dirty="0">
                <a:ea typeface="宋体" panose="02010600030101010101" pitchFamily="2" charset="-122"/>
              </a:rPr>
              <a:t> (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available</a:t>
            </a:r>
            <a:r>
              <a:rPr lang="en-US" altLang="en-US" sz="2600" dirty="0">
                <a:ea typeface="宋体" panose="02010600030101010101" pitchFamily="2" charset="-122"/>
              </a:rPr>
              <a:t>)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girl</a:t>
            </a:r>
            <a:r>
              <a:rPr lang="en-US" altLang="en-US" sz="2600" dirty="0">
                <a:ea typeface="宋体" panose="02010600030101010101" pitchFamily="2" charset="-122"/>
              </a:rPr>
              <a:t> will she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accept</a:t>
            </a:r>
            <a:r>
              <a:rPr lang="en-US" altLang="en-US" sz="2600" dirty="0">
                <a:ea typeface="宋体" panose="02010600030101010101" pitchFamily="2" charset="-122"/>
              </a:rPr>
              <a:t> his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proposal</a:t>
            </a:r>
            <a:r>
              <a:rPr lang="en-US" altLang="en-US" sz="2600" dirty="0">
                <a:ea typeface="宋体" panose="02010600030101010101" pitchFamily="2" charset="-122"/>
              </a:rPr>
              <a:t>?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Suppose</a:t>
            </a:r>
            <a:r>
              <a:rPr lang="en-US" altLang="en-US" sz="2600" dirty="0">
                <a:ea typeface="宋体" panose="02010600030101010101" pitchFamily="2" charset="-122"/>
              </a:rPr>
              <a:t> all the boys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propose</a:t>
            </a:r>
            <a:r>
              <a:rPr lang="en-US" altLang="en-US" sz="2600" dirty="0">
                <a:ea typeface="宋体" panose="02010600030101010101" pitchFamily="2" charset="-122"/>
              </a:rPr>
              <a:t> to a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different</a:t>
            </a:r>
            <a:r>
              <a:rPr lang="en-US" altLang="en-US" sz="2600" dirty="0">
                <a:ea typeface="宋体" panose="02010600030101010101" pitchFamily="2" charset="-122"/>
              </a:rPr>
              <a:t> girl. How many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iterations</a:t>
            </a:r>
            <a:r>
              <a:rPr lang="en-US" altLang="en-US" sz="2600" dirty="0">
                <a:ea typeface="宋体" panose="02010600030101010101" pitchFamily="2" charset="-122"/>
              </a:rPr>
              <a:t> are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required</a:t>
            </a:r>
            <a:r>
              <a:rPr lang="en-US" altLang="en-US" sz="2600" dirty="0">
                <a:ea typeface="宋体" panose="02010600030101010101" pitchFamily="2" charset="-122"/>
              </a:rPr>
              <a:t> for the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algorithm</a:t>
            </a:r>
            <a:r>
              <a:rPr lang="en-US" altLang="en-US" sz="2600" dirty="0">
                <a:ea typeface="宋体" panose="02010600030101010101" pitchFamily="2" charset="-122"/>
              </a:rPr>
              <a:t> to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converge</a:t>
            </a:r>
            <a:r>
              <a:rPr lang="en-US" altLang="en-US" sz="2600" dirty="0">
                <a:ea typeface="宋体" panose="02010600030101010101" pitchFamily="2" charset="-122"/>
              </a:rPr>
              <a:t>?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2600" dirty="0">
                <a:ea typeface="宋体" panose="02010600030101010101" pitchFamily="2" charset="-122"/>
              </a:rPr>
              <a:t>How do you get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worst</a:t>
            </a:r>
            <a:r>
              <a:rPr lang="en-US" altLang="en-US" sz="2600" dirty="0">
                <a:ea typeface="宋体" panose="02010600030101010101" pitchFamily="2" charset="-122"/>
              </a:rPr>
              <a:t> case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complexity</a:t>
            </a:r>
            <a:r>
              <a:rPr lang="en-US" altLang="en-US" sz="2600" dirty="0">
                <a:ea typeface="宋体" panose="02010600030101010101" pitchFamily="2" charset="-122"/>
              </a:rPr>
              <a:t> for the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Gale-Shapley</a:t>
            </a:r>
            <a:r>
              <a:rPr lang="en-US" altLang="en-US" sz="2600" dirty="0">
                <a:ea typeface="宋体" panose="02010600030101010101" pitchFamily="2" charset="-122"/>
              </a:rPr>
              <a:t>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algorithm</a:t>
            </a:r>
            <a:r>
              <a:rPr lang="en-US" altLang="en-US" sz="2600" dirty="0">
                <a:ea typeface="宋体" panose="02010600030101010101" pitchFamily="2" charset="-122"/>
              </a:rPr>
              <a:t>?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2600" dirty="0">
                <a:ea typeface="宋体" panose="02010600030101010101" pitchFamily="2" charset="-122"/>
              </a:rPr>
              <a:t>In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general</a:t>
            </a:r>
            <a:r>
              <a:rPr lang="en-US" altLang="en-US" sz="2600" dirty="0">
                <a:ea typeface="宋体" panose="02010600030101010101" pitchFamily="2" charset="-122"/>
              </a:rPr>
              <a:t>, is there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usually</a:t>
            </a:r>
            <a:r>
              <a:rPr lang="en-US" altLang="en-US" sz="2600" dirty="0">
                <a:ea typeface="宋体" panose="02010600030101010101" pitchFamily="2" charset="-122"/>
              </a:rPr>
              <a:t> only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one</a:t>
            </a:r>
            <a:r>
              <a:rPr lang="en-US" altLang="en-US" sz="2600" dirty="0">
                <a:ea typeface="宋体" panose="02010600030101010101" pitchFamily="2" charset="-122"/>
              </a:rPr>
              <a:t>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stable</a:t>
            </a:r>
            <a:r>
              <a:rPr lang="en-US" altLang="en-US" sz="2600" dirty="0">
                <a:ea typeface="宋体" panose="02010600030101010101" pitchFamily="2" charset="-122"/>
              </a:rPr>
              <a:t>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matching</a:t>
            </a:r>
            <a:r>
              <a:rPr lang="en-US" altLang="en-US" sz="2600" dirty="0">
                <a:ea typeface="宋体" panose="02010600030101010101" pitchFamily="2" charset="-122"/>
              </a:rPr>
              <a:t>?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sz="2600" dirty="0">
                <a:ea typeface="宋体" panose="02010600030101010101" pitchFamily="2" charset="-122"/>
              </a:rPr>
              <a:t>Does the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order</a:t>
            </a:r>
            <a:r>
              <a:rPr lang="en-US" altLang="en-US" sz="2600" dirty="0">
                <a:ea typeface="宋体" panose="02010600030101010101" pitchFamily="2" charset="-122"/>
              </a:rPr>
              <a:t> that the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boys</a:t>
            </a:r>
            <a:r>
              <a:rPr lang="en-US" altLang="en-US" sz="2600" dirty="0">
                <a:ea typeface="宋体" panose="02010600030101010101" pitchFamily="2" charset="-122"/>
              </a:rPr>
              <a:t> are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visited</a:t>
            </a:r>
            <a:r>
              <a:rPr lang="en-US" altLang="en-US" sz="2600" dirty="0">
                <a:ea typeface="宋体" panose="02010600030101010101" pitchFamily="2" charset="-122"/>
              </a:rPr>
              <a:t>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affect</a:t>
            </a:r>
            <a:r>
              <a:rPr lang="en-US" altLang="en-US" sz="2600" dirty="0">
                <a:ea typeface="宋体" panose="02010600030101010101" pitchFamily="2" charset="-122"/>
              </a:rPr>
              <a:t> the </a:t>
            </a:r>
            <a:r>
              <a:rPr lang="en-US" altLang="en-US" sz="2600" b="1" dirty="0">
                <a:solidFill>
                  <a:srgbClr val="0070C0"/>
                </a:solidFill>
                <a:ea typeface="宋体" panose="02010600030101010101" pitchFamily="2" charset="-122"/>
              </a:rPr>
              <a:t>matching</a:t>
            </a:r>
            <a:r>
              <a:rPr lang="en-US" altLang="en-US" sz="2600" dirty="0">
                <a:ea typeface="宋体" panose="02010600030101010101" pitchFamily="2" charset="-122"/>
              </a:rPr>
              <a:t> found?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tabLst/>
            </a:pPr>
            <a:endParaRPr lang="en-US" altLang="en-US" sz="2600" dirty="0">
              <a:ea typeface="宋体" panose="02010600030101010101" pitchFamily="2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9668" y="0"/>
            <a:ext cx="89129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Stable Marriage Problem Questions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</p:spTree>
    <p:extLst>
      <p:ext uri="{BB962C8B-B14F-4D97-AF65-F5344CB8AC3E}">
        <p14:creationId xmlns:p14="http://schemas.microsoft.com/office/powerpoint/2010/main" val="147801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uiExpand="1" build="p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6926"/>
            <a:ext cx="2016125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914400"/>
            <a:ext cx="11063732" cy="53340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/>
              <a:t>Matching </a:t>
            </a:r>
            <a:r>
              <a:rPr lang="en-US" altLang="en-US" b="1" dirty="0">
                <a:solidFill>
                  <a:srgbClr val="0070C0"/>
                </a:solidFill>
              </a:rPr>
              <a:t>kidney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donors</a:t>
            </a:r>
            <a:r>
              <a:rPr lang="en-US" altLang="en-US" dirty="0"/>
              <a:t> to </a:t>
            </a:r>
            <a:r>
              <a:rPr lang="en-US" altLang="en-US" b="1" dirty="0">
                <a:solidFill>
                  <a:srgbClr val="0070C0"/>
                </a:solidFill>
              </a:rPr>
              <a:t>patients</a:t>
            </a:r>
            <a:r>
              <a:rPr lang="en-US" altLang="en-US" dirty="0"/>
              <a:t> awaiting a </a:t>
            </a:r>
            <a:r>
              <a:rPr lang="en-US" altLang="en-US" b="1" dirty="0">
                <a:solidFill>
                  <a:srgbClr val="0070C0"/>
                </a:solidFill>
              </a:rPr>
              <a:t>transplant</a:t>
            </a:r>
            <a:r>
              <a:rPr lang="en-US" altLang="en-US" dirty="0"/>
              <a:t>.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>
                <a:ea typeface="宋体" panose="02010600030101010101" pitchFamily="2" charset="-122"/>
              </a:rPr>
              <a:t>Match college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applicants</a:t>
            </a:r>
            <a:r>
              <a:rPr lang="en-US" altLang="en-US" dirty="0">
                <a:ea typeface="宋体" panose="02010600030101010101" pitchFamily="2" charset="-122"/>
              </a:rPr>
              <a:t> to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Universities</a:t>
            </a:r>
            <a:r>
              <a:rPr lang="en-US" altLang="en-US" dirty="0">
                <a:ea typeface="宋体" panose="02010600030101010101" pitchFamily="2" charset="-122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>
                <a:ea typeface="宋体" panose="02010600030101010101" pitchFamily="2" charset="-122"/>
              </a:rPr>
              <a:t>Assigning of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user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queries</a:t>
            </a:r>
            <a:r>
              <a:rPr lang="en-US" altLang="en-US" dirty="0">
                <a:ea typeface="宋体" panose="02010600030101010101" pitchFamily="2" charset="-122"/>
              </a:rPr>
              <a:t> to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web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servers</a:t>
            </a:r>
            <a:r>
              <a:rPr lang="en-US" altLang="en-US" dirty="0">
                <a:ea typeface="宋体" panose="02010600030101010101" pitchFamily="2" charset="-122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>
                <a:ea typeface="宋体" panose="02010600030101010101" pitchFamily="2" charset="-122"/>
              </a:rPr>
              <a:t>Matching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peers</a:t>
            </a:r>
            <a:r>
              <a:rPr lang="en-US" altLang="en-US" dirty="0">
                <a:ea typeface="宋体" panose="02010600030101010101" pitchFamily="2" charset="-122"/>
              </a:rPr>
              <a:t> in a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P2P</a:t>
            </a:r>
            <a:r>
              <a:rPr lang="en-US" altLang="en-US" dirty="0">
                <a:ea typeface="宋体" panose="02010600030101010101" pitchFamily="2" charset="-122"/>
              </a:rPr>
              <a:t> network.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>
                <a:ea typeface="宋体" panose="02010600030101010101" pitchFamily="2" charset="-122"/>
              </a:rPr>
              <a:t>Resource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allocation</a:t>
            </a:r>
            <a:r>
              <a:rPr lang="en-US" altLang="en-US" dirty="0">
                <a:ea typeface="宋体" panose="02010600030101010101" pitchFamily="2" charset="-122"/>
              </a:rPr>
              <a:t> in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5G</a:t>
            </a:r>
            <a:r>
              <a:rPr lang="en-US" altLang="en-US" dirty="0">
                <a:ea typeface="宋体" panose="02010600030101010101" pitchFamily="2" charset="-122"/>
              </a:rPr>
              <a:t> networks.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>
                <a:ea typeface="宋体" panose="02010600030101010101" pitchFamily="2" charset="-122"/>
              </a:rPr>
              <a:t>Assigning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seamen</a:t>
            </a:r>
            <a:r>
              <a:rPr lang="en-US" altLang="en-US" dirty="0">
                <a:ea typeface="宋体" panose="02010600030101010101" pitchFamily="2" charset="-122"/>
              </a:rPr>
              <a:t> to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navy</a:t>
            </a:r>
            <a:r>
              <a:rPr lang="en-US" altLang="en-US" dirty="0">
                <a:ea typeface="宋体" panose="02010600030101010101" pitchFamily="2" charset="-122"/>
              </a:rPr>
              <a:t> ships.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dirty="0">
                <a:ea typeface="宋体" panose="02010600030101010101" pitchFamily="2" charset="-122"/>
              </a:rPr>
              <a:t>Assigning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students</a:t>
            </a:r>
            <a:r>
              <a:rPr lang="en-US" altLang="en-US" dirty="0">
                <a:ea typeface="宋体" panose="02010600030101010101" pitchFamily="2" charset="-122"/>
              </a:rPr>
              <a:t> to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public</a:t>
            </a:r>
            <a:r>
              <a:rPr lang="en-US" altLang="en-US" dirty="0">
                <a:ea typeface="宋体" panose="02010600030101010101" pitchFamily="2" charset="-122"/>
              </a:rPr>
              <a:t> schools.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Algorithmic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Game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Theory</a:t>
            </a:r>
            <a:r>
              <a:rPr lang="en-US" altLang="en-US" dirty="0">
                <a:ea typeface="宋体" panose="02010600030101010101" pitchFamily="2" charset="-122"/>
              </a:rPr>
              <a:t>.</a:t>
            </a:r>
          </a:p>
          <a:p>
            <a:pPr marL="0" indent="0"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buNone/>
              <a:tabLst/>
            </a:pPr>
            <a:r>
              <a:rPr lang="en-US" altLang="en-US" dirty="0">
                <a:ea typeface="宋体" panose="02010600030101010101" pitchFamily="2" charset="-122"/>
              </a:rPr>
              <a:t>The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Gale-Shapley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algorithm</a:t>
            </a:r>
            <a:r>
              <a:rPr lang="en-US" altLang="en-US" dirty="0">
                <a:ea typeface="宋体" panose="02010600030101010101" pitchFamily="2" charset="-122"/>
              </a:rPr>
              <a:t> did not win the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Nobel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Prize</a:t>
            </a:r>
            <a:r>
              <a:rPr lang="en-US" altLang="en-US" dirty="0">
                <a:ea typeface="宋体" panose="02010600030101010101" pitchFamily="2" charset="-122"/>
              </a:rPr>
              <a:t> because of its complexity but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probably</a:t>
            </a:r>
            <a:r>
              <a:rPr lang="en-US" altLang="en-US" dirty="0">
                <a:ea typeface="宋体" panose="02010600030101010101" pitchFamily="2" charset="-122"/>
              </a:rPr>
              <a:t> because it was so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ubiquitous</a:t>
            </a:r>
            <a:r>
              <a:rPr lang="en-US" altLang="en-US" dirty="0">
                <a:ea typeface="宋体" panose="02010600030101010101" pitchFamily="2" charset="-122"/>
              </a:rPr>
              <a:t> and so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wide</a:t>
            </a:r>
            <a:r>
              <a:rPr lang="en-US" altLang="en-US" dirty="0">
                <a:ea typeface="宋体" panose="02010600030101010101" pitchFamily="2" charset="-122"/>
              </a:rPr>
              <a:t> in </a:t>
            </a:r>
            <a:r>
              <a:rPr lang="en-US" altLang="en-US" b="1" dirty="0">
                <a:solidFill>
                  <a:srgbClr val="0070C0"/>
                </a:solidFill>
                <a:ea typeface="宋体" panose="02010600030101010101" pitchFamily="2" charset="-122"/>
              </a:rPr>
              <a:t>scope</a:t>
            </a:r>
            <a:r>
              <a:rPr lang="en-US" altLang="en-US" dirty="0">
                <a:ea typeface="宋体" panose="02010600030101010101" pitchFamily="2" charset="-122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endParaRPr lang="en-US" altLang="en-US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tabLst/>
            </a:pPr>
            <a:endParaRPr lang="en-US" altLang="en-US" dirty="0">
              <a:ea typeface="宋体" panose="02010600030101010101" pitchFamily="2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9668" y="0"/>
            <a:ext cx="89129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002060"/>
                </a:solidFill>
                <a:latin typeface="+mn-lt"/>
              </a:rPr>
              <a:t>Stable Marriage Problem Applications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1965902" y="6615157"/>
            <a:ext cx="144016" cy="18002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76988"/>
            <a:ext cx="1120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15000"/>
              </a:spcAft>
              <a:buClr>
                <a:srgbClr val="A50021"/>
              </a:buClr>
              <a:buFont typeface="Wingdings" panose="05000000000000000000" pitchFamily="2" charset="2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15000"/>
              </a:spcAft>
              <a:buClr>
                <a:srgbClr val="CC0000"/>
              </a:buClr>
              <a:buSzPct val="5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15000"/>
              </a:spcAft>
              <a:buClr>
                <a:srgbClr val="FF5050"/>
              </a:buClr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15000"/>
              </a:spcAft>
              <a:buClr>
                <a:srgbClr val="FF7C80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15000"/>
              </a:spcAft>
              <a:buClr>
                <a:srgbClr val="FF9999"/>
              </a:buClr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GB" altLang="en-US" sz="1800" b="1">
                <a:solidFill>
                  <a:srgbClr val="FFC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ICT</a:t>
            </a:r>
          </a:p>
        </p:txBody>
      </p:sp>
      <p:pic>
        <p:nvPicPr>
          <p:cNvPr id="1026" name="Picture 2" descr="Georg Wittig Nobel Prize Medal in Chemistry Received in 1979 ...">
            <a:extLst>
              <a:ext uri="{FF2B5EF4-FFF2-40B4-BE49-F238E27FC236}">
                <a16:creationId xmlns:a16="http://schemas.microsoft.com/office/drawing/2014/main" id="{F02224C8-7341-4C6F-BEA3-344125DC0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1749582"/>
            <a:ext cx="3257550" cy="320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76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uiExpand="1" build="p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2685" y="24574"/>
            <a:ext cx="854075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570086" y="35752"/>
            <a:ext cx="2016125" cy="45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Structures &amp;</a:t>
            </a:r>
          </a:p>
          <a:p>
            <a:pPr algn="r">
              <a:lnSpc>
                <a:spcPts val="1400"/>
              </a:lnSpc>
              <a:spcBef>
                <a:spcPts val="0"/>
              </a:spcBef>
              <a:defRPr/>
            </a:pP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Algorithms </a:t>
            </a:r>
            <a:r>
              <a:rPr lang="en-GB" sz="1400" dirty="0">
                <a:solidFill>
                  <a:srgbClr val="A44114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180000"/>
            <a:ext cx="9360000" cy="648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  <a:latin typeface="+mn-lt"/>
              </a:rPr>
              <a:t>Prologue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648000" y="1008000"/>
            <a:ext cx="10515600" cy="5181600"/>
          </a:xfrm>
        </p:spPr>
        <p:txBody>
          <a:bodyPr>
            <a:noAutofit/>
          </a:bodyPr>
          <a:lstStyle/>
          <a:p>
            <a:pPr>
              <a:buClr>
                <a:schemeClr val="accent6">
                  <a:lumMod val="75000"/>
                </a:schemeClr>
              </a:buClr>
            </a:pPr>
            <a:r>
              <a:rPr lang="en-GB" dirty="0"/>
              <a:t>Please </a:t>
            </a:r>
            <a:r>
              <a:rPr lang="en-GB" b="1" dirty="0">
                <a:solidFill>
                  <a:srgbClr val="0070C0"/>
                </a:solidFill>
              </a:rPr>
              <a:t>send</a:t>
            </a:r>
            <a:r>
              <a:rPr lang="en-GB" dirty="0"/>
              <a:t> me </a:t>
            </a:r>
            <a:r>
              <a:rPr lang="en-GB" b="1" dirty="0">
                <a:solidFill>
                  <a:srgbClr val="0070C0"/>
                </a:solidFill>
              </a:rPr>
              <a:t>feedback</a:t>
            </a:r>
            <a:r>
              <a:rPr lang="en-GB" dirty="0"/>
              <a:t> and/or </a:t>
            </a:r>
            <a:r>
              <a:rPr lang="en-GB" b="1" dirty="0">
                <a:solidFill>
                  <a:srgbClr val="0070C0"/>
                </a:solidFill>
              </a:rPr>
              <a:t>errata</a:t>
            </a:r>
            <a:r>
              <a:rPr lang="en-GB" dirty="0"/>
              <a:t> to </a:t>
            </a:r>
            <a:r>
              <a:rPr lang="en-GB" dirty="0">
                <a:hlinkClick r:id="rId3"/>
              </a:rPr>
              <a:t>john.abela@um.edu.mt</a:t>
            </a:r>
            <a:endParaRPr lang="en-GB" dirty="0"/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US" b="1" dirty="0">
                <a:solidFill>
                  <a:srgbClr val="0070C0"/>
                </a:solidFill>
              </a:rPr>
              <a:t>Feedback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helps</a:t>
            </a:r>
            <a:r>
              <a:rPr lang="en-US" dirty="0"/>
              <a:t> me </a:t>
            </a:r>
            <a:r>
              <a:rPr lang="en-US" b="1" dirty="0">
                <a:solidFill>
                  <a:srgbClr val="0070C0"/>
                </a:solidFill>
              </a:rPr>
              <a:t>improve</a:t>
            </a:r>
            <a:r>
              <a:rPr lang="en-US" dirty="0"/>
              <a:t> the </a:t>
            </a:r>
            <a:r>
              <a:rPr lang="en-US" b="1" dirty="0">
                <a:solidFill>
                  <a:srgbClr val="0070C0"/>
                </a:solidFill>
              </a:rPr>
              <a:t>slide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decks</a:t>
            </a:r>
            <a:r>
              <a:rPr lang="en-US" dirty="0"/>
              <a:t> for </a:t>
            </a:r>
            <a:r>
              <a:rPr lang="en-US" b="1" dirty="0">
                <a:solidFill>
                  <a:srgbClr val="0070C0"/>
                </a:solidFill>
              </a:rPr>
              <a:t>future</a:t>
            </a:r>
            <a:r>
              <a:rPr lang="en-US" dirty="0"/>
              <a:t> students.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US" b="1" dirty="0">
                <a:solidFill>
                  <a:srgbClr val="0070C0"/>
                </a:solidFill>
              </a:rPr>
              <a:t>Lecture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slides</a:t>
            </a:r>
            <a:r>
              <a:rPr lang="en-US" dirty="0"/>
              <a:t> are also </a:t>
            </a:r>
            <a:r>
              <a:rPr lang="en-US" b="1" dirty="0">
                <a:solidFill>
                  <a:srgbClr val="0070C0"/>
                </a:solidFill>
              </a:rPr>
              <a:t>uploaded</a:t>
            </a:r>
            <a:r>
              <a:rPr lang="en-US" dirty="0"/>
              <a:t> to the </a:t>
            </a:r>
            <a:r>
              <a:rPr lang="en-US" b="1" dirty="0">
                <a:solidFill>
                  <a:srgbClr val="0070C0"/>
                </a:solidFill>
              </a:rPr>
              <a:t>VLE</a:t>
            </a:r>
            <a:r>
              <a:rPr lang="en-US" dirty="0"/>
              <a:t>.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1028" name="Picture 4" descr="503,738 BEST The End IMAGES, STOCK PHOTOS &amp; VECTORS | Adobe Stock">
            <a:extLst>
              <a:ext uri="{FF2B5EF4-FFF2-40B4-BE49-F238E27FC236}">
                <a16:creationId xmlns:a16="http://schemas.microsoft.com/office/drawing/2014/main" id="{604DA78B-4CBF-4C2C-94B3-4DE21DF17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228571"/>
            <a:ext cx="6740523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The Future of the Virtual Learning Environment - MJR Learning Consultancy  Ltd">
            <a:extLst>
              <a:ext uri="{FF2B5EF4-FFF2-40B4-BE49-F238E27FC236}">
                <a16:creationId xmlns:a16="http://schemas.microsoft.com/office/drawing/2014/main" id="{7F260A8C-3CB7-424A-9422-B9BE4A5E1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3038" y="2207822"/>
            <a:ext cx="1762125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C3B6D5-90B0-4CA0-A6D3-0BC03E7BE5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18837"/>
            <a:ext cx="834672" cy="73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067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oteboo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1082</TotalTime>
  <Words>3167</Words>
  <Application>Microsoft Office PowerPoint</Application>
  <PresentationFormat>Widescreen</PresentationFormat>
  <Paragraphs>449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ＭＳ Ｐゴシック</vt:lpstr>
      <vt:lpstr>宋体</vt:lpstr>
      <vt:lpstr>Arial</vt:lpstr>
      <vt:lpstr>Arial Rounded MT Bold</vt:lpstr>
      <vt:lpstr>Calibri</vt:lpstr>
      <vt:lpstr>Calibri Light</vt:lpstr>
      <vt:lpstr>Segoe UI</vt:lpstr>
      <vt:lpstr>Times New Roman</vt:lpstr>
      <vt:lpstr>Wingdings</vt:lpstr>
      <vt:lpstr>notebook</vt:lpstr>
      <vt:lpstr>PowerPoint Presentation</vt:lpstr>
      <vt:lpstr>The Only Algorithm to ever win a Nobel Prize</vt:lpstr>
      <vt:lpstr>The Stable Marriage Problem</vt:lpstr>
      <vt:lpstr>More formally…</vt:lpstr>
      <vt:lpstr>Unstable Marriages</vt:lpstr>
      <vt:lpstr>PowerPoint Presentation</vt:lpstr>
      <vt:lpstr>Remember – Unstable Marriage</vt:lpstr>
      <vt:lpstr>The Stable Marriage Problem</vt:lpstr>
      <vt:lpstr>Stable Marriage Problem</vt:lpstr>
      <vt:lpstr>Formal Definition – Perfect Matching</vt:lpstr>
      <vt:lpstr>Formal Definition – Unstable Pair</vt:lpstr>
      <vt:lpstr>Formal Definition – Stable Matching</vt:lpstr>
      <vt:lpstr>The Gale Shapely Algorithm</vt:lpstr>
      <vt:lpstr>How it Works</vt:lpstr>
      <vt:lpstr>PowerPoint Presentation</vt:lpstr>
      <vt:lpstr>The Gale-Shapely Algorithm</vt:lpstr>
      <vt:lpstr>The Gale-Shapely Algorithm</vt:lpstr>
      <vt:lpstr>The Stable Marriage Problem – Stability</vt:lpstr>
      <vt:lpstr>The Stable Marriage Problem – Stability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Prologue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Safa Mahmoodian</dc:creator>
  <cp:lastModifiedBy>John Abela</cp:lastModifiedBy>
  <cp:revision>338</cp:revision>
  <cp:lastPrinted>1601-01-01T00:00:00Z</cp:lastPrinted>
  <dcterms:created xsi:type="dcterms:W3CDTF">2005-12-11T10:46:23Z</dcterms:created>
  <dcterms:modified xsi:type="dcterms:W3CDTF">2024-05-08T12:13:55Z</dcterms:modified>
</cp:coreProperties>
</file>