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307" r:id="rId3"/>
    <p:sldId id="285" r:id="rId4"/>
    <p:sldId id="317" r:id="rId5"/>
    <p:sldId id="261" r:id="rId6"/>
    <p:sldId id="286" r:id="rId7"/>
    <p:sldId id="287" r:id="rId8"/>
    <p:sldId id="288" r:id="rId9"/>
    <p:sldId id="289" r:id="rId10"/>
    <p:sldId id="290" r:id="rId11"/>
    <p:sldId id="292" r:id="rId12"/>
    <p:sldId id="318" r:id="rId13"/>
    <p:sldId id="300" r:id="rId14"/>
    <p:sldId id="293" r:id="rId15"/>
    <p:sldId id="309" r:id="rId16"/>
    <p:sldId id="294" r:id="rId17"/>
    <p:sldId id="302" r:id="rId18"/>
    <p:sldId id="262" r:id="rId19"/>
    <p:sldId id="319" r:id="rId20"/>
    <p:sldId id="304" r:id="rId21"/>
    <p:sldId id="310" r:id="rId22"/>
    <p:sldId id="259" r:id="rId23"/>
    <p:sldId id="260" r:id="rId24"/>
    <p:sldId id="274" r:id="rId25"/>
    <p:sldId id="313" r:id="rId26"/>
    <p:sldId id="314" r:id="rId27"/>
    <p:sldId id="275" r:id="rId28"/>
    <p:sldId id="276" r:id="rId29"/>
    <p:sldId id="278" r:id="rId30"/>
    <p:sldId id="315" r:id="rId31"/>
    <p:sldId id="279" r:id="rId32"/>
    <p:sldId id="316" r:id="rId33"/>
    <p:sldId id="283" r:id="rId34"/>
  </p:sldIdLst>
  <p:sldSz cx="12192000" cy="6858000"/>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C2C65"/>
    <a:srgbClr val="6821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400" autoAdjust="0"/>
  </p:normalViewPr>
  <p:slideViewPr>
    <p:cSldViewPr snapToGrid="0">
      <p:cViewPr varScale="1">
        <p:scale>
          <a:sx n="50" d="100"/>
          <a:sy n="50" d="100"/>
        </p:scale>
        <p:origin x="1906" y="29"/>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D78F6A-C3F7-4AA7-AF0C-57A9E9AA317C}" type="doc">
      <dgm:prSet loTypeId="urn:microsoft.com/office/officeart/2005/8/layout/lProcess1" loCatId="process" qsTypeId="urn:microsoft.com/office/officeart/2005/8/quickstyle/simple1" qsCatId="simple" csTypeId="urn:microsoft.com/office/officeart/2005/8/colors/accent1_2" csCatId="accent1" phldr="1"/>
      <dgm:spPr/>
    </dgm:pt>
    <dgm:pt modelId="{DDFF52B6-950D-4577-A668-9DEE39F8F7BD}">
      <dgm:prSet phldrT="[Text]"/>
      <dgm:spPr/>
      <dgm:t>
        <a:bodyPr/>
        <a:lstStyle/>
        <a:p>
          <a:r>
            <a:rPr lang="en-GB" dirty="0"/>
            <a:t>1990s</a:t>
          </a:r>
        </a:p>
      </dgm:t>
    </dgm:pt>
    <dgm:pt modelId="{1937F319-B040-4614-A700-9E27AB712829}" type="parTrans" cxnId="{08F7B0EA-6081-483A-A3B5-CEA0524EA9C1}">
      <dgm:prSet/>
      <dgm:spPr/>
      <dgm:t>
        <a:bodyPr/>
        <a:lstStyle/>
        <a:p>
          <a:endParaRPr lang="en-GB"/>
        </a:p>
      </dgm:t>
    </dgm:pt>
    <dgm:pt modelId="{2396F4BC-1582-4245-816C-9EC41BC8541B}" type="sibTrans" cxnId="{08F7B0EA-6081-483A-A3B5-CEA0524EA9C1}">
      <dgm:prSet/>
      <dgm:spPr/>
      <dgm:t>
        <a:bodyPr/>
        <a:lstStyle/>
        <a:p>
          <a:endParaRPr lang="en-GB"/>
        </a:p>
      </dgm:t>
    </dgm:pt>
    <dgm:pt modelId="{106467BC-BB8C-4632-874D-10B4E9E1BEA6}">
      <dgm:prSet phldrT="[Text]"/>
      <dgm:spPr/>
      <dgm:t>
        <a:bodyPr/>
        <a:lstStyle/>
        <a:p>
          <a:r>
            <a:rPr lang="en-GB" dirty="0"/>
            <a:t>ASP.NET MVC</a:t>
          </a:r>
        </a:p>
      </dgm:t>
    </dgm:pt>
    <dgm:pt modelId="{657A776A-F180-41A2-B452-D5032E02E259}" type="parTrans" cxnId="{D0AAB7D2-8B84-4223-9967-4F6E880534E6}">
      <dgm:prSet/>
      <dgm:spPr/>
      <dgm:t>
        <a:bodyPr/>
        <a:lstStyle/>
        <a:p>
          <a:endParaRPr lang="en-GB"/>
        </a:p>
      </dgm:t>
    </dgm:pt>
    <dgm:pt modelId="{CFDEAC6A-DC1D-417D-8B6F-53F5A0480D38}" type="sibTrans" cxnId="{D0AAB7D2-8B84-4223-9967-4F6E880534E6}">
      <dgm:prSet/>
      <dgm:spPr/>
      <dgm:t>
        <a:bodyPr/>
        <a:lstStyle/>
        <a:p>
          <a:endParaRPr lang="en-GB"/>
        </a:p>
      </dgm:t>
    </dgm:pt>
    <dgm:pt modelId="{DBFC759C-ABC4-495D-92C3-8CB699D3D901}">
      <dgm:prSet phldrT="[Text]"/>
      <dgm:spPr/>
      <dgm:t>
        <a:bodyPr/>
        <a:lstStyle/>
        <a:p>
          <a:r>
            <a:rPr lang="en-GB" dirty="0"/>
            <a:t>2002</a:t>
          </a:r>
        </a:p>
      </dgm:t>
    </dgm:pt>
    <dgm:pt modelId="{317CA69E-063E-4BB7-8863-586FFCBD8D55}" type="parTrans" cxnId="{BCE930EB-05C3-4A03-B3D0-12BDE2DA1B87}">
      <dgm:prSet/>
      <dgm:spPr/>
      <dgm:t>
        <a:bodyPr/>
        <a:lstStyle/>
        <a:p>
          <a:endParaRPr lang="en-GB"/>
        </a:p>
      </dgm:t>
    </dgm:pt>
    <dgm:pt modelId="{ED9540FD-1811-4454-B4AC-9DE401C20C6A}" type="sibTrans" cxnId="{BCE930EB-05C3-4A03-B3D0-12BDE2DA1B87}">
      <dgm:prSet/>
      <dgm:spPr/>
      <dgm:t>
        <a:bodyPr/>
        <a:lstStyle/>
        <a:p>
          <a:endParaRPr lang="en-GB"/>
        </a:p>
      </dgm:t>
    </dgm:pt>
    <dgm:pt modelId="{359E0150-6568-43D8-85F4-0C222B191099}">
      <dgm:prSet phldrT="[Text]"/>
      <dgm:spPr/>
      <dgm:t>
        <a:bodyPr/>
        <a:lstStyle/>
        <a:p>
          <a:r>
            <a:rPr lang="en-GB" dirty="0"/>
            <a:t>2008</a:t>
          </a:r>
        </a:p>
      </dgm:t>
    </dgm:pt>
    <dgm:pt modelId="{79534FE9-8704-4D79-96D2-C4F33F0D0F1C}" type="parTrans" cxnId="{ABED5E3C-8AD6-44EE-8FB1-E9472A1334BE}">
      <dgm:prSet/>
      <dgm:spPr/>
      <dgm:t>
        <a:bodyPr/>
        <a:lstStyle/>
        <a:p>
          <a:endParaRPr lang="en-GB"/>
        </a:p>
      </dgm:t>
    </dgm:pt>
    <dgm:pt modelId="{CB21F9B5-0605-4764-A5F0-AD7D53FA5492}" type="sibTrans" cxnId="{ABED5E3C-8AD6-44EE-8FB1-E9472A1334BE}">
      <dgm:prSet/>
      <dgm:spPr/>
      <dgm:t>
        <a:bodyPr/>
        <a:lstStyle/>
        <a:p>
          <a:endParaRPr lang="en-GB"/>
        </a:p>
      </dgm:t>
    </dgm:pt>
    <dgm:pt modelId="{E7F0C815-4F16-4552-9901-2B2A5E9EC51C}">
      <dgm:prSet phldrT="[Text]"/>
      <dgm:spPr/>
      <dgm:t>
        <a:bodyPr/>
        <a:lstStyle/>
        <a:p>
          <a:r>
            <a:rPr lang="en-GB" dirty="0"/>
            <a:t>ASP.NET WebForms</a:t>
          </a:r>
        </a:p>
      </dgm:t>
    </dgm:pt>
    <dgm:pt modelId="{66498B7E-5313-4FD5-9439-3D9AD00585D6}" type="parTrans" cxnId="{2B01B4AA-5420-4ECF-9C11-29A3DAFD9159}">
      <dgm:prSet/>
      <dgm:spPr/>
      <dgm:t>
        <a:bodyPr/>
        <a:lstStyle/>
        <a:p>
          <a:endParaRPr lang="en-GB"/>
        </a:p>
      </dgm:t>
    </dgm:pt>
    <dgm:pt modelId="{ECC661ED-D349-4595-A087-5F5F9C4EF5E4}" type="sibTrans" cxnId="{2B01B4AA-5420-4ECF-9C11-29A3DAFD9159}">
      <dgm:prSet/>
      <dgm:spPr/>
      <dgm:t>
        <a:bodyPr/>
        <a:lstStyle/>
        <a:p>
          <a:endParaRPr lang="en-GB"/>
        </a:p>
      </dgm:t>
    </dgm:pt>
    <dgm:pt modelId="{1BE386DE-5EF6-4EB6-BB48-23E17C2EDDB9}">
      <dgm:prSet phldrT="[Text]"/>
      <dgm:spPr/>
      <dgm:t>
        <a:bodyPr/>
        <a:lstStyle/>
        <a:p>
          <a:r>
            <a:rPr lang="en-GB" dirty="0"/>
            <a:t>2016</a:t>
          </a:r>
        </a:p>
      </dgm:t>
    </dgm:pt>
    <dgm:pt modelId="{A5EB463E-AA79-4AAF-8C17-6EB0905898E9}" type="parTrans" cxnId="{48CC0688-FE34-4A54-905C-41C3FCBEDABC}">
      <dgm:prSet/>
      <dgm:spPr/>
      <dgm:t>
        <a:bodyPr/>
        <a:lstStyle/>
        <a:p>
          <a:endParaRPr lang="en-GB"/>
        </a:p>
      </dgm:t>
    </dgm:pt>
    <dgm:pt modelId="{90B486DC-F73D-455B-8721-6FE324761B35}" type="sibTrans" cxnId="{48CC0688-FE34-4A54-905C-41C3FCBEDABC}">
      <dgm:prSet/>
      <dgm:spPr/>
      <dgm:t>
        <a:bodyPr/>
        <a:lstStyle/>
        <a:p>
          <a:endParaRPr lang="en-GB"/>
        </a:p>
      </dgm:t>
    </dgm:pt>
    <dgm:pt modelId="{C6275A64-422B-45B6-AA63-7A2348533BBA}">
      <dgm:prSet phldrT="[Text]"/>
      <dgm:spPr/>
      <dgm:t>
        <a:bodyPr/>
        <a:lstStyle/>
        <a:p>
          <a:r>
            <a:rPr lang="en-GB" dirty="0"/>
            <a:t>ASP.NET Core 1.0</a:t>
          </a:r>
        </a:p>
      </dgm:t>
    </dgm:pt>
    <dgm:pt modelId="{E8896E27-457D-4F78-99E7-25B6900845AD}" type="parTrans" cxnId="{E4C9E469-D601-4F9B-AF6C-633376D9A44C}">
      <dgm:prSet/>
      <dgm:spPr/>
      <dgm:t>
        <a:bodyPr/>
        <a:lstStyle/>
        <a:p>
          <a:endParaRPr lang="en-GB"/>
        </a:p>
      </dgm:t>
    </dgm:pt>
    <dgm:pt modelId="{581EF0BA-2495-4646-B694-06ADE8C0EF84}" type="sibTrans" cxnId="{E4C9E469-D601-4F9B-AF6C-633376D9A44C}">
      <dgm:prSet/>
      <dgm:spPr/>
      <dgm:t>
        <a:bodyPr/>
        <a:lstStyle/>
        <a:p>
          <a:endParaRPr lang="en-GB"/>
        </a:p>
      </dgm:t>
    </dgm:pt>
    <dgm:pt modelId="{808D9C91-5012-4DAE-89A8-E38D4E07BA7B}">
      <dgm:prSet phldrT="[Text]"/>
      <dgm:spPr/>
      <dgm:t>
        <a:bodyPr/>
        <a:lstStyle/>
        <a:p>
          <a:r>
            <a:rPr lang="en-GB" dirty="0"/>
            <a:t>2017</a:t>
          </a:r>
        </a:p>
      </dgm:t>
    </dgm:pt>
    <dgm:pt modelId="{CEB664BF-D9A2-41C8-A3D5-492A5BF2514E}" type="parTrans" cxnId="{6DF6FC57-66E4-4C69-90DE-5ACD56910730}">
      <dgm:prSet/>
      <dgm:spPr/>
      <dgm:t>
        <a:bodyPr/>
        <a:lstStyle/>
        <a:p>
          <a:endParaRPr lang="en-GB"/>
        </a:p>
      </dgm:t>
    </dgm:pt>
    <dgm:pt modelId="{B220FF87-CED7-4F4E-8900-8F97F9CD4252}" type="sibTrans" cxnId="{6DF6FC57-66E4-4C69-90DE-5ACD56910730}">
      <dgm:prSet/>
      <dgm:spPr/>
      <dgm:t>
        <a:bodyPr/>
        <a:lstStyle/>
        <a:p>
          <a:endParaRPr lang="en-GB"/>
        </a:p>
      </dgm:t>
    </dgm:pt>
    <dgm:pt modelId="{19B3F4EC-4635-4FB9-B5D0-6179A6F4860B}">
      <dgm:prSet phldrT="[Text]"/>
      <dgm:spPr/>
      <dgm:t>
        <a:bodyPr/>
        <a:lstStyle/>
        <a:p>
          <a:r>
            <a:rPr lang="en-GB" dirty="0"/>
            <a:t>ASP.NET Core 2.0</a:t>
          </a:r>
        </a:p>
      </dgm:t>
    </dgm:pt>
    <dgm:pt modelId="{93993F25-8955-4DBC-936B-EFB763C24B11}" type="parTrans" cxnId="{0FF7691E-6F72-42DF-A2B7-2DFB8F3CDC5D}">
      <dgm:prSet/>
      <dgm:spPr/>
      <dgm:t>
        <a:bodyPr/>
        <a:lstStyle/>
        <a:p>
          <a:endParaRPr lang="en-GB"/>
        </a:p>
      </dgm:t>
    </dgm:pt>
    <dgm:pt modelId="{33C51E1E-D489-4343-A9DF-E18DC23C2FD8}" type="sibTrans" cxnId="{0FF7691E-6F72-42DF-A2B7-2DFB8F3CDC5D}">
      <dgm:prSet/>
      <dgm:spPr/>
      <dgm:t>
        <a:bodyPr/>
        <a:lstStyle/>
        <a:p>
          <a:endParaRPr lang="en-GB"/>
        </a:p>
      </dgm:t>
    </dgm:pt>
    <dgm:pt modelId="{16E903C8-9AD7-4DBF-B27A-7C792818FEBF}">
      <dgm:prSet phldrT="[Text]"/>
      <dgm:spPr/>
      <dgm:t>
        <a:bodyPr/>
        <a:lstStyle/>
        <a:p>
          <a:r>
            <a:rPr lang="en-GB" dirty="0"/>
            <a:t>2018</a:t>
          </a:r>
        </a:p>
      </dgm:t>
    </dgm:pt>
    <dgm:pt modelId="{DCCD6897-C69D-4C0F-BC61-29FB1DDD1A57}" type="parTrans" cxnId="{E9024152-67C7-452D-A7DB-BA7C2E2DD1DB}">
      <dgm:prSet/>
      <dgm:spPr/>
      <dgm:t>
        <a:bodyPr/>
        <a:lstStyle/>
        <a:p>
          <a:endParaRPr lang="en-GB"/>
        </a:p>
      </dgm:t>
    </dgm:pt>
    <dgm:pt modelId="{98E2BD2E-E899-48AD-8397-C549AF2CCA20}" type="sibTrans" cxnId="{E9024152-67C7-452D-A7DB-BA7C2E2DD1DB}">
      <dgm:prSet/>
      <dgm:spPr/>
      <dgm:t>
        <a:bodyPr/>
        <a:lstStyle/>
        <a:p>
          <a:endParaRPr lang="en-GB"/>
        </a:p>
      </dgm:t>
    </dgm:pt>
    <dgm:pt modelId="{FA80CFFD-D4A0-45A6-B439-ADAE73843297}">
      <dgm:prSet phldrT="[Text]"/>
      <dgm:spPr/>
      <dgm:t>
        <a:bodyPr/>
        <a:lstStyle/>
        <a:p>
          <a:r>
            <a:rPr lang="en-GB" dirty="0"/>
            <a:t>ASP.NET Core 2.1 (LTS)</a:t>
          </a:r>
        </a:p>
      </dgm:t>
    </dgm:pt>
    <dgm:pt modelId="{8FF41F44-E831-453B-B283-08E289E93298}" type="parTrans" cxnId="{36CC4641-F90E-4F01-82A8-B82ED13CCF14}">
      <dgm:prSet/>
      <dgm:spPr/>
      <dgm:t>
        <a:bodyPr/>
        <a:lstStyle/>
        <a:p>
          <a:endParaRPr lang="en-GB"/>
        </a:p>
      </dgm:t>
    </dgm:pt>
    <dgm:pt modelId="{E28E8776-7A4E-4B61-B12F-B40E16B550DD}" type="sibTrans" cxnId="{36CC4641-F90E-4F01-82A8-B82ED13CCF14}">
      <dgm:prSet/>
      <dgm:spPr/>
      <dgm:t>
        <a:bodyPr/>
        <a:lstStyle/>
        <a:p>
          <a:endParaRPr lang="en-GB"/>
        </a:p>
      </dgm:t>
    </dgm:pt>
    <dgm:pt modelId="{97A4154C-8FB1-4921-97F6-9120C833057A}">
      <dgm:prSet phldrT="[Text]"/>
      <dgm:spPr/>
      <dgm:t>
        <a:bodyPr/>
        <a:lstStyle/>
        <a:p>
          <a:r>
            <a:rPr lang="en-GB" dirty="0"/>
            <a:t>ASP</a:t>
          </a:r>
        </a:p>
      </dgm:t>
    </dgm:pt>
    <dgm:pt modelId="{2BEACDAE-1CF9-4FA0-94DC-3B177DDEC5F3}" type="sibTrans" cxnId="{67B37BEF-B383-465D-97C1-CBE763309174}">
      <dgm:prSet/>
      <dgm:spPr/>
      <dgm:t>
        <a:bodyPr/>
        <a:lstStyle/>
        <a:p>
          <a:endParaRPr lang="en-GB"/>
        </a:p>
      </dgm:t>
    </dgm:pt>
    <dgm:pt modelId="{96450BAA-7AB0-4015-B9FB-743C176998CF}" type="parTrans" cxnId="{67B37BEF-B383-465D-97C1-CBE763309174}">
      <dgm:prSet/>
      <dgm:spPr/>
      <dgm:t>
        <a:bodyPr/>
        <a:lstStyle/>
        <a:p>
          <a:endParaRPr lang="en-GB"/>
        </a:p>
      </dgm:t>
    </dgm:pt>
    <dgm:pt modelId="{CBC11CD3-D479-42D6-BDE4-CBB52FEFFC8D}">
      <dgm:prSet phldrT="[Text]"/>
      <dgm:spPr/>
      <dgm:t>
        <a:bodyPr/>
        <a:lstStyle/>
        <a:p>
          <a:r>
            <a:rPr lang="en-GB" dirty="0"/>
            <a:t>ASP.NET Core 2.2</a:t>
          </a:r>
        </a:p>
      </dgm:t>
    </dgm:pt>
    <dgm:pt modelId="{7B866152-7CEE-427E-A5AB-3EF660B4363F}" type="parTrans" cxnId="{38F5D2A9-0CD5-487E-B56A-0DCC8371E3DA}">
      <dgm:prSet/>
      <dgm:spPr/>
      <dgm:t>
        <a:bodyPr/>
        <a:lstStyle/>
        <a:p>
          <a:endParaRPr lang="en-GB"/>
        </a:p>
      </dgm:t>
    </dgm:pt>
    <dgm:pt modelId="{84BBDFF3-836A-4C96-8224-0FBE8F7C632C}" type="sibTrans" cxnId="{38F5D2A9-0CD5-487E-B56A-0DCC8371E3DA}">
      <dgm:prSet/>
      <dgm:spPr/>
      <dgm:t>
        <a:bodyPr/>
        <a:lstStyle/>
        <a:p>
          <a:endParaRPr lang="en-GB"/>
        </a:p>
      </dgm:t>
    </dgm:pt>
    <dgm:pt modelId="{43898053-BD69-4BCF-A9F4-00B7BE5C0221}">
      <dgm:prSet phldrT="[Text]"/>
      <dgm:spPr/>
      <dgm:t>
        <a:bodyPr/>
        <a:lstStyle/>
        <a:p>
          <a:r>
            <a:rPr lang="en-GB" dirty="0"/>
            <a:t>2019</a:t>
          </a:r>
        </a:p>
      </dgm:t>
    </dgm:pt>
    <dgm:pt modelId="{76A4562E-3CDB-405A-9194-176EAD86EC69}" type="parTrans" cxnId="{B4D7E214-7905-4D31-840D-D845B372DFB3}">
      <dgm:prSet/>
      <dgm:spPr/>
      <dgm:t>
        <a:bodyPr/>
        <a:lstStyle/>
        <a:p>
          <a:endParaRPr lang="en-GB"/>
        </a:p>
      </dgm:t>
    </dgm:pt>
    <dgm:pt modelId="{04A45748-8280-4FDB-9651-A0F4DB601791}" type="sibTrans" cxnId="{B4D7E214-7905-4D31-840D-D845B372DFB3}">
      <dgm:prSet/>
      <dgm:spPr/>
      <dgm:t>
        <a:bodyPr/>
        <a:lstStyle/>
        <a:p>
          <a:endParaRPr lang="en-GB"/>
        </a:p>
      </dgm:t>
    </dgm:pt>
    <dgm:pt modelId="{B64E5CB4-F908-4C6E-90DD-403685F87DAF}">
      <dgm:prSet phldrT="[Text]"/>
      <dgm:spPr/>
      <dgm:t>
        <a:bodyPr/>
        <a:lstStyle/>
        <a:p>
          <a:r>
            <a:rPr lang="en-GB" dirty="0"/>
            <a:t>ASP.NET Core 3.0</a:t>
          </a:r>
        </a:p>
      </dgm:t>
    </dgm:pt>
    <dgm:pt modelId="{09481B90-E02D-4DB6-BA3C-D20F30102FCB}" type="parTrans" cxnId="{E90E2BEA-5857-4346-A10A-6B514F15A77F}">
      <dgm:prSet/>
      <dgm:spPr/>
      <dgm:t>
        <a:bodyPr/>
        <a:lstStyle/>
        <a:p>
          <a:endParaRPr lang="en-GB"/>
        </a:p>
      </dgm:t>
    </dgm:pt>
    <dgm:pt modelId="{FF13F946-ECBA-4876-A83C-D0DA9A2164FF}" type="sibTrans" cxnId="{E90E2BEA-5857-4346-A10A-6B514F15A77F}">
      <dgm:prSet/>
      <dgm:spPr/>
      <dgm:t>
        <a:bodyPr/>
        <a:lstStyle/>
        <a:p>
          <a:endParaRPr lang="en-GB"/>
        </a:p>
      </dgm:t>
    </dgm:pt>
    <dgm:pt modelId="{92D675D1-5110-45E6-92D2-827F42698AB6}">
      <dgm:prSet phldrT="[Text]"/>
      <dgm:spPr/>
      <dgm:t>
        <a:bodyPr/>
        <a:lstStyle/>
        <a:p>
          <a:r>
            <a:rPr lang="en-GB" dirty="0"/>
            <a:t>2020</a:t>
          </a:r>
        </a:p>
      </dgm:t>
    </dgm:pt>
    <dgm:pt modelId="{17560756-550A-4D9D-9829-4687DE76C7AD}" type="parTrans" cxnId="{0B2E9D28-A90C-41C6-B926-9EA25BFCCBB8}">
      <dgm:prSet/>
      <dgm:spPr/>
      <dgm:t>
        <a:bodyPr/>
        <a:lstStyle/>
        <a:p>
          <a:endParaRPr lang="en-GB"/>
        </a:p>
      </dgm:t>
    </dgm:pt>
    <dgm:pt modelId="{3812D98D-072F-4E35-B57E-71DCF4A837B0}" type="sibTrans" cxnId="{0B2E9D28-A90C-41C6-B926-9EA25BFCCBB8}">
      <dgm:prSet/>
      <dgm:spPr/>
      <dgm:t>
        <a:bodyPr/>
        <a:lstStyle/>
        <a:p>
          <a:endParaRPr lang="en-GB"/>
        </a:p>
      </dgm:t>
    </dgm:pt>
    <dgm:pt modelId="{985CB337-B5FA-4827-83B0-0BD5E2832E0E}">
      <dgm:prSet phldrT="[Text]"/>
      <dgm:spPr/>
      <dgm:t>
        <a:bodyPr/>
        <a:lstStyle/>
        <a:p>
          <a:r>
            <a:rPr lang="en-GB" dirty="0"/>
            <a:t>ASP.NET Core 5.0</a:t>
          </a:r>
        </a:p>
      </dgm:t>
    </dgm:pt>
    <dgm:pt modelId="{DD782A26-DDE9-4E8E-A9C8-1A49F40C72A7}" type="parTrans" cxnId="{ACB56F57-CC3D-4140-97DC-86F5693BC279}">
      <dgm:prSet/>
      <dgm:spPr/>
      <dgm:t>
        <a:bodyPr/>
        <a:lstStyle/>
        <a:p>
          <a:endParaRPr lang="en-GB"/>
        </a:p>
      </dgm:t>
    </dgm:pt>
    <dgm:pt modelId="{4B89B69B-92E1-4A41-8F65-0430FC243CC8}" type="sibTrans" cxnId="{ACB56F57-CC3D-4140-97DC-86F5693BC279}">
      <dgm:prSet/>
      <dgm:spPr/>
      <dgm:t>
        <a:bodyPr/>
        <a:lstStyle/>
        <a:p>
          <a:endParaRPr lang="en-GB"/>
        </a:p>
      </dgm:t>
    </dgm:pt>
    <dgm:pt modelId="{C73707EE-8A09-415A-A8A0-8661811A5F2E}">
      <dgm:prSet phldrT="[Text]"/>
      <dgm:spPr/>
      <dgm:t>
        <a:bodyPr/>
        <a:lstStyle/>
        <a:p>
          <a:r>
            <a:rPr lang="en-GB" dirty="0"/>
            <a:t>ASP.NET Core 3.1 (LTS)</a:t>
          </a:r>
        </a:p>
      </dgm:t>
    </dgm:pt>
    <dgm:pt modelId="{76AB3F56-BD21-4D41-892B-1E3EA6F74A6B}" type="parTrans" cxnId="{A2485E7C-7E5A-4D43-9D6D-9D9DEB58E427}">
      <dgm:prSet/>
      <dgm:spPr/>
      <dgm:t>
        <a:bodyPr/>
        <a:lstStyle/>
        <a:p>
          <a:endParaRPr lang="en-GB"/>
        </a:p>
      </dgm:t>
    </dgm:pt>
    <dgm:pt modelId="{F0D6BB18-E8E5-498B-9988-12B71B64FF40}" type="sibTrans" cxnId="{A2485E7C-7E5A-4D43-9D6D-9D9DEB58E427}">
      <dgm:prSet/>
      <dgm:spPr/>
      <dgm:t>
        <a:bodyPr/>
        <a:lstStyle/>
        <a:p>
          <a:endParaRPr lang="en-GB"/>
        </a:p>
      </dgm:t>
    </dgm:pt>
    <dgm:pt modelId="{4EF4BDA0-97E2-40F6-AA5E-FA3499D00BF6}">
      <dgm:prSet phldrT="[Text]"/>
      <dgm:spPr/>
      <dgm:t>
        <a:bodyPr/>
        <a:lstStyle/>
        <a:p>
          <a:r>
            <a:rPr lang="en-GB" dirty="0"/>
            <a:t>2021</a:t>
          </a:r>
        </a:p>
      </dgm:t>
    </dgm:pt>
    <dgm:pt modelId="{64AD353E-0470-4301-8A6A-667DD389677F}" type="parTrans" cxnId="{12C6122A-46A7-4F5D-8B15-72D98AD9DA6D}">
      <dgm:prSet/>
      <dgm:spPr/>
      <dgm:t>
        <a:bodyPr/>
        <a:lstStyle/>
        <a:p>
          <a:endParaRPr lang="en-MT"/>
        </a:p>
      </dgm:t>
    </dgm:pt>
    <dgm:pt modelId="{5B568F7F-85A0-4142-83BB-CEF14314BFB6}" type="sibTrans" cxnId="{12C6122A-46A7-4F5D-8B15-72D98AD9DA6D}">
      <dgm:prSet/>
      <dgm:spPr/>
      <dgm:t>
        <a:bodyPr/>
        <a:lstStyle/>
        <a:p>
          <a:endParaRPr lang="en-MT"/>
        </a:p>
      </dgm:t>
    </dgm:pt>
    <dgm:pt modelId="{B257D6DB-642B-4DF1-818A-19ABA44C567B}">
      <dgm:prSet phldrT="[Text]"/>
      <dgm:spPr/>
      <dgm:t>
        <a:bodyPr/>
        <a:lstStyle/>
        <a:p>
          <a:r>
            <a:rPr lang="en-GB" dirty="0"/>
            <a:t>ASP.NET Core 6.0 (LTS)</a:t>
          </a:r>
        </a:p>
      </dgm:t>
    </dgm:pt>
    <dgm:pt modelId="{CDC233BE-6C29-43FB-A819-162713B21812}" type="parTrans" cxnId="{E4C65D3F-2B88-4686-9A6E-87995FE49743}">
      <dgm:prSet/>
      <dgm:spPr/>
      <dgm:t>
        <a:bodyPr/>
        <a:lstStyle/>
        <a:p>
          <a:endParaRPr lang="en-MT"/>
        </a:p>
      </dgm:t>
    </dgm:pt>
    <dgm:pt modelId="{80502569-3B7F-4F99-8CAB-671A923831CF}" type="sibTrans" cxnId="{E4C65D3F-2B88-4686-9A6E-87995FE49743}">
      <dgm:prSet/>
      <dgm:spPr/>
      <dgm:t>
        <a:bodyPr/>
        <a:lstStyle/>
        <a:p>
          <a:endParaRPr lang="en-MT"/>
        </a:p>
      </dgm:t>
    </dgm:pt>
    <dgm:pt modelId="{82685344-0020-428E-B419-EEA018553156}">
      <dgm:prSet phldrT="[Text]"/>
      <dgm:spPr/>
      <dgm:t>
        <a:bodyPr/>
        <a:lstStyle/>
        <a:p>
          <a:r>
            <a:rPr lang="en-GB" dirty="0"/>
            <a:t>2022</a:t>
          </a:r>
        </a:p>
      </dgm:t>
    </dgm:pt>
    <dgm:pt modelId="{E092101C-FB4D-4D4E-9A29-480EB2544020}" type="parTrans" cxnId="{9643D5E0-E02F-4EC7-A088-E095E1C691AC}">
      <dgm:prSet/>
      <dgm:spPr/>
      <dgm:t>
        <a:bodyPr/>
        <a:lstStyle/>
        <a:p>
          <a:endParaRPr lang="en-MT"/>
        </a:p>
      </dgm:t>
    </dgm:pt>
    <dgm:pt modelId="{8D449F66-3112-47FF-9C3E-8A96FB6F2EB4}" type="sibTrans" cxnId="{9643D5E0-E02F-4EC7-A088-E095E1C691AC}">
      <dgm:prSet/>
      <dgm:spPr/>
      <dgm:t>
        <a:bodyPr/>
        <a:lstStyle/>
        <a:p>
          <a:endParaRPr lang="en-MT"/>
        </a:p>
      </dgm:t>
    </dgm:pt>
    <dgm:pt modelId="{2F8B72ED-0A68-4370-9E55-BB5FF0D8AD02}">
      <dgm:prSet phldrT="[Text]"/>
      <dgm:spPr/>
      <dgm:t>
        <a:bodyPr/>
        <a:lstStyle/>
        <a:p>
          <a:r>
            <a:rPr lang="en-GB" dirty="0"/>
            <a:t>ASP.NET Core 7.0</a:t>
          </a:r>
        </a:p>
      </dgm:t>
    </dgm:pt>
    <dgm:pt modelId="{97140BC6-3533-4FE1-B3A7-D1F851ED8492}" type="parTrans" cxnId="{4E838FF6-9DF1-4C57-885F-3AF1B4E0ED80}">
      <dgm:prSet/>
      <dgm:spPr/>
      <dgm:t>
        <a:bodyPr/>
        <a:lstStyle/>
        <a:p>
          <a:endParaRPr lang="en-MT"/>
        </a:p>
      </dgm:t>
    </dgm:pt>
    <dgm:pt modelId="{83BD0D9C-079D-465C-B31F-F586FED8BE32}" type="sibTrans" cxnId="{4E838FF6-9DF1-4C57-885F-3AF1B4E0ED80}">
      <dgm:prSet/>
      <dgm:spPr/>
      <dgm:t>
        <a:bodyPr/>
        <a:lstStyle/>
        <a:p>
          <a:endParaRPr lang="en-MT"/>
        </a:p>
      </dgm:t>
    </dgm:pt>
    <dgm:pt modelId="{9F590886-4508-4330-A2B2-75C6D378B9E1}">
      <dgm:prSet phldrT="[Text]"/>
      <dgm:spPr/>
      <dgm:t>
        <a:bodyPr/>
        <a:lstStyle/>
        <a:p>
          <a:r>
            <a:rPr lang="en-GB" dirty="0"/>
            <a:t>2023</a:t>
          </a:r>
        </a:p>
      </dgm:t>
    </dgm:pt>
    <dgm:pt modelId="{5A1AB815-06A3-4DAA-AC3D-A4F2DBFFB599}" type="parTrans" cxnId="{E287A8B8-45BA-4948-A5A5-BB0950B0EB7F}">
      <dgm:prSet/>
      <dgm:spPr/>
      <dgm:t>
        <a:bodyPr/>
        <a:lstStyle/>
        <a:p>
          <a:endParaRPr lang="en-MT"/>
        </a:p>
      </dgm:t>
    </dgm:pt>
    <dgm:pt modelId="{CE06150B-BD40-4C98-BC12-22984178C6D4}" type="sibTrans" cxnId="{E287A8B8-45BA-4948-A5A5-BB0950B0EB7F}">
      <dgm:prSet/>
      <dgm:spPr/>
      <dgm:t>
        <a:bodyPr/>
        <a:lstStyle/>
        <a:p>
          <a:endParaRPr lang="en-MT"/>
        </a:p>
      </dgm:t>
    </dgm:pt>
    <dgm:pt modelId="{B31454A3-9922-4211-B344-57F148A8BDEE}">
      <dgm:prSet phldrT="[Text]"/>
      <dgm:spPr/>
      <dgm:t>
        <a:bodyPr/>
        <a:lstStyle/>
        <a:p>
          <a:r>
            <a:rPr lang="en-GB" dirty="0"/>
            <a:t>ASP.NET Core 8.0</a:t>
          </a:r>
        </a:p>
      </dgm:t>
    </dgm:pt>
    <dgm:pt modelId="{00BD0CDC-3CD4-4389-9972-03A706BC4DDD}" type="parTrans" cxnId="{F30B0CDF-C840-421E-AE1F-E52E53316094}">
      <dgm:prSet/>
      <dgm:spPr/>
      <dgm:t>
        <a:bodyPr/>
        <a:lstStyle/>
        <a:p>
          <a:endParaRPr lang="en-MT"/>
        </a:p>
      </dgm:t>
    </dgm:pt>
    <dgm:pt modelId="{CEC90966-E103-4AD0-9440-F3C2C934C529}" type="sibTrans" cxnId="{F30B0CDF-C840-421E-AE1F-E52E53316094}">
      <dgm:prSet/>
      <dgm:spPr/>
      <dgm:t>
        <a:bodyPr/>
        <a:lstStyle/>
        <a:p>
          <a:endParaRPr lang="en-MT"/>
        </a:p>
      </dgm:t>
    </dgm:pt>
    <dgm:pt modelId="{08CD0FAF-AACA-4E89-9DD8-85DCF49A6EB1}" type="pres">
      <dgm:prSet presAssocID="{A3D78F6A-C3F7-4AA7-AF0C-57A9E9AA317C}" presName="Name0" presStyleCnt="0">
        <dgm:presLayoutVars>
          <dgm:dir/>
          <dgm:animLvl val="lvl"/>
          <dgm:resizeHandles val="exact"/>
        </dgm:presLayoutVars>
      </dgm:prSet>
      <dgm:spPr/>
    </dgm:pt>
    <dgm:pt modelId="{D6AAFA6B-0581-46F6-BA52-427CE741DCB3}" type="pres">
      <dgm:prSet presAssocID="{DDFF52B6-950D-4577-A668-9DEE39F8F7BD}" presName="vertFlow" presStyleCnt="0"/>
      <dgm:spPr/>
    </dgm:pt>
    <dgm:pt modelId="{4640CB95-63AE-4823-B144-7F9AFFA78FD1}" type="pres">
      <dgm:prSet presAssocID="{DDFF52B6-950D-4577-A668-9DEE39F8F7BD}" presName="header" presStyleLbl="node1" presStyleIdx="0" presStyleCnt="11"/>
      <dgm:spPr/>
    </dgm:pt>
    <dgm:pt modelId="{755A6EB4-A0E4-4DB6-9E34-87B8ACC02646}" type="pres">
      <dgm:prSet presAssocID="{96450BAA-7AB0-4015-B9FB-743C176998CF}" presName="parTrans" presStyleLbl="sibTrans2D1" presStyleIdx="0" presStyleCnt="13"/>
      <dgm:spPr/>
    </dgm:pt>
    <dgm:pt modelId="{A8C3263C-2A96-4309-90B9-2277E2DEB056}" type="pres">
      <dgm:prSet presAssocID="{97A4154C-8FB1-4921-97F6-9120C833057A}" presName="child" presStyleLbl="alignAccFollowNode1" presStyleIdx="0" presStyleCnt="13">
        <dgm:presLayoutVars>
          <dgm:chMax val="0"/>
          <dgm:bulletEnabled val="1"/>
        </dgm:presLayoutVars>
      </dgm:prSet>
      <dgm:spPr/>
    </dgm:pt>
    <dgm:pt modelId="{048D54C8-E6D3-4595-A63D-943DCEFB14C4}" type="pres">
      <dgm:prSet presAssocID="{DDFF52B6-950D-4577-A668-9DEE39F8F7BD}" presName="hSp" presStyleCnt="0"/>
      <dgm:spPr/>
    </dgm:pt>
    <dgm:pt modelId="{9BA184B7-17C6-492B-A46A-3815FF5BCB9E}" type="pres">
      <dgm:prSet presAssocID="{DBFC759C-ABC4-495D-92C3-8CB699D3D901}" presName="vertFlow" presStyleCnt="0"/>
      <dgm:spPr/>
    </dgm:pt>
    <dgm:pt modelId="{2FC4CFEE-8FDC-4B31-B882-C67E4FDA404B}" type="pres">
      <dgm:prSet presAssocID="{DBFC759C-ABC4-495D-92C3-8CB699D3D901}" presName="header" presStyleLbl="node1" presStyleIdx="1" presStyleCnt="11"/>
      <dgm:spPr/>
    </dgm:pt>
    <dgm:pt modelId="{6492C199-1AF3-49A2-A33C-6DC120057EF6}" type="pres">
      <dgm:prSet presAssocID="{66498B7E-5313-4FD5-9439-3D9AD00585D6}" presName="parTrans" presStyleLbl="sibTrans2D1" presStyleIdx="1" presStyleCnt="13"/>
      <dgm:spPr/>
    </dgm:pt>
    <dgm:pt modelId="{AA770B6C-7F1B-43CC-B582-B234B192DADD}" type="pres">
      <dgm:prSet presAssocID="{E7F0C815-4F16-4552-9901-2B2A5E9EC51C}" presName="child" presStyleLbl="alignAccFollowNode1" presStyleIdx="1" presStyleCnt="13">
        <dgm:presLayoutVars>
          <dgm:chMax val="0"/>
          <dgm:bulletEnabled val="1"/>
        </dgm:presLayoutVars>
      </dgm:prSet>
      <dgm:spPr/>
    </dgm:pt>
    <dgm:pt modelId="{BBDF311D-C7B2-4EDC-90D9-2D087CE4A2FF}" type="pres">
      <dgm:prSet presAssocID="{DBFC759C-ABC4-495D-92C3-8CB699D3D901}" presName="hSp" presStyleCnt="0"/>
      <dgm:spPr/>
    </dgm:pt>
    <dgm:pt modelId="{ACAD8414-561F-4319-9746-494D9EB5B2D1}" type="pres">
      <dgm:prSet presAssocID="{359E0150-6568-43D8-85F4-0C222B191099}" presName="vertFlow" presStyleCnt="0"/>
      <dgm:spPr/>
    </dgm:pt>
    <dgm:pt modelId="{A644C25A-A34A-48AE-B6EA-FCDFB3A6C229}" type="pres">
      <dgm:prSet presAssocID="{359E0150-6568-43D8-85F4-0C222B191099}" presName="header" presStyleLbl="node1" presStyleIdx="2" presStyleCnt="11"/>
      <dgm:spPr/>
    </dgm:pt>
    <dgm:pt modelId="{2731C2B9-23D7-492E-8D73-73171A6130B7}" type="pres">
      <dgm:prSet presAssocID="{657A776A-F180-41A2-B452-D5032E02E259}" presName="parTrans" presStyleLbl="sibTrans2D1" presStyleIdx="2" presStyleCnt="13"/>
      <dgm:spPr/>
    </dgm:pt>
    <dgm:pt modelId="{C02A9533-C8BF-4292-B16A-1EDB298442E5}" type="pres">
      <dgm:prSet presAssocID="{106467BC-BB8C-4632-874D-10B4E9E1BEA6}" presName="child" presStyleLbl="alignAccFollowNode1" presStyleIdx="2" presStyleCnt="13">
        <dgm:presLayoutVars>
          <dgm:chMax val="0"/>
          <dgm:bulletEnabled val="1"/>
        </dgm:presLayoutVars>
      </dgm:prSet>
      <dgm:spPr/>
    </dgm:pt>
    <dgm:pt modelId="{C7E5D4A5-250D-465D-B5C1-BEB3D0C2C310}" type="pres">
      <dgm:prSet presAssocID="{359E0150-6568-43D8-85F4-0C222B191099}" presName="hSp" presStyleCnt="0"/>
      <dgm:spPr/>
    </dgm:pt>
    <dgm:pt modelId="{0EEECFB1-5996-4343-B8AD-98FEC490AAD3}" type="pres">
      <dgm:prSet presAssocID="{1BE386DE-5EF6-4EB6-BB48-23E17C2EDDB9}" presName="vertFlow" presStyleCnt="0"/>
      <dgm:spPr/>
    </dgm:pt>
    <dgm:pt modelId="{710ACFD3-16F1-41B4-A365-74BE60B74B7D}" type="pres">
      <dgm:prSet presAssocID="{1BE386DE-5EF6-4EB6-BB48-23E17C2EDDB9}" presName="header" presStyleLbl="node1" presStyleIdx="3" presStyleCnt="11"/>
      <dgm:spPr/>
    </dgm:pt>
    <dgm:pt modelId="{2C8B701D-7089-46F9-8AE7-F25795608D12}" type="pres">
      <dgm:prSet presAssocID="{E8896E27-457D-4F78-99E7-25B6900845AD}" presName="parTrans" presStyleLbl="sibTrans2D1" presStyleIdx="3" presStyleCnt="13"/>
      <dgm:spPr/>
    </dgm:pt>
    <dgm:pt modelId="{417B47A1-F272-4ECF-A408-AEC9EB0C633C}" type="pres">
      <dgm:prSet presAssocID="{C6275A64-422B-45B6-AA63-7A2348533BBA}" presName="child" presStyleLbl="alignAccFollowNode1" presStyleIdx="3" presStyleCnt="13">
        <dgm:presLayoutVars>
          <dgm:chMax val="0"/>
          <dgm:bulletEnabled val="1"/>
        </dgm:presLayoutVars>
      </dgm:prSet>
      <dgm:spPr/>
    </dgm:pt>
    <dgm:pt modelId="{D490BCE6-5271-4695-BEAF-CCD26DFA6159}" type="pres">
      <dgm:prSet presAssocID="{1BE386DE-5EF6-4EB6-BB48-23E17C2EDDB9}" presName="hSp" presStyleCnt="0"/>
      <dgm:spPr/>
    </dgm:pt>
    <dgm:pt modelId="{63D04396-B94A-424F-8D35-0AA8DC5E1885}" type="pres">
      <dgm:prSet presAssocID="{808D9C91-5012-4DAE-89A8-E38D4E07BA7B}" presName="vertFlow" presStyleCnt="0"/>
      <dgm:spPr/>
    </dgm:pt>
    <dgm:pt modelId="{80D80F6B-83DA-4C5E-AB31-676E30A62703}" type="pres">
      <dgm:prSet presAssocID="{808D9C91-5012-4DAE-89A8-E38D4E07BA7B}" presName="header" presStyleLbl="node1" presStyleIdx="4" presStyleCnt="11"/>
      <dgm:spPr/>
    </dgm:pt>
    <dgm:pt modelId="{AA5B2FBE-E013-431C-9230-849756E6B072}" type="pres">
      <dgm:prSet presAssocID="{93993F25-8955-4DBC-936B-EFB763C24B11}" presName="parTrans" presStyleLbl="sibTrans2D1" presStyleIdx="4" presStyleCnt="13"/>
      <dgm:spPr/>
    </dgm:pt>
    <dgm:pt modelId="{15C32981-5C65-4DF6-93E9-A4D9E8ED31DF}" type="pres">
      <dgm:prSet presAssocID="{19B3F4EC-4635-4FB9-B5D0-6179A6F4860B}" presName="child" presStyleLbl="alignAccFollowNode1" presStyleIdx="4" presStyleCnt="13">
        <dgm:presLayoutVars>
          <dgm:chMax val="0"/>
          <dgm:bulletEnabled val="1"/>
        </dgm:presLayoutVars>
      </dgm:prSet>
      <dgm:spPr/>
    </dgm:pt>
    <dgm:pt modelId="{631638C2-4A78-4465-92AF-8730B6E533FB}" type="pres">
      <dgm:prSet presAssocID="{808D9C91-5012-4DAE-89A8-E38D4E07BA7B}" presName="hSp" presStyleCnt="0"/>
      <dgm:spPr/>
    </dgm:pt>
    <dgm:pt modelId="{6B9E8C30-2F3B-45F9-B34B-95FE94DCF158}" type="pres">
      <dgm:prSet presAssocID="{16E903C8-9AD7-4DBF-B27A-7C792818FEBF}" presName="vertFlow" presStyleCnt="0"/>
      <dgm:spPr/>
    </dgm:pt>
    <dgm:pt modelId="{78CB6435-D96D-4523-A2DF-097D014158DB}" type="pres">
      <dgm:prSet presAssocID="{16E903C8-9AD7-4DBF-B27A-7C792818FEBF}" presName="header" presStyleLbl="node1" presStyleIdx="5" presStyleCnt="11"/>
      <dgm:spPr/>
    </dgm:pt>
    <dgm:pt modelId="{999FD482-9775-49E6-BBB6-3F83A71CCB1B}" type="pres">
      <dgm:prSet presAssocID="{8FF41F44-E831-453B-B283-08E289E93298}" presName="parTrans" presStyleLbl="sibTrans2D1" presStyleIdx="5" presStyleCnt="13"/>
      <dgm:spPr/>
    </dgm:pt>
    <dgm:pt modelId="{39FBC1AF-F596-40F2-AA22-1CF1F811140C}" type="pres">
      <dgm:prSet presAssocID="{FA80CFFD-D4A0-45A6-B439-ADAE73843297}" presName="child" presStyleLbl="alignAccFollowNode1" presStyleIdx="5" presStyleCnt="13">
        <dgm:presLayoutVars>
          <dgm:chMax val="0"/>
          <dgm:bulletEnabled val="1"/>
        </dgm:presLayoutVars>
      </dgm:prSet>
      <dgm:spPr/>
    </dgm:pt>
    <dgm:pt modelId="{7E28110E-C535-4B8C-8EBF-01B985A6811B}" type="pres">
      <dgm:prSet presAssocID="{E28E8776-7A4E-4B61-B12F-B40E16B550DD}" presName="sibTrans" presStyleLbl="sibTrans2D1" presStyleIdx="6" presStyleCnt="13"/>
      <dgm:spPr/>
    </dgm:pt>
    <dgm:pt modelId="{76D43047-9148-4D97-9972-8ECA09D99680}" type="pres">
      <dgm:prSet presAssocID="{CBC11CD3-D479-42D6-BDE4-CBB52FEFFC8D}" presName="child" presStyleLbl="alignAccFollowNode1" presStyleIdx="6" presStyleCnt="13">
        <dgm:presLayoutVars>
          <dgm:chMax val="0"/>
          <dgm:bulletEnabled val="1"/>
        </dgm:presLayoutVars>
      </dgm:prSet>
      <dgm:spPr/>
    </dgm:pt>
    <dgm:pt modelId="{71D9681C-5FFD-45DA-90F9-5C45B5C188F0}" type="pres">
      <dgm:prSet presAssocID="{16E903C8-9AD7-4DBF-B27A-7C792818FEBF}" presName="hSp" presStyleCnt="0"/>
      <dgm:spPr/>
    </dgm:pt>
    <dgm:pt modelId="{1F394C39-3C4A-425A-BC5E-5997EF67BC3C}" type="pres">
      <dgm:prSet presAssocID="{43898053-BD69-4BCF-A9F4-00B7BE5C0221}" presName="vertFlow" presStyleCnt="0"/>
      <dgm:spPr/>
    </dgm:pt>
    <dgm:pt modelId="{07F27B24-4607-46B1-A3B3-873A3966AC2A}" type="pres">
      <dgm:prSet presAssocID="{43898053-BD69-4BCF-A9F4-00B7BE5C0221}" presName="header" presStyleLbl="node1" presStyleIdx="6" presStyleCnt="11"/>
      <dgm:spPr/>
    </dgm:pt>
    <dgm:pt modelId="{E1B28848-1046-41AF-B3ED-C56C4D7130AD}" type="pres">
      <dgm:prSet presAssocID="{09481B90-E02D-4DB6-BA3C-D20F30102FCB}" presName="parTrans" presStyleLbl="sibTrans2D1" presStyleIdx="7" presStyleCnt="13"/>
      <dgm:spPr/>
    </dgm:pt>
    <dgm:pt modelId="{69AEC1B4-0BCC-4B04-B14E-512EBA0FEA3D}" type="pres">
      <dgm:prSet presAssocID="{B64E5CB4-F908-4C6E-90DD-403685F87DAF}" presName="child" presStyleLbl="alignAccFollowNode1" presStyleIdx="7" presStyleCnt="13">
        <dgm:presLayoutVars>
          <dgm:chMax val="0"/>
          <dgm:bulletEnabled val="1"/>
        </dgm:presLayoutVars>
      </dgm:prSet>
      <dgm:spPr/>
    </dgm:pt>
    <dgm:pt modelId="{4E217191-2A94-4CF9-A00F-AFFD51345322}" type="pres">
      <dgm:prSet presAssocID="{FF13F946-ECBA-4876-A83C-D0DA9A2164FF}" presName="sibTrans" presStyleLbl="sibTrans2D1" presStyleIdx="8" presStyleCnt="13"/>
      <dgm:spPr/>
    </dgm:pt>
    <dgm:pt modelId="{F6996934-2396-412D-95A8-DEE2BA1E02F2}" type="pres">
      <dgm:prSet presAssocID="{C73707EE-8A09-415A-A8A0-8661811A5F2E}" presName="child" presStyleLbl="alignAccFollowNode1" presStyleIdx="8" presStyleCnt="13">
        <dgm:presLayoutVars>
          <dgm:chMax val="0"/>
          <dgm:bulletEnabled val="1"/>
        </dgm:presLayoutVars>
      </dgm:prSet>
      <dgm:spPr/>
    </dgm:pt>
    <dgm:pt modelId="{19EB382C-92A6-420F-A7AC-12C3446F42BB}" type="pres">
      <dgm:prSet presAssocID="{43898053-BD69-4BCF-A9F4-00B7BE5C0221}" presName="hSp" presStyleCnt="0"/>
      <dgm:spPr/>
    </dgm:pt>
    <dgm:pt modelId="{E31C5BC5-E41C-4CB8-ACC2-363856F2573F}" type="pres">
      <dgm:prSet presAssocID="{92D675D1-5110-45E6-92D2-827F42698AB6}" presName="vertFlow" presStyleCnt="0"/>
      <dgm:spPr/>
    </dgm:pt>
    <dgm:pt modelId="{0940D2D2-9E0E-4722-AC91-1852A03898D0}" type="pres">
      <dgm:prSet presAssocID="{92D675D1-5110-45E6-92D2-827F42698AB6}" presName="header" presStyleLbl="node1" presStyleIdx="7" presStyleCnt="11"/>
      <dgm:spPr/>
    </dgm:pt>
    <dgm:pt modelId="{16AD1B0E-9200-43EA-8881-59C404C6064D}" type="pres">
      <dgm:prSet presAssocID="{DD782A26-DDE9-4E8E-A9C8-1A49F40C72A7}" presName="parTrans" presStyleLbl="sibTrans2D1" presStyleIdx="9" presStyleCnt="13"/>
      <dgm:spPr/>
    </dgm:pt>
    <dgm:pt modelId="{5B7254FA-C072-4850-8E9D-9C1525E424CF}" type="pres">
      <dgm:prSet presAssocID="{985CB337-B5FA-4827-83B0-0BD5E2832E0E}" presName="child" presStyleLbl="alignAccFollowNode1" presStyleIdx="9" presStyleCnt="13">
        <dgm:presLayoutVars>
          <dgm:chMax val="0"/>
          <dgm:bulletEnabled val="1"/>
        </dgm:presLayoutVars>
      </dgm:prSet>
      <dgm:spPr/>
    </dgm:pt>
    <dgm:pt modelId="{1AE50F73-2995-4C29-914E-C4D523297EC2}" type="pres">
      <dgm:prSet presAssocID="{92D675D1-5110-45E6-92D2-827F42698AB6}" presName="hSp" presStyleCnt="0"/>
      <dgm:spPr/>
    </dgm:pt>
    <dgm:pt modelId="{6485FB32-C91E-40C7-84D5-A2FF36B67F15}" type="pres">
      <dgm:prSet presAssocID="{4EF4BDA0-97E2-40F6-AA5E-FA3499D00BF6}" presName="vertFlow" presStyleCnt="0"/>
      <dgm:spPr/>
    </dgm:pt>
    <dgm:pt modelId="{C6846D98-6396-440D-83A9-08EFE10F0C5C}" type="pres">
      <dgm:prSet presAssocID="{4EF4BDA0-97E2-40F6-AA5E-FA3499D00BF6}" presName="header" presStyleLbl="node1" presStyleIdx="8" presStyleCnt="11"/>
      <dgm:spPr/>
    </dgm:pt>
    <dgm:pt modelId="{627409D3-FE97-4F76-BFB3-E6426E3F0FC6}" type="pres">
      <dgm:prSet presAssocID="{CDC233BE-6C29-43FB-A819-162713B21812}" presName="parTrans" presStyleLbl="sibTrans2D1" presStyleIdx="10" presStyleCnt="13"/>
      <dgm:spPr/>
    </dgm:pt>
    <dgm:pt modelId="{C4E7E73E-C00F-464E-BDE6-3C75E1E9A605}" type="pres">
      <dgm:prSet presAssocID="{B257D6DB-642B-4DF1-818A-19ABA44C567B}" presName="child" presStyleLbl="alignAccFollowNode1" presStyleIdx="10" presStyleCnt="13">
        <dgm:presLayoutVars>
          <dgm:chMax val="0"/>
          <dgm:bulletEnabled val="1"/>
        </dgm:presLayoutVars>
      </dgm:prSet>
      <dgm:spPr/>
    </dgm:pt>
    <dgm:pt modelId="{57831A33-9674-4287-B47D-A55B25568B4C}" type="pres">
      <dgm:prSet presAssocID="{4EF4BDA0-97E2-40F6-AA5E-FA3499D00BF6}" presName="hSp" presStyleCnt="0"/>
      <dgm:spPr/>
    </dgm:pt>
    <dgm:pt modelId="{F39C143F-3F47-4940-BCA4-E9167FECA305}" type="pres">
      <dgm:prSet presAssocID="{82685344-0020-428E-B419-EEA018553156}" presName="vertFlow" presStyleCnt="0"/>
      <dgm:spPr/>
    </dgm:pt>
    <dgm:pt modelId="{06485636-518A-4A2A-8870-1FD0922AD4F8}" type="pres">
      <dgm:prSet presAssocID="{82685344-0020-428E-B419-EEA018553156}" presName="header" presStyleLbl="node1" presStyleIdx="9" presStyleCnt="11"/>
      <dgm:spPr/>
    </dgm:pt>
    <dgm:pt modelId="{051C73D3-B90C-48F8-9DAD-9CE55DB41C36}" type="pres">
      <dgm:prSet presAssocID="{97140BC6-3533-4FE1-B3A7-D1F851ED8492}" presName="parTrans" presStyleLbl="sibTrans2D1" presStyleIdx="11" presStyleCnt="13"/>
      <dgm:spPr/>
    </dgm:pt>
    <dgm:pt modelId="{FBFADF46-39C6-4173-9736-68DB756FC192}" type="pres">
      <dgm:prSet presAssocID="{2F8B72ED-0A68-4370-9E55-BB5FF0D8AD02}" presName="child" presStyleLbl="alignAccFollowNode1" presStyleIdx="11" presStyleCnt="13">
        <dgm:presLayoutVars>
          <dgm:chMax val="0"/>
          <dgm:bulletEnabled val="1"/>
        </dgm:presLayoutVars>
      </dgm:prSet>
      <dgm:spPr/>
    </dgm:pt>
    <dgm:pt modelId="{A753E8D2-5B64-42E4-A072-FDC9F1E49203}" type="pres">
      <dgm:prSet presAssocID="{82685344-0020-428E-B419-EEA018553156}" presName="hSp" presStyleCnt="0"/>
      <dgm:spPr/>
    </dgm:pt>
    <dgm:pt modelId="{2ABEC726-EE01-4358-8044-BC60DB271717}" type="pres">
      <dgm:prSet presAssocID="{9F590886-4508-4330-A2B2-75C6D378B9E1}" presName="vertFlow" presStyleCnt="0"/>
      <dgm:spPr/>
    </dgm:pt>
    <dgm:pt modelId="{C0EDD9D1-0FFD-471C-9468-475EB06091ED}" type="pres">
      <dgm:prSet presAssocID="{9F590886-4508-4330-A2B2-75C6D378B9E1}" presName="header" presStyleLbl="node1" presStyleIdx="10" presStyleCnt="11"/>
      <dgm:spPr/>
    </dgm:pt>
    <dgm:pt modelId="{D9578B9D-8B61-4E13-B909-7B40524460AB}" type="pres">
      <dgm:prSet presAssocID="{00BD0CDC-3CD4-4389-9972-03A706BC4DDD}" presName="parTrans" presStyleLbl="sibTrans2D1" presStyleIdx="12" presStyleCnt="13"/>
      <dgm:spPr/>
    </dgm:pt>
    <dgm:pt modelId="{88CE19E3-4ECC-4AAE-AED3-ACBF1F9D8CEE}" type="pres">
      <dgm:prSet presAssocID="{B31454A3-9922-4211-B344-57F148A8BDEE}" presName="child" presStyleLbl="alignAccFollowNode1" presStyleIdx="12" presStyleCnt="13">
        <dgm:presLayoutVars>
          <dgm:chMax val="0"/>
          <dgm:bulletEnabled val="1"/>
        </dgm:presLayoutVars>
      </dgm:prSet>
      <dgm:spPr/>
    </dgm:pt>
  </dgm:ptLst>
  <dgm:cxnLst>
    <dgm:cxn modelId="{672B4C06-9E58-4070-B9E9-AFA3538655DF}" type="presOf" srcId="{808D9C91-5012-4DAE-89A8-E38D4E07BA7B}" destId="{80D80F6B-83DA-4C5E-AB31-676E30A62703}" srcOrd="0" destOrd="0" presId="urn:microsoft.com/office/officeart/2005/8/layout/lProcess1"/>
    <dgm:cxn modelId="{AAFAEA09-A3C9-4C3C-B04C-99EF146FFBE7}" type="presOf" srcId="{657A776A-F180-41A2-B452-D5032E02E259}" destId="{2731C2B9-23D7-492E-8D73-73171A6130B7}" srcOrd="0" destOrd="0" presId="urn:microsoft.com/office/officeart/2005/8/layout/lProcess1"/>
    <dgm:cxn modelId="{B4D7E214-7905-4D31-840D-D845B372DFB3}" srcId="{A3D78F6A-C3F7-4AA7-AF0C-57A9E9AA317C}" destId="{43898053-BD69-4BCF-A9F4-00B7BE5C0221}" srcOrd="6" destOrd="0" parTransId="{76A4562E-3CDB-405A-9194-176EAD86EC69}" sibTransId="{04A45748-8280-4FDB-9651-A0F4DB601791}"/>
    <dgm:cxn modelId="{B340C016-7FF6-4ECC-934D-197E6C5178F5}" type="presOf" srcId="{FF13F946-ECBA-4876-A83C-D0DA9A2164FF}" destId="{4E217191-2A94-4CF9-A00F-AFFD51345322}" srcOrd="0" destOrd="0" presId="urn:microsoft.com/office/officeart/2005/8/layout/lProcess1"/>
    <dgm:cxn modelId="{0FF7691E-6F72-42DF-A2B7-2DFB8F3CDC5D}" srcId="{808D9C91-5012-4DAE-89A8-E38D4E07BA7B}" destId="{19B3F4EC-4635-4FB9-B5D0-6179A6F4860B}" srcOrd="0" destOrd="0" parTransId="{93993F25-8955-4DBC-936B-EFB763C24B11}" sibTransId="{33C51E1E-D489-4343-A9DF-E18DC23C2FD8}"/>
    <dgm:cxn modelId="{A310AC1F-EEEE-4ECD-9DB7-B210FE2FEE85}" type="presOf" srcId="{9F590886-4508-4330-A2B2-75C6D378B9E1}" destId="{C0EDD9D1-0FFD-471C-9468-475EB06091ED}" srcOrd="0" destOrd="0" presId="urn:microsoft.com/office/officeart/2005/8/layout/lProcess1"/>
    <dgm:cxn modelId="{C331DD25-F451-4E4D-9D66-6054258677FF}" type="presOf" srcId="{1BE386DE-5EF6-4EB6-BB48-23E17C2EDDB9}" destId="{710ACFD3-16F1-41B4-A365-74BE60B74B7D}" srcOrd="0" destOrd="0" presId="urn:microsoft.com/office/officeart/2005/8/layout/lProcess1"/>
    <dgm:cxn modelId="{0B2E9D28-A90C-41C6-B926-9EA25BFCCBB8}" srcId="{A3D78F6A-C3F7-4AA7-AF0C-57A9E9AA317C}" destId="{92D675D1-5110-45E6-92D2-827F42698AB6}" srcOrd="7" destOrd="0" parTransId="{17560756-550A-4D9D-9829-4687DE76C7AD}" sibTransId="{3812D98D-072F-4E35-B57E-71DCF4A837B0}"/>
    <dgm:cxn modelId="{098C6829-04C5-47A9-A5F9-4602232FD8C1}" type="presOf" srcId="{8FF41F44-E831-453B-B283-08E289E93298}" destId="{999FD482-9775-49E6-BBB6-3F83A71CCB1B}" srcOrd="0" destOrd="0" presId="urn:microsoft.com/office/officeart/2005/8/layout/lProcess1"/>
    <dgm:cxn modelId="{12C6122A-46A7-4F5D-8B15-72D98AD9DA6D}" srcId="{A3D78F6A-C3F7-4AA7-AF0C-57A9E9AA317C}" destId="{4EF4BDA0-97E2-40F6-AA5E-FA3499D00BF6}" srcOrd="8" destOrd="0" parTransId="{64AD353E-0470-4301-8A6A-667DD389677F}" sibTransId="{5B568F7F-85A0-4142-83BB-CEF14314BFB6}"/>
    <dgm:cxn modelId="{DAB4D32B-11EE-4159-BFF2-238BCCB3BA11}" type="presOf" srcId="{C6275A64-422B-45B6-AA63-7A2348533BBA}" destId="{417B47A1-F272-4ECF-A408-AEC9EB0C633C}" srcOrd="0" destOrd="0" presId="urn:microsoft.com/office/officeart/2005/8/layout/lProcess1"/>
    <dgm:cxn modelId="{F2C1F92B-9681-4C46-9563-603AF9D47015}" type="presOf" srcId="{93993F25-8955-4DBC-936B-EFB763C24B11}" destId="{AA5B2FBE-E013-431C-9230-849756E6B072}" srcOrd="0" destOrd="0" presId="urn:microsoft.com/office/officeart/2005/8/layout/lProcess1"/>
    <dgm:cxn modelId="{7B6F9D2E-C9B7-4201-BD2C-933BCB80AC57}" type="presOf" srcId="{97A4154C-8FB1-4921-97F6-9120C833057A}" destId="{A8C3263C-2A96-4309-90B9-2277E2DEB056}" srcOrd="0" destOrd="0" presId="urn:microsoft.com/office/officeart/2005/8/layout/lProcess1"/>
    <dgm:cxn modelId="{ABED5E3C-8AD6-44EE-8FB1-E9472A1334BE}" srcId="{A3D78F6A-C3F7-4AA7-AF0C-57A9E9AA317C}" destId="{359E0150-6568-43D8-85F4-0C222B191099}" srcOrd="2" destOrd="0" parTransId="{79534FE9-8704-4D79-96D2-C4F33F0D0F1C}" sibTransId="{CB21F9B5-0605-4764-A5F0-AD7D53FA5492}"/>
    <dgm:cxn modelId="{95A1A93D-71B2-481A-9A30-F06457ADE077}" type="presOf" srcId="{B64E5CB4-F908-4C6E-90DD-403685F87DAF}" destId="{69AEC1B4-0BCC-4B04-B14E-512EBA0FEA3D}" srcOrd="0" destOrd="0" presId="urn:microsoft.com/office/officeart/2005/8/layout/lProcess1"/>
    <dgm:cxn modelId="{E4C65D3F-2B88-4686-9A6E-87995FE49743}" srcId="{4EF4BDA0-97E2-40F6-AA5E-FA3499D00BF6}" destId="{B257D6DB-642B-4DF1-818A-19ABA44C567B}" srcOrd="0" destOrd="0" parTransId="{CDC233BE-6C29-43FB-A819-162713B21812}" sibTransId="{80502569-3B7F-4F99-8CAB-671A923831CF}"/>
    <dgm:cxn modelId="{36CC4641-F90E-4F01-82A8-B82ED13CCF14}" srcId="{16E903C8-9AD7-4DBF-B27A-7C792818FEBF}" destId="{FA80CFFD-D4A0-45A6-B439-ADAE73843297}" srcOrd="0" destOrd="0" parTransId="{8FF41F44-E831-453B-B283-08E289E93298}" sibTransId="{E28E8776-7A4E-4B61-B12F-B40E16B550DD}"/>
    <dgm:cxn modelId="{D651F442-2A51-450E-A462-589C990D07E3}" type="presOf" srcId="{DBFC759C-ABC4-495D-92C3-8CB699D3D901}" destId="{2FC4CFEE-8FDC-4B31-B882-C67E4FDA404B}" srcOrd="0" destOrd="0" presId="urn:microsoft.com/office/officeart/2005/8/layout/lProcess1"/>
    <dgm:cxn modelId="{12759F66-A1F8-4523-ADAF-9F06B2E62858}" type="presOf" srcId="{16E903C8-9AD7-4DBF-B27A-7C792818FEBF}" destId="{78CB6435-D96D-4523-A2DF-097D014158DB}" srcOrd="0" destOrd="0" presId="urn:microsoft.com/office/officeart/2005/8/layout/lProcess1"/>
    <dgm:cxn modelId="{E4C9E469-D601-4F9B-AF6C-633376D9A44C}" srcId="{1BE386DE-5EF6-4EB6-BB48-23E17C2EDDB9}" destId="{C6275A64-422B-45B6-AA63-7A2348533BBA}" srcOrd="0" destOrd="0" parTransId="{E8896E27-457D-4F78-99E7-25B6900845AD}" sibTransId="{581EF0BA-2495-4646-B694-06ADE8C0EF84}"/>
    <dgm:cxn modelId="{2C61B86B-C380-430E-A809-4A747AE46841}" type="presOf" srcId="{2F8B72ED-0A68-4370-9E55-BB5FF0D8AD02}" destId="{FBFADF46-39C6-4173-9736-68DB756FC192}" srcOrd="0" destOrd="0" presId="urn:microsoft.com/office/officeart/2005/8/layout/lProcess1"/>
    <dgm:cxn modelId="{A818B570-9EB9-44EC-BE2B-5E654CEE3832}" type="presOf" srcId="{E28E8776-7A4E-4B61-B12F-B40E16B550DD}" destId="{7E28110E-C535-4B8C-8EBF-01B985A6811B}" srcOrd="0" destOrd="0" presId="urn:microsoft.com/office/officeart/2005/8/layout/lProcess1"/>
    <dgm:cxn modelId="{E9024152-67C7-452D-A7DB-BA7C2E2DD1DB}" srcId="{A3D78F6A-C3F7-4AA7-AF0C-57A9E9AA317C}" destId="{16E903C8-9AD7-4DBF-B27A-7C792818FEBF}" srcOrd="5" destOrd="0" parTransId="{DCCD6897-C69D-4C0F-BC61-29FB1DDD1A57}" sibTransId="{98E2BD2E-E899-48AD-8397-C549AF2CCA20}"/>
    <dgm:cxn modelId="{52817754-7B63-4E74-8075-9BB1860412DB}" type="presOf" srcId="{43898053-BD69-4BCF-A9F4-00B7BE5C0221}" destId="{07F27B24-4607-46B1-A3B3-873A3966AC2A}" srcOrd="0" destOrd="0" presId="urn:microsoft.com/office/officeart/2005/8/layout/lProcess1"/>
    <dgm:cxn modelId="{6E08C154-3305-4695-BEC2-B68160B785D1}" type="presOf" srcId="{97140BC6-3533-4FE1-B3A7-D1F851ED8492}" destId="{051C73D3-B90C-48F8-9DAD-9CE55DB41C36}" srcOrd="0" destOrd="0" presId="urn:microsoft.com/office/officeart/2005/8/layout/lProcess1"/>
    <dgm:cxn modelId="{7EB62A55-F9FB-45E9-A325-ABF35A78E92A}" type="presOf" srcId="{92D675D1-5110-45E6-92D2-827F42698AB6}" destId="{0940D2D2-9E0E-4722-AC91-1852A03898D0}" srcOrd="0" destOrd="0" presId="urn:microsoft.com/office/officeart/2005/8/layout/lProcess1"/>
    <dgm:cxn modelId="{5AAF7F55-90A5-4272-B2D7-749BA785AB25}" type="presOf" srcId="{FA80CFFD-D4A0-45A6-B439-ADAE73843297}" destId="{39FBC1AF-F596-40F2-AA22-1CF1F811140C}" srcOrd="0" destOrd="0" presId="urn:microsoft.com/office/officeart/2005/8/layout/lProcess1"/>
    <dgm:cxn modelId="{ACB56F57-CC3D-4140-97DC-86F5693BC279}" srcId="{92D675D1-5110-45E6-92D2-827F42698AB6}" destId="{985CB337-B5FA-4827-83B0-0BD5E2832E0E}" srcOrd="0" destOrd="0" parTransId="{DD782A26-DDE9-4E8E-A9C8-1A49F40C72A7}" sibTransId="{4B89B69B-92E1-4A41-8F65-0430FC243CC8}"/>
    <dgm:cxn modelId="{6DF6FC57-66E4-4C69-90DE-5ACD56910730}" srcId="{A3D78F6A-C3F7-4AA7-AF0C-57A9E9AA317C}" destId="{808D9C91-5012-4DAE-89A8-E38D4E07BA7B}" srcOrd="4" destOrd="0" parTransId="{CEB664BF-D9A2-41C8-A3D5-492A5BF2514E}" sibTransId="{B220FF87-CED7-4F4E-8900-8F97F9CD4252}"/>
    <dgm:cxn modelId="{6BFCC87B-475C-47B4-8D98-458D1BA663A8}" type="presOf" srcId="{B31454A3-9922-4211-B344-57F148A8BDEE}" destId="{88CE19E3-4ECC-4AAE-AED3-ACBF1F9D8CEE}" srcOrd="0" destOrd="0" presId="urn:microsoft.com/office/officeart/2005/8/layout/lProcess1"/>
    <dgm:cxn modelId="{A2485E7C-7E5A-4D43-9D6D-9D9DEB58E427}" srcId="{43898053-BD69-4BCF-A9F4-00B7BE5C0221}" destId="{C73707EE-8A09-415A-A8A0-8661811A5F2E}" srcOrd="1" destOrd="0" parTransId="{76AB3F56-BD21-4D41-892B-1E3EA6F74A6B}" sibTransId="{F0D6BB18-E8E5-498B-9988-12B71B64FF40}"/>
    <dgm:cxn modelId="{3ABED27E-A859-4C6C-8E27-6529246A47E6}" type="presOf" srcId="{E7F0C815-4F16-4552-9901-2B2A5E9EC51C}" destId="{AA770B6C-7F1B-43CC-B582-B234B192DADD}" srcOrd="0" destOrd="0" presId="urn:microsoft.com/office/officeart/2005/8/layout/lProcess1"/>
    <dgm:cxn modelId="{48CC0688-FE34-4A54-905C-41C3FCBEDABC}" srcId="{A3D78F6A-C3F7-4AA7-AF0C-57A9E9AA317C}" destId="{1BE386DE-5EF6-4EB6-BB48-23E17C2EDDB9}" srcOrd="3" destOrd="0" parTransId="{A5EB463E-AA79-4AAF-8C17-6EB0905898E9}" sibTransId="{90B486DC-F73D-455B-8721-6FE324761B35}"/>
    <dgm:cxn modelId="{CBE9068C-43AF-4DB9-A0E2-944C6F88310A}" type="presOf" srcId="{A3D78F6A-C3F7-4AA7-AF0C-57A9E9AA317C}" destId="{08CD0FAF-AACA-4E89-9DD8-85DCF49A6EB1}" srcOrd="0" destOrd="0" presId="urn:microsoft.com/office/officeart/2005/8/layout/lProcess1"/>
    <dgm:cxn modelId="{652F8592-3AA3-4FFA-8E40-E57D36CFA1F8}" type="presOf" srcId="{CDC233BE-6C29-43FB-A819-162713B21812}" destId="{627409D3-FE97-4F76-BFB3-E6426E3F0FC6}" srcOrd="0" destOrd="0" presId="urn:microsoft.com/office/officeart/2005/8/layout/lProcess1"/>
    <dgm:cxn modelId="{8FB02697-0B18-4233-92AA-36BF23A379C0}" type="presOf" srcId="{C73707EE-8A09-415A-A8A0-8661811A5F2E}" destId="{F6996934-2396-412D-95A8-DEE2BA1E02F2}" srcOrd="0" destOrd="0" presId="urn:microsoft.com/office/officeart/2005/8/layout/lProcess1"/>
    <dgm:cxn modelId="{32B251A8-CB47-42A9-89E4-1B986E376475}" type="presOf" srcId="{985CB337-B5FA-4827-83B0-0BD5E2832E0E}" destId="{5B7254FA-C072-4850-8E9D-9C1525E424CF}" srcOrd="0" destOrd="0" presId="urn:microsoft.com/office/officeart/2005/8/layout/lProcess1"/>
    <dgm:cxn modelId="{38F5D2A9-0CD5-487E-B56A-0DCC8371E3DA}" srcId="{16E903C8-9AD7-4DBF-B27A-7C792818FEBF}" destId="{CBC11CD3-D479-42D6-BDE4-CBB52FEFFC8D}" srcOrd="1" destOrd="0" parTransId="{7B866152-7CEE-427E-A5AB-3EF660B4363F}" sibTransId="{84BBDFF3-836A-4C96-8224-0FBE8F7C632C}"/>
    <dgm:cxn modelId="{2B01B4AA-5420-4ECF-9C11-29A3DAFD9159}" srcId="{DBFC759C-ABC4-495D-92C3-8CB699D3D901}" destId="{E7F0C815-4F16-4552-9901-2B2A5E9EC51C}" srcOrd="0" destOrd="0" parTransId="{66498B7E-5313-4FD5-9439-3D9AD00585D6}" sibTransId="{ECC661ED-D349-4595-A087-5F5F9C4EF5E4}"/>
    <dgm:cxn modelId="{B7F4C7AA-41C6-4A1D-A12C-D6E23CA01783}" type="presOf" srcId="{4EF4BDA0-97E2-40F6-AA5E-FA3499D00BF6}" destId="{C6846D98-6396-440D-83A9-08EFE10F0C5C}" srcOrd="0" destOrd="0" presId="urn:microsoft.com/office/officeart/2005/8/layout/lProcess1"/>
    <dgm:cxn modelId="{E3272AB1-6BA1-4815-B489-89B516A0EB0C}" type="presOf" srcId="{DDFF52B6-950D-4577-A668-9DEE39F8F7BD}" destId="{4640CB95-63AE-4823-B144-7F9AFFA78FD1}" srcOrd="0" destOrd="0" presId="urn:microsoft.com/office/officeart/2005/8/layout/lProcess1"/>
    <dgm:cxn modelId="{E287A8B8-45BA-4948-A5A5-BB0950B0EB7F}" srcId="{A3D78F6A-C3F7-4AA7-AF0C-57A9E9AA317C}" destId="{9F590886-4508-4330-A2B2-75C6D378B9E1}" srcOrd="10" destOrd="0" parTransId="{5A1AB815-06A3-4DAA-AC3D-A4F2DBFFB599}" sibTransId="{CE06150B-BD40-4C98-BC12-22984178C6D4}"/>
    <dgm:cxn modelId="{5B5687BE-B002-44C2-BCC9-08D908262845}" type="presOf" srcId="{96450BAA-7AB0-4015-B9FB-743C176998CF}" destId="{755A6EB4-A0E4-4DB6-9E34-87B8ACC02646}" srcOrd="0" destOrd="0" presId="urn:microsoft.com/office/officeart/2005/8/layout/lProcess1"/>
    <dgm:cxn modelId="{203B08BF-3D65-4FED-B2D2-B42D4FC21DB2}" type="presOf" srcId="{E8896E27-457D-4F78-99E7-25B6900845AD}" destId="{2C8B701D-7089-46F9-8AE7-F25795608D12}" srcOrd="0" destOrd="0" presId="urn:microsoft.com/office/officeart/2005/8/layout/lProcess1"/>
    <dgm:cxn modelId="{245AC3CC-174E-4AE0-9043-EF2AC63988E0}" type="presOf" srcId="{19B3F4EC-4635-4FB9-B5D0-6179A6F4860B}" destId="{15C32981-5C65-4DF6-93E9-A4D9E8ED31DF}" srcOrd="0" destOrd="0" presId="urn:microsoft.com/office/officeart/2005/8/layout/lProcess1"/>
    <dgm:cxn modelId="{85E85CCD-B410-4C2A-A495-7FDD7DB119AC}" type="presOf" srcId="{00BD0CDC-3CD4-4389-9972-03A706BC4DDD}" destId="{D9578B9D-8B61-4E13-B909-7B40524460AB}" srcOrd="0" destOrd="0" presId="urn:microsoft.com/office/officeart/2005/8/layout/lProcess1"/>
    <dgm:cxn modelId="{1C95AAD0-DEDB-49E7-9F1C-B8B8D7E08742}" type="presOf" srcId="{DD782A26-DDE9-4E8E-A9C8-1A49F40C72A7}" destId="{16AD1B0E-9200-43EA-8881-59C404C6064D}" srcOrd="0" destOrd="0" presId="urn:microsoft.com/office/officeart/2005/8/layout/lProcess1"/>
    <dgm:cxn modelId="{D0AAB7D2-8B84-4223-9967-4F6E880534E6}" srcId="{359E0150-6568-43D8-85F4-0C222B191099}" destId="{106467BC-BB8C-4632-874D-10B4E9E1BEA6}" srcOrd="0" destOrd="0" parTransId="{657A776A-F180-41A2-B452-D5032E02E259}" sibTransId="{CFDEAC6A-DC1D-417D-8B6F-53F5A0480D38}"/>
    <dgm:cxn modelId="{EE653BDD-2EEA-486D-8CE5-CA27902E21A2}" type="presOf" srcId="{09481B90-E02D-4DB6-BA3C-D20F30102FCB}" destId="{E1B28848-1046-41AF-B3ED-C56C4D7130AD}" srcOrd="0" destOrd="0" presId="urn:microsoft.com/office/officeart/2005/8/layout/lProcess1"/>
    <dgm:cxn modelId="{F30B0CDF-C840-421E-AE1F-E52E53316094}" srcId="{9F590886-4508-4330-A2B2-75C6D378B9E1}" destId="{B31454A3-9922-4211-B344-57F148A8BDEE}" srcOrd="0" destOrd="0" parTransId="{00BD0CDC-3CD4-4389-9972-03A706BC4DDD}" sibTransId="{CEC90966-E103-4AD0-9440-F3C2C934C529}"/>
    <dgm:cxn modelId="{9643D5E0-E02F-4EC7-A088-E095E1C691AC}" srcId="{A3D78F6A-C3F7-4AA7-AF0C-57A9E9AA317C}" destId="{82685344-0020-428E-B419-EEA018553156}" srcOrd="9" destOrd="0" parTransId="{E092101C-FB4D-4D4E-9A29-480EB2544020}" sibTransId="{8D449F66-3112-47FF-9C3E-8A96FB6F2EB4}"/>
    <dgm:cxn modelId="{C850A0E3-9FC0-4F3C-BB07-138A5A98AAA6}" type="presOf" srcId="{66498B7E-5313-4FD5-9439-3D9AD00585D6}" destId="{6492C199-1AF3-49A2-A33C-6DC120057EF6}" srcOrd="0" destOrd="0" presId="urn:microsoft.com/office/officeart/2005/8/layout/lProcess1"/>
    <dgm:cxn modelId="{FD3455E6-924D-462B-9FB4-F9DE2D30F99C}" type="presOf" srcId="{106467BC-BB8C-4632-874D-10B4E9E1BEA6}" destId="{C02A9533-C8BF-4292-B16A-1EDB298442E5}" srcOrd="0" destOrd="0" presId="urn:microsoft.com/office/officeart/2005/8/layout/lProcess1"/>
    <dgm:cxn modelId="{E90E2BEA-5857-4346-A10A-6B514F15A77F}" srcId="{43898053-BD69-4BCF-A9F4-00B7BE5C0221}" destId="{B64E5CB4-F908-4C6E-90DD-403685F87DAF}" srcOrd="0" destOrd="0" parTransId="{09481B90-E02D-4DB6-BA3C-D20F30102FCB}" sibTransId="{FF13F946-ECBA-4876-A83C-D0DA9A2164FF}"/>
    <dgm:cxn modelId="{08F7B0EA-6081-483A-A3B5-CEA0524EA9C1}" srcId="{A3D78F6A-C3F7-4AA7-AF0C-57A9E9AA317C}" destId="{DDFF52B6-950D-4577-A668-9DEE39F8F7BD}" srcOrd="0" destOrd="0" parTransId="{1937F319-B040-4614-A700-9E27AB712829}" sibTransId="{2396F4BC-1582-4245-816C-9EC41BC8541B}"/>
    <dgm:cxn modelId="{BCE930EB-05C3-4A03-B3D0-12BDE2DA1B87}" srcId="{A3D78F6A-C3F7-4AA7-AF0C-57A9E9AA317C}" destId="{DBFC759C-ABC4-495D-92C3-8CB699D3D901}" srcOrd="1" destOrd="0" parTransId="{317CA69E-063E-4BB7-8863-586FFCBD8D55}" sibTransId="{ED9540FD-1811-4454-B4AC-9DE401C20C6A}"/>
    <dgm:cxn modelId="{67B37BEF-B383-465D-97C1-CBE763309174}" srcId="{DDFF52B6-950D-4577-A668-9DEE39F8F7BD}" destId="{97A4154C-8FB1-4921-97F6-9120C833057A}" srcOrd="0" destOrd="0" parTransId="{96450BAA-7AB0-4015-B9FB-743C176998CF}" sibTransId="{2BEACDAE-1CF9-4FA0-94DC-3B177DDEC5F3}"/>
    <dgm:cxn modelId="{4E838FF6-9DF1-4C57-885F-3AF1B4E0ED80}" srcId="{82685344-0020-428E-B419-EEA018553156}" destId="{2F8B72ED-0A68-4370-9E55-BB5FF0D8AD02}" srcOrd="0" destOrd="0" parTransId="{97140BC6-3533-4FE1-B3A7-D1F851ED8492}" sibTransId="{83BD0D9C-079D-465C-B31F-F586FED8BE32}"/>
    <dgm:cxn modelId="{A2710DF7-794F-4DA8-8FAB-7A08FA2D03E1}" type="presOf" srcId="{359E0150-6568-43D8-85F4-0C222B191099}" destId="{A644C25A-A34A-48AE-B6EA-FCDFB3A6C229}" srcOrd="0" destOrd="0" presId="urn:microsoft.com/office/officeart/2005/8/layout/lProcess1"/>
    <dgm:cxn modelId="{07208AFA-71C5-4D97-A891-6B88FE04C671}" type="presOf" srcId="{CBC11CD3-D479-42D6-BDE4-CBB52FEFFC8D}" destId="{76D43047-9148-4D97-9972-8ECA09D99680}" srcOrd="0" destOrd="0" presId="urn:microsoft.com/office/officeart/2005/8/layout/lProcess1"/>
    <dgm:cxn modelId="{CF169CFB-3F81-4324-B837-9163F688C65A}" type="presOf" srcId="{82685344-0020-428E-B419-EEA018553156}" destId="{06485636-518A-4A2A-8870-1FD0922AD4F8}" srcOrd="0" destOrd="0" presId="urn:microsoft.com/office/officeart/2005/8/layout/lProcess1"/>
    <dgm:cxn modelId="{3153DDFE-3128-4994-960F-6B0C64D7F8D8}" type="presOf" srcId="{B257D6DB-642B-4DF1-818A-19ABA44C567B}" destId="{C4E7E73E-C00F-464E-BDE6-3C75E1E9A605}" srcOrd="0" destOrd="0" presId="urn:microsoft.com/office/officeart/2005/8/layout/lProcess1"/>
    <dgm:cxn modelId="{E3499694-1DDA-4DF2-BB9C-1F62491D40EE}" type="presParOf" srcId="{08CD0FAF-AACA-4E89-9DD8-85DCF49A6EB1}" destId="{D6AAFA6B-0581-46F6-BA52-427CE741DCB3}" srcOrd="0" destOrd="0" presId="urn:microsoft.com/office/officeart/2005/8/layout/lProcess1"/>
    <dgm:cxn modelId="{906C4885-F28A-4FA1-B34F-5394587812D0}" type="presParOf" srcId="{D6AAFA6B-0581-46F6-BA52-427CE741DCB3}" destId="{4640CB95-63AE-4823-B144-7F9AFFA78FD1}" srcOrd="0" destOrd="0" presId="urn:microsoft.com/office/officeart/2005/8/layout/lProcess1"/>
    <dgm:cxn modelId="{E14CA24B-8ABB-423E-8196-50E2ECD95C21}" type="presParOf" srcId="{D6AAFA6B-0581-46F6-BA52-427CE741DCB3}" destId="{755A6EB4-A0E4-4DB6-9E34-87B8ACC02646}" srcOrd="1" destOrd="0" presId="urn:microsoft.com/office/officeart/2005/8/layout/lProcess1"/>
    <dgm:cxn modelId="{27B80B94-0B0B-4C63-BAAC-5F91EEEBCB3F}" type="presParOf" srcId="{D6AAFA6B-0581-46F6-BA52-427CE741DCB3}" destId="{A8C3263C-2A96-4309-90B9-2277E2DEB056}" srcOrd="2" destOrd="0" presId="urn:microsoft.com/office/officeart/2005/8/layout/lProcess1"/>
    <dgm:cxn modelId="{05DC35EA-E3DD-4D85-A559-6945106CF0A5}" type="presParOf" srcId="{08CD0FAF-AACA-4E89-9DD8-85DCF49A6EB1}" destId="{048D54C8-E6D3-4595-A63D-943DCEFB14C4}" srcOrd="1" destOrd="0" presId="urn:microsoft.com/office/officeart/2005/8/layout/lProcess1"/>
    <dgm:cxn modelId="{18A51268-F291-4DAC-8174-E8AD037E920D}" type="presParOf" srcId="{08CD0FAF-AACA-4E89-9DD8-85DCF49A6EB1}" destId="{9BA184B7-17C6-492B-A46A-3815FF5BCB9E}" srcOrd="2" destOrd="0" presId="urn:microsoft.com/office/officeart/2005/8/layout/lProcess1"/>
    <dgm:cxn modelId="{B4DF7C46-05C9-4785-B6B6-71E9EF86E421}" type="presParOf" srcId="{9BA184B7-17C6-492B-A46A-3815FF5BCB9E}" destId="{2FC4CFEE-8FDC-4B31-B882-C67E4FDA404B}" srcOrd="0" destOrd="0" presId="urn:microsoft.com/office/officeart/2005/8/layout/lProcess1"/>
    <dgm:cxn modelId="{5E8D92E3-DDCB-4A2D-B81D-66C8C99605E1}" type="presParOf" srcId="{9BA184B7-17C6-492B-A46A-3815FF5BCB9E}" destId="{6492C199-1AF3-49A2-A33C-6DC120057EF6}" srcOrd="1" destOrd="0" presId="urn:microsoft.com/office/officeart/2005/8/layout/lProcess1"/>
    <dgm:cxn modelId="{B9A08158-9944-4433-921B-C29F175834C1}" type="presParOf" srcId="{9BA184B7-17C6-492B-A46A-3815FF5BCB9E}" destId="{AA770B6C-7F1B-43CC-B582-B234B192DADD}" srcOrd="2" destOrd="0" presId="urn:microsoft.com/office/officeart/2005/8/layout/lProcess1"/>
    <dgm:cxn modelId="{1771F35A-542A-4330-B02A-A333806E7FB7}" type="presParOf" srcId="{08CD0FAF-AACA-4E89-9DD8-85DCF49A6EB1}" destId="{BBDF311D-C7B2-4EDC-90D9-2D087CE4A2FF}" srcOrd="3" destOrd="0" presId="urn:microsoft.com/office/officeart/2005/8/layout/lProcess1"/>
    <dgm:cxn modelId="{C296257D-FF51-4D90-9B19-C64F8AD494D2}" type="presParOf" srcId="{08CD0FAF-AACA-4E89-9DD8-85DCF49A6EB1}" destId="{ACAD8414-561F-4319-9746-494D9EB5B2D1}" srcOrd="4" destOrd="0" presId="urn:microsoft.com/office/officeart/2005/8/layout/lProcess1"/>
    <dgm:cxn modelId="{5A7B9C34-9B13-4CFD-A07C-723DD923C86D}" type="presParOf" srcId="{ACAD8414-561F-4319-9746-494D9EB5B2D1}" destId="{A644C25A-A34A-48AE-B6EA-FCDFB3A6C229}" srcOrd="0" destOrd="0" presId="urn:microsoft.com/office/officeart/2005/8/layout/lProcess1"/>
    <dgm:cxn modelId="{B8A55E67-0B4A-4469-889B-F7CFD0E4A9DA}" type="presParOf" srcId="{ACAD8414-561F-4319-9746-494D9EB5B2D1}" destId="{2731C2B9-23D7-492E-8D73-73171A6130B7}" srcOrd="1" destOrd="0" presId="urn:microsoft.com/office/officeart/2005/8/layout/lProcess1"/>
    <dgm:cxn modelId="{385F20C4-D402-44B0-B4DB-96BB2A638168}" type="presParOf" srcId="{ACAD8414-561F-4319-9746-494D9EB5B2D1}" destId="{C02A9533-C8BF-4292-B16A-1EDB298442E5}" srcOrd="2" destOrd="0" presId="urn:microsoft.com/office/officeart/2005/8/layout/lProcess1"/>
    <dgm:cxn modelId="{0320DE6D-4272-479B-AAB8-E7486B46D234}" type="presParOf" srcId="{08CD0FAF-AACA-4E89-9DD8-85DCF49A6EB1}" destId="{C7E5D4A5-250D-465D-B5C1-BEB3D0C2C310}" srcOrd="5" destOrd="0" presId="urn:microsoft.com/office/officeart/2005/8/layout/lProcess1"/>
    <dgm:cxn modelId="{66C0C73E-AE75-4ECB-B4B5-2D27A8B12A8B}" type="presParOf" srcId="{08CD0FAF-AACA-4E89-9DD8-85DCF49A6EB1}" destId="{0EEECFB1-5996-4343-B8AD-98FEC490AAD3}" srcOrd="6" destOrd="0" presId="urn:microsoft.com/office/officeart/2005/8/layout/lProcess1"/>
    <dgm:cxn modelId="{DC68218B-493E-4855-8AC1-631410128FB0}" type="presParOf" srcId="{0EEECFB1-5996-4343-B8AD-98FEC490AAD3}" destId="{710ACFD3-16F1-41B4-A365-74BE60B74B7D}" srcOrd="0" destOrd="0" presId="urn:microsoft.com/office/officeart/2005/8/layout/lProcess1"/>
    <dgm:cxn modelId="{646464DF-019B-4A58-B187-4189A56E3DEF}" type="presParOf" srcId="{0EEECFB1-5996-4343-B8AD-98FEC490AAD3}" destId="{2C8B701D-7089-46F9-8AE7-F25795608D12}" srcOrd="1" destOrd="0" presId="urn:microsoft.com/office/officeart/2005/8/layout/lProcess1"/>
    <dgm:cxn modelId="{0E8219B9-CDAF-43DA-89C7-BB3A3805FECD}" type="presParOf" srcId="{0EEECFB1-5996-4343-B8AD-98FEC490AAD3}" destId="{417B47A1-F272-4ECF-A408-AEC9EB0C633C}" srcOrd="2" destOrd="0" presId="urn:microsoft.com/office/officeart/2005/8/layout/lProcess1"/>
    <dgm:cxn modelId="{5DFD5B31-DC70-4367-8136-F8C7DCEBD885}" type="presParOf" srcId="{08CD0FAF-AACA-4E89-9DD8-85DCF49A6EB1}" destId="{D490BCE6-5271-4695-BEAF-CCD26DFA6159}" srcOrd="7" destOrd="0" presId="urn:microsoft.com/office/officeart/2005/8/layout/lProcess1"/>
    <dgm:cxn modelId="{284CFBE2-2F5B-49C0-AF12-2A40FE982D8F}" type="presParOf" srcId="{08CD0FAF-AACA-4E89-9DD8-85DCF49A6EB1}" destId="{63D04396-B94A-424F-8D35-0AA8DC5E1885}" srcOrd="8" destOrd="0" presId="urn:microsoft.com/office/officeart/2005/8/layout/lProcess1"/>
    <dgm:cxn modelId="{A469343E-F2A2-40F0-9B9E-57AD51921A13}" type="presParOf" srcId="{63D04396-B94A-424F-8D35-0AA8DC5E1885}" destId="{80D80F6B-83DA-4C5E-AB31-676E30A62703}" srcOrd="0" destOrd="0" presId="urn:microsoft.com/office/officeart/2005/8/layout/lProcess1"/>
    <dgm:cxn modelId="{765A5235-AD3B-43E7-B6D4-EC69A9413BDB}" type="presParOf" srcId="{63D04396-B94A-424F-8D35-0AA8DC5E1885}" destId="{AA5B2FBE-E013-431C-9230-849756E6B072}" srcOrd="1" destOrd="0" presId="urn:microsoft.com/office/officeart/2005/8/layout/lProcess1"/>
    <dgm:cxn modelId="{810658F2-E059-43ED-AE0C-BF994E6BC2BF}" type="presParOf" srcId="{63D04396-B94A-424F-8D35-0AA8DC5E1885}" destId="{15C32981-5C65-4DF6-93E9-A4D9E8ED31DF}" srcOrd="2" destOrd="0" presId="urn:microsoft.com/office/officeart/2005/8/layout/lProcess1"/>
    <dgm:cxn modelId="{C563C198-EA0C-4C65-8D8D-31612CD5C54A}" type="presParOf" srcId="{08CD0FAF-AACA-4E89-9DD8-85DCF49A6EB1}" destId="{631638C2-4A78-4465-92AF-8730B6E533FB}" srcOrd="9" destOrd="0" presId="urn:microsoft.com/office/officeart/2005/8/layout/lProcess1"/>
    <dgm:cxn modelId="{670D77C8-2AF5-4DCA-B527-0CBBD8EBE598}" type="presParOf" srcId="{08CD0FAF-AACA-4E89-9DD8-85DCF49A6EB1}" destId="{6B9E8C30-2F3B-45F9-B34B-95FE94DCF158}" srcOrd="10" destOrd="0" presId="urn:microsoft.com/office/officeart/2005/8/layout/lProcess1"/>
    <dgm:cxn modelId="{AE6CB818-D3E5-4256-9926-CA38EE90FE1A}" type="presParOf" srcId="{6B9E8C30-2F3B-45F9-B34B-95FE94DCF158}" destId="{78CB6435-D96D-4523-A2DF-097D014158DB}" srcOrd="0" destOrd="0" presId="urn:microsoft.com/office/officeart/2005/8/layout/lProcess1"/>
    <dgm:cxn modelId="{A566030B-A512-42C2-AED5-B46207A1B3E9}" type="presParOf" srcId="{6B9E8C30-2F3B-45F9-B34B-95FE94DCF158}" destId="{999FD482-9775-49E6-BBB6-3F83A71CCB1B}" srcOrd="1" destOrd="0" presId="urn:microsoft.com/office/officeart/2005/8/layout/lProcess1"/>
    <dgm:cxn modelId="{7F21C084-6B23-4318-A2CB-24AAF7804755}" type="presParOf" srcId="{6B9E8C30-2F3B-45F9-B34B-95FE94DCF158}" destId="{39FBC1AF-F596-40F2-AA22-1CF1F811140C}" srcOrd="2" destOrd="0" presId="urn:microsoft.com/office/officeart/2005/8/layout/lProcess1"/>
    <dgm:cxn modelId="{87AC4817-12EC-41A0-8742-B547234F2165}" type="presParOf" srcId="{6B9E8C30-2F3B-45F9-B34B-95FE94DCF158}" destId="{7E28110E-C535-4B8C-8EBF-01B985A6811B}" srcOrd="3" destOrd="0" presId="urn:microsoft.com/office/officeart/2005/8/layout/lProcess1"/>
    <dgm:cxn modelId="{42C70F76-9EFF-40F1-977E-B866532C9F50}" type="presParOf" srcId="{6B9E8C30-2F3B-45F9-B34B-95FE94DCF158}" destId="{76D43047-9148-4D97-9972-8ECA09D99680}" srcOrd="4" destOrd="0" presId="urn:microsoft.com/office/officeart/2005/8/layout/lProcess1"/>
    <dgm:cxn modelId="{802C1375-B259-40C3-AD8D-080B6FDB9B95}" type="presParOf" srcId="{08CD0FAF-AACA-4E89-9DD8-85DCF49A6EB1}" destId="{71D9681C-5FFD-45DA-90F9-5C45B5C188F0}" srcOrd="11" destOrd="0" presId="urn:microsoft.com/office/officeart/2005/8/layout/lProcess1"/>
    <dgm:cxn modelId="{D5436B2E-AA3E-4205-8C70-7BD1CFD198AB}" type="presParOf" srcId="{08CD0FAF-AACA-4E89-9DD8-85DCF49A6EB1}" destId="{1F394C39-3C4A-425A-BC5E-5997EF67BC3C}" srcOrd="12" destOrd="0" presId="urn:microsoft.com/office/officeart/2005/8/layout/lProcess1"/>
    <dgm:cxn modelId="{B509CB5A-E1A8-43CD-BFD7-AAFF8A7063D2}" type="presParOf" srcId="{1F394C39-3C4A-425A-BC5E-5997EF67BC3C}" destId="{07F27B24-4607-46B1-A3B3-873A3966AC2A}" srcOrd="0" destOrd="0" presId="urn:microsoft.com/office/officeart/2005/8/layout/lProcess1"/>
    <dgm:cxn modelId="{6294D1F8-83EC-489C-93C6-CD5E0A8C04F5}" type="presParOf" srcId="{1F394C39-3C4A-425A-BC5E-5997EF67BC3C}" destId="{E1B28848-1046-41AF-B3ED-C56C4D7130AD}" srcOrd="1" destOrd="0" presId="urn:microsoft.com/office/officeart/2005/8/layout/lProcess1"/>
    <dgm:cxn modelId="{4D6C4CDD-ED62-47B8-8248-AC3B4534A50E}" type="presParOf" srcId="{1F394C39-3C4A-425A-BC5E-5997EF67BC3C}" destId="{69AEC1B4-0BCC-4B04-B14E-512EBA0FEA3D}" srcOrd="2" destOrd="0" presId="urn:microsoft.com/office/officeart/2005/8/layout/lProcess1"/>
    <dgm:cxn modelId="{B8CCBD39-3C28-4B3B-8E38-DC951B47BEE5}" type="presParOf" srcId="{1F394C39-3C4A-425A-BC5E-5997EF67BC3C}" destId="{4E217191-2A94-4CF9-A00F-AFFD51345322}" srcOrd="3" destOrd="0" presId="urn:microsoft.com/office/officeart/2005/8/layout/lProcess1"/>
    <dgm:cxn modelId="{37F2431A-7A8D-437D-A40F-780748D22102}" type="presParOf" srcId="{1F394C39-3C4A-425A-BC5E-5997EF67BC3C}" destId="{F6996934-2396-412D-95A8-DEE2BA1E02F2}" srcOrd="4" destOrd="0" presId="urn:microsoft.com/office/officeart/2005/8/layout/lProcess1"/>
    <dgm:cxn modelId="{C5DCFAA9-7415-4B5A-BCFA-2D4CF91CE207}" type="presParOf" srcId="{08CD0FAF-AACA-4E89-9DD8-85DCF49A6EB1}" destId="{19EB382C-92A6-420F-A7AC-12C3446F42BB}" srcOrd="13" destOrd="0" presId="urn:microsoft.com/office/officeart/2005/8/layout/lProcess1"/>
    <dgm:cxn modelId="{5351C6AD-C214-4A34-A941-6BE44A6A8215}" type="presParOf" srcId="{08CD0FAF-AACA-4E89-9DD8-85DCF49A6EB1}" destId="{E31C5BC5-E41C-4CB8-ACC2-363856F2573F}" srcOrd="14" destOrd="0" presId="urn:microsoft.com/office/officeart/2005/8/layout/lProcess1"/>
    <dgm:cxn modelId="{ED1FE5B5-11DC-4E8B-A65F-D34992883C8D}" type="presParOf" srcId="{E31C5BC5-E41C-4CB8-ACC2-363856F2573F}" destId="{0940D2D2-9E0E-4722-AC91-1852A03898D0}" srcOrd="0" destOrd="0" presId="urn:microsoft.com/office/officeart/2005/8/layout/lProcess1"/>
    <dgm:cxn modelId="{4D036069-8605-4250-9802-6C48D3768D53}" type="presParOf" srcId="{E31C5BC5-E41C-4CB8-ACC2-363856F2573F}" destId="{16AD1B0E-9200-43EA-8881-59C404C6064D}" srcOrd="1" destOrd="0" presId="urn:microsoft.com/office/officeart/2005/8/layout/lProcess1"/>
    <dgm:cxn modelId="{A29CFEC9-6686-4590-A249-30BBEC01C541}" type="presParOf" srcId="{E31C5BC5-E41C-4CB8-ACC2-363856F2573F}" destId="{5B7254FA-C072-4850-8E9D-9C1525E424CF}" srcOrd="2" destOrd="0" presId="urn:microsoft.com/office/officeart/2005/8/layout/lProcess1"/>
    <dgm:cxn modelId="{12994C35-F8CD-4B91-BEED-12421604833B}" type="presParOf" srcId="{08CD0FAF-AACA-4E89-9DD8-85DCF49A6EB1}" destId="{1AE50F73-2995-4C29-914E-C4D523297EC2}" srcOrd="15" destOrd="0" presId="urn:microsoft.com/office/officeart/2005/8/layout/lProcess1"/>
    <dgm:cxn modelId="{7C1A8F66-3E6B-44E1-8BFE-F4DCF15ED12D}" type="presParOf" srcId="{08CD0FAF-AACA-4E89-9DD8-85DCF49A6EB1}" destId="{6485FB32-C91E-40C7-84D5-A2FF36B67F15}" srcOrd="16" destOrd="0" presId="urn:microsoft.com/office/officeart/2005/8/layout/lProcess1"/>
    <dgm:cxn modelId="{EDE39FAE-BF84-4C47-9C44-F28829E2E81D}" type="presParOf" srcId="{6485FB32-C91E-40C7-84D5-A2FF36B67F15}" destId="{C6846D98-6396-440D-83A9-08EFE10F0C5C}" srcOrd="0" destOrd="0" presId="urn:microsoft.com/office/officeart/2005/8/layout/lProcess1"/>
    <dgm:cxn modelId="{51B6AA17-E13E-46A5-BD9E-FAF2897E5379}" type="presParOf" srcId="{6485FB32-C91E-40C7-84D5-A2FF36B67F15}" destId="{627409D3-FE97-4F76-BFB3-E6426E3F0FC6}" srcOrd="1" destOrd="0" presId="urn:microsoft.com/office/officeart/2005/8/layout/lProcess1"/>
    <dgm:cxn modelId="{70F8D29E-F7C3-4967-8195-032483614B74}" type="presParOf" srcId="{6485FB32-C91E-40C7-84D5-A2FF36B67F15}" destId="{C4E7E73E-C00F-464E-BDE6-3C75E1E9A605}" srcOrd="2" destOrd="0" presId="urn:microsoft.com/office/officeart/2005/8/layout/lProcess1"/>
    <dgm:cxn modelId="{BAA3F613-D1D3-44AB-ABC5-472721709BC9}" type="presParOf" srcId="{08CD0FAF-AACA-4E89-9DD8-85DCF49A6EB1}" destId="{57831A33-9674-4287-B47D-A55B25568B4C}" srcOrd="17" destOrd="0" presId="urn:microsoft.com/office/officeart/2005/8/layout/lProcess1"/>
    <dgm:cxn modelId="{1B61E213-C111-4E4B-ACF2-A3F2A5D1BF5C}" type="presParOf" srcId="{08CD0FAF-AACA-4E89-9DD8-85DCF49A6EB1}" destId="{F39C143F-3F47-4940-BCA4-E9167FECA305}" srcOrd="18" destOrd="0" presId="urn:microsoft.com/office/officeart/2005/8/layout/lProcess1"/>
    <dgm:cxn modelId="{FE9A9E8B-33B8-46CF-9BBD-EF31587C5AED}" type="presParOf" srcId="{F39C143F-3F47-4940-BCA4-E9167FECA305}" destId="{06485636-518A-4A2A-8870-1FD0922AD4F8}" srcOrd="0" destOrd="0" presId="urn:microsoft.com/office/officeart/2005/8/layout/lProcess1"/>
    <dgm:cxn modelId="{17AAB7A2-0986-40F8-9436-BC0374130B57}" type="presParOf" srcId="{F39C143F-3F47-4940-BCA4-E9167FECA305}" destId="{051C73D3-B90C-48F8-9DAD-9CE55DB41C36}" srcOrd="1" destOrd="0" presId="urn:microsoft.com/office/officeart/2005/8/layout/lProcess1"/>
    <dgm:cxn modelId="{B7AC4254-304D-490D-B8B9-47007AE41BCB}" type="presParOf" srcId="{F39C143F-3F47-4940-BCA4-E9167FECA305}" destId="{FBFADF46-39C6-4173-9736-68DB756FC192}" srcOrd="2" destOrd="0" presId="urn:microsoft.com/office/officeart/2005/8/layout/lProcess1"/>
    <dgm:cxn modelId="{489FDC6D-D9C0-49E2-BAB2-5F892D151E31}" type="presParOf" srcId="{08CD0FAF-AACA-4E89-9DD8-85DCF49A6EB1}" destId="{A753E8D2-5B64-42E4-A072-FDC9F1E49203}" srcOrd="19" destOrd="0" presId="urn:microsoft.com/office/officeart/2005/8/layout/lProcess1"/>
    <dgm:cxn modelId="{023D4069-8A74-4105-941D-B02D157C841D}" type="presParOf" srcId="{08CD0FAF-AACA-4E89-9DD8-85DCF49A6EB1}" destId="{2ABEC726-EE01-4358-8044-BC60DB271717}" srcOrd="20" destOrd="0" presId="urn:microsoft.com/office/officeart/2005/8/layout/lProcess1"/>
    <dgm:cxn modelId="{7CA8D44A-7EFB-42BE-A40F-1E8DA1192BAE}" type="presParOf" srcId="{2ABEC726-EE01-4358-8044-BC60DB271717}" destId="{C0EDD9D1-0FFD-471C-9468-475EB06091ED}" srcOrd="0" destOrd="0" presId="urn:microsoft.com/office/officeart/2005/8/layout/lProcess1"/>
    <dgm:cxn modelId="{86B32EC3-A5A3-4AB4-9A5D-DD2AE6BBF62B}" type="presParOf" srcId="{2ABEC726-EE01-4358-8044-BC60DB271717}" destId="{D9578B9D-8B61-4E13-B909-7B40524460AB}" srcOrd="1" destOrd="0" presId="urn:microsoft.com/office/officeart/2005/8/layout/lProcess1"/>
    <dgm:cxn modelId="{B9E5477D-5901-4AC6-82D0-D01DF0EC3660}" type="presParOf" srcId="{2ABEC726-EE01-4358-8044-BC60DB271717}" destId="{88CE19E3-4ECC-4AAE-AED3-ACBF1F9D8CEE}" srcOrd="2" destOrd="0" presId="urn:microsoft.com/office/officeart/2005/8/layout/l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D78F6A-C3F7-4AA7-AF0C-57A9E9AA317C}" type="doc">
      <dgm:prSet loTypeId="urn:microsoft.com/office/officeart/2005/8/layout/lProcess1" loCatId="process" qsTypeId="urn:microsoft.com/office/officeart/2005/8/quickstyle/simple1" qsCatId="simple" csTypeId="urn:microsoft.com/office/officeart/2005/8/colors/accent1_2" csCatId="accent1" phldr="1"/>
      <dgm:spPr/>
    </dgm:pt>
    <dgm:pt modelId="{DDFF52B6-950D-4577-A668-9DEE39F8F7BD}">
      <dgm:prSet phldrT="[Text]"/>
      <dgm:spPr/>
      <dgm:t>
        <a:bodyPr/>
        <a:lstStyle/>
        <a:p>
          <a:r>
            <a:rPr lang="en-GB" dirty="0"/>
            <a:t>Application starts</a:t>
          </a:r>
        </a:p>
      </dgm:t>
    </dgm:pt>
    <dgm:pt modelId="{1937F319-B040-4614-A700-9E27AB712829}" type="parTrans" cxnId="{08F7B0EA-6081-483A-A3B5-CEA0524EA9C1}">
      <dgm:prSet/>
      <dgm:spPr/>
      <dgm:t>
        <a:bodyPr/>
        <a:lstStyle/>
        <a:p>
          <a:endParaRPr lang="en-GB"/>
        </a:p>
      </dgm:t>
    </dgm:pt>
    <dgm:pt modelId="{2396F4BC-1582-4245-816C-9EC41BC8541B}" type="sibTrans" cxnId="{08F7B0EA-6081-483A-A3B5-CEA0524EA9C1}">
      <dgm:prSet/>
      <dgm:spPr/>
      <dgm:t>
        <a:bodyPr/>
        <a:lstStyle/>
        <a:p>
          <a:endParaRPr lang="en-GB"/>
        </a:p>
      </dgm:t>
    </dgm:pt>
    <dgm:pt modelId="{106467BC-BB8C-4632-874D-10B4E9E1BEA6}">
      <dgm:prSet phldrT="[Text]"/>
      <dgm:spPr/>
      <dgm:t>
        <a:bodyPr/>
        <a:lstStyle/>
        <a:p>
          <a:r>
            <a:rPr lang="en-GB" dirty="0"/>
            <a:t>Registers services</a:t>
          </a:r>
        </a:p>
        <a:p>
          <a:r>
            <a:rPr lang="en-GB" dirty="0"/>
            <a:t>(for dependency injection)</a:t>
          </a:r>
        </a:p>
      </dgm:t>
    </dgm:pt>
    <dgm:pt modelId="{657A776A-F180-41A2-B452-D5032E02E259}" type="parTrans" cxnId="{D0AAB7D2-8B84-4223-9967-4F6E880534E6}">
      <dgm:prSet/>
      <dgm:spPr/>
      <dgm:t>
        <a:bodyPr/>
        <a:lstStyle/>
        <a:p>
          <a:endParaRPr lang="en-GB"/>
        </a:p>
      </dgm:t>
    </dgm:pt>
    <dgm:pt modelId="{CFDEAC6A-DC1D-417D-8B6F-53F5A0480D38}" type="sibTrans" cxnId="{D0AAB7D2-8B84-4223-9967-4F6E880534E6}">
      <dgm:prSet/>
      <dgm:spPr/>
      <dgm:t>
        <a:bodyPr/>
        <a:lstStyle/>
        <a:p>
          <a:endParaRPr lang="en-GB"/>
        </a:p>
      </dgm:t>
    </dgm:pt>
    <dgm:pt modelId="{1BE386DE-5EF6-4EB6-BB48-23E17C2EDDB9}">
      <dgm:prSet phldrT="[Text]"/>
      <dgm:spPr/>
      <dgm:t>
        <a:bodyPr/>
        <a:lstStyle/>
        <a:p>
          <a:r>
            <a:rPr lang="en-GB" dirty="0"/>
            <a:t>app.*</a:t>
          </a:r>
        </a:p>
      </dgm:t>
    </dgm:pt>
    <dgm:pt modelId="{A5EB463E-AA79-4AAF-8C17-6EB0905898E9}" type="parTrans" cxnId="{48CC0688-FE34-4A54-905C-41C3FCBEDABC}">
      <dgm:prSet/>
      <dgm:spPr/>
      <dgm:t>
        <a:bodyPr/>
        <a:lstStyle/>
        <a:p>
          <a:endParaRPr lang="en-GB"/>
        </a:p>
      </dgm:t>
    </dgm:pt>
    <dgm:pt modelId="{90B486DC-F73D-455B-8721-6FE324761B35}" type="sibTrans" cxnId="{48CC0688-FE34-4A54-905C-41C3FCBEDABC}">
      <dgm:prSet/>
      <dgm:spPr/>
      <dgm:t>
        <a:bodyPr/>
        <a:lstStyle/>
        <a:p>
          <a:endParaRPr lang="en-GB"/>
        </a:p>
      </dgm:t>
    </dgm:pt>
    <dgm:pt modelId="{C6275A64-422B-45B6-AA63-7A2348533BBA}">
      <dgm:prSet phldrT="[Text]"/>
      <dgm:spPr/>
      <dgm:t>
        <a:bodyPr/>
        <a:lstStyle/>
        <a:p>
          <a:r>
            <a:rPr lang="en-GB" dirty="0"/>
            <a:t>Configures request pipeline</a:t>
          </a:r>
        </a:p>
        <a:p>
          <a:r>
            <a:rPr lang="en-GB" dirty="0"/>
            <a:t>(middleware)</a:t>
          </a:r>
        </a:p>
      </dgm:t>
    </dgm:pt>
    <dgm:pt modelId="{E8896E27-457D-4F78-99E7-25B6900845AD}" type="parTrans" cxnId="{E4C9E469-D601-4F9B-AF6C-633376D9A44C}">
      <dgm:prSet/>
      <dgm:spPr/>
      <dgm:t>
        <a:bodyPr/>
        <a:lstStyle/>
        <a:p>
          <a:endParaRPr lang="en-GB"/>
        </a:p>
      </dgm:t>
    </dgm:pt>
    <dgm:pt modelId="{581EF0BA-2495-4646-B694-06ADE8C0EF84}" type="sibTrans" cxnId="{E4C9E469-D601-4F9B-AF6C-633376D9A44C}">
      <dgm:prSet/>
      <dgm:spPr/>
      <dgm:t>
        <a:bodyPr/>
        <a:lstStyle/>
        <a:p>
          <a:endParaRPr lang="en-GB"/>
        </a:p>
      </dgm:t>
    </dgm:pt>
    <dgm:pt modelId="{808D9C91-5012-4DAE-89A8-E38D4E07BA7B}">
      <dgm:prSet phldrT="[Text]"/>
      <dgm:spPr/>
      <dgm:t>
        <a:bodyPr/>
        <a:lstStyle/>
        <a:p>
          <a:r>
            <a:rPr lang="en-GB" dirty="0" err="1"/>
            <a:t>app.Run</a:t>
          </a:r>
          <a:r>
            <a:rPr lang="en-GB" dirty="0"/>
            <a:t>()</a:t>
          </a:r>
        </a:p>
      </dgm:t>
    </dgm:pt>
    <dgm:pt modelId="{CEB664BF-D9A2-41C8-A3D5-492A5BF2514E}" type="parTrans" cxnId="{6DF6FC57-66E4-4C69-90DE-5ACD56910730}">
      <dgm:prSet/>
      <dgm:spPr/>
      <dgm:t>
        <a:bodyPr/>
        <a:lstStyle/>
        <a:p>
          <a:endParaRPr lang="en-GB"/>
        </a:p>
      </dgm:t>
    </dgm:pt>
    <dgm:pt modelId="{B220FF87-CED7-4F4E-8900-8F97F9CD4252}" type="sibTrans" cxnId="{6DF6FC57-66E4-4C69-90DE-5ACD56910730}">
      <dgm:prSet/>
      <dgm:spPr/>
      <dgm:t>
        <a:bodyPr/>
        <a:lstStyle/>
        <a:p>
          <a:endParaRPr lang="en-GB"/>
        </a:p>
      </dgm:t>
    </dgm:pt>
    <dgm:pt modelId="{8F27F51F-938E-4481-8A6E-FC698E1A006B}">
      <dgm:prSet phldrT="[Text]"/>
      <dgm:spPr/>
      <dgm:t>
        <a:bodyPr/>
        <a:lstStyle/>
        <a:p>
          <a:r>
            <a:rPr lang="en-GB" dirty="0"/>
            <a:t>Program class is executed</a:t>
          </a:r>
        </a:p>
      </dgm:t>
    </dgm:pt>
    <dgm:pt modelId="{22B0F2C5-ABED-4946-BFE3-4C7CF81997B7}" type="parTrans" cxnId="{7FB9864F-A68A-4D4D-93FF-B2CCCC0C0A19}">
      <dgm:prSet/>
      <dgm:spPr/>
      <dgm:t>
        <a:bodyPr/>
        <a:lstStyle/>
        <a:p>
          <a:endParaRPr lang="en-GB"/>
        </a:p>
      </dgm:t>
    </dgm:pt>
    <dgm:pt modelId="{32ABC506-65C8-44B6-80BB-284359479575}" type="sibTrans" cxnId="{7FB9864F-A68A-4D4D-93FF-B2CCCC0C0A19}">
      <dgm:prSet/>
      <dgm:spPr/>
      <dgm:t>
        <a:bodyPr/>
        <a:lstStyle/>
        <a:p>
          <a:endParaRPr lang="en-GB"/>
        </a:p>
      </dgm:t>
    </dgm:pt>
    <dgm:pt modelId="{3AEED476-7FEC-4EE1-BDEA-7EE286F4F12E}">
      <dgm:prSet phldrT="[Text]"/>
      <dgm:spPr/>
      <dgm:t>
        <a:bodyPr/>
        <a:lstStyle/>
        <a:p>
          <a:r>
            <a:rPr lang="en-GB" dirty="0"/>
            <a:t>builder.Services.*</a:t>
          </a:r>
        </a:p>
      </dgm:t>
    </dgm:pt>
    <dgm:pt modelId="{8F67138F-73AA-4879-ADF5-8721B360E77F}" type="parTrans" cxnId="{2379DB03-89BD-4D4A-9F6A-6FA33FE38F36}">
      <dgm:prSet/>
      <dgm:spPr/>
      <dgm:t>
        <a:bodyPr/>
        <a:lstStyle/>
        <a:p>
          <a:endParaRPr lang="en-GB"/>
        </a:p>
      </dgm:t>
    </dgm:pt>
    <dgm:pt modelId="{1F221253-DFB0-493D-99CC-54784C18094C}" type="sibTrans" cxnId="{2379DB03-89BD-4D4A-9F6A-6FA33FE38F36}">
      <dgm:prSet/>
      <dgm:spPr/>
      <dgm:t>
        <a:bodyPr/>
        <a:lstStyle/>
        <a:p>
          <a:endParaRPr lang="en-GB"/>
        </a:p>
      </dgm:t>
    </dgm:pt>
    <dgm:pt modelId="{CD072AE9-969F-4A7D-9526-1A4DB6278F33}">
      <dgm:prSet phldrT="[Text]"/>
      <dgm:spPr/>
      <dgm:t>
        <a:bodyPr/>
        <a:lstStyle/>
        <a:p>
          <a:r>
            <a:rPr lang="en-GB" dirty="0"/>
            <a:t>Web app is ready for requests</a:t>
          </a:r>
        </a:p>
      </dgm:t>
    </dgm:pt>
    <dgm:pt modelId="{7DA4F0A7-AA2B-4879-B78D-E2A5A770E58A}" type="parTrans" cxnId="{6C5832B3-C865-4F1B-A87A-F518A8146E7E}">
      <dgm:prSet/>
      <dgm:spPr/>
      <dgm:t>
        <a:bodyPr/>
        <a:lstStyle/>
        <a:p>
          <a:endParaRPr lang="en-GB"/>
        </a:p>
      </dgm:t>
    </dgm:pt>
    <dgm:pt modelId="{017EE1A6-7EB8-4E9A-B8D1-89B4E12D1A21}" type="sibTrans" cxnId="{6C5832B3-C865-4F1B-A87A-F518A8146E7E}">
      <dgm:prSet/>
      <dgm:spPr/>
      <dgm:t>
        <a:bodyPr/>
        <a:lstStyle/>
        <a:p>
          <a:endParaRPr lang="en-GB"/>
        </a:p>
      </dgm:t>
    </dgm:pt>
    <dgm:pt modelId="{08CD0FAF-AACA-4E89-9DD8-85DCF49A6EB1}" type="pres">
      <dgm:prSet presAssocID="{A3D78F6A-C3F7-4AA7-AF0C-57A9E9AA317C}" presName="Name0" presStyleCnt="0">
        <dgm:presLayoutVars>
          <dgm:dir/>
          <dgm:animLvl val="lvl"/>
          <dgm:resizeHandles val="exact"/>
        </dgm:presLayoutVars>
      </dgm:prSet>
      <dgm:spPr/>
    </dgm:pt>
    <dgm:pt modelId="{D6AAFA6B-0581-46F6-BA52-427CE741DCB3}" type="pres">
      <dgm:prSet presAssocID="{DDFF52B6-950D-4577-A668-9DEE39F8F7BD}" presName="vertFlow" presStyleCnt="0"/>
      <dgm:spPr/>
    </dgm:pt>
    <dgm:pt modelId="{4640CB95-63AE-4823-B144-7F9AFFA78FD1}" type="pres">
      <dgm:prSet presAssocID="{DDFF52B6-950D-4577-A668-9DEE39F8F7BD}" presName="header" presStyleLbl="node1" presStyleIdx="0" presStyleCnt="4"/>
      <dgm:spPr/>
    </dgm:pt>
    <dgm:pt modelId="{98B14B5C-9A94-4502-8E41-5E83FF769995}" type="pres">
      <dgm:prSet presAssocID="{22B0F2C5-ABED-4946-BFE3-4C7CF81997B7}" presName="parTrans" presStyleLbl="sibTrans2D1" presStyleIdx="0" presStyleCnt="4"/>
      <dgm:spPr/>
    </dgm:pt>
    <dgm:pt modelId="{1E85DC41-EBE4-4859-B492-94B4E5E8BB84}" type="pres">
      <dgm:prSet presAssocID="{8F27F51F-938E-4481-8A6E-FC698E1A006B}" presName="child" presStyleLbl="alignAccFollowNode1" presStyleIdx="0" presStyleCnt="4">
        <dgm:presLayoutVars>
          <dgm:chMax val="0"/>
          <dgm:bulletEnabled val="1"/>
        </dgm:presLayoutVars>
      </dgm:prSet>
      <dgm:spPr/>
    </dgm:pt>
    <dgm:pt modelId="{048D54C8-E6D3-4595-A63D-943DCEFB14C4}" type="pres">
      <dgm:prSet presAssocID="{DDFF52B6-950D-4577-A668-9DEE39F8F7BD}" presName="hSp" presStyleCnt="0"/>
      <dgm:spPr/>
    </dgm:pt>
    <dgm:pt modelId="{06E089C3-9821-471C-900D-F48919C5ED0D}" type="pres">
      <dgm:prSet presAssocID="{3AEED476-7FEC-4EE1-BDEA-7EE286F4F12E}" presName="vertFlow" presStyleCnt="0"/>
      <dgm:spPr/>
    </dgm:pt>
    <dgm:pt modelId="{273046CB-960C-4216-93B8-98B806BBDB5D}" type="pres">
      <dgm:prSet presAssocID="{3AEED476-7FEC-4EE1-BDEA-7EE286F4F12E}" presName="header" presStyleLbl="node1" presStyleIdx="1" presStyleCnt="4"/>
      <dgm:spPr/>
    </dgm:pt>
    <dgm:pt modelId="{ED73B8D6-E5DA-4E26-BD07-39281E69A12B}" type="pres">
      <dgm:prSet presAssocID="{657A776A-F180-41A2-B452-D5032E02E259}" presName="parTrans" presStyleLbl="sibTrans2D1" presStyleIdx="1" presStyleCnt="4"/>
      <dgm:spPr/>
    </dgm:pt>
    <dgm:pt modelId="{C02A9533-C8BF-4292-B16A-1EDB298442E5}" type="pres">
      <dgm:prSet presAssocID="{106467BC-BB8C-4632-874D-10B4E9E1BEA6}" presName="child" presStyleLbl="alignAccFollowNode1" presStyleIdx="1" presStyleCnt="4">
        <dgm:presLayoutVars>
          <dgm:chMax val="0"/>
          <dgm:bulletEnabled val="1"/>
        </dgm:presLayoutVars>
      </dgm:prSet>
      <dgm:spPr/>
    </dgm:pt>
    <dgm:pt modelId="{20A50947-3553-4257-BCCF-DC4E81CA1AC6}" type="pres">
      <dgm:prSet presAssocID="{3AEED476-7FEC-4EE1-BDEA-7EE286F4F12E}" presName="hSp" presStyleCnt="0"/>
      <dgm:spPr/>
    </dgm:pt>
    <dgm:pt modelId="{0EEECFB1-5996-4343-B8AD-98FEC490AAD3}" type="pres">
      <dgm:prSet presAssocID="{1BE386DE-5EF6-4EB6-BB48-23E17C2EDDB9}" presName="vertFlow" presStyleCnt="0"/>
      <dgm:spPr/>
    </dgm:pt>
    <dgm:pt modelId="{710ACFD3-16F1-41B4-A365-74BE60B74B7D}" type="pres">
      <dgm:prSet presAssocID="{1BE386DE-5EF6-4EB6-BB48-23E17C2EDDB9}" presName="header" presStyleLbl="node1" presStyleIdx="2" presStyleCnt="4"/>
      <dgm:spPr/>
    </dgm:pt>
    <dgm:pt modelId="{2C8B701D-7089-46F9-8AE7-F25795608D12}" type="pres">
      <dgm:prSet presAssocID="{E8896E27-457D-4F78-99E7-25B6900845AD}" presName="parTrans" presStyleLbl="sibTrans2D1" presStyleIdx="2" presStyleCnt="4"/>
      <dgm:spPr/>
    </dgm:pt>
    <dgm:pt modelId="{417B47A1-F272-4ECF-A408-AEC9EB0C633C}" type="pres">
      <dgm:prSet presAssocID="{C6275A64-422B-45B6-AA63-7A2348533BBA}" presName="child" presStyleLbl="alignAccFollowNode1" presStyleIdx="2" presStyleCnt="4">
        <dgm:presLayoutVars>
          <dgm:chMax val="0"/>
          <dgm:bulletEnabled val="1"/>
        </dgm:presLayoutVars>
      </dgm:prSet>
      <dgm:spPr/>
    </dgm:pt>
    <dgm:pt modelId="{D490BCE6-5271-4695-BEAF-CCD26DFA6159}" type="pres">
      <dgm:prSet presAssocID="{1BE386DE-5EF6-4EB6-BB48-23E17C2EDDB9}" presName="hSp" presStyleCnt="0"/>
      <dgm:spPr/>
    </dgm:pt>
    <dgm:pt modelId="{63D04396-B94A-424F-8D35-0AA8DC5E1885}" type="pres">
      <dgm:prSet presAssocID="{808D9C91-5012-4DAE-89A8-E38D4E07BA7B}" presName="vertFlow" presStyleCnt="0"/>
      <dgm:spPr/>
    </dgm:pt>
    <dgm:pt modelId="{80D80F6B-83DA-4C5E-AB31-676E30A62703}" type="pres">
      <dgm:prSet presAssocID="{808D9C91-5012-4DAE-89A8-E38D4E07BA7B}" presName="header" presStyleLbl="node1" presStyleIdx="3" presStyleCnt="4"/>
      <dgm:spPr/>
    </dgm:pt>
    <dgm:pt modelId="{1B66AA08-9BBE-4E8A-88DC-E8F77278F5B8}" type="pres">
      <dgm:prSet presAssocID="{7DA4F0A7-AA2B-4879-B78D-E2A5A770E58A}" presName="parTrans" presStyleLbl="sibTrans2D1" presStyleIdx="3" presStyleCnt="4"/>
      <dgm:spPr/>
    </dgm:pt>
    <dgm:pt modelId="{5C4A2018-2D0B-467A-AAAF-458794D9AAC2}" type="pres">
      <dgm:prSet presAssocID="{CD072AE9-969F-4A7D-9526-1A4DB6278F33}" presName="child" presStyleLbl="alignAccFollowNode1" presStyleIdx="3" presStyleCnt="4">
        <dgm:presLayoutVars>
          <dgm:chMax val="0"/>
          <dgm:bulletEnabled val="1"/>
        </dgm:presLayoutVars>
      </dgm:prSet>
      <dgm:spPr/>
    </dgm:pt>
  </dgm:ptLst>
  <dgm:cxnLst>
    <dgm:cxn modelId="{D0C1D503-A5F4-4C09-BBF1-32163FFC915C}" type="presOf" srcId="{657A776A-F180-41A2-B452-D5032E02E259}" destId="{ED73B8D6-E5DA-4E26-BD07-39281E69A12B}" srcOrd="0" destOrd="0" presId="urn:microsoft.com/office/officeart/2005/8/layout/lProcess1"/>
    <dgm:cxn modelId="{2379DB03-89BD-4D4A-9F6A-6FA33FE38F36}" srcId="{A3D78F6A-C3F7-4AA7-AF0C-57A9E9AA317C}" destId="{3AEED476-7FEC-4EE1-BDEA-7EE286F4F12E}" srcOrd="1" destOrd="0" parTransId="{8F67138F-73AA-4879-ADF5-8721B360E77F}" sibTransId="{1F221253-DFB0-493D-99CC-54784C18094C}"/>
    <dgm:cxn modelId="{672B4C06-9E58-4070-B9E9-AFA3538655DF}" type="presOf" srcId="{808D9C91-5012-4DAE-89A8-E38D4E07BA7B}" destId="{80D80F6B-83DA-4C5E-AB31-676E30A62703}" srcOrd="0" destOrd="0" presId="urn:microsoft.com/office/officeart/2005/8/layout/lProcess1"/>
    <dgm:cxn modelId="{C331DD25-F451-4E4D-9D66-6054258677FF}" type="presOf" srcId="{1BE386DE-5EF6-4EB6-BB48-23E17C2EDDB9}" destId="{710ACFD3-16F1-41B4-A365-74BE60B74B7D}" srcOrd="0" destOrd="0" presId="urn:microsoft.com/office/officeart/2005/8/layout/lProcess1"/>
    <dgm:cxn modelId="{DAB4D32B-11EE-4159-BFF2-238BCCB3BA11}" type="presOf" srcId="{C6275A64-422B-45B6-AA63-7A2348533BBA}" destId="{417B47A1-F272-4ECF-A408-AEC9EB0C633C}" srcOrd="0" destOrd="0" presId="urn:microsoft.com/office/officeart/2005/8/layout/lProcess1"/>
    <dgm:cxn modelId="{8BA32A34-BF20-4D69-A34A-A266A530851A}" type="presOf" srcId="{7DA4F0A7-AA2B-4879-B78D-E2A5A770E58A}" destId="{1B66AA08-9BBE-4E8A-88DC-E8F77278F5B8}" srcOrd="0" destOrd="0" presId="urn:microsoft.com/office/officeart/2005/8/layout/lProcess1"/>
    <dgm:cxn modelId="{E2B7C33E-5905-4D7A-90D7-3D239A6515B4}" type="presOf" srcId="{8F27F51F-938E-4481-8A6E-FC698E1A006B}" destId="{1E85DC41-EBE4-4859-B492-94B4E5E8BB84}" srcOrd="0" destOrd="0" presId="urn:microsoft.com/office/officeart/2005/8/layout/lProcess1"/>
    <dgm:cxn modelId="{1F957569-2887-4AF3-824C-4431262D6359}" type="presOf" srcId="{22B0F2C5-ABED-4946-BFE3-4C7CF81997B7}" destId="{98B14B5C-9A94-4502-8E41-5E83FF769995}" srcOrd="0" destOrd="0" presId="urn:microsoft.com/office/officeart/2005/8/layout/lProcess1"/>
    <dgm:cxn modelId="{E4C9E469-D601-4F9B-AF6C-633376D9A44C}" srcId="{1BE386DE-5EF6-4EB6-BB48-23E17C2EDDB9}" destId="{C6275A64-422B-45B6-AA63-7A2348533BBA}" srcOrd="0" destOrd="0" parTransId="{E8896E27-457D-4F78-99E7-25B6900845AD}" sibTransId="{581EF0BA-2495-4646-B694-06ADE8C0EF84}"/>
    <dgm:cxn modelId="{7FB9864F-A68A-4D4D-93FF-B2CCCC0C0A19}" srcId="{DDFF52B6-950D-4577-A668-9DEE39F8F7BD}" destId="{8F27F51F-938E-4481-8A6E-FC698E1A006B}" srcOrd="0" destOrd="0" parTransId="{22B0F2C5-ABED-4946-BFE3-4C7CF81997B7}" sibTransId="{32ABC506-65C8-44B6-80BB-284359479575}"/>
    <dgm:cxn modelId="{6DF6FC57-66E4-4C69-90DE-5ACD56910730}" srcId="{A3D78F6A-C3F7-4AA7-AF0C-57A9E9AA317C}" destId="{808D9C91-5012-4DAE-89A8-E38D4E07BA7B}" srcOrd="3" destOrd="0" parTransId="{CEB664BF-D9A2-41C8-A3D5-492A5BF2514E}" sibTransId="{B220FF87-CED7-4F4E-8900-8F97F9CD4252}"/>
    <dgm:cxn modelId="{48CC0688-FE34-4A54-905C-41C3FCBEDABC}" srcId="{A3D78F6A-C3F7-4AA7-AF0C-57A9E9AA317C}" destId="{1BE386DE-5EF6-4EB6-BB48-23E17C2EDDB9}" srcOrd="2" destOrd="0" parTransId="{A5EB463E-AA79-4AAF-8C17-6EB0905898E9}" sibTransId="{90B486DC-F73D-455B-8721-6FE324761B35}"/>
    <dgm:cxn modelId="{CBE9068C-43AF-4DB9-A0E2-944C6F88310A}" type="presOf" srcId="{A3D78F6A-C3F7-4AA7-AF0C-57A9E9AA317C}" destId="{08CD0FAF-AACA-4E89-9DD8-85DCF49A6EB1}" srcOrd="0" destOrd="0" presId="urn:microsoft.com/office/officeart/2005/8/layout/lProcess1"/>
    <dgm:cxn modelId="{E3272AB1-6BA1-4815-B489-89B516A0EB0C}" type="presOf" srcId="{DDFF52B6-950D-4577-A668-9DEE39F8F7BD}" destId="{4640CB95-63AE-4823-B144-7F9AFFA78FD1}" srcOrd="0" destOrd="0" presId="urn:microsoft.com/office/officeart/2005/8/layout/lProcess1"/>
    <dgm:cxn modelId="{6C5832B3-C865-4F1B-A87A-F518A8146E7E}" srcId="{808D9C91-5012-4DAE-89A8-E38D4E07BA7B}" destId="{CD072AE9-969F-4A7D-9526-1A4DB6278F33}" srcOrd="0" destOrd="0" parTransId="{7DA4F0A7-AA2B-4879-B78D-E2A5A770E58A}" sibTransId="{017EE1A6-7EB8-4E9A-B8D1-89B4E12D1A21}"/>
    <dgm:cxn modelId="{D40C85B7-3C38-4F49-9C07-046CD3F7F637}" type="presOf" srcId="{3AEED476-7FEC-4EE1-BDEA-7EE286F4F12E}" destId="{273046CB-960C-4216-93B8-98B806BBDB5D}" srcOrd="0" destOrd="0" presId="urn:microsoft.com/office/officeart/2005/8/layout/lProcess1"/>
    <dgm:cxn modelId="{EEA63BB9-183F-4BE6-B9BC-BD1EE242FBA5}" type="presOf" srcId="{CD072AE9-969F-4A7D-9526-1A4DB6278F33}" destId="{5C4A2018-2D0B-467A-AAAF-458794D9AAC2}" srcOrd="0" destOrd="0" presId="urn:microsoft.com/office/officeart/2005/8/layout/lProcess1"/>
    <dgm:cxn modelId="{203B08BF-3D65-4FED-B2D2-B42D4FC21DB2}" type="presOf" srcId="{E8896E27-457D-4F78-99E7-25B6900845AD}" destId="{2C8B701D-7089-46F9-8AE7-F25795608D12}" srcOrd="0" destOrd="0" presId="urn:microsoft.com/office/officeart/2005/8/layout/lProcess1"/>
    <dgm:cxn modelId="{62E2C1CA-1D51-4A38-8E8F-E61282D4A0E4}" type="presOf" srcId="{106467BC-BB8C-4632-874D-10B4E9E1BEA6}" destId="{C02A9533-C8BF-4292-B16A-1EDB298442E5}" srcOrd="0" destOrd="0" presId="urn:microsoft.com/office/officeart/2005/8/layout/lProcess1"/>
    <dgm:cxn modelId="{D0AAB7D2-8B84-4223-9967-4F6E880534E6}" srcId="{3AEED476-7FEC-4EE1-BDEA-7EE286F4F12E}" destId="{106467BC-BB8C-4632-874D-10B4E9E1BEA6}" srcOrd="0" destOrd="0" parTransId="{657A776A-F180-41A2-B452-D5032E02E259}" sibTransId="{CFDEAC6A-DC1D-417D-8B6F-53F5A0480D38}"/>
    <dgm:cxn modelId="{08F7B0EA-6081-483A-A3B5-CEA0524EA9C1}" srcId="{A3D78F6A-C3F7-4AA7-AF0C-57A9E9AA317C}" destId="{DDFF52B6-950D-4577-A668-9DEE39F8F7BD}" srcOrd="0" destOrd="0" parTransId="{1937F319-B040-4614-A700-9E27AB712829}" sibTransId="{2396F4BC-1582-4245-816C-9EC41BC8541B}"/>
    <dgm:cxn modelId="{E3499694-1DDA-4DF2-BB9C-1F62491D40EE}" type="presParOf" srcId="{08CD0FAF-AACA-4E89-9DD8-85DCF49A6EB1}" destId="{D6AAFA6B-0581-46F6-BA52-427CE741DCB3}" srcOrd="0" destOrd="0" presId="urn:microsoft.com/office/officeart/2005/8/layout/lProcess1"/>
    <dgm:cxn modelId="{906C4885-F28A-4FA1-B34F-5394587812D0}" type="presParOf" srcId="{D6AAFA6B-0581-46F6-BA52-427CE741DCB3}" destId="{4640CB95-63AE-4823-B144-7F9AFFA78FD1}" srcOrd="0" destOrd="0" presId="urn:microsoft.com/office/officeart/2005/8/layout/lProcess1"/>
    <dgm:cxn modelId="{A481E807-2861-409C-B05D-98D6086DCEFB}" type="presParOf" srcId="{D6AAFA6B-0581-46F6-BA52-427CE741DCB3}" destId="{98B14B5C-9A94-4502-8E41-5E83FF769995}" srcOrd="1" destOrd="0" presId="urn:microsoft.com/office/officeart/2005/8/layout/lProcess1"/>
    <dgm:cxn modelId="{57FCF790-CED4-4B51-9E98-200CD228295E}" type="presParOf" srcId="{D6AAFA6B-0581-46F6-BA52-427CE741DCB3}" destId="{1E85DC41-EBE4-4859-B492-94B4E5E8BB84}" srcOrd="2" destOrd="0" presId="urn:microsoft.com/office/officeart/2005/8/layout/lProcess1"/>
    <dgm:cxn modelId="{05DC35EA-E3DD-4D85-A559-6945106CF0A5}" type="presParOf" srcId="{08CD0FAF-AACA-4E89-9DD8-85DCF49A6EB1}" destId="{048D54C8-E6D3-4595-A63D-943DCEFB14C4}" srcOrd="1" destOrd="0" presId="urn:microsoft.com/office/officeart/2005/8/layout/lProcess1"/>
    <dgm:cxn modelId="{0BB0ACB3-B56B-4549-93BF-8CE3471AE56C}" type="presParOf" srcId="{08CD0FAF-AACA-4E89-9DD8-85DCF49A6EB1}" destId="{06E089C3-9821-471C-900D-F48919C5ED0D}" srcOrd="2" destOrd="0" presId="urn:microsoft.com/office/officeart/2005/8/layout/lProcess1"/>
    <dgm:cxn modelId="{6C28A1A8-6662-42F2-89C7-5E4E6C5737E6}" type="presParOf" srcId="{06E089C3-9821-471C-900D-F48919C5ED0D}" destId="{273046CB-960C-4216-93B8-98B806BBDB5D}" srcOrd="0" destOrd="0" presId="urn:microsoft.com/office/officeart/2005/8/layout/lProcess1"/>
    <dgm:cxn modelId="{5A984CC2-EFF5-4C20-BB03-D96E88927FEE}" type="presParOf" srcId="{06E089C3-9821-471C-900D-F48919C5ED0D}" destId="{ED73B8D6-E5DA-4E26-BD07-39281E69A12B}" srcOrd="1" destOrd="0" presId="urn:microsoft.com/office/officeart/2005/8/layout/lProcess1"/>
    <dgm:cxn modelId="{123C2712-F846-4402-B5FE-86C6C001304D}" type="presParOf" srcId="{06E089C3-9821-471C-900D-F48919C5ED0D}" destId="{C02A9533-C8BF-4292-B16A-1EDB298442E5}" srcOrd="2" destOrd="0" presId="urn:microsoft.com/office/officeart/2005/8/layout/lProcess1"/>
    <dgm:cxn modelId="{E1E333FE-4B6B-482E-A1A8-A61AE21ADCEB}" type="presParOf" srcId="{08CD0FAF-AACA-4E89-9DD8-85DCF49A6EB1}" destId="{20A50947-3553-4257-BCCF-DC4E81CA1AC6}" srcOrd="3" destOrd="0" presId="urn:microsoft.com/office/officeart/2005/8/layout/lProcess1"/>
    <dgm:cxn modelId="{66C0C73E-AE75-4ECB-B4B5-2D27A8B12A8B}" type="presParOf" srcId="{08CD0FAF-AACA-4E89-9DD8-85DCF49A6EB1}" destId="{0EEECFB1-5996-4343-B8AD-98FEC490AAD3}" srcOrd="4" destOrd="0" presId="urn:microsoft.com/office/officeart/2005/8/layout/lProcess1"/>
    <dgm:cxn modelId="{DC68218B-493E-4855-8AC1-631410128FB0}" type="presParOf" srcId="{0EEECFB1-5996-4343-B8AD-98FEC490AAD3}" destId="{710ACFD3-16F1-41B4-A365-74BE60B74B7D}" srcOrd="0" destOrd="0" presId="urn:microsoft.com/office/officeart/2005/8/layout/lProcess1"/>
    <dgm:cxn modelId="{646464DF-019B-4A58-B187-4189A56E3DEF}" type="presParOf" srcId="{0EEECFB1-5996-4343-B8AD-98FEC490AAD3}" destId="{2C8B701D-7089-46F9-8AE7-F25795608D12}" srcOrd="1" destOrd="0" presId="urn:microsoft.com/office/officeart/2005/8/layout/lProcess1"/>
    <dgm:cxn modelId="{0E8219B9-CDAF-43DA-89C7-BB3A3805FECD}" type="presParOf" srcId="{0EEECFB1-5996-4343-B8AD-98FEC490AAD3}" destId="{417B47A1-F272-4ECF-A408-AEC9EB0C633C}" srcOrd="2" destOrd="0" presId="urn:microsoft.com/office/officeart/2005/8/layout/lProcess1"/>
    <dgm:cxn modelId="{5DFD5B31-DC70-4367-8136-F8C7DCEBD885}" type="presParOf" srcId="{08CD0FAF-AACA-4E89-9DD8-85DCF49A6EB1}" destId="{D490BCE6-5271-4695-BEAF-CCD26DFA6159}" srcOrd="5" destOrd="0" presId="urn:microsoft.com/office/officeart/2005/8/layout/lProcess1"/>
    <dgm:cxn modelId="{284CFBE2-2F5B-49C0-AF12-2A40FE982D8F}" type="presParOf" srcId="{08CD0FAF-AACA-4E89-9DD8-85DCF49A6EB1}" destId="{63D04396-B94A-424F-8D35-0AA8DC5E1885}" srcOrd="6" destOrd="0" presId="urn:microsoft.com/office/officeart/2005/8/layout/lProcess1"/>
    <dgm:cxn modelId="{A469343E-F2A2-40F0-9B9E-57AD51921A13}" type="presParOf" srcId="{63D04396-B94A-424F-8D35-0AA8DC5E1885}" destId="{80D80F6B-83DA-4C5E-AB31-676E30A62703}" srcOrd="0" destOrd="0" presId="urn:microsoft.com/office/officeart/2005/8/layout/lProcess1"/>
    <dgm:cxn modelId="{AC0D2862-FB2F-429F-80DD-345107C2275F}" type="presParOf" srcId="{63D04396-B94A-424F-8D35-0AA8DC5E1885}" destId="{1B66AA08-9BBE-4E8A-88DC-E8F77278F5B8}" srcOrd="1" destOrd="0" presId="urn:microsoft.com/office/officeart/2005/8/layout/lProcess1"/>
    <dgm:cxn modelId="{D118A172-A772-4A27-B509-9FA985CCFA2E}" type="presParOf" srcId="{63D04396-B94A-424F-8D35-0AA8DC5E1885}" destId="{5C4A2018-2D0B-467A-AAAF-458794D9AAC2}" srcOrd="2"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0CB95-63AE-4823-B144-7F9AFFA78FD1}">
      <dsp:nvSpPr>
        <dsp:cNvPr id="0" name=""/>
        <dsp:cNvSpPr/>
      </dsp:nvSpPr>
      <dsp:spPr>
        <a:xfrm>
          <a:off x="531"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1990s</a:t>
          </a:r>
        </a:p>
      </dsp:txBody>
      <dsp:txXfrm>
        <a:off x="6530" y="2757428"/>
        <a:ext cx="807271" cy="192819"/>
      </dsp:txXfrm>
    </dsp:sp>
    <dsp:sp modelId="{755A6EB4-A0E4-4DB6-9E34-87B8ACC02646}">
      <dsp:nvSpPr>
        <dsp:cNvPr id="0" name=""/>
        <dsp:cNvSpPr/>
      </dsp:nvSpPr>
      <dsp:spPr>
        <a:xfrm rot="5400000">
          <a:off x="392244"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8C3263C-2A96-4309-90B9-2277E2DEB056}">
      <dsp:nvSpPr>
        <dsp:cNvPr id="0" name=""/>
        <dsp:cNvSpPr/>
      </dsp:nvSpPr>
      <dsp:spPr>
        <a:xfrm>
          <a:off x="531"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a:t>
          </a:r>
        </a:p>
      </dsp:txBody>
      <dsp:txXfrm>
        <a:off x="6530" y="3033931"/>
        <a:ext cx="807271" cy="192819"/>
      </dsp:txXfrm>
    </dsp:sp>
    <dsp:sp modelId="{2FC4CFEE-8FDC-4B31-B882-C67E4FDA404B}">
      <dsp:nvSpPr>
        <dsp:cNvPr id="0" name=""/>
        <dsp:cNvSpPr/>
      </dsp:nvSpPr>
      <dsp:spPr>
        <a:xfrm>
          <a:off x="934498"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2002</a:t>
          </a:r>
        </a:p>
      </dsp:txBody>
      <dsp:txXfrm>
        <a:off x="940497" y="2757428"/>
        <a:ext cx="807271" cy="192819"/>
      </dsp:txXfrm>
    </dsp:sp>
    <dsp:sp modelId="{6492C199-1AF3-49A2-A33C-6DC120057EF6}">
      <dsp:nvSpPr>
        <dsp:cNvPr id="0" name=""/>
        <dsp:cNvSpPr/>
      </dsp:nvSpPr>
      <dsp:spPr>
        <a:xfrm rot="5400000">
          <a:off x="1326211"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770B6C-7F1B-43CC-B582-B234B192DADD}">
      <dsp:nvSpPr>
        <dsp:cNvPr id="0" name=""/>
        <dsp:cNvSpPr/>
      </dsp:nvSpPr>
      <dsp:spPr>
        <a:xfrm>
          <a:off x="934498"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WebForms</a:t>
          </a:r>
        </a:p>
      </dsp:txBody>
      <dsp:txXfrm>
        <a:off x="940497" y="3033931"/>
        <a:ext cx="807271" cy="192819"/>
      </dsp:txXfrm>
    </dsp:sp>
    <dsp:sp modelId="{A644C25A-A34A-48AE-B6EA-FCDFB3A6C229}">
      <dsp:nvSpPr>
        <dsp:cNvPr id="0" name=""/>
        <dsp:cNvSpPr/>
      </dsp:nvSpPr>
      <dsp:spPr>
        <a:xfrm>
          <a:off x="1868465"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2008</a:t>
          </a:r>
        </a:p>
      </dsp:txBody>
      <dsp:txXfrm>
        <a:off x="1874464" y="2757428"/>
        <a:ext cx="807271" cy="192819"/>
      </dsp:txXfrm>
    </dsp:sp>
    <dsp:sp modelId="{2731C2B9-23D7-492E-8D73-73171A6130B7}">
      <dsp:nvSpPr>
        <dsp:cNvPr id="0" name=""/>
        <dsp:cNvSpPr/>
      </dsp:nvSpPr>
      <dsp:spPr>
        <a:xfrm rot="5400000">
          <a:off x="2260178"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2A9533-C8BF-4292-B16A-1EDB298442E5}">
      <dsp:nvSpPr>
        <dsp:cNvPr id="0" name=""/>
        <dsp:cNvSpPr/>
      </dsp:nvSpPr>
      <dsp:spPr>
        <a:xfrm>
          <a:off x="1868465"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MVC</a:t>
          </a:r>
        </a:p>
      </dsp:txBody>
      <dsp:txXfrm>
        <a:off x="1874464" y="3033931"/>
        <a:ext cx="807271" cy="192819"/>
      </dsp:txXfrm>
    </dsp:sp>
    <dsp:sp modelId="{710ACFD3-16F1-41B4-A365-74BE60B74B7D}">
      <dsp:nvSpPr>
        <dsp:cNvPr id="0" name=""/>
        <dsp:cNvSpPr/>
      </dsp:nvSpPr>
      <dsp:spPr>
        <a:xfrm>
          <a:off x="2802432"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2016</a:t>
          </a:r>
        </a:p>
      </dsp:txBody>
      <dsp:txXfrm>
        <a:off x="2808431" y="2757428"/>
        <a:ext cx="807271" cy="192819"/>
      </dsp:txXfrm>
    </dsp:sp>
    <dsp:sp modelId="{2C8B701D-7089-46F9-8AE7-F25795608D12}">
      <dsp:nvSpPr>
        <dsp:cNvPr id="0" name=""/>
        <dsp:cNvSpPr/>
      </dsp:nvSpPr>
      <dsp:spPr>
        <a:xfrm rot="5400000">
          <a:off x="3194145"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7B47A1-F272-4ECF-A408-AEC9EB0C633C}">
      <dsp:nvSpPr>
        <dsp:cNvPr id="0" name=""/>
        <dsp:cNvSpPr/>
      </dsp:nvSpPr>
      <dsp:spPr>
        <a:xfrm>
          <a:off x="2802432"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1.0</a:t>
          </a:r>
        </a:p>
      </dsp:txBody>
      <dsp:txXfrm>
        <a:off x="2808431" y="3033931"/>
        <a:ext cx="807271" cy="192819"/>
      </dsp:txXfrm>
    </dsp:sp>
    <dsp:sp modelId="{80D80F6B-83DA-4C5E-AB31-676E30A62703}">
      <dsp:nvSpPr>
        <dsp:cNvPr id="0" name=""/>
        <dsp:cNvSpPr/>
      </dsp:nvSpPr>
      <dsp:spPr>
        <a:xfrm>
          <a:off x="3736398"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2017</a:t>
          </a:r>
        </a:p>
      </dsp:txBody>
      <dsp:txXfrm>
        <a:off x="3742397" y="2757428"/>
        <a:ext cx="807271" cy="192819"/>
      </dsp:txXfrm>
    </dsp:sp>
    <dsp:sp modelId="{AA5B2FBE-E013-431C-9230-849756E6B072}">
      <dsp:nvSpPr>
        <dsp:cNvPr id="0" name=""/>
        <dsp:cNvSpPr/>
      </dsp:nvSpPr>
      <dsp:spPr>
        <a:xfrm rot="5400000">
          <a:off x="4128111"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5C32981-5C65-4DF6-93E9-A4D9E8ED31DF}">
      <dsp:nvSpPr>
        <dsp:cNvPr id="0" name=""/>
        <dsp:cNvSpPr/>
      </dsp:nvSpPr>
      <dsp:spPr>
        <a:xfrm>
          <a:off x="3736398"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2.0</a:t>
          </a:r>
        </a:p>
      </dsp:txBody>
      <dsp:txXfrm>
        <a:off x="3742397" y="3033931"/>
        <a:ext cx="807271" cy="192819"/>
      </dsp:txXfrm>
    </dsp:sp>
    <dsp:sp modelId="{78CB6435-D96D-4523-A2DF-097D014158DB}">
      <dsp:nvSpPr>
        <dsp:cNvPr id="0" name=""/>
        <dsp:cNvSpPr/>
      </dsp:nvSpPr>
      <dsp:spPr>
        <a:xfrm>
          <a:off x="4670365"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2018</a:t>
          </a:r>
        </a:p>
      </dsp:txBody>
      <dsp:txXfrm>
        <a:off x="4676364" y="2757428"/>
        <a:ext cx="807271" cy="192819"/>
      </dsp:txXfrm>
    </dsp:sp>
    <dsp:sp modelId="{999FD482-9775-49E6-BBB6-3F83A71CCB1B}">
      <dsp:nvSpPr>
        <dsp:cNvPr id="0" name=""/>
        <dsp:cNvSpPr/>
      </dsp:nvSpPr>
      <dsp:spPr>
        <a:xfrm rot="5400000">
          <a:off x="5062078"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9FBC1AF-F596-40F2-AA22-1CF1F811140C}">
      <dsp:nvSpPr>
        <dsp:cNvPr id="0" name=""/>
        <dsp:cNvSpPr/>
      </dsp:nvSpPr>
      <dsp:spPr>
        <a:xfrm>
          <a:off x="4670365"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2.1 (LTS)</a:t>
          </a:r>
        </a:p>
      </dsp:txBody>
      <dsp:txXfrm>
        <a:off x="4676364" y="3033931"/>
        <a:ext cx="807271" cy="192819"/>
      </dsp:txXfrm>
    </dsp:sp>
    <dsp:sp modelId="{7E28110E-C535-4B8C-8EBF-01B985A6811B}">
      <dsp:nvSpPr>
        <dsp:cNvPr id="0" name=""/>
        <dsp:cNvSpPr/>
      </dsp:nvSpPr>
      <dsp:spPr>
        <a:xfrm rot="5400000">
          <a:off x="5062078" y="3250671"/>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6D43047-9148-4D97-9972-8ECA09D99680}">
      <dsp:nvSpPr>
        <dsp:cNvPr id="0" name=""/>
        <dsp:cNvSpPr/>
      </dsp:nvSpPr>
      <dsp:spPr>
        <a:xfrm>
          <a:off x="4670365" y="3304436"/>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2.2</a:t>
          </a:r>
        </a:p>
      </dsp:txBody>
      <dsp:txXfrm>
        <a:off x="4676364" y="3310435"/>
        <a:ext cx="807271" cy="192819"/>
      </dsp:txXfrm>
    </dsp:sp>
    <dsp:sp modelId="{07F27B24-4607-46B1-A3B3-873A3966AC2A}">
      <dsp:nvSpPr>
        <dsp:cNvPr id="0" name=""/>
        <dsp:cNvSpPr/>
      </dsp:nvSpPr>
      <dsp:spPr>
        <a:xfrm>
          <a:off x="5604332"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2019</a:t>
          </a:r>
        </a:p>
      </dsp:txBody>
      <dsp:txXfrm>
        <a:off x="5610331" y="2757428"/>
        <a:ext cx="807271" cy="192819"/>
      </dsp:txXfrm>
    </dsp:sp>
    <dsp:sp modelId="{E1B28848-1046-41AF-B3ED-C56C4D7130AD}">
      <dsp:nvSpPr>
        <dsp:cNvPr id="0" name=""/>
        <dsp:cNvSpPr/>
      </dsp:nvSpPr>
      <dsp:spPr>
        <a:xfrm rot="5400000">
          <a:off x="5996045"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9AEC1B4-0BCC-4B04-B14E-512EBA0FEA3D}">
      <dsp:nvSpPr>
        <dsp:cNvPr id="0" name=""/>
        <dsp:cNvSpPr/>
      </dsp:nvSpPr>
      <dsp:spPr>
        <a:xfrm>
          <a:off x="5604332"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3.0</a:t>
          </a:r>
        </a:p>
      </dsp:txBody>
      <dsp:txXfrm>
        <a:off x="5610331" y="3033931"/>
        <a:ext cx="807271" cy="192819"/>
      </dsp:txXfrm>
    </dsp:sp>
    <dsp:sp modelId="{4E217191-2A94-4CF9-A00F-AFFD51345322}">
      <dsp:nvSpPr>
        <dsp:cNvPr id="0" name=""/>
        <dsp:cNvSpPr/>
      </dsp:nvSpPr>
      <dsp:spPr>
        <a:xfrm rot="5400000">
          <a:off x="5996045" y="3250671"/>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6996934-2396-412D-95A8-DEE2BA1E02F2}">
      <dsp:nvSpPr>
        <dsp:cNvPr id="0" name=""/>
        <dsp:cNvSpPr/>
      </dsp:nvSpPr>
      <dsp:spPr>
        <a:xfrm>
          <a:off x="5604332" y="3304436"/>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3.1 (LTS)</a:t>
          </a:r>
        </a:p>
      </dsp:txBody>
      <dsp:txXfrm>
        <a:off x="5610331" y="3310435"/>
        <a:ext cx="807271" cy="192819"/>
      </dsp:txXfrm>
    </dsp:sp>
    <dsp:sp modelId="{0940D2D2-9E0E-4722-AC91-1852A03898D0}">
      <dsp:nvSpPr>
        <dsp:cNvPr id="0" name=""/>
        <dsp:cNvSpPr/>
      </dsp:nvSpPr>
      <dsp:spPr>
        <a:xfrm>
          <a:off x="6538298"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2020</a:t>
          </a:r>
        </a:p>
      </dsp:txBody>
      <dsp:txXfrm>
        <a:off x="6544297" y="2757428"/>
        <a:ext cx="807271" cy="192819"/>
      </dsp:txXfrm>
    </dsp:sp>
    <dsp:sp modelId="{16AD1B0E-9200-43EA-8881-59C404C6064D}">
      <dsp:nvSpPr>
        <dsp:cNvPr id="0" name=""/>
        <dsp:cNvSpPr/>
      </dsp:nvSpPr>
      <dsp:spPr>
        <a:xfrm rot="5400000">
          <a:off x="6930011"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7254FA-C072-4850-8E9D-9C1525E424CF}">
      <dsp:nvSpPr>
        <dsp:cNvPr id="0" name=""/>
        <dsp:cNvSpPr/>
      </dsp:nvSpPr>
      <dsp:spPr>
        <a:xfrm>
          <a:off x="6538298"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5.0</a:t>
          </a:r>
        </a:p>
      </dsp:txBody>
      <dsp:txXfrm>
        <a:off x="6544297" y="3033931"/>
        <a:ext cx="807271" cy="192819"/>
      </dsp:txXfrm>
    </dsp:sp>
    <dsp:sp modelId="{C6846D98-6396-440D-83A9-08EFE10F0C5C}">
      <dsp:nvSpPr>
        <dsp:cNvPr id="0" name=""/>
        <dsp:cNvSpPr/>
      </dsp:nvSpPr>
      <dsp:spPr>
        <a:xfrm>
          <a:off x="7472265"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2021</a:t>
          </a:r>
        </a:p>
      </dsp:txBody>
      <dsp:txXfrm>
        <a:off x="7478264" y="2757428"/>
        <a:ext cx="807271" cy="192819"/>
      </dsp:txXfrm>
    </dsp:sp>
    <dsp:sp modelId="{627409D3-FE97-4F76-BFB3-E6426E3F0FC6}">
      <dsp:nvSpPr>
        <dsp:cNvPr id="0" name=""/>
        <dsp:cNvSpPr/>
      </dsp:nvSpPr>
      <dsp:spPr>
        <a:xfrm rot="5400000">
          <a:off x="7863978"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E7E73E-C00F-464E-BDE6-3C75E1E9A605}">
      <dsp:nvSpPr>
        <dsp:cNvPr id="0" name=""/>
        <dsp:cNvSpPr/>
      </dsp:nvSpPr>
      <dsp:spPr>
        <a:xfrm>
          <a:off x="7472265"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6.0 (LTS)</a:t>
          </a:r>
        </a:p>
      </dsp:txBody>
      <dsp:txXfrm>
        <a:off x="7478264" y="3033931"/>
        <a:ext cx="807271" cy="192819"/>
      </dsp:txXfrm>
    </dsp:sp>
    <dsp:sp modelId="{06485636-518A-4A2A-8870-1FD0922AD4F8}">
      <dsp:nvSpPr>
        <dsp:cNvPr id="0" name=""/>
        <dsp:cNvSpPr/>
      </dsp:nvSpPr>
      <dsp:spPr>
        <a:xfrm>
          <a:off x="8406232"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2022</a:t>
          </a:r>
        </a:p>
      </dsp:txBody>
      <dsp:txXfrm>
        <a:off x="8412231" y="2757428"/>
        <a:ext cx="807271" cy="192819"/>
      </dsp:txXfrm>
    </dsp:sp>
    <dsp:sp modelId="{051C73D3-B90C-48F8-9DAD-9CE55DB41C36}">
      <dsp:nvSpPr>
        <dsp:cNvPr id="0" name=""/>
        <dsp:cNvSpPr/>
      </dsp:nvSpPr>
      <dsp:spPr>
        <a:xfrm rot="5400000">
          <a:off x="8797945"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FADF46-39C6-4173-9736-68DB756FC192}">
      <dsp:nvSpPr>
        <dsp:cNvPr id="0" name=""/>
        <dsp:cNvSpPr/>
      </dsp:nvSpPr>
      <dsp:spPr>
        <a:xfrm>
          <a:off x="8406232"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7.0</a:t>
          </a:r>
        </a:p>
      </dsp:txBody>
      <dsp:txXfrm>
        <a:off x="8412231" y="3033931"/>
        <a:ext cx="807271" cy="192819"/>
      </dsp:txXfrm>
    </dsp:sp>
    <dsp:sp modelId="{C0EDD9D1-0FFD-471C-9468-475EB06091ED}">
      <dsp:nvSpPr>
        <dsp:cNvPr id="0" name=""/>
        <dsp:cNvSpPr/>
      </dsp:nvSpPr>
      <dsp:spPr>
        <a:xfrm>
          <a:off x="9340199" y="2751429"/>
          <a:ext cx="819269" cy="2048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t>2023</a:t>
          </a:r>
        </a:p>
      </dsp:txBody>
      <dsp:txXfrm>
        <a:off x="9346198" y="2757428"/>
        <a:ext cx="807271" cy="192819"/>
      </dsp:txXfrm>
    </dsp:sp>
    <dsp:sp modelId="{D9578B9D-8B61-4E13-B909-7B40524460AB}">
      <dsp:nvSpPr>
        <dsp:cNvPr id="0" name=""/>
        <dsp:cNvSpPr/>
      </dsp:nvSpPr>
      <dsp:spPr>
        <a:xfrm rot="5400000">
          <a:off x="9731912" y="2974168"/>
          <a:ext cx="35843" cy="3584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8CE19E3-4ECC-4AAE-AED3-ACBF1F9D8CEE}">
      <dsp:nvSpPr>
        <dsp:cNvPr id="0" name=""/>
        <dsp:cNvSpPr/>
      </dsp:nvSpPr>
      <dsp:spPr>
        <a:xfrm>
          <a:off x="9340199" y="3027932"/>
          <a:ext cx="819269" cy="20481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GB" sz="600" kern="1200" dirty="0"/>
            <a:t>ASP.NET Core 8.0</a:t>
          </a:r>
        </a:p>
      </dsp:txBody>
      <dsp:txXfrm>
        <a:off x="9346198" y="3033931"/>
        <a:ext cx="807271" cy="192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0CB95-63AE-4823-B144-7F9AFFA78FD1}">
      <dsp:nvSpPr>
        <dsp:cNvPr id="0" name=""/>
        <dsp:cNvSpPr/>
      </dsp:nvSpPr>
      <dsp:spPr>
        <a:xfrm>
          <a:off x="2174" y="2667313"/>
          <a:ext cx="2757387" cy="6893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a:t>Application starts</a:t>
          </a:r>
        </a:p>
      </dsp:txBody>
      <dsp:txXfrm>
        <a:off x="22364" y="2687503"/>
        <a:ext cx="2717007" cy="648966"/>
      </dsp:txXfrm>
    </dsp:sp>
    <dsp:sp modelId="{98B14B5C-9A94-4502-8E41-5E83FF769995}">
      <dsp:nvSpPr>
        <dsp:cNvPr id="0" name=""/>
        <dsp:cNvSpPr/>
      </dsp:nvSpPr>
      <dsp:spPr>
        <a:xfrm rot="5400000">
          <a:off x="1320550" y="3416978"/>
          <a:ext cx="120635" cy="1206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85DC41-EBE4-4859-B492-94B4E5E8BB84}">
      <dsp:nvSpPr>
        <dsp:cNvPr id="0" name=""/>
        <dsp:cNvSpPr/>
      </dsp:nvSpPr>
      <dsp:spPr>
        <a:xfrm>
          <a:off x="2174" y="3597931"/>
          <a:ext cx="2757387" cy="6893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Program class is executed</a:t>
          </a:r>
        </a:p>
      </dsp:txBody>
      <dsp:txXfrm>
        <a:off x="22364" y="3618121"/>
        <a:ext cx="2717007" cy="648966"/>
      </dsp:txXfrm>
    </dsp:sp>
    <dsp:sp modelId="{273046CB-960C-4216-93B8-98B806BBDB5D}">
      <dsp:nvSpPr>
        <dsp:cNvPr id="0" name=""/>
        <dsp:cNvSpPr/>
      </dsp:nvSpPr>
      <dsp:spPr>
        <a:xfrm>
          <a:off x="3145595" y="2667313"/>
          <a:ext cx="2757387" cy="6893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a:t>builder.Services.*</a:t>
          </a:r>
        </a:p>
      </dsp:txBody>
      <dsp:txXfrm>
        <a:off x="3165785" y="2687503"/>
        <a:ext cx="2717007" cy="648966"/>
      </dsp:txXfrm>
    </dsp:sp>
    <dsp:sp modelId="{ED73B8D6-E5DA-4E26-BD07-39281E69A12B}">
      <dsp:nvSpPr>
        <dsp:cNvPr id="0" name=""/>
        <dsp:cNvSpPr/>
      </dsp:nvSpPr>
      <dsp:spPr>
        <a:xfrm rot="5400000">
          <a:off x="4463971" y="3416978"/>
          <a:ext cx="120635" cy="1206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2A9533-C8BF-4292-B16A-1EDB298442E5}">
      <dsp:nvSpPr>
        <dsp:cNvPr id="0" name=""/>
        <dsp:cNvSpPr/>
      </dsp:nvSpPr>
      <dsp:spPr>
        <a:xfrm>
          <a:off x="3145595" y="3597931"/>
          <a:ext cx="2757387" cy="6893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Registers services</a:t>
          </a:r>
        </a:p>
        <a:p>
          <a:pPr marL="0" lvl="0" indent="0" algn="ctr" defTabSz="800100">
            <a:lnSpc>
              <a:spcPct val="90000"/>
            </a:lnSpc>
            <a:spcBef>
              <a:spcPct val="0"/>
            </a:spcBef>
            <a:spcAft>
              <a:spcPct val="35000"/>
            </a:spcAft>
            <a:buNone/>
          </a:pPr>
          <a:r>
            <a:rPr lang="en-GB" sz="1800" kern="1200" dirty="0"/>
            <a:t>(for dependency injection)</a:t>
          </a:r>
        </a:p>
      </dsp:txBody>
      <dsp:txXfrm>
        <a:off x="3165785" y="3618121"/>
        <a:ext cx="2717007" cy="648966"/>
      </dsp:txXfrm>
    </dsp:sp>
    <dsp:sp modelId="{710ACFD3-16F1-41B4-A365-74BE60B74B7D}">
      <dsp:nvSpPr>
        <dsp:cNvPr id="0" name=""/>
        <dsp:cNvSpPr/>
      </dsp:nvSpPr>
      <dsp:spPr>
        <a:xfrm>
          <a:off x="6289017" y="2667313"/>
          <a:ext cx="2757387" cy="6893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a:t>app.*</a:t>
          </a:r>
        </a:p>
      </dsp:txBody>
      <dsp:txXfrm>
        <a:off x="6309207" y="2687503"/>
        <a:ext cx="2717007" cy="648966"/>
      </dsp:txXfrm>
    </dsp:sp>
    <dsp:sp modelId="{2C8B701D-7089-46F9-8AE7-F25795608D12}">
      <dsp:nvSpPr>
        <dsp:cNvPr id="0" name=""/>
        <dsp:cNvSpPr/>
      </dsp:nvSpPr>
      <dsp:spPr>
        <a:xfrm rot="5400000">
          <a:off x="7607392" y="3416978"/>
          <a:ext cx="120635" cy="1206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7B47A1-F272-4ECF-A408-AEC9EB0C633C}">
      <dsp:nvSpPr>
        <dsp:cNvPr id="0" name=""/>
        <dsp:cNvSpPr/>
      </dsp:nvSpPr>
      <dsp:spPr>
        <a:xfrm>
          <a:off x="6289017" y="3597931"/>
          <a:ext cx="2757387" cy="6893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Configures request pipeline</a:t>
          </a:r>
        </a:p>
        <a:p>
          <a:pPr marL="0" lvl="0" indent="0" algn="ctr" defTabSz="800100">
            <a:lnSpc>
              <a:spcPct val="90000"/>
            </a:lnSpc>
            <a:spcBef>
              <a:spcPct val="0"/>
            </a:spcBef>
            <a:spcAft>
              <a:spcPct val="35000"/>
            </a:spcAft>
            <a:buNone/>
          </a:pPr>
          <a:r>
            <a:rPr lang="en-GB" sz="1800" kern="1200" dirty="0"/>
            <a:t>(middleware)</a:t>
          </a:r>
        </a:p>
      </dsp:txBody>
      <dsp:txXfrm>
        <a:off x="6309207" y="3618121"/>
        <a:ext cx="2717007" cy="648966"/>
      </dsp:txXfrm>
    </dsp:sp>
    <dsp:sp modelId="{80D80F6B-83DA-4C5E-AB31-676E30A62703}">
      <dsp:nvSpPr>
        <dsp:cNvPr id="0" name=""/>
        <dsp:cNvSpPr/>
      </dsp:nvSpPr>
      <dsp:spPr>
        <a:xfrm>
          <a:off x="9432438" y="2667313"/>
          <a:ext cx="2757387" cy="6893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err="1"/>
            <a:t>app.Run</a:t>
          </a:r>
          <a:r>
            <a:rPr lang="en-GB" sz="2900" kern="1200" dirty="0"/>
            <a:t>()</a:t>
          </a:r>
        </a:p>
      </dsp:txBody>
      <dsp:txXfrm>
        <a:off x="9452628" y="2687503"/>
        <a:ext cx="2717007" cy="648966"/>
      </dsp:txXfrm>
    </dsp:sp>
    <dsp:sp modelId="{1B66AA08-9BBE-4E8A-88DC-E8F77278F5B8}">
      <dsp:nvSpPr>
        <dsp:cNvPr id="0" name=""/>
        <dsp:cNvSpPr/>
      </dsp:nvSpPr>
      <dsp:spPr>
        <a:xfrm rot="5400000">
          <a:off x="10750814" y="3416978"/>
          <a:ext cx="120635" cy="1206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C4A2018-2D0B-467A-AAAF-458794D9AAC2}">
      <dsp:nvSpPr>
        <dsp:cNvPr id="0" name=""/>
        <dsp:cNvSpPr/>
      </dsp:nvSpPr>
      <dsp:spPr>
        <a:xfrm>
          <a:off x="9432438" y="3597931"/>
          <a:ext cx="2757387" cy="6893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Web app is ready for requests</a:t>
          </a:r>
        </a:p>
      </dsp:txBody>
      <dsp:txXfrm>
        <a:off x="9452628" y="3618121"/>
        <a:ext cx="2717007" cy="64896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06B1B38C-6D6C-47F3-8D87-7BDC7F97A7FD}" type="datetimeFigureOut">
              <a:rPr lang="en-GB" smtClean="0"/>
              <a:t>12/01/2025</a:t>
            </a:fld>
            <a:endParaRPr lang="en-GB"/>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0071FBE-0E7E-4EDA-BB24-DCCD5507545A}" type="slidenum">
              <a:rPr lang="en-GB" smtClean="0"/>
              <a:t>‹#›</a:t>
            </a:fld>
            <a:endParaRPr lang="en-GB"/>
          </a:p>
        </p:txBody>
      </p:sp>
    </p:spTree>
    <p:extLst>
      <p:ext uri="{BB962C8B-B14F-4D97-AF65-F5344CB8AC3E}">
        <p14:creationId xmlns:p14="http://schemas.microsoft.com/office/powerpoint/2010/main" val="3338288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asp.net/mvc"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edium.com/@mindfiresolutions.usa/difference-between-net-core-and-net-framework-c0588e734b99"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docs.microsoft.com/en-us/aspnet/core/fundamentals/servers/?view=aspnetcore-2.2&amp;tabs=windows" TargetMode="External"/><Relationship Id="rId4" Type="http://schemas.openxmlformats.org/officeDocument/2006/relationships/hyperlink" Target="https://docs.microsoft.com/en-us/aspnet/core/fundamentals/servers/kestrel?view=aspnetcore-2.2"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asp.net/mvc"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yoursite.com/reports/"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oogle.com/url?q=https://moz.com/blog/can-you-reverse-a-301-redirect&amp;sa=D&amp;usd=2&amp;usg=AOvVaw1UpfgA7yUhrXxbcfD1n3d2"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asp.net/mvc"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ocs.microsoft.com/en-us/aspnet/core/mvc/views/tag-helpers/intro?view=aspnetcore-3.1"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microsoft.com/en-us/aspnet/core/mvc/models/validation?view=aspnetcore-3.1"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i="1" dirty="0"/>
              <a:t>ASP.NET MVC gives you a powerful, patterns-based way to build dynamic websites that enables a clean separation of concerns and that gives you full control over </a:t>
            </a:r>
            <a:r>
              <a:rPr lang="en-GB" i="1" dirty="0" err="1"/>
              <a:t>markup</a:t>
            </a:r>
            <a:r>
              <a:rPr lang="en-GB" i="1" dirty="0"/>
              <a:t> for enjoyable, agile development. ASP.NET MVC includes many features that enable fast, TDD-friendly development for creating sophisticated applications that use the latest web standards.</a:t>
            </a:r>
            <a:r>
              <a:rPr lang="en-GB" dirty="0"/>
              <a:t>” – </a:t>
            </a:r>
            <a:r>
              <a:rPr lang="en-GB" dirty="0">
                <a:hlinkClick r:id="rId3"/>
              </a:rPr>
              <a:t>http://asp.net/mvc</a:t>
            </a:r>
            <a:r>
              <a:rPr lang="en-GB" dirty="0"/>
              <a:t> </a:t>
            </a:r>
          </a:p>
          <a:p>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1</a:t>
            </a:fld>
            <a:endParaRPr lang="en-GB"/>
          </a:p>
        </p:txBody>
      </p:sp>
    </p:spTree>
    <p:extLst>
      <p:ext uri="{BB962C8B-B14F-4D97-AF65-F5344CB8AC3E}">
        <p14:creationId xmlns:p14="http://schemas.microsoft.com/office/powerpoint/2010/main" val="460593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a:t>
            </a:r>
            <a:r>
              <a:rPr lang="en-GB" dirty="0">
                <a:hlinkClick r:id="rId3"/>
              </a:rPr>
              <a:t>https://medium.com/@mindfiresolutions.usa/difference-between-net-core-and-net-framework-c0588e734b99</a:t>
            </a:r>
            <a:endParaRPr lang="en-GB" dirty="0"/>
          </a:p>
          <a:p>
            <a:endParaRPr lang="en-GB" dirty="0"/>
          </a:p>
          <a:p>
            <a:r>
              <a:rPr lang="en-GB" dirty="0"/>
              <a:t>Understanding Major Differences between .NET Core and .NET Framework</a:t>
            </a:r>
          </a:p>
          <a:p>
            <a:endParaRPr lang="en-GB" dirty="0"/>
          </a:p>
          <a:p>
            <a:r>
              <a:rPr lang="en-GB" b="1" dirty="0"/>
              <a:t>Open Source</a:t>
            </a:r>
            <a:r>
              <a:rPr lang="en-GB" dirty="0"/>
              <a:t>: .NET Framework was releases as a licensed and proprietary software framework. Microsoft subsequently made certain components of .NET Framework open source. But the company has released .NET Core as an open source software framework. Hence, both enterprise and individual developers can build apps with .NET Core without paying any licensing fees.</a:t>
            </a:r>
          </a:p>
          <a:p>
            <a:endParaRPr lang="en-GB" dirty="0"/>
          </a:p>
          <a:p>
            <a:r>
              <a:rPr lang="en-GB" b="1" dirty="0"/>
              <a:t>Cross-Platform</a:t>
            </a:r>
            <a:r>
              <a:rPr lang="en-GB" dirty="0"/>
              <a:t>: .NET Framework enabled developers to build applications for a single platform — Windows. But .NET Core is cross-platform, and supports three distinct operating systems — Windows, OS X, and Linux. The compatibility makes it easier for developers to build cross-platform applications and port their existing applications from one platform to another.</a:t>
            </a:r>
          </a:p>
          <a:p>
            <a:endParaRPr lang="en-GB" dirty="0"/>
          </a:p>
          <a:p>
            <a:r>
              <a:rPr lang="en-GB" b="1" dirty="0"/>
              <a:t>Modular Collection of Libraries</a:t>
            </a:r>
            <a:r>
              <a:rPr lang="en-GB" dirty="0"/>
              <a:t>: Both .NET Framework and .NET Core allows developers to take advantage of robust class libraries. But .NET Core uses a redesigned common language runtime called </a:t>
            </a:r>
            <a:r>
              <a:rPr lang="en-GB" dirty="0" err="1"/>
              <a:t>CoreCLR</a:t>
            </a:r>
            <a:r>
              <a:rPr lang="en-GB" dirty="0"/>
              <a:t>, and features a modular collection of libraries called </a:t>
            </a:r>
            <a:r>
              <a:rPr lang="en-GB" dirty="0" err="1"/>
              <a:t>CoreFX</a:t>
            </a:r>
            <a:r>
              <a:rPr lang="en-GB" dirty="0"/>
              <a:t>. Hence, the developers have option to pick and use only the libraries required by each application, and enhance the application’s performance by removing unnecessary libraries.</a:t>
            </a:r>
          </a:p>
          <a:p>
            <a:endParaRPr lang="en-GB" dirty="0"/>
          </a:p>
          <a:p>
            <a:r>
              <a:rPr lang="en-GB" b="1" dirty="0"/>
              <a:t>ASP.NET</a:t>
            </a:r>
            <a:r>
              <a:rPr lang="en-GB" dirty="0"/>
              <a:t>: .NET Core comes with a redesigned version of ASP.NET. Developers can now use ASP.NET Core to build both web and cloud applications. In addition to being open source, ASP.NET Core is also available on three distinct platforms — Windows, OS X, and Linux</a:t>
            </a:r>
          </a:p>
          <a:p>
            <a:endParaRPr lang="en-GB" dirty="0"/>
          </a:p>
          <a:p>
            <a:r>
              <a:rPr lang="en-GB" b="1" dirty="0"/>
              <a:t>Deployment Options</a:t>
            </a:r>
            <a:r>
              <a:rPr lang="en-GB" dirty="0"/>
              <a:t>: Web applications developed with ASP.NET Core can be hosted in a number of ways. Developers can deploy ASP.NET Core applications directly in the cloud or self-host the application by creating their own hosting process. </a:t>
            </a:r>
          </a:p>
          <a:p>
            <a:endParaRPr lang="en-GB" dirty="0"/>
          </a:p>
          <a:p>
            <a:r>
              <a:rPr lang="en-GB" dirty="0"/>
              <a:t>Note: Kestrel is a cross-platform web server for ASP.NET Core. Kestrel is the web server that's included by default in ASP.NET Core project templates. </a:t>
            </a:r>
          </a:p>
          <a:p>
            <a:endParaRPr lang="en-GB" dirty="0">
              <a:hlinkClick r:id="rId4"/>
            </a:endParaRPr>
          </a:p>
          <a:p>
            <a:r>
              <a:rPr lang="en-GB" dirty="0">
                <a:hlinkClick r:id="rId4"/>
              </a:rPr>
              <a:t>https://docs.microsoft.com/en-us/aspnet/core/fundamentals/servers/kestrel</a:t>
            </a:r>
            <a:endParaRPr lang="en-GB" dirty="0"/>
          </a:p>
          <a:p>
            <a:r>
              <a:rPr lang="en-GB" dirty="0">
                <a:hlinkClick r:id="rId5"/>
              </a:rPr>
              <a:t>https://docs.microsoft.com/en-us/aspnet/core/fundamentals/servers/</a:t>
            </a:r>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2</a:t>
            </a:fld>
            <a:endParaRPr lang="en-GB"/>
          </a:p>
        </p:txBody>
      </p:sp>
    </p:spTree>
    <p:extLst>
      <p:ext uri="{BB962C8B-B14F-4D97-AF65-F5344CB8AC3E}">
        <p14:creationId xmlns:p14="http://schemas.microsoft.com/office/powerpoint/2010/main" val="2030915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*LTS == Long Term Support (3 years)</a:t>
            </a:r>
          </a:p>
          <a:p>
            <a:endParaRPr lang="en-GB" dirty="0"/>
          </a:p>
          <a:p>
            <a:r>
              <a:rPr lang="en-GB" b="1" dirty="0" err="1"/>
              <a:t>ASP.Net</a:t>
            </a:r>
            <a:r>
              <a:rPr lang="en-GB" b="1" dirty="0"/>
              <a:t> Core </a:t>
            </a:r>
            <a:r>
              <a:rPr lang="en-GB" dirty="0"/>
              <a:t>code base can run on </a:t>
            </a:r>
            <a:r>
              <a:rPr lang="en-GB" b="1" dirty="0"/>
              <a:t>Windows, Linux, Mac</a:t>
            </a:r>
            <a:r>
              <a:rPr lang="en-GB" dirty="0"/>
              <a:t>, using </a:t>
            </a:r>
            <a:r>
              <a:rPr lang="en-GB" b="1" dirty="0"/>
              <a:t>any IDE </a:t>
            </a:r>
            <a:r>
              <a:rPr lang="en-GB" dirty="0"/>
              <a:t>(or not – via the dotnet CLI tool). It is a </a:t>
            </a:r>
            <a:r>
              <a:rPr lang="en-GB" b="1" dirty="0"/>
              <a:t>complete rewrite of the </a:t>
            </a:r>
            <a:r>
              <a:rPr lang="en-GB" b="1" dirty="0" err="1"/>
              <a:t>.Net</a:t>
            </a:r>
            <a:r>
              <a:rPr lang="en-GB" b="1" dirty="0"/>
              <a:t> Framework. </a:t>
            </a:r>
          </a:p>
          <a:p>
            <a:r>
              <a:rPr lang="en-GB" dirty="0"/>
              <a:t>We will be using </a:t>
            </a:r>
            <a:r>
              <a:rPr lang="en-GB" b="1" dirty="0" err="1"/>
              <a:t>ASP.Net</a:t>
            </a:r>
            <a:r>
              <a:rPr lang="en-GB" b="1" dirty="0"/>
              <a:t> Core MVC </a:t>
            </a:r>
            <a:r>
              <a:rPr lang="en-GB" b="0" dirty="0"/>
              <a:t>(</a:t>
            </a:r>
            <a:r>
              <a:rPr lang="en-GB" dirty="0"/>
              <a:t>cross-platform). </a:t>
            </a:r>
          </a:p>
          <a:p>
            <a:endParaRPr lang="en-GB" dirty="0"/>
          </a:p>
          <a:p>
            <a:r>
              <a:rPr lang="en-GB" sz="1200" b="0" i="0" kern="1200" dirty="0">
                <a:solidFill>
                  <a:schemeClr val="tx1"/>
                </a:solidFill>
                <a:effectLst/>
                <a:latin typeface="+mn-lt"/>
                <a:ea typeface="+mn-ea"/>
                <a:cs typeface="+mn-cs"/>
              </a:rPr>
              <a:t>Official def: “The ASP.NET Core MVC framework is a lightweight, open source, highly testable presentation framework optimized for use with ASP.NET Core. ASP.NET Core MVC provides a patterns-based way to build dynamic websites that enables a clean separation of concerns. It gives you full control over markup, supports TDD-friendly development and uses the latest web standards.</a:t>
            </a:r>
          </a:p>
        </p:txBody>
      </p:sp>
      <p:sp>
        <p:nvSpPr>
          <p:cNvPr id="4" name="Slide Number Placeholder 3"/>
          <p:cNvSpPr>
            <a:spLocks noGrp="1"/>
          </p:cNvSpPr>
          <p:nvPr>
            <p:ph type="sldNum" sz="quarter" idx="5"/>
          </p:nvPr>
        </p:nvSpPr>
        <p:spPr/>
        <p:txBody>
          <a:bodyPr/>
          <a:lstStyle/>
          <a:p>
            <a:fld id="{90071FBE-0E7E-4EDA-BB24-DCCD5507545A}" type="slidenum">
              <a:rPr lang="en-GB" smtClean="0"/>
              <a:t>3</a:t>
            </a:fld>
            <a:endParaRPr lang="en-GB"/>
          </a:p>
        </p:txBody>
      </p:sp>
    </p:spTree>
    <p:extLst>
      <p:ext uri="{BB962C8B-B14F-4D97-AF65-F5344CB8AC3E}">
        <p14:creationId xmlns:p14="http://schemas.microsoft.com/office/powerpoint/2010/main" val="1606563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image above depicts a non-trivial monolithic application – where the core application runs as a single unit. </a:t>
            </a:r>
          </a:p>
          <a:p>
            <a:endParaRPr lang="en-GB" dirty="0"/>
          </a:p>
          <a:p>
            <a:r>
              <a:rPr lang="en-GB" dirty="0"/>
              <a:t>Reverse Proxy: </a:t>
            </a:r>
            <a:r>
              <a:rPr lang="en-GB" b="0" i="0" dirty="0">
                <a:solidFill>
                  <a:srgbClr val="202124"/>
                </a:solidFill>
                <a:effectLst/>
                <a:latin typeface="arial" panose="020B0604020202020204" pitchFamily="34" charset="0"/>
              </a:rPr>
              <a:t>directs client requests to the appropriate backend server.</a:t>
            </a:r>
          </a:p>
          <a:p>
            <a:endParaRPr lang="en-GB" dirty="0"/>
          </a:p>
        </p:txBody>
      </p:sp>
      <p:sp>
        <p:nvSpPr>
          <p:cNvPr id="4" name="Slide Number Placeholder 3"/>
          <p:cNvSpPr>
            <a:spLocks noGrp="1"/>
          </p:cNvSpPr>
          <p:nvPr>
            <p:ph type="sldNum" sz="quarter" idx="5"/>
          </p:nvPr>
        </p:nvSpPr>
        <p:spPr/>
        <p:txBody>
          <a:bodyPr/>
          <a:lstStyle/>
          <a:p>
            <a:fld id="{08BB2314-B946-423D-9078-6FB0B9B7B2CA}" type="slidenum">
              <a:rPr lang="en-GB" smtClean="0"/>
              <a:t>4</a:t>
            </a:fld>
            <a:endParaRPr lang="en-GB"/>
          </a:p>
        </p:txBody>
      </p:sp>
    </p:spTree>
    <p:extLst>
      <p:ext uri="{BB962C8B-B14F-4D97-AF65-F5344CB8AC3E}">
        <p14:creationId xmlns:p14="http://schemas.microsoft.com/office/powerpoint/2010/main" val="195625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Conventions can be considered as a set of defined configurations that formalizes agreed upon best practices (from: https://www.youtube.com/watch?v=uVtXNNmvYwg)</a:t>
            </a:r>
          </a:p>
          <a:p>
            <a:endParaRPr lang="en-GB" dirty="0"/>
          </a:p>
          <a:p>
            <a:r>
              <a:rPr lang="en-GB" dirty="0"/>
              <a:t>Code is organized in a given folder structure</a:t>
            </a:r>
          </a:p>
          <a:p>
            <a:r>
              <a:rPr lang="en-GB" dirty="0"/>
              <a:t>Routes follow a predefined convention</a:t>
            </a:r>
          </a:p>
          <a:p>
            <a:r>
              <a:rPr lang="en-GB" dirty="0"/>
              <a:t>etc…</a:t>
            </a:r>
          </a:p>
          <a:p>
            <a:endParaRPr lang="en-GB" dirty="0"/>
          </a:p>
          <a:p>
            <a:r>
              <a:rPr lang="en-GB" dirty="0" err="1"/>
              <a:t>ASP.Net</a:t>
            </a:r>
            <a:r>
              <a:rPr lang="en-GB" dirty="0"/>
              <a:t> is convention oriented framework (or opinionated framework)</a:t>
            </a:r>
          </a:p>
          <a:p>
            <a:pPr lvl="1"/>
            <a:r>
              <a:rPr lang="en-GB" dirty="0"/>
              <a:t>If followed, things will just work without too much configuration (and based on best practices)</a:t>
            </a:r>
          </a:p>
          <a:p>
            <a:r>
              <a:rPr lang="en-GB" dirty="0"/>
              <a:t>E.g.</a:t>
            </a:r>
          </a:p>
          <a:p>
            <a:pPr lvl="1"/>
            <a:r>
              <a:rPr lang="en-GB" dirty="0"/>
              <a:t>Views need to be saved in the right location</a:t>
            </a:r>
          </a:p>
          <a:p>
            <a:pPr lvl="2"/>
            <a:r>
              <a:rPr lang="en-GB" dirty="0"/>
              <a:t>Views/[</a:t>
            </a:r>
            <a:r>
              <a:rPr lang="en-GB" dirty="0" err="1"/>
              <a:t>ControllerName</a:t>
            </a:r>
            <a:r>
              <a:rPr lang="en-GB" dirty="0"/>
              <a:t>]/</a:t>
            </a:r>
            <a:r>
              <a:rPr lang="en-GB" dirty="0" err="1"/>
              <a:t>ViewName</a:t>
            </a:r>
            <a:endParaRPr lang="en-GB" dirty="0"/>
          </a:p>
          <a:p>
            <a:pPr lvl="1"/>
            <a:r>
              <a:rPr lang="en-GB" dirty="0"/>
              <a:t>Shared views need to be placed in the Shared folder</a:t>
            </a:r>
          </a:p>
          <a:p>
            <a:pPr lvl="1"/>
            <a:r>
              <a:rPr lang="en-GB" dirty="0"/>
              <a:t>Controller classes need to end with the word “Controller” (e.g. </a:t>
            </a:r>
            <a:r>
              <a:rPr lang="en-GB" dirty="0" err="1"/>
              <a:t>ProcessController</a:t>
            </a:r>
            <a:r>
              <a:rPr lang="en-GB" dirty="0"/>
              <a:t>)</a:t>
            </a:r>
          </a:p>
          <a:p>
            <a:pPr lvl="2"/>
            <a:r>
              <a:rPr lang="en-GB" dirty="0"/>
              <a:t>And also, need to inherit </a:t>
            </a:r>
            <a:r>
              <a:rPr lang="en-GB" dirty="0" err="1"/>
              <a:t>ControllerBase</a:t>
            </a:r>
            <a:r>
              <a:rPr lang="en-GB" dirty="0"/>
              <a:t> which implements </a:t>
            </a:r>
            <a:r>
              <a:rPr lang="en-GB" dirty="0" err="1"/>
              <a:t>IController</a:t>
            </a:r>
            <a:endParaRPr lang="en-GB" dirty="0"/>
          </a:p>
          <a:p>
            <a:pPr lvl="1"/>
            <a:endParaRPr lang="en-GB" dirty="0"/>
          </a:p>
          <a:p>
            <a:pPr lvl="1"/>
            <a:endParaRPr lang="en-GB" dirty="0"/>
          </a:p>
          <a:p>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5</a:t>
            </a:fld>
            <a:endParaRPr lang="en-GB"/>
          </a:p>
        </p:txBody>
      </p:sp>
    </p:spTree>
    <p:extLst>
      <p:ext uri="{BB962C8B-B14F-4D97-AF65-F5344CB8AC3E}">
        <p14:creationId xmlns:p14="http://schemas.microsoft.com/office/powerpoint/2010/main" val="1587458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&gt;=15.9.6: includes support for features such as </a:t>
            </a:r>
            <a:r>
              <a:rPr lang="en-GB" dirty="0" err="1"/>
              <a:t>LibMan</a:t>
            </a:r>
            <a:r>
              <a:rPr lang="en-GB" dirty="0"/>
              <a:t> (instead of Bower)</a:t>
            </a:r>
          </a:p>
        </p:txBody>
      </p:sp>
      <p:sp>
        <p:nvSpPr>
          <p:cNvPr id="4" name="Slide Number Placeholder 3"/>
          <p:cNvSpPr>
            <a:spLocks noGrp="1"/>
          </p:cNvSpPr>
          <p:nvPr>
            <p:ph type="sldNum" sz="quarter" idx="5"/>
          </p:nvPr>
        </p:nvSpPr>
        <p:spPr/>
        <p:txBody>
          <a:bodyPr/>
          <a:lstStyle/>
          <a:p>
            <a:fld id="{90071FBE-0E7E-4EDA-BB24-DCCD5507545A}" type="slidenum">
              <a:rPr lang="en-GB" smtClean="0"/>
              <a:t>6</a:t>
            </a:fld>
            <a:endParaRPr lang="en-GB"/>
          </a:p>
        </p:txBody>
      </p:sp>
    </p:spTree>
    <p:extLst>
      <p:ext uri="{BB962C8B-B14F-4D97-AF65-F5344CB8AC3E}">
        <p14:creationId xmlns:p14="http://schemas.microsoft.com/office/powerpoint/2010/main" val="1905907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7</a:t>
            </a:fld>
            <a:endParaRPr lang="en-GB"/>
          </a:p>
        </p:txBody>
      </p:sp>
    </p:spTree>
    <p:extLst>
      <p:ext uri="{BB962C8B-B14F-4D97-AF65-F5344CB8AC3E}">
        <p14:creationId xmlns:p14="http://schemas.microsoft.com/office/powerpoint/2010/main" val="308280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dirty="0"/>
              <a:t>Open </a:t>
            </a:r>
            <a:r>
              <a:rPr lang="en-GB" dirty="0" err="1"/>
              <a:t>cmd</a:t>
            </a:r>
            <a:endParaRPr lang="en-GB" dirty="0"/>
          </a:p>
          <a:p>
            <a:pPr marL="228600" indent="-228600">
              <a:buAutoNum type="arabicParenR"/>
            </a:pPr>
            <a:r>
              <a:rPr lang="en-GB" dirty="0"/>
              <a:t>dotnet new list (and observe templates)</a:t>
            </a:r>
          </a:p>
          <a:p>
            <a:pPr marL="228600" indent="-228600">
              <a:buAutoNum type="arabicParenR"/>
            </a:pPr>
            <a:r>
              <a:rPr lang="en-US" dirty="0"/>
              <a:t>dotnet new </a:t>
            </a:r>
            <a:r>
              <a:rPr lang="en-US" dirty="0" err="1"/>
              <a:t>mvc</a:t>
            </a:r>
            <a:r>
              <a:rPr lang="en-US" dirty="0"/>
              <a:t> --auth Individual</a:t>
            </a:r>
            <a:endParaRPr lang="en-GB" dirty="0"/>
          </a:p>
          <a:p>
            <a:pPr marL="0" indent="0">
              <a:buNone/>
            </a:pPr>
            <a:r>
              <a:rPr lang="en-GB" dirty="0"/>
              <a:t>(or dotnet new </a:t>
            </a:r>
            <a:r>
              <a:rPr lang="en-GB" dirty="0" err="1"/>
              <a:t>mvc</a:t>
            </a:r>
            <a:r>
              <a:rPr lang="en-GB" dirty="0"/>
              <a:t> --help for more options)</a:t>
            </a:r>
          </a:p>
          <a:p>
            <a:endParaRPr lang="en-GB" dirty="0"/>
          </a:p>
          <a:p>
            <a:r>
              <a:rPr lang="en-GB" dirty="0"/>
              <a:t>(Do not use top level statements can be toggled using “--use-program-main”)</a:t>
            </a:r>
          </a:p>
        </p:txBody>
      </p:sp>
      <p:sp>
        <p:nvSpPr>
          <p:cNvPr id="4" name="Slide Number Placeholder 3"/>
          <p:cNvSpPr>
            <a:spLocks noGrp="1"/>
          </p:cNvSpPr>
          <p:nvPr>
            <p:ph type="sldNum" sz="quarter" idx="5"/>
          </p:nvPr>
        </p:nvSpPr>
        <p:spPr/>
        <p:txBody>
          <a:bodyPr/>
          <a:lstStyle/>
          <a:p>
            <a:fld id="{90071FBE-0E7E-4EDA-BB24-DCCD5507545A}" type="slidenum">
              <a:rPr lang="en-GB" smtClean="0"/>
              <a:t>8</a:t>
            </a:fld>
            <a:endParaRPr lang="en-GB"/>
          </a:p>
        </p:txBody>
      </p:sp>
    </p:spTree>
    <p:extLst>
      <p:ext uri="{BB962C8B-B14F-4D97-AF65-F5344CB8AC3E}">
        <p14:creationId xmlns:p14="http://schemas.microsoft.com/office/powerpoint/2010/main" val="2347545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Model, View and Controller areas.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err="1"/>
              <a:t>wwwroot</a:t>
            </a:r>
            <a:r>
              <a:rPr lang="en-GB" dirty="0"/>
              <a:t> is meant to hold static files such as images, stylesheets and </a:t>
            </a:r>
            <a:r>
              <a:rPr lang="en-GB" dirty="0" err="1"/>
              <a:t>javascript</a:t>
            </a:r>
            <a:r>
              <a:rPr lang="en-GB" dirty="0"/>
              <a:t> files. These are used by the views (</a:t>
            </a:r>
            <a:r>
              <a:rPr lang="en-GB" dirty="0" err="1"/>
              <a:t>app</a:t>
            </a:r>
            <a:r>
              <a:rPr lang="en-GB" b="1" dirty="0" err="1"/>
              <a:t>.</a:t>
            </a:r>
            <a:r>
              <a:rPr lang="en-GB" sz="1200" b="0" kern="1200" dirty="0" err="1">
                <a:solidFill>
                  <a:schemeClr val="tx1"/>
                </a:solidFill>
                <a:effectLst/>
                <a:latin typeface="+mn-lt"/>
                <a:ea typeface="+mn-ea"/>
                <a:cs typeface="+mn-cs"/>
              </a:rPr>
              <a:t>UseStaticFiles</a:t>
            </a:r>
            <a:r>
              <a:rPr lang="en-GB" sz="1200" b="0" kern="1200" dirty="0">
                <a:solidFill>
                  <a:schemeClr val="tx1"/>
                </a:solidFill>
                <a:effectLst/>
                <a:latin typeface="+mn-lt"/>
                <a:ea typeface="+mn-ea"/>
                <a:cs typeface="+mn-cs"/>
              </a:rPr>
              <a:t>() needs to be used in </a:t>
            </a:r>
            <a:r>
              <a:rPr lang="en-GB" sz="1200" b="0" kern="1200" dirty="0" err="1">
                <a:solidFill>
                  <a:schemeClr val="tx1"/>
                </a:solidFill>
                <a:effectLst/>
                <a:latin typeface="+mn-lt"/>
                <a:ea typeface="+mn-ea"/>
                <a:cs typeface="+mn-cs"/>
              </a:rPr>
              <a:t>Startup.cs</a:t>
            </a:r>
            <a:r>
              <a:rPr lang="en-GB" sz="1200" b="0" kern="1200" dirty="0">
                <a:solidFill>
                  <a:schemeClr val="tx1"/>
                </a:solidFill>
                <a:effectLst/>
                <a:latin typeface="+mn-lt"/>
                <a:ea typeface="+mn-ea"/>
                <a:cs typeface="+mn-cs"/>
              </a:rPr>
              <a:t>)</a:t>
            </a:r>
            <a:endParaRPr lang="en-GB" b="0" dirty="0"/>
          </a:p>
          <a:p>
            <a:pPr marL="228600" indent="-228600">
              <a:buFont typeface="+mj-lt"/>
              <a:buAutoNum type="arabicPeriod"/>
            </a:pPr>
            <a:r>
              <a:rPr lang="en-GB" dirty="0"/>
              <a:t>Dependencies, for </a:t>
            </a:r>
            <a:r>
              <a:rPr lang="en-GB" dirty="0" err="1"/>
              <a:t>.Net</a:t>
            </a:r>
            <a:r>
              <a:rPr lang="en-GB" dirty="0"/>
              <a:t> Core MVC and its dependencies (e.g. view engine, logging etc…).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Program have a very distinct role in the application’s lifecycle</a:t>
            </a:r>
          </a:p>
        </p:txBody>
      </p:sp>
      <p:sp>
        <p:nvSpPr>
          <p:cNvPr id="4" name="Slide Number Placeholder 3"/>
          <p:cNvSpPr>
            <a:spLocks noGrp="1"/>
          </p:cNvSpPr>
          <p:nvPr>
            <p:ph type="sldNum" sz="quarter" idx="5"/>
          </p:nvPr>
        </p:nvSpPr>
        <p:spPr/>
        <p:txBody>
          <a:bodyPr/>
          <a:lstStyle/>
          <a:p>
            <a:fld id="{90071FBE-0E7E-4EDA-BB24-DCCD5507545A}" type="slidenum">
              <a:rPr lang="en-GB" smtClean="0"/>
              <a:t>9</a:t>
            </a:fld>
            <a:endParaRPr lang="en-GB"/>
          </a:p>
        </p:txBody>
      </p:sp>
    </p:spTree>
    <p:extLst>
      <p:ext uri="{BB962C8B-B14F-4D97-AF65-F5344CB8AC3E}">
        <p14:creationId xmlns:p14="http://schemas.microsoft.com/office/powerpoint/2010/main" val="99299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b="0" dirty="0"/>
              <a:t>ASP.NET Core MVC </a:t>
            </a:r>
            <a:r>
              <a:rPr lang="en-GB" b="1" dirty="0"/>
              <a:t>now unifies </a:t>
            </a:r>
            <a:r>
              <a:rPr lang="en-US" b="0" i="0" dirty="0" err="1">
                <a:solidFill>
                  <a:srgbClr val="E6E6E6"/>
                </a:solidFill>
                <a:effectLst/>
                <a:latin typeface="Segoe UI" panose="020B0502040204020203" pitchFamily="34" charset="0"/>
              </a:rPr>
              <a:t>Startup.cs</a:t>
            </a:r>
            <a:r>
              <a:rPr lang="en-US" b="0" i="0" dirty="0">
                <a:solidFill>
                  <a:srgbClr val="E6E6E6"/>
                </a:solidFill>
                <a:effectLst/>
                <a:latin typeface="Segoe UI" panose="020B0502040204020203" pitchFamily="34" charset="0"/>
              </a:rPr>
              <a:t> and </a:t>
            </a:r>
            <a:r>
              <a:rPr lang="en-US" b="0" i="0" dirty="0" err="1">
                <a:solidFill>
                  <a:srgbClr val="E6E6E6"/>
                </a:solidFill>
                <a:effectLst/>
                <a:latin typeface="Segoe UI" panose="020B0502040204020203" pitchFamily="34" charset="0"/>
              </a:rPr>
              <a:t>Program.cs</a:t>
            </a:r>
            <a:r>
              <a:rPr lang="en-US" b="0" i="0" dirty="0">
                <a:solidFill>
                  <a:srgbClr val="E6E6E6"/>
                </a:solidFill>
                <a:effectLst/>
                <a:latin typeface="Segoe UI" panose="020B0502040204020203" pitchFamily="34" charset="0"/>
              </a:rPr>
              <a:t> into a single </a:t>
            </a:r>
            <a:r>
              <a:rPr lang="en-US" b="0" i="0" dirty="0" err="1">
                <a:solidFill>
                  <a:srgbClr val="E6E6E6"/>
                </a:solidFill>
                <a:effectLst/>
                <a:latin typeface="Segoe UI" panose="020B0502040204020203" pitchFamily="34" charset="0"/>
              </a:rPr>
              <a:t>Program.cs</a:t>
            </a:r>
            <a:r>
              <a:rPr lang="en-US" b="0" i="0" dirty="0">
                <a:solidFill>
                  <a:srgbClr val="E6E6E6"/>
                </a:solidFill>
                <a:effectLst/>
                <a:latin typeface="Segoe UI" panose="020B0502040204020203" pitchFamily="34" charset="0"/>
              </a:rPr>
              <a:t> file.</a:t>
            </a:r>
          </a:p>
          <a:p>
            <a:pPr marL="171450" indent="-171450">
              <a:buFontTx/>
              <a:buChar char="-"/>
            </a:pPr>
            <a:endParaRPr lang="en-GB" b="1" dirty="0"/>
          </a:p>
          <a:p>
            <a:pPr marL="171450" indent="-171450">
              <a:buFontTx/>
              <a:buChar char="-"/>
            </a:pPr>
            <a:r>
              <a:rPr lang="en-GB" b="1" dirty="0" err="1"/>
              <a:t>Program.cs</a:t>
            </a:r>
            <a:r>
              <a:rPr lang="en-GB" b="1" dirty="0"/>
              <a:t> </a:t>
            </a:r>
            <a:r>
              <a:rPr lang="en-GB" dirty="0"/>
              <a:t>class is the entry point for all ASP.NET Core MVC applications. </a:t>
            </a:r>
            <a:r>
              <a:rPr lang="en-GB" dirty="0" err="1"/>
              <a:t>WebApplication.CreateBuilder</a:t>
            </a:r>
            <a:r>
              <a:rPr lang="en-GB" dirty="0"/>
              <a:t>() will create an instance of a web application</a:t>
            </a:r>
          </a:p>
          <a:p>
            <a:pPr marL="171450" indent="-171450">
              <a:buFontTx/>
              <a:buChar char="-"/>
            </a:pPr>
            <a:r>
              <a:rPr lang="en-GB" dirty="0"/>
              <a:t>Then we add services to it (e.g. database context, MVC pattern-related services)</a:t>
            </a:r>
          </a:p>
          <a:p>
            <a:pPr marL="171450" indent="-171450">
              <a:buFontTx/>
              <a:buChar char="-"/>
            </a:pPr>
            <a:r>
              <a:rPr lang="en-GB" dirty="0"/>
              <a:t>After we have the instance of the web app (</a:t>
            </a:r>
            <a:r>
              <a:rPr lang="en-GB" dirty="0" err="1"/>
              <a:t>builder.Build</a:t>
            </a:r>
            <a:r>
              <a:rPr lang="en-GB" dirty="0"/>
              <a:t>()), we then move on to configure the HTTP pipeline and routes.</a:t>
            </a:r>
          </a:p>
        </p:txBody>
      </p:sp>
      <p:sp>
        <p:nvSpPr>
          <p:cNvPr id="4" name="Slide Number Placeholder 3"/>
          <p:cNvSpPr>
            <a:spLocks noGrp="1"/>
          </p:cNvSpPr>
          <p:nvPr>
            <p:ph type="sldNum" sz="quarter" idx="5"/>
          </p:nvPr>
        </p:nvSpPr>
        <p:spPr/>
        <p:txBody>
          <a:bodyPr/>
          <a:lstStyle/>
          <a:p>
            <a:fld id="{90071FBE-0E7E-4EDA-BB24-DCCD5507545A}" type="slidenum">
              <a:rPr lang="en-GB" smtClean="0"/>
              <a:t>10</a:t>
            </a:fld>
            <a:endParaRPr lang="en-GB"/>
          </a:p>
        </p:txBody>
      </p:sp>
    </p:spTree>
    <p:extLst>
      <p:ext uri="{BB962C8B-B14F-4D97-AF65-F5344CB8AC3E}">
        <p14:creationId xmlns:p14="http://schemas.microsoft.com/office/powerpoint/2010/main" val="1165442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an ASP.Net Core application is starting:</a:t>
            </a:r>
          </a:p>
          <a:p>
            <a:pPr marL="228600" indent="-228600">
              <a:buAutoNum type="arabicParenR"/>
            </a:pPr>
            <a:r>
              <a:rPr lang="en-GB" dirty="0"/>
              <a:t>Application starts by calling the main() method in the program class</a:t>
            </a:r>
          </a:p>
          <a:p>
            <a:pPr marL="228600" indent="-228600">
              <a:buAutoNum type="arabicParenR"/>
            </a:pPr>
            <a:r>
              <a:rPr lang="en-GB" dirty="0"/>
              <a:t>We then register services/middleware that we want to use</a:t>
            </a:r>
          </a:p>
          <a:p>
            <a:pPr marL="228600" indent="-228600">
              <a:buAutoNum type="arabicParenR"/>
            </a:pPr>
            <a:r>
              <a:rPr lang="en-GB" dirty="0"/>
              <a:t>Once the web app instance is created (Build()), we move on to specify the request pipeline </a:t>
            </a:r>
          </a:p>
          <a:p>
            <a:pPr marL="228600" indent="-228600">
              <a:buAutoNum type="arabicParenR"/>
            </a:pPr>
            <a:r>
              <a:rPr lang="en-GB" dirty="0"/>
              <a:t>The application is then ready to handle incoming requests</a:t>
            </a:r>
          </a:p>
          <a:p>
            <a:pPr marL="228600" indent="-228600">
              <a:buAutoNum type="arabicParenR"/>
            </a:pPr>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11</a:t>
            </a:fld>
            <a:endParaRPr lang="en-GB"/>
          </a:p>
        </p:txBody>
      </p:sp>
    </p:spTree>
    <p:extLst>
      <p:ext uri="{BB962C8B-B14F-4D97-AF65-F5344CB8AC3E}">
        <p14:creationId xmlns:p14="http://schemas.microsoft.com/office/powerpoint/2010/main" val="1447855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Model locations</a:t>
            </a:r>
          </a:p>
          <a:p>
            <a:pPr lvl="1"/>
            <a:r>
              <a:rPr lang="en-GB" dirty="0"/>
              <a:t>Not many conventions specified for models</a:t>
            </a:r>
          </a:p>
          <a:p>
            <a:pPr lvl="1"/>
            <a:r>
              <a:rPr lang="en-GB" dirty="0"/>
              <a:t>a \Models folder is created by default… but it’s just optional</a:t>
            </a:r>
          </a:p>
          <a:p>
            <a:pPr lvl="1"/>
            <a:r>
              <a:rPr lang="en-GB" dirty="0"/>
              <a:t>models can live anywhere</a:t>
            </a:r>
          </a:p>
          <a:p>
            <a:pPr lvl="2"/>
            <a:r>
              <a:rPr lang="en-GB" dirty="0"/>
              <a:t>In any folder (e.g. \Models\DTOs, \Models\</a:t>
            </a:r>
            <a:r>
              <a:rPr lang="en-GB" dirty="0" err="1"/>
              <a:t>ViewModels</a:t>
            </a:r>
            <a:r>
              <a:rPr lang="en-GB" dirty="0"/>
              <a:t>)</a:t>
            </a:r>
          </a:p>
          <a:p>
            <a:pPr lvl="2"/>
            <a:r>
              <a:rPr lang="en-GB" dirty="0"/>
              <a:t>In any namespace</a:t>
            </a:r>
          </a:p>
          <a:p>
            <a:pPr lvl="2"/>
            <a:r>
              <a:rPr lang="en-GB" dirty="0"/>
              <a:t>In any assembly (separate project altogether) – N-tier</a:t>
            </a:r>
          </a:p>
          <a:p>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13</a:t>
            </a:fld>
            <a:endParaRPr lang="en-GB"/>
          </a:p>
        </p:txBody>
      </p:sp>
    </p:spTree>
    <p:extLst>
      <p:ext uri="{BB962C8B-B14F-4D97-AF65-F5344CB8AC3E}">
        <p14:creationId xmlns:p14="http://schemas.microsoft.com/office/powerpoint/2010/main" val="3600923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GB" dirty="0"/>
              <a:t>Refer to the </a:t>
            </a:r>
            <a:r>
              <a:rPr lang="en-GB" dirty="0" err="1"/>
              <a:t>Program.cs’s</a:t>
            </a:r>
            <a:r>
              <a:rPr lang="en-GB" dirty="0"/>
              <a:t> </a:t>
            </a:r>
            <a:r>
              <a:rPr lang="en-GB" b="1" dirty="0" err="1"/>
              <a:t>builder.Services</a:t>
            </a:r>
            <a:r>
              <a:rPr lang="en-GB" b="1" dirty="0"/>
              <a:t> </a:t>
            </a:r>
            <a:r>
              <a:rPr lang="en-GB" b="0" dirty="0"/>
              <a:t>section</a:t>
            </a:r>
          </a:p>
          <a:p>
            <a:pPr marL="0" lvl="0" indent="0">
              <a:buFontTx/>
              <a:buNone/>
            </a:pPr>
            <a:endParaRPr lang="en-GB" dirty="0"/>
          </a:p>
          <a:p>
            <a:pPr marL="0" lvl="0" indent="0">
              <a:buFontTx/>
              <a:buNone/>
            </a:pPr>
            <a:r>
              <a:rPr lang="en-GB" dirty="0"/>
              <a:t>ASP.NET Core uses a dependency injection (DI) system to obtain a loosely coupled architecture within our code.</a:t>
            </a:r>
          </a:p>
          <a:p>
            <a:pPr marL="0" lvl="0" indent="0">
              <a:buFontTx/>
              <a:buNone/>
            </a:pPr>
            <a:endParaRPr lang="en-GB" dirty="0"/>
          </a:p>
          <a:p>
            <a:r>
              <a:rPr lang="en-GB" sz="1800" dirty="0" err="1">
                <a:effectLst/>
                <a:latin typeface="Times New Roman" panose="02020603050405020304" pitchFamily="18" charset="0"/>
                <a:ea typeface="Times New Roman" panose="02020603050405020304" pitchFamily="18" charset="0"/>
              </a:rPr>
              <a:t>ASP.Net</a:t>
            </a:r>
            <a:r>
              <a:rPr lang="en-GB" sz="1800" dirty="0">
                <a:effectLst/>
                <a:latin typeface="Times New Roman" panose="02020603050405020304" pitchFamily="18" charset="0"/>
                <a:ea typeface="Times New Roman" panose="02020603050405020304" pitchFamily="18" charset="0"/>
              </a:rPr>
              <a:t> Core uses a dependency injection system to obtain a loosely coupled architecture within our architecture.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Services are objects that have a certain functionality (i.e. system or our own).</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Inversion of Control (IoC) refers to a programming style where a framework controls the program flow with the help of Dependency Injection.</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DI is a software design pattern that allows us to develop loosely coupled code.</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Traditionally, you would instantiate new classes whenever you need them.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Inversion of Control (IoC) is a design principle where the program flow is inverted from the program itself to an external framework or container. Traditionally, the application code typically controls the flow of execution by calling libraries or frameworks to perform specific tasks depending on some variables. However, with IoC, the control flow is inverted, and the framework manages the flow.</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Dependency Injection is a common implementation of IoC, allowing us to develop loosely coupled code. With DI, a class’s dependencies are provided externally rather than created or managed internally (e.g. traditionally, you would instantiate instances of the class’s dependencies within the class’s code, generally, the constructor).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With DI, you get greater modularity, better testability and more maintainability in your application code, as dependencies can be managed without touching your core application logic – and by simply modifying the DI container configuration.</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With IoC through DI, you achieve better SoC, you get decoupled components (i.e. dependencies are injected as needed rather than explicitly declared/instantiated), and therefore improves maintainability, testability, development flows/flexibility and your application can evolve more easily.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DI containers are responsible for resolving dependencies on the fly, and help you implement the IoC principle.  DI containers exist for various frameworks, including ASP.NET, Angular, Spring etc...</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…let’s assume that in a class Cart, we have a method for checkout, which depends on some database reader/writer. Typically, you would instantiate the database reader in the constructor of the class. However, that means that the class is tightly coupled with a specific database reader/writer implementation. If you need to change it to something else, then you would need to change both classes, most probably. This becomes more difficult if you want to run different variants of the database reader/writer based on the current environment (i.e. dev, staging, prod).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In that case, you would need to do something like this:</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DatabaseServices</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dbs</a:t>
            </a:r>
            <a:r>
              <a:rPr lang="en-GB" sz="1800" dirty="0">
                <a:effectLst/>
                <a:latin typeface="Times New Roman" panose="02020603050405020304" pitchFamily="18" charset="0"/>
                <a:ea typeface="Times New Roman" panose="02020603050405020304" pitchFamily="18" charset="0"/>
              </a:rPr>
              <a:t>;</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switch (env)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case </a:t>
            </a:r>
            <a:r>
              <a:rPr lang="en-GB" sz="1800" dirty="0" err="1">
                <a:effectLst/>
                <a:latin typeface="Times New Roman" panose="02020603050405020304" pitchFamily="18" charset="0"/>
                <a:ea typeface="Times New Roman" panose="02020603050405020304" pitchFamily="18" charset="0"/>
              </a:rPr>
              <a:t>Settings.Environments.Production</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dbs</a:t>
            </a:r>
            <a:r>
              <a:rPr lang="en-GB" sz="1800" dirty="0">
                <a:effectLst/>
                <a:latin typeface="Times New Roman" panose="02020603050405020304" pitchFamily="18" charset="0"/>
                <a:ea typeface="Times New Roman" panose="02020603050405020304" pitchFamily="18" charset="0"/>
              </a:rPr>
              <a:t> = new </a:t>
            </a:r>
            <a:r>
              <a:rPr lang="en-GB" sz="1800" dirty="0" err="1">
                <a:effectLst/>
                <a:latin typeface="Times New Roman" panose="02020603050405020304" pitchFamily="18" charset="0"/>
                <a:ea typeface="Times New Roman" panose="02020603050405020304" pitchFamily="18" charset="0"/>
              </a:rPr>
              <a:t>DatabaseServices</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Times New Roman" panose="02020603050405020304" pitchFamily="18" charset="0"/>
                <a:ea typeface="Times New Roman" panose="02020603050405020304" pitchFamily="18" charset="0"/>
              </a:rPr>
              <a:t>AppSettings.ConnectionStrings.Production</a:t>
            </a:r>
            <a:r>
              <a:rPr lang="en-GB" sz="1800" dirty="0">
                <a:effectLst/>
                <a:latin typeface="Times New Roman" panose="02020603050405020304" pitchFamily="18" charset="0"/>
                <a:ea typeface="Times New Roman" panose="02020603050405020304" pitchFamily="18" charset="0"/>
              </a:rPr>
              <a:t>); break;</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case </a:t>
            </a:r>
            <a:r>
              <a:rPr lang="en-GB" sz="1800" dirty="0" err="1">
                <a:effectLst/>
                <a:latin typeface="Times New Roman" panose="02020603050405020304" pitchFamily="18" charset="0"/>
                <a:ea typeface="Times New Roman" panose="02020603050405020304" pitchFamily="18" charset="0"/>
              </a:rPr>
              <a:t>Settings.Environments.Test</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dbs</a:t>
            </a:r>
            <a:r>
              <a:rPr lang="en-GB" sz="1800" dirty="0">
                <a:effectLst/>
                <a:latin typeface="Times New Roman" panose="02020603050405020304" pitchFamily="18" charset="0"/>
                <a:ea typeface="Times New Roman" panose="02020603050405020304" pitchFamily="18" charset="0"/>
              </a:rPr>
              <a:t> = new </a:t>
            </a:r>
            <a:r>
              <a:rPr lang="en-GB" sz="1800" dirty="0" err="1">
                <a:effectLst/>
                <a:latin typeface="Times New Roman" panose="02020603050405020304" pitchFamily="18" charset="0"/>
                <a:ea typeface="Times New Roman" panose="02020603050405020304" pitchFamily="18" charset="0"/>
              </a:rPr>
              <a:t>DatabaseServices</a:t>
            </a:r>
            <a:r>
              <a:rPr lang="en-GB" sz="1800" dirty="0">
                <a:effectLst/>
                <a:latin typeface="Times New Roman" panose="02020603050405020304" pitchFamily="18" charset="0"/>
                <a:ea typeface="Times New Roman" panose="02020603050405020304" pitchFamily="18" charset="0"/>
              </a:rPr>
              <a:t>(</a:t>
            </a:r>
            <a:r>
              <a:rPr lang="en-GB" sz="1800" dirty="0" err="1">
                <a:effectLst/>
                <a:latin typeface="Times New Roman" panose="02020603050405020304" pitchFamily="18" charset="0"/>
                <a:ea typeface="Times New Roman" panose="02020603050405020304" pitchFamily="18" charset="0"/>
              </a:rPr>
              <a:t>AppSettings.ConnectionStrings.Test</a:t>
            </a:r>
            <a:r>
              <a:rPr lang="en-GB" sz="1800" dirty="0">
                <a:effectLst/>
                <a:latin typeface="Times New Roman" panose="02020603050405020304" pitchFamily="18" charset="0"/>
                <a:ea typeface="Times New Roman" panose="02020603050405020304" pitchFamily="18" charset="0"/>
              </a:rPr>
              <a:t>); break;</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as you can see, we have to add unnecessary logic to our code to control which classes to instantiate according to env. Adding more is inflexible.</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DI aims at decoupling objects to the extent that no code has to be changed just because an object another object depends on needs to be modified/changed</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So: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The Dependency Injection design pattern solves such problems. Classes will declare that they rely on some dependency that </a:t>
            </a:r>
            <a:r>
              <a:rPr lang="en-GB" sz="1800" dirty="0" err="1">
                <a:effectLst/>
                <a:latin typeface="Times New Roman" panose="02020603050405020304" pitchFamily="18" charset="0"/>
                <a:ea typeface="Times New Roman" panose="02020603050405020304" pitchFamily="18" charset="0"/>
              </a:rPr>
              <a:t>implments</a:t>
            </a:r>
            <a:r>
              <a:rPr lang="en-GB" sz="1800" dirty="0">
                <a:effectLst/>
                <a:latin typeface="Times New Roman" panose="02020603050405020304" pitchFamily="18" charset="0"/>
                <a:ea typeface="Times New Roman" panose="02020603050405020304" pitchFamily="18" charset="0"/>
              </a:rPr>
              <a:t> a specific interface (e.g. </a:t>
            </a:r>
            <a:r>
              <a:rPr lang="en-GB" sz="1800" dirty="0" err="1">
                <a:effectLst/>
                <a:latin typeface="Times New Roman" panose="02020603050405020304" pitchFamily="18" charset="0"/>
                <a:ea typeface="Times New Roman" panose="02020603050405020304" pitchFamily="18" charset="0"/>
              </a:rPr>
              <a:t>IBloggyRepository</a:t>
            </a:r>
            <a:r>
              <a:rPr lang="en-GB" sz="1800" dirty="0">
                <a:effectLst/>
                <a:latin typeface="Times New Roman" panose="02020603050405020304" pitchFamily="18" charset="0"/>
                <a:ea typeface="Times New Roman" panose="02020603050405020304" pitchFamily="18" charset="0"/>
              </a:rPr>
              <a:t>). Then the DI container is configured to inject a different variant depending on the current environment we’re on. The class doesn’t really care what instance it receives, as long as it implements that interface (a contract).</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The Dependency Injection pattern describes how to solve such problems:</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 </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Separate object creation from an application:</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Define a separate Injector object that creates and injects the objects a class requires.</a:t>
            </a:r>
            <a:endParaRPr lang="en-MT" sz="1800" dirty="0">
              <a:effectLst/>
              <a:latin typeface="Times New Roman" panose="02020603050405020304" pitchFamily="18" charset="0"/>
              <a:ea typeface="Times New Roman" panose="02020603050405020304" pitchFamily="18" charset="0"/>
            </a:endParaRPr>
          </a:p>
          <a:p>
            <a:r>
              <a:rPr lang="en-GB" sz="1800" dirty="0">
                <a:effectLst/>
                <a:latin typeface="Times New Roman" panose="02020603050405020304" pitchFamily="18" charset="0"/>
                <a:ea typeface="Times New Roman" panose="02020603050405020304" pitchFamily="18" charset="0"/>
              </a:rPr>
              <a:t>A class accepts the objects it requires from an Injector object instead of creating the objects directly.</a:t>
            </a:r>
            <a:endParaRPr lang="en-MT"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(From : h</a:t>
            </a:r>
            <a:r>
              <a:rPr lang="en-GB" sz="1200" dirty="0"/>
              <a:t>ttps://learn.microsoft.com/en-us/aspnet/core/fundamentals/dependency-injection?view=aspnetcore-7.0 and http://w3sdesign.com/?gr=u01&amp;ugr=proble#gf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Practical example of why it is better:</a:t>
            </a:r>
            <a:br>
              <a:rPr lang="en-GB" sz="1200" dirty="0"/>
            </a:br>
            <a:r>
              <a:rPr lang="en-GB" sz="1200" dirty="0"/>
              <a:t>You can have multiple managers depending on same repository. Without DI you would end up with 2 instances of repository, </a:t>
            </a:r>
            <a:r>
              <a:rPr lang="en-GB" sz="1200" dirty="0" err="1"/>
              <a:t>ie</a:t>
            </a:r>
            <a:r>
              <a:rPr lang="en-GB" sz="1200" dirty="0"/>
              <a:t> less efficient. Additionally, you may need a configuration service or something that is singleton/ contains state throughout call. It would be very difficult to do without DI</a:t>
            </a:r>
            <a:br>
              <a:rPr lang="en-GB" sz="1200" dirty="0"/>
            </a:br>
            <a:br>
              <a:rPr lang="en-GB" sz="1200" dirty="0"/>
            </a:br>
            <a:endParaRPr lang="en-GB" sz="1200" dirty="0"/>
          </a:p>
          <a:p>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14</a:t>
            </a:fld>
            <a:endParaRPr lang="en-GB"/>
          </a:p>
        </p:txBody>
      </p:sp>
    </p:spTree>
    <p:extLst>
      <p:ext uri="{BB962C8B-B14F-4D97-AF65-F5344CB8AC3E}">
        <p14:creationId xmlns:p14="http://schemas.microsoft.com/office/powerpoint/2010/main" val="3740652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board)</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GB" dirty="0"/>
              <a:t>Assume Class A requires </a:t>
            </a:r>
            <a:r>
              <a:rPr lang="en-GB" dirty="0" err="1"/>
              <a:t>ServiceA</a:t>
            </a:r>
            <a:r>
              <a:rPr lang="en-GB" dirty="0"/>
              <a:t> and </a:t>
            </a:r>
            <a:r>
              <a:rPr lang="en-GB" dirty="0" err="1"/>
              <a:t>ServiceB</a:t>
            </a:r>
            <a:r>
              <a:rPr lang="en-GB" dirty="0"/>
              <a:t> (which are other classes)</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GB" dirty="0"/>
              <a:t>First version is what we’re used to (the Class constructs instances of Service A and Service B)</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GB" dirty="0"/>
              <a:t>With IoC, we get:</a:t>
            </a:r>
          </a:p>
          <a:p>
            <a:pPr marL="685800" marR="0" lvl="1" indent="-228600" algn="l" defTabSz="914400" rtl="0" eaLnBrk="1" fontAlgn="auto" latinLnBrk="0" hangingPunct="1">
              <a:lnSpc>
                <a:spcPct val="100000"/>
              </a:lnSpc>
              <a:spcBef>
                <a:spcPts val="0"/>
              </a:spcBef>
              <a:spcAft>
                <a:spcPts val="0"/>
              </a:spcAft>
              <a:buClrTx/>
              <a:buSzTx/>
              <a:buFontTx/>
              <a:buAutoNum type="arabicParenR"/>
              <a:tabLst/>
              <a:defRPr/>
            </a:pPr>
            <a:r>
              <a:rPr lang="en-GB" dirty="0"/>
              <a:t>Class A that depends on a service that implements </a:t>
            </a:r>
            <a:r>
              <a:rPr lang="en-GB" dirty="0" err="1"/>
              <a:t>IServiceA</a:t>
            </a:r>
            <a:r>
              <a:rPr lang="en-GB" dirty="0"/>
              <a:t> and </a:t>
            </a:r>
            <a:r>
              <a:rPr lang="en-GB" dirty="0" err="1"/>
              <a:t>IServiceB</a:t>
            </a:r>
            <a:endParaRPr lang="en-GB" dirty="0"/>
          </a:p>
          <a:p>
            <a:pPr marL="685800" marR="0" lvl="1" indent="-228600" algn="l" defTabSz="914400" rtl="0" eaLnBrk="1" fontAlgn="auto" latinLnBrk="0" hangingPunct="1">
              <a:lnSpc>
                <a:spcPct val="100000"/>
              </a:lnSpc>
              <a:spcBef>
                <a:spcPts val="0"/>
              </a:spcBef>
              <a:spcAft>
                <a:spcPts val="0"/>
              </a:spcAft>
              <a:buClrTx/>
              <a:buSzTx/>
              <a:buFontTx/>
              <a:buAutoNum type="arabicParenR"/>
              <a:tabLst/>
              <a:defRPr/>
            </a:pPr>
            <a:r>
              <a:rPr lang="en-GB" dirty="0"/>
              <a:t>Once the builder constructs </a:t>
            </a:r>
            <a:r>
              <a:rPr lang="en-GB" dirty="0" err="1"/>
              <a:t>ClassA</a:t>
            </a:r>
            <a:r>
              <a:rPr lang="en-GB" dirty="0"/>
              <a:t>, it will know that it also needs to create an instance of </a:t>
            </a:r>
            <a:r>
              <a:rPr lang="en-GB" dirty="0" err="1"/>
              <a:t>IServiceA</a:t>
            </a:r>
            <a:r>
              <a:rPr lang="en-GB" dirty="0"/>
              <a:t> and </a:t>
            </a:r>
            <a:r>
              <a:rPr lang="en-GB" dirty="0" err="1"/>
              <a:t>IServiceB</a:t>
            </a:r>
            <a:r>
              <a:rPr lang="en-GB" dirty="0"/>
              <a:t>, according (for instance), to the env we’re on, and injects these dependencies into Class A</a:t>
            </a:r>
          </a:p>
          <a:p>
            <a:endParaRPr lang="en-GB" dirty="0"/>
          </a:p>
          <a:p>
            <a:r>
              <a:rPr lang="en-GB" dirty="0"/>
              <a:t>So, we don’t instantiate objects ourselves in Class A, we simply say what it depends on, and the DI system would inject the correct version for us depending on some config.</a:t>
            </a:r>
          </a:p>
          <a:p>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15</a:t>
            </a:fld>
            <a:endParaRPr lang="en-GB"/>
          </a:p>
        </p:txBody>
      </p:sp>
    </p:spTree>
    <p:extLst>
      <p:ext uri="{BB962C8B-B14F-4D97-AF65-F5344CB8AC3E}">
        <p14:creationId xmlns:p14="http://schemas.microsoft.com/office/powerpoint/2010/main" val="87761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Rather than having </a:t>
            </a:r>
            <a:r>
              <a:rPr lang="en-GB" dirty="0"/>
              <a:t>a </a:t>
            </a:r>
            <a:r>
              <a:rPr lang="en-GB" b="1" dirty="0"/>
              <a:t>client (e.g. class) responsible to create dependencies</a:t>
            </a:r>
            <a:r>
              <a:rPr lang="en-GB" dirty="0"/>
              <a:t>, an </a:t>
            </a:r>
            <a:r>
              <a:rPr lang="en-GB" b="1" dirty="0"/>
              <a:t>external piece of code (injector) </a:t>
            </a:r>
            <a:r>
              <a:rPr lang="en-GB" dirty="0"/>
              <a:t>is given that role. </a:t>
            </a:r>
          </a:p>
          <a:p>
            <a:endParaRPr lang="en-GB" dirty="0"/>
          </a:p>
          <a:p>
            <a:r>
              <a:rPr lang="en-GB" dirty="0"/>
              <a:t>The </a:t>
            </a:r>
            <a:r>
              <a:rPr lang="en-GB" b="1" dirty="0"/>
              <a:t>injector constructs </a:t>
            </a:r>
            <a:r>
              <a:rPr lang="en-GB" dirty="0"/>
              <a:t>the </a:t>
            </a:r>
            <a:r>
              <a:rPr lang="en-GB" b="1" dirty="0"/>
              <a:t>services/classes </a:t>
            </a:r>
            <a:r>
              <a:rPr lang="en-GB" dirty="0"/>
              <a:t>and </a:t>
            </a:r>
            <a:r>
              <a:rPr lang="en-GB" b="1" dirty="0"/>
              <a:t>calls the client to inject them</a:t>
            </a:r>
            <a:r>
              <a:rPr lang="en-GB" dirty="0"/>
              <a:t>, therefore, the client is abstracted further, and there is no need for it to know how to construct the dependencies or what these dependencies (services) do.</a:t>
            </a:r>
          </a:p>
          <a:p>
            <a:endParaRPr lang="en-GB" dirty="0"/>
          </a:p>
          <a:p>
            <a:r>
              <a:rPr lang="en-GB" dirty="0"/>
              <a:t>All the </a:t>
            </a:r>
            <a:r>
              <a:rPr lang="en-GB" b="1" dirty="0"/>
              <a:t>client needs </a:t>
            </a:r>
            <a:r>
              <a:rPr lang="en-GB" dirty="0"/>
              <a:t>to be </a:t>
            </a:r>
            <a:r>
              <a:rPr lang="en-GB" b="1" dirty="0"/>
              <a:t>aware of </a:t>
            </a:r>
            <a:r>
              <a:rPr lang="en-GB" dirty="0"/>
              <a:t>are the </a:t>
            </a:r>
            <a:r>
              <a:rPr lang="en-GB" b="1" dirty="0"/>
              <a:t>services’ interfaces </a:t>
            </a:r>
            <a:r>
              <a:rPr lang="en-GB" dirty="0"/>
              <a:t>(defining how the client may use the services i.e. which methods it implements), separating responsibilities of use and construction. </a:t>
            </a:r>
          </a:p>
          <a:p>
            <a:r>
              <a:rPr lang="en-GB" dirty="0"/>
              <a:t>Therefore, for unit testing, you write services following the given interface but which write, say, in RAM instead of a DB (mocking).</a:t>
            </a:r>
          </a:p>
          <a:p>
            <a:endParaRPr lang="en-GB" dirty="0"/>
          </a:p>
          <a:p>
            <a:r>
              <a:rPr lang="en-GB" dirty="0"/>
              <a:t>This also </a:t>
            </a:r>
            <a:r>
              <a:rPr lang="en-GB" b="1" dirty="0"/>
              <a:t>makes classes </a:t>
            </a:r>
            <a:r>
              <a:rPr lang="en-GB" dirty="0"/>
              <a:t>(e.g. controllers) </a:t>
            </a:r>
            <a:r>
              <a:rPr lang="en-GB" b="1" dirty="0"/>
              <a:t>more testable </a:t>
            </a:r>
            <a:r>
              <a:rPr lang="en-GB" dirty="0"/>
              <a:t>(we can write unit tests “easily”)</a:t>
            </a:r>
          </a:p>
          <a:p>
            <a:endParaRPr lang="en-GB" dirty="0"/>
          </a:p>
          <a:p>
            <a:r>
              <a:rPr lang="en-GB" dirty="0"/>
              <a:t>The use of interfaces is, therefore, extremely important – and the injector simply constructs whatever classes are necessary as long as they implement the required interface(s).</a:t>
            </a:r>
          </a:p>
          <a:p>
            <a:endParaRPr lang="en-GB" dirty="0"/>
          </a:p>
          <a:p>
            <a:r>
              <a:rPr lang="en-GB" b="1" dirty="0"/>
              <a:t>A DI Container </a:t>
            </a:r>
            <a:r>
              <a:rPr lang="en-GB" dirty="0"/>
              <a:t>is </a:t>
            </a:r>
            <a:r>
              <a:rPr lang="en-GB" b="1" dirty="0"/>
              <a:t>required </a:t>
            </a:r>
            <a:r>
              <a:rPr lang="en-GB" dirty="0"/>
              <a:t>to help </a:t>
            </a:r>
            <a:r>
              <a:rPr lang="en-GB" b="1" dirty="0"/>
              <a:t>us adopt this pattern</a:t>
            </a:r>
            <a:r>
              <a:rPr lang="en-GB" dirty="0"/>
              <a:t>. </a:t>
            </a:r>
          </a:p>
          <a:p>
            <a:endParaRPr lang="en-GB" dirty="0"/>
          </a:p>
          <a:p>
            <a:r>
              <a:rPr lang="en-GB" dirty="0"/>
              <a:t>Refer to SoC code example </a:t>
            </a:r>
          </a:p>
          <a:p>
            <a:pPr marL="171450" indent="-171450">
              <a:buFontTx/>
              <a:buChar char="-"/>
            </a:pPr>
            <a:r>
              <a:rPr lang="en-GB" dirty="0"/>
              <a:t>Interface: </a:t>
            </a:r>
            <a:r>
              <a:rPr lang="en-GB" sz="1200" kern="1200" dirty="0" err="1">
                <a:solidFill>
                  <a:schemeClr val="tx1"/>
                </a:solidFill>
                <a:effectLst/>
                <a:latin typeface="+mn-lt"/>
                <a:ea typeface="+mn-ea"/>
                <a:cs typeface="+mn-cs"/>
              </a:rPr>
              <a:t>IBookingRepository.cs</a:t>
            </a:r>
            <a:endParaRPr lang="en-GB" sz="1200" kern="1200" dirty="0">
              <a:solidFill>
                <a:schemeClr val="tx1"/>
              </a:solidFill>
              <a:effectLst/>
              <a:latin typeface="+mn-lt"/>
              <a:ea typeface="+mn-ea"/>
              <a:cs typeface="+mn-cs"/>
            </a:endParaRPr>
          </a:p>
          <a:p>
            <a:pPr marL="171450" indent="-171450">
              <a:buFontTx/>
              <a:buChar char="-"/>
            </a:pPr>
            <a:r>
              <a:rPr lang="en-GB" sz="1200" kern="1200" dirty="0">
                <a:solidFill>
                  <a:schemeClr val="tx1"/>
                </a:solidFill>
                <a:effectLst/>
                <a:latin typeface="+mn-lt"/>
                <a:ea typeface="+mn-ea"/>
                <a:cs typeface="+mn-cs"/>
              </a:rPr>
              <a:t>Mock Repo: </a:t>
            </a:r>
            <a:r>
              <a:rPr lang="en-GB" sz="1200" kern="1200" dirty="0" err="1">
                <a:solidFill>
                  <a:schemeClr val="tx1"/>
                </a:solidFill>
                <a:effectLst/>
                <a:latin typeface="+mn-lt"/>
                <a:ea typeface="+mn-ea"/>
                <a:cs typeface="+mn-cs"/>
              </a:rPr>
              <a:t>MockBookingRepository.cs</a:t>
            </a:r>
            <a:endParaRPr lang="en-GB" sz="1200" kern="1200" dirty="0">
              <a:solidFill>
                <a:schemeClr val="tx1"/>
              </a:solidFill>
              <a:effectLst/>
              <a:latin typeface="+mn-lt"/>
              <a:ea typeface="+mn-ea"/>
              <a:cs typeface="+mn-cs"/>
            </a:endParaRPr>
          </a:p>
          <a:p>
            <a:pPr marL="171450" indent="-171450">
              <a:buFontTx/>
              <a:buChar char="-"/>
            </a:pPr>
            <a:r>
              <a:rPr lang="en-GB" sz="1200" kern="1200" dirty="0">
                <a:solidFill>
                  <a:schemeClr val="tx1"/>
                </a:solidFill>
                <a:effectLst/>
                <a:latin typeface="+mn-lt"/>
                <a:ea typeface="+mn-ea"/>
                <a:cs typeface="+mn-cs"/>
              </a:rPr>
              <a:t>Added repo service (mock or otherwise) to DI Container: </a:t>
            </a:r>
            <a:r>
              <a:rPr lang="en-GB" sz="1200" kern="1200" dirty="0" err="1">
                <a:solidFill>
                  <a:schemeClr val="tx1"/>
                </a:solidFill>
                <a:effectLst/>
                <a:latin typeface="+mn-lt"/>
                <a:ea typeface="+mn-ea"/>
                <a:cs typeface="+mn-cs"/>
              </a:rPr>
              <a:t>Startup.cs</a:t>
            </a:r>
            <a:r>
              <a:rPr lang="en-GB" sz="1200" kern="1200" dirty="0">
                <a:solidFill>
                  <a:schemeClr val="tx1"/>
                </a:solidFill>
                <a:effectLst/>
                <a:latin typeface="+mn-lt"/>
                <a:ea typeface="+mn-ea"/>
                <a:cs typeface="+mn-cs"/>
              </a:rPr>
              <a:t> -&gt; </a:t>
            </a:r>
            <a:r>
              <a:rPr lang="en-GB" sz="1200" kern="1200" dirty="0" err="1">
                <a:solidFill>
                  <a:schemeClr val="tx1"/>
                </a:solidFill>
                <a:effectLst/>
                <a:latin typeface="+mn-lt"/>
                <a:ea typeface="+mn-ea"/>
                <a:cs typeface="+mn-cs"/>
              </a:rPr>
              <a:t>ConfigureServices</a:t>
            </a:r>
            <a:r>
              <a:rPr lang="en-GB" sz="1200" kern="1200" dirty="0">
                <a:solidFill>
                  <a:schemeClr val="tx1"/>
                </a:solidFill>
                <a:effectLst/>
                <a:latin typeface="+mn-lt"/>
                <a:ea typeface="+mn-ea"/>
                <a:cs typeface="+mn-cs"/>
              </a:rPr>
              <a:t>() (depending on environment, it will use a different repo which implements the same interface)</a:t>
            </a:r>
          </a:p>
          <a:p>
            <a:pPr marL="171450" indent="-171450">
              <a:buFontTx/>
              <a:buChar char="-"/>
            </a:pPr>
            <a:r>
              <a:rPr lang="en-GB" sz="1200" kern="1200" dirty="0">
                <a:solidFill>
                  <a:schemeClr val="tx1"/>
                </a:solidFill>
                <a:effectLst/>
                <a:latin typeface="+mn-lt"/>
                <a:ea typeface="+mn-ea"/>
                <a:cs typeface="+mn-cs"/>
              </a:rPr>
              <a:t>Request repo instance injection from client (</a:t>
            </a:r>
            <a:r>
              <a:rPr lang="en-GB" sz="1200" kern="1200" dirty="0" err="1">
                <a:solidFill>
                  <a:schemeClr val="tx1"/>
                </a:solidFill>
                <a:effectLst/>
                <a:latin typeface="+mn-lt"/>
                <a:ea typeface="+mn-ea"/>
                <a:cs typeface="+mn-cs"/>
              </a:rPr>
              <a:t>BookingController.cs</a:t>
            </a:r>
            <a:r>
              <a:rPr lang="en-GB" sz="1200" kern="1200" dirty="0">
                <a:solidFill>
                  <a:schemeClr val="tx1"/>
                </a:solidFill>
                <a:effectLst/>
                <a:latin typeface="+mn-lt"/>
                <a:ea typeface="+mn-ea"/>
                <a:cs typeface="+mn-cs"/>
              </a:rPr>
              <a:t>) constructor  (constructor injection)</a:t>
            </a:r>
          </a:p>
          <a:p>
            <a:pPr marL="171450" indent="-171450">
              <a:buFontTx/>
              <a:buChar char="-"/>
            </a:pPr>
            <a:endParaRPr lang="en-GB" dirty="0"/>
          </a:p>
          <a:p>
            <a:r>
              <a:rPr lang="en-GB" b="1" dirty="0"/>
              <a:t>Rather than creating instances of </a:t>
            </a:r>
            <a:r>
              <a:rPr lang="en-GB" dirty="0"/>
              <a:t>our </a:t>
            </a:r>
            <a:r>
              <a:rPr lang="en-GB" b="1" dirty="0"/>
              <a:t>repo in our code</a:t>
            </a:r>
            <a:r>
              <a:rPr lang="en-GB" dirty="0"/>
              <a:t>, creating </a:t>
            </a:r>
            <a:r>
              <a:rPr lang="en-GB" b="1" dirty="0"/>
              <a:t>tight coupling</a:t>
            </a:r>
            <a:r>
              <a:rPr lang="en-GB" dirty="0"/>
              <a:t>, we can </a:t>
            </a:r>
            <a:r>
              <a:rPr lang="en-GB" b="1" dirty="0"/>
              <a:t>register our repository </a:t>
            </a:r>
            <a:r>
              <a:rPr lang="en-GB" dirty="0"/>
              <a:t>with a </a:t>
            </a:r>
            <a:r>
              <a:rPr lang="en-GB" b="1" dirty="0"/>
              <a:t>DI system</a:t>
            </a:r>
            <a:r>
              <a:rPr lang="en-GB" dirty="0"/>
              <a:t>.</a:t>
            </a:r>
          </a:p>
          <a:p>
            <a:r>
              <a:rPr lang="en-GB" dirty="0"/>
              <a:t>- Example in Controller constructor – having to change code if we want to move from Mock to actual DB repo.</a:t>
            </a:r>
          </a:p>
          <a:p>
            <a:r>
              <a:rPr lang="en-GB" b="1" dirty="0"/>
              <a:t>All other classes </a:t>
            </a:r>
            <a:r>
              <a:rPr lang="en-GB" dirty="0"/>
              <a:t>wanting to </a:t>
            </a:r>
            <a:r>
              <a:rPr lang="en-GB" b="1" dirty="0"/>
              <a:t>make use of </a:t>
            </a:r>
            <a:r>
              <a:rPr lang="en-GB" dirty="0"/>
              <a:t>our </a:t>
            </a:r>
            <a:r>
              <a:rPr lang="en-GB" b="1" dirty="0"/>
              <a:t>repository </a:t>
            </a:r>
            <a:r>
              <a:rPr lang="en-GB" dirty="0"/>
              <a:t>would </a:t>
            </a:r>
            <a:r>
              <a:rPr lang="en-GB" b="1" dirty="0"/>
              <a:t>ask the DI system </a:t>
            </a:r>
            <a:r>
              <a:rPr lang="en-GB" dirty="0"/>
              <a:t>for an </a:t>
            </a:r>
            <a:r>
              <a:rPr lang="en-GB" b="1" dirty="0"/>
              <a:t>instance </a:t>
            </a:r>
            <a:r>
              <a:rPr lang="en-GB" dirty="0"/>
              <a:t>of the repository.</a:t>
            </a:r>
          </a:p>
          <a:p>
            <a:endParaRPr lang="en-GB" dirty="0"/>
          </a:p>
          <a:p>
            <a:r>
              <a:rPr lang="en-GB" b="1" dirty="0"/>
              <a:t>This way, we’ll have more loosely coupled code – in line with the goals of MVC.</a:t>
            </a:r>
          </a:p>
          <a:p>
            <a:pPr marL="0" indent="0">
              <a:buFontTx/>
              <a:buNone/>
            </a:pPr>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16</a:t>
            </a:fld>
            <a:endParaRPr lang="en-GB"/>
          </a:p>
        </p:txBody>
      </p:sp>
    </p:spTree>
    <p:extLst>
      <p:ext uri="{BB962C8B-B14F-4D97-AF65-F5344CB8AC3E}">
        <p14:creationId xmlns:p14="http://schemas.microsoft.com/office/powerpoint/2010/main" val="2016202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sym typeface="Wingdings" panose="05000000000000000000" pitchFamily="2" charset="2"/>
              </a:rPr>
              <a:t>ASP.Net</a:t>
            </a:r>
            <a:r>
              <a:rPr lang="en-GB" dirty="0">
                <a:sym typeface="Wingdings" panose="05000000000000000000" pitchFamily="2" charset="2"/>
              </a:rPr>
              <a:t> is based on conventions:</a:t>
            </a:r>
            <a:endParaRPr lang="en-GB" dirty="0"/>
          </a:p>
          <a:p>
            <a:pPr lvl="1"/>
            <a:r>
              <a:rPr lang="en-GB" dirty="0"/>
              <a:t>Views folder is used by convention.  For each controller, we have a corresponding sub-folder with the name of the Controller (e.g. Views\Home </a:t>
            </a:r>
            <a:r>
              <a:rPr lang="en-GB" dirty="0">
                <a:sym typeface="Wingdings" panose="05000000000000000000" pitchFamily="2" charset="2"/>
              </a:rPr>
              <a:t> </a:t>
            </a:r>
            <a:r>
              <a:rPr lang="en-GB" dirty="0" err="1">
                <a:sym typeface="Wingdings" panose="05000000000000000000" pitchFamily="2" charset="2"/>
              </a:rPr>
              <a:t>HomeController</a:t>
            </a:r>
            <a:r>
              <a:rPr lang="en-GB" dirty="0">
                <a:sym typeface="Wingdings" panose="05000000000000000000" pitchFamily="2" charset="2"/>
              </a:rPr>
              <a:t>)</a:t>
            </a:r>
          </a:p>
          <a:p>
            <a:pPr lvl="1"/>
            <a:r>
              <a:rPr lang="en-GB" dirty="0"/>
              <a:t>Each Action in the Controller corresponds to a view in the subfolder (e.g. Index action </a:t>
            </a:r>
            <a:r>
              <a:rPr lang="en-GB" dirty="0">
                <a:sym typeface="Wingdings" panose="05000000000000000000" pitchFamily="2" charset="2"/>
              </a:rPr>
              <a:t> </a:t>
            </a:r>
            <a:r>
              <a:rPr lang="en-GB" dirty="0" err="1">
                <a:sym typeface="Wingdings" panose="05000000000000000000" pitchFamily="2" charset="2"/>
              </a:rPr>
              <a:t>Index.cshtml</a:t>
            </a:r>
            <a:r>
              <a:rPr lang="en-GB" dirty="0">
                <a:sym typeface="Wingdings" panose="05000000000000000000" pitchFamily="2" charset="2"/>
              </a:rPr>
              <a:t>)</a:t>
            </a:r>
          </a:p>
          <a:p>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17</a:t>
            </a:fld>
            <a:endParaRPr lang="en-GB"/>
          </a:p>
        </p:txBody>
      </p:sp>
    </p:spTree>
    <p:extLst>
      <p:ext uri="{BB962C8B-B14F-4D97-AF65-F5344CB8AC3E}">
        <p14:creationId xmlns:p14="http://schemas.microsoft.com/office/powerpoint/2010/main" val="103409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a:t>
            </a:r>
            <a:r>
              <a:rPr lang="en-GB" dirty="0" err="1"/>
              <a:t>.Net</a:t>
            </a:r>
            <a:r>
              <a:rPr lang="en-GB" dirty="0"/>
              <a:t>, multiple view engines are available, although </a:t>
            </a:r>
            <a:r>
              <a:rPr lang="en-GB" sz="1200" kern="1200" dirty="0">
                <a:solidFill>
                  <a:schemeClr val="tx1"/>
                </a:solidFill>
                <a:effectLst/>
                <a:latin typeface="+mn-lt"/>
                <a:ea typeface="+mn-ea"/>
                <a:cs typeface="+mn-cs"/>
              </a:rPr>
              <a:t>Razor is the preferred technology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Master pages (or Layout pages) are used to re-use as much code as possible.</a:t>
            </a:r>
          </a:p>
        </p:txBody>
      </p:sp>
      <p:sp>
        <p:nvSpPr>
          <p:cNvPr id="4" name="Slide Number Placeholder 3"/>
          <p:cNvSpPr>
            <a:spLocks noGrp="1"/>
          </p:cNvSpPr>
          <p:nvPr>
            <p:ph type="sldNum" sz="quarter" idx="10"/>
          </p:nvPr>
        </p:nvSpPr>
        <p:spPr/>
        <p:txBody>
          <a:bodyPr/>
          <a:lstStyle/>
          <a:p>
            <a:fld id="{90071FBE-0E7E-4EDA-BB24-DCCD5507545A}" type="slidenum">
              <a:rPr lang="en-GB" smtClean="0"/>
              <a:t>18</a:t>
            </a:fld>
            <a:endParaRPr lang="en-GB"/>
          </a:p>
        </p:txBody>
      </p:sp>
    </p:spTree>
    <p:extLst>
      <p:ext uri="{BB962C8B-B14F-4D97-AF65-F5344CB8AC3E}">
        <p14:creationId xmlns:p14="http://schemas.microsoft.com/office/powerpoint/2010/main" val="1503229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code generally needs to connect to a database – to retrieve or persist data. </a:t>
            </a:r>
          </a:p>
          <a:p>
            <a:endParaRPr lang="en-US" dirty="0"/>
          </a:p>
          <a:p>
            <a:r>
              <a:rPr lang="en-US" dirty="0"/>
              <a:t>Database connectivity technologies, or database drivers, exist for the various languages and database servers around. </a:t>
            </a:r>
          </a:p>
          <a:p>
            <a:endParaRPr lang="en-US" dirty="0"/>
          </a:p>
          <a:p>
            <a:r>
              <a:rPr lang="en-US" dirty="0"/>
              <a:t>For instance, JDBC (</a:t>
            </a:r>
            <a:r>
              <a:rPr lang="en-US" b="0" i="0" dirty="0">
                <a:solidFill>
                  <a:srgbClr val="0D0D0D"/>
                </a:solidFill>
                <a:effectLst/>
                <a:latin typeface="Söhne"/>
              </a:rPr>
              <a:t>Java Database Connectivity) as well as ADO.NET (ActiveX Data Objects), are used in the context of Java and .NET respectively. </a:t>
            </a:r>
          </a:p>
          <a:p>
            <a:r>
              <a:rPr lang="en-US" b="0" i="0" dirty="0">
                <a:solidFill>
                  <a:srgbClr val="0D0D0D"/>
                </a:solidFill>
                <a:effectLst/>
                <a:latin typeface="Söhne"/>
              </a:rPr>
              <a:t>Others exist, such as ODBC (Open Database Connectivity – used in certain reporting tools), </a:t>
            </a:r>
            <a:r>
              <a:rPr lang="en-US" b="0" i="0" dirty="0" err="1">
                <a:solidFill>
                  <a:srgbClr val="0D0D0D"/>
                </a:solidFill>
                <a:effectLst/>
                <a:latin typeface="Söhne"/>
              </a:rPr>
              <a:t>SQLAlchemy</a:t>
            </a:r>
            <a:r>
              <a:rPr lang="en-US" b="0" i="0" dirty="0">
                <a:solidFill>
                  <a:srgbClr val="0D0D0D"/>
                </a:solidFill>
                <a:effectLst/>
                <a:latin typeface="Söhne"/>
              </a:rPr>
              <a:t> (</a:t>
            </a:r>
            <a:r>
              <a:rPr lang="en-US" b="0" i="0" dirty="0" err="1">
                <a:solidFill>
                  <a:srgbClr val="0D0D0D"/>
                </a:solidFill>
                <a:effectLst/>
                <a:latin typeface="Söhne"/>
              </a:rPr>
              <a:t>conncets</a:t>
            </a:r>
            <a:r>
              <a:rPr lang="en-US" b="0" i="0" dirty="0">
                <a:solidFill>
                  <a:srgbClr val="0D0D0D"/>
                </a:solidFill>
                <a:effectLst/>
                <a:latin typeface="Söhne"/>
              </a:rPr>
              <a:t> various DBs in Python), psycopg2 (connects </a:t>
            </a:r>
            <a:r>
              <a:rPr lang="en-US" b="0" i="0" dirty="0" err="1">
                <a:solidFill>
                  <a:srgbClr val="0D0D0D"/>
                </a:solidFill>
                <a:effectLst/>
                <a:latin typeface="Söhne"/>
              </a:rPr>
              <a:t>PostgresSQL</a:t>
            </a:r>
            <a:r>
              <a:rPr lang="en-US" b="0" i="0" dirty="0">
                <a:solidFill>
                  <a:srgbClr val="0D0D0D"/>
                </a:solidFill>
                <a:effectLst/>
                <a:latin typeface="Söhne"/>
              </a:rPr>
              <a:t> in Python)</a:t>
            </a:r>
          </a:p>
          <a:p>
            <a:endParaRPr lang="en-US" b="0" i="0" dirty="0">
              <a:solidFill>
                <a:srgbClr val="0D0D0D"/>
              </a:solidFill>
              <a:effectLst/>
              <a:latin typeface="Söhne"/>
            </a:endParaRPr>
          </a:p>
          <a:p>
            <a:r>
              <a:rPr lang="en-US" b="0" i="0" dirty="0">
                <a:solidFill>
                  <a:srgbClr val="0D0D0D"/>
                </a:solidFill>
                <a:effectLst/>
                <a:latin typeface="Söhne"/>
              </a:rPr>
              <a:t>Then, more advanced technologies allow us to reach a DB, but also map our OOP logic/code with the underlying data model used in the database (e.g. OOP to Relational and back). Some of these build on top of these database technologies and provide more functionality.</a:t>
            </a:r>
          </a:p>
          <a:p>
            <a:endParaRPr lang="en-US" b="0" i="0" dirty="0">
              <a:solidFill>
                <a:srgbClr val="0D0D0D"/>
              </a:solidFill>
              <a:effectLst/>
              <a:latin typeface="Söhne"/>
            </a:endParaRPr>
          </a:p>
          <a:p>
            <a:r>
              <a:rPr lang="en-US" b="0" i="0" dirty="0">
                <a:solidFill>
                  <a:srgbClr val="0D0D0D"/>
                </a:solidFill>
                <a:effectLst/>
                <a:latin typeface="Söhne"/>
              </a:rPr>
              <a:t>This year, we’ll talk about Entity Framework.</a:t>
            </a:r>
          </a:p>
          <a:p>
            <a:endParaRPr lang="en-US" b="0" i="0" dirty="0">
              <a:solidFill>
                <a:srgbClr val="0D0D0D"/>
              </a:solidFill>
              <a:effectLst/>
              <a:latin typeface="Söhne"/>
            </a:endParaRPr>
          </a:p>
        </p:txBody>
      </p:sp>
      <p:sp>
        <p:nvSpPr>
          <p:cNvPr id="4" name="Slide Number Placeholder 3"/>
          <p:cNvSpPr>
            <a:spLocks noGrp="1"/>
          </p:cNvSpPr>
          <p:nvPr>
            <p:ph type="sldNum" sz="quarter" idx="5"/>
          </p:nvPr>
        </p:nvSpPr>
        <p:spPr/>
        <p:txBody>
          <a:bodyPr/>
          <a:lstStyle/>
          <a:p>
            <a:fld id="{90071FBE-0E7E-4EDA-BB24-DCCD5507545A}" type="slidenum">
              <a:rPr lang="en-GB" smtClean="0"/>
              <a:t>19</a:t>
            </a:fld>
            <a:endParaRPr lang="en-GB"/>
          </a:p>
        </p:txBody>
      </p:sp>
    </p:spTree>
    <p:extLst>
      <p:ext uri="{BB962C8B-B14F-4D97-AF65-F5344CB8AC3E}">
        <p14:creationId xmlns:p14="http://schemas.microsoft.com/office/powerpoint/2010/main" val="1660367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EF is an ORM from MS (Object Relational Mapper). OR Mapping helps in converting data between incompatible type systems using object-oriented programming languages. This creates, in effect, a "virtual object database" that can be used from within the programming language.</a:t>
            </a:r>
          </a:p>
          <a:p>
            <a:r>
              <a:rPr lang="en-GB" sz="1200" kern="1200" dirty="0">
                <a:solidFill>
                  <a:schemeClr val="tx1"/>
                </a:solidFill>
                <a:effectLst/>
                <a:latin typeface="+mn-lt"/>
                <a:ea typeface="+mn-ea"/>
                <a:cs typeface="+mn-cs"/>
              </a:rPr>
              <a:t>In practice, you use OOP code to interact with a relational data store.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Is it good practice? Well, there are many ifs and buts, but in practice, a middle-ground exists using procedural languages offered by most databases (E.g. PL/SQL, T-SQL etc…), which are then called via the ORM.</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Language-Integrated Query (LINQ): </a:t>
            </a:r>
            <a:r>
              <a:rPr lang="en-GB" sz="1200" kern="1200" dirty="0">
                <a:solidFill>
                  <a:schemeClr val="tx1"/>
                </a:solidFill>
                <a:effectLst/>
                <a:latin typeface="+mn-lt"/>
                <a:ea typeface="+mn-ea"/>
                <a:cs typeface="+mn-cs"/>
              </a:rPr>
              <a:t>LINQ statements allow us to interact with our data using Lambda statements.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It offers </a:t>
            </a:r>
            <a:r>
              <a:rPr lang="en-GB" sz="1200" b="1" kern="1200" dirty="0">
                <a:solidFill>
                  <a:schemeClr val="tx1"/>
                </a:solidFill>
                <a:effectLst/>
                <a:latin typeface="+mn-lt"/>
                <a:ea typeface="+mn-ea"/>
                <a:cs typeface="+mn-cs"/>
              </a:rPr>
              <a:t>data querying capabilities directly into the C# language</a:t>
            </a:r>
            <a:r>
              <a:rPr lang="en-GB"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Traditionally, </a:t>
            </a:r>
            <a:r>
              <a:rPr lang="en-GB" sz="1200" b="1" kern="1200" dirty="0">
                <a:solidFill>
                  <a:schemeClr val="tx1"/>
                </a:solidFill>
                <a:effectLst/>
                <a:latin typeface="+mn-lt"/>
                <a:ea typeface="+mn-ea"/>
                <a:cs typeface="+mn-cs"/>
              </a:rPr>
              <a:t>queries against data are expressed as simple strings without type checking at compile time</a:t>
            </a:r>
            <a:r>
              <a:rPr lang="en-GB"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With LINQ, </a:t>
            </a:r>
            <a:r>
              <a:rPr lang="en-GB" sz="1200" b="1" kern="1200" dirty="0">
                <a:solidFill>
                  <a:schemeClr val="tx1"/>
                </a:solidFill>
                <a:effectLst/>
                <a:latin typeface="+mn-lt"/>
                <a:ea typeface="+mn-ea"/>
                <a:cs typeface="+mn-cs"/>
              </a:rPr>
              <a:t>a query is a first-class language construct</a:t>
            </a:r>
            <a:r>
              <a:rPr lang="en-GB" sz="1200" kern="1200" dirty="0">
                <a:solidFill>
                  <a:schemeClr val="tx1"/>
                </a:solidFill>
                <a:effectLst/>
                <a:latin typeface="+mn-lt"/>
                <a:ea typeface="+mn-ea"/>
                <a:cs typeface="+mn-cs"/>
              </a:rPr>
              <a:t>, just like classes, methods, events.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EF Core can be used to interact with different DBs across platforms and across data models (e.g. xml, SQL DBs, relational and non-relational, etc…), using one query language.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EF Core only supports a </a:t>
            </a:r>
            <a:r>
              <a:rPr lang="en-GB" sz="1200" kern="1200">
                <a:solidFill>
                  <a:schemeClr val="tx1"/>
                </a:solidFill>
                <a:effectLst/>
                <a:latin typeface="+mn-lt"/>
                <a:ea typeface="+mn-ea"/>
                <a:cs typeface="+mn-cs"/>
              </a:rPr>
              <a:t>Code-First approach</a:t>
            </a:r>
          </a:p>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0071FBE-0E7E-4EDA-BB24-DCCD5507545A}" type="slidenum">
              <a:rPr lang="en-GB" smtClean="0"/>
              <a:t>20</a:t>
            </a:fld>
            <a:endParaRPr lang="en-GB"/>
          </a:p>
        </p:txBody>
      </p:sp>
    </p:spTree>
    <p:extLst>
      <p:ext uri="{BB962C8B-B14F-4D97-AF65-F5344CB8AC3E}">
        <p14:creationId xmlns:p14="http://schemas.microsoft.com/office/powerpoint/2010/main" val="4131860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Types will be mapped from your classes to your data store’s types. </a:t>
            </a:r>
          </a:p>
          <a:p>
            <a:r>
              <a:rPr lang="en-GB" sz="1200" kern="1200" dirty="0">
                <a:solidFill>
                  <a:schemeClr val="tx1"/>
                </a:solidFill>
                <a:effectLst/>
                <a:latin typeface="+mn-lt"/>
                <a:ea typeface="+mn-ea"/>
                <a:cs typeface="+mn-cs"/>
              </a:rPr>
              <a:t>Also, certain conventions exist: a property with Id in it (e.g. </a:t>
            </a:r>
            <a:r>
              <a:rPr lang="en-GB" sz="1200" kern="1200" dirty="0" err="1">
                <a:solidFill>
                  <a:schemeClr val="tx1"/>
                </a:solidFill>
                <a:effectLst/>
                <a:latin typeface="+mn-lt"/>
                <a:ea typeface="+mn-ea"/>
                <a:cs typeface="+mn-cs"/>
              </a:rPr>
              <a:t>PieId</a:t>
            </a:r>
            <a:r>
              <a:rPr lang="en-GB" sz="1200" kern="1200" dirty="0">
                <a:solidFill>
                  <a:schemeClr val="tx1"/>
                </a:solidFill>
                <a:effectLst/>
                <a:latin typeface="+mn-lt"/>
                <a:ea typeface="+mn-ea"/>
                <a:cs typeface="+mn-cs"/>
              </a:rPr>
              <a:t> or Id) will become the primary key in the DB.</a:t>
            </a:r>
          </a:p>
        </p:txBody>
      </p:sp>
      <p:sp>
        <p:nvSpPr>
          <p:cNvPr id="4" name="Slide Number Placeholder 3"/>
          <p:cNvSpPr>
            <a:spLocks noGrp="1"/>
          </p:cNvSpPr>
          <p:nvPr>
            <p:ph type="sldNum" sz="quarter" idx="5"/>
          </p:nvPr>
        </p:nvSpPr>
        <p:spPr/>
        <p:txBody>
          <a:bodyPr/>
          <a:lstStyle/>
          <a:p>
            <a:fld id="{90071FBE-0E7E-4EDA-BB24-DCCD5507545A}" type="slidenum">
              <a:rPr lang="en-GB" smtClean="0"/>
              <a:t>21</a:t>
            </a:fld>
            <a:endParaRPr lang="en-GB"/>
          </a:p>
        </p:txBody>
      </p:sp>
    </p:spTree>
    <p:extLst>
      <p:ext uri="{BB962C8B-B14F-4D97-AF65-F5344CB8AC3E}">
        <p14:creationId xmlns:p14="http://schemas.microsoft.com/office/powerpoint/2010/main" val="3917361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In </a:t>
            </a:r>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MVC – incoming HTTP requests are captured, and mapped to the respective action within the respective controller.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There is no link between incoming request and static files on disk</a:t>
            </a: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How does MVC know which controller/action need to be invoked? Routing.</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Routing engine will match URL with actions and controllers based on pre-defined URL patterns</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By default we specify the app to use the default route (</a:t>
            </a:r>
            <a:r>
              <a:rPr lang="en-GB" sz="1200" kern="1200" dirty="0" err="1">
                <a:solidFill>
                  <a:schemeClr val="tx1"/>
                </a:solidFill>
                <a:latin typeface="+mn-lt"/>
                <a:ea typeface="+mn-ea"/>
                <a:cs typeface="+mn-cs"/>
              </a:rPr>
              <a:t>endpoints.MapDefaultControllerRoute</a:t>
            </a:r>
            <a:r>
              <a:rPr lang="en-GB" sz="1200" kern="1200" dirty="0">
                <a:solidFill>
                  <a:schemeClr val="tx1"/>
                </a:solidFill>
                <a:latin typeface="+mn-lt"/>
                <a:ea typeface="+mn-ea"/>
                <a:cs typeface="+mn-cs"/>
              </a:rPr>
              <a:t>()</a:t>
            </a:r>
            <a:r>
              <a:rPr lang="en-GB"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This will add a default route: </a:t>
            </a:r>
            <a:r>
              <a:rPr lang="en-GB" sz="1200" kern="1200" dirty="0">
                <a:solidFill>
                  <a:schemeClr val="tx1"/>
                </a:solidFill>
                <a:latin typeface="+mn-lt"/>
                <a:ea typeface="+mn-ea"/>
                <a:cs typeface="+mn-cs"/>
              </a:rPr>
              <a:t>{controller=Home}/{action=Index}/{id?}.</a:t>
            </a:r>
            <a:r>
              <a:rPr lang="en-GB"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This will work for most applications with a default value if none are supplied.</a:t>
            </a:r>
          </a:p>
          <a:p>
            <a:endParaRPr lang="en-GB" sz="1200" kern="1200" dirty="0">
              <a:solidFill>
                <a:schemeClr val="tx1"/>
              </a:solidFill>
              <a:effectLst/>
              <a:latin typeface="+mn-lt"/>
              <a:ea typeface="+mn-ea"/>
              <a:cs typeface="+mn-cs"/>
            </a:endParaRPr>
          </a:p>
          <a:p>
            <a:r>
              <a:rPr lang="en-GB" dirty="0"/>
              <a:t>“The ASP.NET Routing module is responsible for mapping incoming browser requests to particular MVC controller actions” – </a:t>
            </a:r>
            <a:r>
              <a:rPr lang="en-GB" dirty="0">
                <a:hlinkClick r:id="rId3"/>
              </a:rPr>
              <a:t>http://asp.net/mvc</a:t>
            </a:r>
            <a:r>
              <a:rPr lang="en-GB" dirty="0"/>
              <a:t> </a:t>
            </a:r>
          </a:p>
          <a:p>
            <a:endParaRPr lang="en-GB" dirty="0"/>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Each route is a URL pattern, which will be mapped to a handler (action on the controller)</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Patterns will be used to trigger the corresponding action </a:t>
            </a: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E.g. </a:t>
            </a:r>
            <a:r>
              <a:rPr lang="en-GB" sz="1200" u="sng" kern="1200" dirty="0">
                <a:solidFill>
                  <a:schemeClr val="tx1"/>
                </a:solidFill>
                <a:effectLst/>
                <a:latin typeface="+mn-lt"/>
                <a:ea typeface="+mn-ea"/>
                <a:cs typeface="+mn-cs"/>
                <a:hlinkClick r:id="rId4"/>
              </a:rPr>
              <a:t>http://yoursite.com/reports/</a:t>
            </a:r>
            <a:r>
              <a:rPr lang="en-GB" sz="1200" u="sng" kern="1200" dirty="0">
                <a:solidFill>
                  <a:schemeClr val="tx1"/>
                </a:solidFill>
                <a:effectLst/>
                <a:latin typeface="+mn-lt"/>
                <a:ea typeface="+mn-ea"/>
                <a:cs typeface="+mn-cs"/>
              </a:rPr>
              <a:t>details/5</a:t>
            </a:r>
            <a:r>
              <a:rPr lang="en-GB" sz="1200" kern="1200" dirty="0">
                <a:solidFill>
                  <a:schemeClr val="tx1"/>
                </a:solidFill>
                <a:effectLst/>
                <a:latin typeface="+mn-lt"/>
                <a:ea typeface="+mn-ea"/>
                <a:cs typeface="+mn-cs"/>
              </a:rPr>
              <a:t> (first is controller, second is action while third parameter would be the id)</a:t>
            </a: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Routing engine will need to be set up to understand the above pattern e.g. {Controller}/{Action} </a:t>
            </a:r>
            <a:r>
              <a:rPr lang="en-GB" sz="1200" kern="1200" dirty="0">
                <a:solidFill>
                  <a:schemeClr val="tx1"/>
                </a:solidFill>
                <a:effectLst/>
                <a:latin typeface="+mn-lt"/>
                <a:ea typeface="+mn-ea"/>
                <a:cs typeface="+mn-cs"/>
                <a:sym typeface="Wingdings" panose="05000000000000000000" pitchFamily="2" charset="2"/>
              </a:rPr>
              <a:t></a:t>
            </a:r>
            <a:r>
              <a:rPr lang="en-GB" sz="1200" kern="1200" dirty="0">
                <a:solidFill>
                  <a:schemeClr val="tx1"/>
                </a:solidFill>
                <a:effectLst/>
                <a:latin typeface="+mn-lt"/>
                <a:ea typeface="+mn-ea"/>
                <a:cs typeface="+mn-cs"/>
              </a:rPr>
              <a:t> /reports/detail – with optional Id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Controller classes use the following naming convention "</a:t>
            </a:r>
            <a:r>
              <a:rPr lang="en-GB" dirty="0" err="1"/>
              <a:t>HomeController</a:t>
            </a:r>
            <a:r>
              <a:rPr lang="en-GB" dirty="0"/>
              <a:t>", "</a:t>
            </a:r>
            <a:r>
              <a:rPr lang="en-GB" dirty="0" err="1"/>
              <a:t>ProcessController</a:t>
            </a:r>
            <a:r>
              <a:rPr lang="en-GB" dirty="0"/>
              <a:t>", however routing engine only needs to first part "Home" or "Process" which would in turn look into the Controllers folder and look for the corresponding class that starts with that name</a:t>
            </a:r>
            <a:endParaRPr lang="en-GB" sz="1200" kern="1200" dirty="0">
              <a:solidFill>
                <a:schemeClr val="tx1"/>
              </a:solidFill>
              <a:effectLst/>
              <a:latin typeface="+mn-lt"/>
              <a:ea typeface="+mn-ea"/>
              <a:cs typeface="+mn-cs"/>
            </a:endParaRPr>
          </a:p>
          <a:p>
            <a:pPr lvl="0"/>
            <a:endParaRPr lang="en-GB" dirty="0"/>
          </a:p>
          <a:p>
            <a:pPr marL="171450" lvl="0" indent="-171450">
              <a:buFont typeface="Arial" panose="020B0604020202020204" pitchFamily="34" charset="0"/>
              <a:buChar char="•"/>
            </a:pPr>
            <a:r>
              <a:rPr lang="en-GB" dirty="0"/>
              <a:t>Custom routing can be specified </a:t>
            </a:r>
            <a:r>
              <a:rPr lang="en-GB" b="1" dirty="0"/>
              <a:t>globally</a:t>
            </a:r>
            <a:r>
              <a:rPr lang="en-GB" dirty="0"/>
              <a:t>, per </a:t>
            </a:r>
            <a:r>
              <a:rPr lang="en-GB" b="1" dirty="0"/>
              <a:t>controller</a:t>
            </a:r>
            <a:r>
              <a:rPr lang="en-GB" dirty="0"/>
              <a:t> or specific </a:t>
            </a:r>
            <a:r>
              <a:rPr lang="en-GB" b="1" dirty="0"/>
              <a:t>actions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kern="1200" dirty="0">
                <a:solidFill>
                  <a:schemeClr val="tx1"/>
                </a:solidFill>
                <a:effectLst/>
                <a:latin typeface="+mn-lt"/>
                <a:ea typeface="+mn-ea"/>
                <a:cs typeface="+mn-cs"/>
              </a:rPr>
              <a:t>Globally</a:t>
            </a:r>
            <a:r>
              <a:rPr lang="en-GB" sz="1200" kern="1200" dirty="0">
                <a:solidFill>
                  <a:schemeClr val="tx1"/>
                </a:solidFill>
                <a:effectLst/>
                <a:latin typeface="+mn-lt"/>
                <a:ea typeface="+mn-ea"/>
                <a:cs typeface="+mn-cs"/>
              </a:rPr>
              <a:t>, you can have multiple patterns, and only the first matching pattern is picked up and executed.</a:t>
            </a:r>
          </a:p>
          <a:p>
            <a:pPr marL="1085850" lvl="2" indent="-171450">
              <a:buFont typeface="Arial" panose="020B0604020202020204" pitchFamily="34" charset="0"/>
              <a:buChar char="•"/>
            </a:pPr>
            <a:r>
              <a:rPr lang="en-GB" dirty="0"/>
              <a:t>There are very few scenarios where global routing is preferred (e.g. API versions).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“Default” Route</a:t>
            </a:r>
            <a:r>
              <a:rPr lang="en-GB" baseline="0" dirty="0"/>
              <a:t> == Catch-all route and should be specified last</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i.e. {controller}/{action}/{id}</a:t>
            </a:r>
          </a:p>
          <a:p>
            <a:pPr marL="2000250" marR="0" lvl="4"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First part of the URL (after root path) is the controller name</a:t>
            </a:r>
          </a:p>
          <a:p>
            <a:pPr marL="2000250" marR="0" lvl="4"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Second part is the method to use</a:t>
            </a:r>
          </a:p>
          <a:p>
            <a:pPr marL="2000250" marR="0" lvl="4"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Third part is a parameter (named id)</a:t>
            </a:r>
          </a:p>
          <a:p>
            <a:pPr marL="171450" lvl="0" indent="-171450">
              <a:buFont typeface="Arial" panose="020B0604020202020204" pitchFamily="34" charset="0"/>
              <a:buChar char="•"/>
            </a:pPr>
            <a:endParaRPr lang="en-GB" dirty="0"/>
          </a:p>
          <a:p>
            <a:pPr marL="628650" lvl="1" indent="-171450">
              <a:buFont typeface="Arial" panose="020B0604020202020204" pitchFamily="34" charset="0"/>
              <a:buChar char="•"/>
            </a:pPr>
            <a:r>
              <a:rPr lang="en-GB" b="1" dirty="0"/>
              <a:t>Controller/action</a:t>
            </a:r>
            <a:r>
              <a:rPr lang="en-GB" dirty="0"/>
              <a:t> level custom routing is more flexible and granular. </a:t>
            </a:r>
          </a:p>
          <a:p>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22</a:t>
            </a:fld>
            <a:endParaRPr lang="en-GB"/>
          </a:p>
        </p:txBody>
      </p:sp>
    </p:spTree>
    <p:extLst>
      <p:ext uri="{BB962C8B-B14F-4D97-AF65-F5344CB8AC3E}">
        <p14:creationId xmlns:p14="http://schemas.microsoft.com/office/powerpoint/2010/main" val="12524874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Background</a:t>
            </a:r>
          </a:p>
          <a:p>
            <a:r>
              <a:rPr lang="en-GB" dirty="0"/>
              <a:t>Controllers are </a:t>
            </a:r>
            <a:r>
              <a:rPr lang="en-GB" dirty="0" err="1"/>
              <a:t>.Net</a:t>
            </a:r>
            <a:r>
              <a:rPr lang="en-GB" dirty="0"/>
              <a:t> classes</a:t>
            </a:r>
          </a:p>
          <a:p>
            <a:pPr lvl="1"/>
            <a:r>
              <a:rPr lang="en-GB" dirty="0"/>
              <a:t>Extends the Controller base class</a:t>
            </a:r>
          </a:p>
          <a:p>
            <a:pPr lvl="1"/>
            <a:r>
              <a:rPr lang="en-GB" dirty="0"/>
              <a:t>Which gives us access to a lot of interactions required to orchestrate requests (based on best practices, such as constructing View responses etc…).</a:t>
            </a:r>
          </a:p>
          <a:p>
            <a:pPr lvl="4"/>
            <a:endParaRPr lang="en-GB" dirty="0"/>
          </a:p>
          <a:p>
            <a:r>
              <a:rPr lang="en-GB" b="1" dirty="0"/>
              <a:t>Actions</a:t>
            </a:r>
          </a:p>
          <a:p>
            <a:r>
              <a:rPr lang="en-GB" dirty="0"/>
              <a:t>Public methods in Controllers == “Actions”</a:t>
            </a:r>
          </a:p>
          <a:p>
            <a:pPr lvl="1"/>
            <a:r>
              <a:rPr lang="en-GB" dirty="0"/>
              <a:t>Actions are invoked by ASP.Net if there is a matching route (e.g. localhost/home/list/3)</a:t>
            </a:r>
          </a:p>
          <a:p>
            <a:pPr lvl="1"/>
            <a:r>
              <a:rPr lang="en-GB" dirty="0"/>
              <a:t>Routing engine looks at the controller’s public methods and attempts to resolve a request</a:t>
            </a:r>
          </a:p>
          <a:p>
            <a:pPr lvl="1"/>
            <a:r>
              <a:rPr lang="en-GB" dirty="0"/>
              <a:t>Actions’ job is to build up a model (if required) via the DAL, select a View and invoke it (and passing the model)</a:t>
            </a:r>
          </a:p>
          <a:p>
            <a:pPr lvl="2"/>
            <a:r>
              <a:rPr lang="en-GB" dirty="0"/>
              <a:t>ASP.Net also allow us to use </a:t>
            </a:r>
            <a:r>
              <a:rPr lang="en-GB" dirty="0" err="1"/>
              <a:t>ViewData</a:t>
            </a:r>
            <a:r>
              <a:rPr lang="en-GB" dirty="0"/>
              <a:t> and </a:t>
            </a:r>
            <a:r>
              <a:rPr lang="en-GB" dirty="0" err="1"/>
              <a:t>ViewBag</a:t>
            </a:r>
            <a:r>
              <a:rPr lang="en-GB" dirty="0"/>
              <a:t> (in a second)</a:t>
            </a:r>
          </a:p>
          <a:p>
            <a:endParaRPr lang="en-GB" dirty="0"/>
          </a:p>
          <a:p>
            <a:r>
              <a:rPr lang="en-GB" dirty="0"/>
              <a:t>Action can return an </a:t>
            </a:r>
            <a:r>
              <a:rPr lang="en-GB" dirty="0" err="1"/>
              <a:t>ActionResult</a:t>
            </a:r>
            <a:r>
              <a:rPr lang="en-GB" dirty="0"/>
              <a:t>, which is the base class for a variety of types (practically creates the correct response including headers (e.g. content-type))</a:t>
            </a:r>
          </a:p>
          <a:p>
            <a:pPr lvl="1"/>
            <a:r>
              <a:rPr lang="en-GB" dirty="0"/>
              <a:t>Example</a:t>
            </a:r>
          </a:p>
          <a:p>
            <a:pPr lvl="2"/>
            <a:r>
              <a:rPr lang="en-GB" dirty="0" err="1"/>
              <a:t>ContentResult</a:t>
            </a:r>
            <a:r>
              <a:rPr lang="en-GB" dirty="0"/>
              <a:t> – return Content(“Hello World”);</a:t>
            </a:r>
          </a:p>
          <a:p>
            <a:pPr lvl="2"/>
            <a:r>
              <a:rPr lang="en-GB" dirty="0" err="1"/>
              <a:t>EmptyResult</a:t>
            </a:r>
            <a:r>
              <a:rPr lang="en-GB" dirty="0"/>
              <a:t>  - return new </a:t>
            </a:r>
            <a:r>
              <a:rPr lang="en-GB" dirty="0" err="1"/>
              <a:t>EmptyResult</a:t>
            </a:r>
            <a:r>
              <a:rPr lang="en-GB" dirty="0"/>
              <a:t>(); (or use void method)</a:t>
            </a:r>
          </a:p>
          <a:p>
            <a:pPr lvl="2"/>
            <a:r>
              <a:rPr lang="en-GB" dirty="0" err="1"/>
              <a:t>FileResult</a:t>
            </a:r>
            <a:r>
              <a:rPr lang="en-GB" dirty="0"/>
              <a:t> – return File(</a:t>
            </a:r>
            <a:r>
              <a:rPr lang="en-GB" dirty="0" err="1"/>
              <a:t>info.OpenRead</a:t>
            </a:r>
            <a:r>
              <a:rPr lang="en-GB" dirty="0"/>
              <a:t>(), "text/plain"); </a:t>
            </a:r>
          </a:p>
          <a:p>
            <a:pPr lvl="2"/>
            <a:r>
              <a:rPr lang="en-GB" dirty="0" err="1"/>
              <a:t>HttpStatusCodeResult</a:t>
            </a:r>
            <a:r>
              <a:rPr lang="en-GB" dirty="0"/>
              <a:t> - return new </a:t>
            </a:r>
            <a:r>
              <a:rPr lang="en-GB" dirty="0" err="1"/>
              <a:t>HttpStatusCodeResult</a:t>
            </a:r>
            <a:r>
              <a:rPr lang="en-GB" dirty="0"/>
              <a:t>(500);</a:t>
            </a:r>
          </a:p>
          <a:p>
            <a:pPr lvl="2"/>
            <a:r>
              <a:rPr lang="en-GB" dirty="0" err="1"/>
              <a:t>JsonResult</a:t>
            </a:r>
            <a:r>
              <a:rPr lang="en-GB" dirty="0"/>
              <a:t> – new </a:t>
            </a:r>
            <a:r>
              <a:rPr lang="en-GB" dirty="0" err="1"/>
              <a:t>Json</a:t>
            </a:r>
            <a:r>
              <a:rPr lang="en-GB" dirty="0"/>
              <a:t>(new { a = “1”, b=“2” });</a:t>
            </a:r>
          </a:p>
          <a:p>
            <a:pPr lvl="2"/>
            <a:r>
              <a:rPr lang="en-GB" dirty="0" err="1"/>
              <a:t>RedirectResult</a:t>
            </a:r>
            <a:r>
              <a:rPr lang="en-GB" dirty="0"/>
              <a:t> – new Redirect(“URL”);</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GB" dirty="0" err="1"/>
              <a:t>RedirectToRouteResult</a:t>
            </a:r>
            <a:r>
              <a:rPr lang="en-GB" dirty="0"/>
              <a:t> – e.g. new </a:t>
            </a:r>
            <a:r>
              <a:rPr lang="en-GB" dirty="0" err="1"/>
              <a:t>RedirectToAction</a:t>
            </a:r>
            <a:r>
              <a:rPr lang="en-GB" dirty="0"/>
              <a:t>(“Action”, “Controller”); or new </a:t>
            </a:r>
            <a:r>
              <a:rPr lang="en-GB" dirty="0" err="1"/>
              <a:t>RedirectToActionPermanent</a:t>
            </a:r>
            <a:r>
              <a:rPr lang="en-GB" dirty="0"/>
              <a:t>(“Action”, “Controller”);</a:t>
            </a:r>
          </a:p>
          <a:p>
            <a:pPr lvl="2"/>
            <a:r>
              <a:rPr lang="en-GB" dirty="0" err="1"/>
              <a:t>ViewResult</a:t>
            </a:r>
            <a:r>
              <a:rPr lang="en-GB" dirty="0"/>
              <a:t>/</a:t>
            </a:r>
            <a:r>
              <a:rPr lang="en-GB" dirty="0" err="1"/>
              <a:t>PartialViewResult</a:t>
            </a:r>
            <a:r>
              <a:rPr lang="en-GB" dirty="0"/>
              <a:t> - view engine is delegated to return result (e.g. return View/</a:t>
            </a:r>
            <a:r>
              <a:rPr lang="en-GB" dirty="0" err="1"/>
              <a:t>PartialView</a:t>
            </a:r>
            <a:r>
              <a:rPr lang="en-GB" dirty="0"/>
              <a:t>)	</a:t>
            </a:r>
          </a:p>
          <a:p>
            <a:pPr lvl="2"/>
            <a:r>
              <a:rPr lang="en-GB" dirty="0"/>
              <a:t>Or void!</a:t>
            </a:r>
          </a:p>
          <a:p>
            <a:r>
              <a:rPr lang="en-GB" dirty="0"/>
              <a:t>	</a:t>
            </a:r>
          </a:p>
          <a:p>
            <a:r>
              <a:rPr lang="en-GB" dirty="0"/>
              <a:t>Give</a:t>
            </a:r>
            <a:r>
              <a:rPr lang="en-GB" baseline="0" dirty="0"/>
              <a:t> a couple of examples on existing code</a:t>
            </a:r>
          </a:p>
          <a:p>
            <a:pPr marL="628650" lvl="1" indent="-171450">
              <a:buFontTx/>
              <a:buChar char="-"/>
            </a:pPr>
            <a:r>
              <a:rPr lang="en-GB" baseline="0" dirty="0"/>
              <a:t>Return Content</a:t>
            </a:r>
          </a:p>
          <a:p>
            <a:pPr marL="628650" lvl="1" indent="-171450">
              <a:buFontTx/>
              <a:buChar char="-"/>
            </a:pPr>
            <a:r>
              <a:rPr lang="en-GB" baseline="0" dirty="0"/>
              <a:t>Return </a:t>
            </a:r>
            <a:r>
              <a:rPr lang="en-GB" baseline="0" dirty="0" err="1"/>
              <a:t>Json</a:t>
            </a:r>
            <a:r>
              <a:rPr lang="en-GB" baseline="0" dirty="0"/>
              <a:t> </a:t>
            </a:r>
          </a:p>
          <a:p>
            <a:pPr marL="628650" lvl="1" indent="-171450">
              <a:buFontTx/>
              <a:buChar char="-"/>
            </a:pPr>
            <a:r>
              <a:rPr lang="en-GB" baseline="0" dirty="0"/>
              <a:t>Return </a:t>
            </a:r>
            <a:r>
              <a:rPr lang="en-GB" baseline="0" dirty="0" err="1"/>
              <a:t>HttpStatusCodeResult</a:t>
            </a:r>
            <a:endParaRPr lang="en-GB" baseline="0" dirty="0"/>
          </a:p>
          <a:p>
            <a:pPr marL="779463" lvl="1" indent="-171450">
              <a:buFontTx/>
              <a:buChar char="-"/>
            </a:pPr>
            <a:r>
              <a:rPr lang="en-GB" baseline="0" dirty="0"/>
              <a:t>If (</a:t>
            </a:r>
            <a:r>
              <a:rPr lang="en-GB" baseline="0" dirty="0" err="1"/>
              <a:t>User.IsInRole</a:t>
            </a:r>
            <a:r>
              <a:rPr lang="en-GB" baseline="0" dirty="0"/>
              <a:t>(“Admin”) { do something } else { return new </a:t>
            </a:r>
            <a:r>
              <a:rPr lang="en-GB" baseline="0" dirty="0" err="1"/>
              <a:t>HttpStatusCodeResults</a:t>
            </a:r>
            <a:r>
              <a:rPr lang="en-GB" baseline="0" dirty="0"/>
              <a:t>(403) }</a:t>
            </a:r>
          </a:p>
          <a:p>
            <a:pPr marL="628650" lvl="1" indent="-171450">
              <a:buFontTx/>
              <a:buChar char="-"/>
            </a:pPr>
            <a:r>
              <a:rPr lang="en-GB" baseline="0" dirty="0"/>
              <a:t>Return </a:t>
            </a:r>
            <a:r>
              <a:rPr lang="en-GB" baseline="0" dirty="0" err="1"/>
              <a:t>RedirectToAction</a:t>
            </a:r>
            <a:r>
              <a:rPr lang="en-GB" baseline="0" dirty="0"/>
              <a:t> and </a:t>
            </a:r>
            <a:r>
              <a:rPr lang="en-GB" baseline="0" dirty="0" err="1"/>
              <a:t>RedirectToActionPermanent</a:t>
            </a:r>
            <a:r>
              <a:rPr lang="en-GB" baseline="0" dirty="0"/>
              <a:t>() – check headers (301/302)</a:t>
            </a:r>
          </a:p>
          <a:p>
            <a:pPr marL="628650" lvl="1" indent="-171450">
              <a:buFontTx/>
              <a:buChar char="-"/>
            </a:pPr>
            <a:endParaRPr lang="en-GB" baseline="0" dirty="0"/>
          </a:p>
          <a:p>
            <a:pPr marL="0" lvl="0" indent="0">
              <a:buFontTx/>
              <a:buNone/>
            </a:pPr>
            <a:r>
              <a:rPr lang="en-GB" b="1" baseline="0" dirty="0" err="1"/>
              <a:t>ViewData</a:t>
            </a:r>
            <a:r>
              <a:rPr lang="en-GB" b="1" baseline="0" dirty="0"/>
              <a:t>, </a:t>
            </a:r>
            <a:r>
              <a:rPr lang="en-GB" b="1" baseline="0" dirty="0" err="1"/>
              <a:t>ViewBags</a:t>
            </a:r>
            <a:endParaRPr lang="en-GB" b="1" baseline="0" dirty="0"/>
          </a:p>
          <a:p>
            <a:r>
              <a:rPr lang="en-GB" dirty="0" err="1"/>
              <a:t>ViewData</a:t>
            </a:r>
            <a:endParaRPr lang="en-GB" dirty="0"/>
          </a:p>
          <a:p>
            <a:pPr lvl="1"/>
            <a:r>
              <a:rPr lang="en-GB" dirty="0"/>
              <a:t>Gets or sets a dictionary that contains data to pass between the controller and the view.</a:t>
            </a:r>
          </a:p>
          <a:p>
            <a:pPr lvl="1"/>
            <a:r>
              <a:rPr lang="en-GB" dirty="0"/>
              <a:t>E.g. Return an </a:t>
            </a:r>
            <a:r>
              <a:rPr lang="en-GB" dirty="0" err="1"/>
              <a:t>IEnumerable</a:t>
            </a:r>
            <a:r>
              <a:rPr lang="en-GB" dirty="0"/>
              <a:t> of running processes</a:t>
            </a:r>
          </a:p>
          <a:p>
            <a:pPr lvl="2"/>
            <a:r>
              <a:rPr lang="en-GB" dirty="0" err="1"/>
              <a:t>ViewData</a:t>
            </a:r>
            <a:r>
              <a:rPr lang="en-GB" dirty="0"/>
              <a:t>["</a:t>
            </a:r>
            <a:r>
              <a:rPr lang="en-GB" dirty="0" err="1"/>
              <a:t>ProcessList</a:t>
            </a:r>
            <a:r>
              <a:rPr lang="en-GB" dirty="0"/>
              <a:t>"] = </a:t>
            </a:r>
            <a:r>
              <a:rPr lang="en-GB" dirty="0" err="1"/>
              <a:t>Process.GetProcesses</a:t>
            </a:r>
            <a:r>
              <a:rPr lang="en-GB" dirty="0"/>
              <a:t>().</a:t>
            </a:r>
            <a:r>
              <a:rPr lang="en-GB" dirty="0" err="1"/>
              <a:t>ToList</a:t>
            </a:r>
            <a:r>
              <a:rPr lang="en-GB" dirty="0"/>
              <a:t>();</a:t>
            </a:r>
          </a:p>
          <a:p>
            <a:pPr lvl="3"/>
            <a:r>
              <a:rPr lang="en-GB" dirty="0"/>
              <a:t>It’s now up to the View designer to know that there’s a </a:t>
            </a:r>
            <a:r>
              <a:rPr lang="en-GB" dirty="0" err="1"/>
              <a:t>ViewData</a:t>
            </a:r>
            <a:r>
              <a:rPr lang="en-GB" dirty="0"/>
              <a:t> entry “</a:t>
            </a:r>
            <a:r>
              <a:rPr lang="en-GB" dirty="0" err="1"/>
              <a:t>ProcessList</a:t>
            </a:r>
            <a:r>
              <a:rPr lang="en-GB" dirty="0"/>
              <a:t>” of a specific type so that he/she could handle it to display its contents while casting to the correct type!</a:t>
            </a:r>
          </a:p>
          <a:p>
            <a:r>
              <a:rPr lang="en-GB" dirty="0" err="1"/>
              <a:t>ViewBag</a:t>
            </a:r>
            <a:endParaRPr lang="en-GB" dirty="0"/>
          </a:p>
          <a:p>
            <a:pPr lvl="1"/>
            <a:r>
              <a:rPr lang="en-GB" dirty="0"/>
              <a:t>Gets the dynamic view data dictionary.</a:t>
            </a:r>
          </a:p>
          <a:p>
            <a:pPr lvl="1"/>
            <a:r>
              <a:rPr lang="en-GB" dirty="0"/>
              <a:t>E.g. Return an </a:t>
            </a:r>
            <a:r>
              <a:rPr lang="en-GB" dirty="0" err="1"/>
              <a:t>IEnumerable</a:t>
            </a:r>
            <a:r>
              <a:rPr lang="en-GB" dirty="0"/>
              <a:t> of running processes</a:t>
            </a:r>
          </a:p>
          <a:p>
            <a:pPr lvl="2"/>
            <a:r>
              <a:rPr lang="en-GB" dirty="0" err="1"/>
              <a:t>ViewBag.CurrentProcesses</a:t>
            </a:r>
            <a:r>
              <a:rPr lang="en-GB" dirty="0"/>
              <a:t> = </a:t>
            </a:r>
            <a:r>
              <a:rPr lang="en-GB" dirty="0" err="1"/>
              <a:t>Process.GetProcesses</a:t>
            </a:r>
            <a:r>
              <a:rPr lang="en-GB" dirty="0"/>
              <a:t>().</a:t>
            </a:r>
            <a:r>
              <a:rPr lang="en-GB" dirty="0" err="1"/>
              <a:t>ToList</a:t>
            </a:r>
            <a:r>
              <a:rPr lang="en-GB" dirty="0"/>
              <a:t>();</a:t>
            </a:r>
          </a:p>
          <a:p>
            <a:pPr lvl="2"/>
            <a:endParaRPr lang="en-GB" dirty="0"/>
          </a:p>
          <a:p>
            <a:r>
              <a:rPr lang="en-GB" b="1" dirty="0"/>
              <a:t>Returning a Model</a:t>
            </a:r>
          </a:p>
          <a:p>
            <a:pPr lvl="1"/>
            <a:r>
              <a:rPr lang="en-GB" dirty="0"/>
              <a:t>Actions should return a model - this is the neatest (and most </a:t>
            </a:r>
            <a:r>
              <a:rPr lang="en-GB" dirty="0" err="1"/>
              <a:t>MVCesque</a:t>
            </a:r>
            <a:r>
              <a:rPr lang="en-GB" dirty="0"/>
              <a:t>) approach – even if it’s just a simple API response (201 Ok)</a:t>
            </a:r>
          </a:p>
          <a:p>
            <a:pPr lvl="1"/>
            <a:r>
              <a:rPr lang="en-GB" dirty="0"/>
              <a:t>When controller action returns a View, view models are then attached to it</a:t>
            </a:r>
          </a:p>
          <a:p>
            <a:pPr marL="914400" lvl="2" indent="0">
              <a:buNone/>
            </a:pPr>
            <a:r>
              <a:rPr lang="en-GB" dirty="0"/>
              <a:t>	return View(model);</a:t>
            </a:r>
          </a:p>
          <a:p>
            <a:pPr lvl="1"/>
            <a:r>
              <a:rPr lang="en-GB" dirty="0"/>
              <a:t>View requires to be strongly typed (S</a:t>
            </a:r>
            <a:r>
              <a:rPr lang="en-GB" sz="1200" b="0" i="0" kern="1200" dirty="0">
                <a:solidFill>
                  <a:schemeClr val="tx1"/>
                </a:solidFill>
                <a:effectLst/>
                <a:latin typeface="+mn-lt"/>
                <a:ea typeface="+mn-ea"/>
                <a:cs typeface="+mn-cs"/>
              </a:rPr>
              <a:t>trongly-typed views typically use </a:t>
            </a:r>
            <a:r>
              <a:rPr lang="en-GB" sz="1200" b="0" i="0" kern="1200" dirty="0" err="1">
                <a:solidFill>
                  <a:schemeClr val="tx1"/>
                </a:solidFill>
                <a:effectLst/>
                <a:latin typeface="+mn-lt"/>
                <a:ea typeface="+mn-ea"/>
                <a:cs typeface="+mn-cs"/>
              </a:rPr>
              <a:t>ViewModel</a:t>
            </a:r>
            <a:r>
              <a:rPr lang="en-GB" sz="1200" b="0" i="0" kern="1200" dirty="0">
                <a:solidFill>
                  <a:schemeClr val="tx1"/>
                </a:solidFill>
                <a:effectLst/>
                <a:latin typeface="+mn-lt"/>
                <a:ea typeface="+mn-ea"/>
                <a:cs typeface="+mn-cs"/>
              </a:rPr>
              <a:t> types designed to contain the data to display on that view. The controller creates and populates these </a:t>
            </a:r>
            <a:r>
              <a:rPr lang="en-GB" sz="1200" b="0" i="0" kern="1200" dirty="0" err="1">
                <a:solidFill>
                  <a:schemeClr val="tx1"/>
                </a:solidFill>
                <a:effectLst/>
                <a:latin typeface="+mn-lt"/>
                <a:ea typeface="+mn-ea"/>
                <a:cs typeface="+mn-cs"/>
              </a:rPr>
              <a:t>ViewModel</a:t>
            </a:r>
            <a:r>
              <a:rPr lang="en-GB" sz="1200" b="0" i="0" kern="1200" dirty="0">
                <a:solidFill>
                  <a:schemeClr val="tx1"/>
                </a:solidFill>
                <a:effectLst/>
                <a:latin typeface="+mn-lt"/>
                <a:ea typeface="+mn-ea"/>
                <a:cs typeface="+mn-cs"/>
              </a:rPr>
              <a:t> instances from the model)</a:t>
            </a:r>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23</a:t>
            </a:fld>
            <a:endParaRPr lang="en-GB"/>
          </a:p>
        </p:txBody>
      </p:sp>
    </p:spTree>
    <p:extLst>
      <p:ext uri="{BB962C8B-B14F-4D97-AF65-F5344CB8AC3E}">
        <p14:creationId xmlns:p14="http://schemas.microsoft.com/office/powerpoint/2010/main" val="2951835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Public methods in controllers are “Actions”</a:t>
            </a:r>
          </a:p>
          <a:p>
            <a:r>
              <a:rPr lang="en-GB" dirty="0"/>
              <a:t>Actions are the final destination for requests</a:t>
            </a:r>
          </a:p>
          <a:p>
            <a:endParaRPr lang="en-GB" dirty="0"/>
          </a:p>
          <a:p>
            <a:r>
              <a:rPr lang="en-GB" dirty="0"/>
              <a:t>When a request arrives</a:t>
            </a:r>
          </a:p>
          <a:p>
            <a:pPr lvl="1"/>
            <a:r>
              <a:rPr lang="en-GB" dirty="0" err="1"/>
              <a:t>UrlRoutingModule</a:t>
            </a:r>
            <a:r>
              <a:rPr lang="en-GB" dirty="0"/>
              <a:t> receives it, </a:t>
            </a:r>
          </a:p>
          <a:p>
            <a:pPr lvl="1"/>
            <a:r>
              <a:rPr lang="en-GB" dirty="0"/>
              <a:t>Checks the routing table for matching patterns (</a:t>
            </a:r>
            <a:r>
              <a:rPr lang="en-GB" dirty="0" err="1"/>
              <a:t>MvcRouteHandler</a:t>
            </a:r>
            <a:r>
              <a:rPr lang="en-GB" dirty="0"/>
              <a:t>)</a:t>
            </a:r>
          </a:p>
          <a:p>
            <a:pPr lvl="2"/>
            <a:r>
              <a:rPr lang="en-GB" dirty="0"/>
              <a:t>Puts information together and invokes </a:t>
            </a:r>
            <a:r>
              <a:rPr lang="en-GB" dirty="0" err="1"/>
              <a:t>MvcHandler</a:t>
            </a:r>
            <a:endParaRPr lang="en-GB" dirty="0"/>
          </a:p>
          <a:p>
            <a:pPr lvl="3"/>
            <a:r>
              <a:rPr lang="en-GB" dirty="0"/>
              <a:t>Uses </a:t>
            </a:r>
            <a:r>
              <a:rPr lang="en-GB" dirty="0" err="1"/>
              <a:t>ControllerFactory</a:t>
            </a:r>
            <a:r>
              <a:rPr lang="en-GB" dirty="0"/>
              <a:t> to instantiate the relevant controller</a:t>
            </a:r>
          </a:p>
          <a:p>
            <a:pPr lvl="3"/>
            <a:r>
              <a:rPr lang="en-GB" dirty="0"/>
              <a:t>Executes the controller</a:t>
            </a:r>
          </a:p>
          <a:p>
            <a:pPr lvl="3"/>
            <a:r>
              <a:rPr lang="en-GB" dirty="0"/>
              <a:t>The Execute() method creates an </a:t>
            </a:r>
            <a:r>
              <a:rPr lang="en-GB" dirty="0" err="1"/>
              <a:t>ActionInvoker</a:t>
            </a:r>
            <a:endParaRPr lang="en-GB" dirty="0"/>
          </a:p>
          <a:p>
            <a:pPr lvl="4"/>
            <a:r>
              <a:rPr lang="en-GB" dirty="0" err="1"/>
              <a:t>ActionInvoker</a:t>
            </a:r>
            <a:r>
              <a:rPr lang="en-GB" dirty="0"/>
              <a:t> looks at routing data and finds the action parameter</a:t>
            </a:r>
          </a:p>
          <a:p>
            <a:pPr lvl="4"/>
            <a:r>
              <a:rPr lang="en-GB" dirty="0"/>
              <a:t>Executes specific Action (e.g. List)</a:t>
            </a:r>
          </a:p>
          <a:p>
            <a:pPr lvl="1"/>
            <a:endParaRPr lang="en-GB" dirty="0"/>
          </a:p>
          <a:p>
            <a:pPr lvl="1"/>
            <a:r>
              <a:rPr lang="en-GB" dirty="0"/>
              <a:t>Routing mechanism looks for actions to serve HTTP requests</a:t>
            </a:r>
          </a:p>
          <a:p>
            <a:pPr lvl="1"/>
            <a:r>
              <a:rPr lang="en-GB" dirty="0"/>
              <a:t>Actions can serve GET or POST requests (and other verbs)</a:t>
            </a:r>
          </a:p>
          <a:p>
            <a:pPr lvl="2"/>
            <a:r>
              <a:rPr lang="en-GB" dirty="0"/>
              <a:t>By default, GET</a:t>
            </a:r>
          </a:p>
          <a:p>
            <a:pPr lvl="2"/>
            <a:r>
              <a:rPr lang="en-GB" dirty="0"/>
              <a:t>But can be decorated with the POST filter </a:t>
            </a:r>
          </a:p>
          <a:p>
            <a:pPr lvl="3"/>
            <a:r>
              <a:rPr lang="en-GB" dirty="0"/>
              <a:t>[</a:t>
            </a:r>
            <a:r>
              <a:rPr lang="en-GB" dirty="0" err="1"/>
              <a:t>HttpPost</a:t>
            </a:r>
            <a:r>
              <a:rPr lang="en-GB" dirty="0"/>
              <a:t>]</a:t>
            </a:r>
          </a:p>
          <a:p>
            <a:endParaRPr lang="en-GB" dirty="0"/>
          </a:p>
          <a:p>
            <a:pPr lvl="1"/>
            <a:r>
              <a:rPr lang="en-GB" dirty="0"/>
              <a:t>Generally an action has two flavours</a:t>
            </a:r>
          </a:p>
          <a:p>
            <a:pPr lvl="2"/>
            <a:r>
              <a:rPr lang="en-GB" dirty="0"/>
              <a:t>GET – to prepare UI (return the form UI with model data)</a:t>
            </a:r>
          </a:p>
          <a:p>
            <a:pPr lvl="2"/>
            <a:r>
              <a:rPr lang="en-GB" dirty="0"/>
              <a:t>POST – to receive user data (e.g. user submits form)</a:t>
            </a:r>
          </a:p>
          <a:p>
            <a:pPr lvl="2"/>
            <a:endParaRPr lang="en-GB" dirty="0"/>
          </a:p>
          <a:p>
            <a:pPr lvl="2"/>
            <a:r>
              <a:rPr lang="en-GB" dirty="0"/>
              <a:t>e.g.</a:t>
            </a:r>
          </a:p>
          <a:p>
            <a:r>
              <a:rPr lang="en-GB" sz="1200" kern="1200" dirty="0">
                <a:solidFill>
                  <a:schemeClr val="tx1"/>
                </a:solidFill>
                <a:latin typeface="+mn-lt"/>
                <a:ea typeface="+mn-ea"/>
                <a:cs typeface="+mn-cs"/>
              </a:rPr>
              <a:t>	        [</a:t>
            </a:r>
            <a:r>
              <a:rPr lang="en-GB" sz="1200" kern="1200" dirty="0" err="1">
                <a:solidFill>
                  <a:schemeClr val="tx1"/>
                </a:solidFill>
                <a:latin typeface="+mn-lt"/>
                <a:ea typeface="+mn-ea"/>
                <a:cs typeface="+mn-cs"/>
              </a:rPr>
              <a:t>HttpGet</a:t>
            </a:r>
            <a:r>
              <a:rPr lang="en-GB" sz="1200" kern="1200" dirty="0">
                <a:solidFill>
                  <a:schemeClr val="tx1"/>
                </a:solidFill>
                <a:latin typeface="+mn-lt"/>
                <a:ea typeface="+mn-ea"/>
                <a:cs typeface="+mn-cs"/>
              </a:rPr>
              <a:t>]</a:t>
            </a:r>
          </a:p>
          <a:p>
            <a:pPr lvl="2"/>
            <a:r>
              <a:rPr lang="en-GB" sz="1200" kern="1200" dirty="0">
                <a:solidFill>
                  <a:schemeClr val="tx1"/>
                </a:solidFill>
                <a:latin typeface="+mn-lt"/>
                <a:ea typeface="+mn-ea"/>
                <a:cs typeface="+mn-cs"/>
              </a:rPr>
              <a:t>        public </a:t>
            </a:r>
            <a:r>
              <a:rPr lang="en-GB" sz="1200" kern="1200" dirty="0" err="1">
                <a:solidFill>
                  <a:schemeClr val="tx1"/>
                </a:solidFill>
                <a:latin typeface="+mn-lt"/>
                <a:ea typeface="+mn-ea"/>
                <a:cs typeface="+mn-cs"/>
              </a:rPr>
              <a:t>ActionResult</a:t>
            </a:r>
            <a:r>
              <a:rPr lang="en-GB" sz="1200" kern="1200" dirty="0">
                <a:solidFill>
                  <a:schemeClr val="tx1"/>
                </a:solidFill>
                <a:latin typeface="+mn-lt"/>
                <a:ea typeface="+mn-ea"/>
                <a:cs typeface="+mn-cs"/>
              </a:rPr>
              <a:t> </a:t>
            </a:r>
            <a:r>
              <a:rPr lang="en-GB" sz="1200" kern="1200" dirty="0" err="1">
                <a:solidFill>
                  <a:schemeClr val="tx1"/>
                </a:solidFill>
                <a:latin typeface="+mn-lt"/>
                <a:ea typeface="+mn-ea"/>
                <a:cs typeface="+mn-cs"/>
              </a:rPr>
              <a:t>BookHoliday</a:t>
            </a:r>
            <a:r>
              <a:rPr lang="en-GB" sz="1200" kern="1200" dirty="0">
                <a:solidFill>
                  <a:schemeClr val="tx1"/>
                </a:solidFill>
                <a:latin typeface="+mn-lt"/>
                <a:ea typeface="+mn-ea"/>
                <a:cs typeface="+mn-cs"/>
              </a:rPr>
              <a:t>()</a:t>
            </a:r>
          </a:p>
          <a:p>
            <a:pPr lvl="2"/>
            <a:r>
              <a:rPr lang="en-GB" sz="1200" kern="1200" dirty="0">
                <a:solidFill>
                  <a:schemeClr val="tx1"/>
                </a:solidFill>
                <a:latin typeface="+mn-lt"/>
                <a:ea typeface="+mn-ea"/>
                <a:cs typeface="+mn-cs"/>
              </a:rPr>
              <a:t>        {</a:t>
            </a:r>
          </a:p>
          <a:p>
            <a:pPr lvl="2"/>
            <a:r>
              <a:rPr lang="en-GB" sz="1200" kern="1200" dirty="0">
                <a:solidFill>
                  <a:schemeClr val="tx1"/>
                </a:solidFill>
                <a:latin typeface="+mn-lt"/>
                <a:ea typeface="+mn-ea"/>
                <a:cs typeface="+mn-cs"/>
              </a:rPr>
              <a:t>        }</a:t>
            </a:r>
          </a:p>
          <a:p>
            <a:pPr lvl="2"/>
            <a:endParaRPr lang="en-GB" sz="1200" kern="1200" dirty="0">
              <a:solidFill>
                <a:schemeClr val="tx1"/>
              </a:solidFill>
              <a:latin typeface="+mn-lt"/>
              <a:ea typeface="+mn-ea"/>
              <a:cs typeface="+mn-cs"/>
            </a:endParaRPr>
          </a:p>
          <a:p>
            <a:pPr lvl="2"/>
            <a:r>
              <a:rPr lang="en-GB" sz="1200" kern="1200" dirty="0">
                <a:solidFill>
                  <a:schemeClr val="tx1"/>
                </a:solidFill>
                <a:latin typeface="+mn-lt"/>
                <a:ea typeface="+mn-ea"/>
                <a:cs typeface="+mn-cs"/>
              </a:rPr>
              <a:t>        [</a:t>
            </a:r>
            <a:r>
              <a:rPr lang="en-GB" sz="1200" kern="1200" dirty="0" err="1">
                <a:solidFill>
                  <a:schemeClr val="tx1"/>
                </a:solidFill>
                <a:latin typeface="+mn-lt"/>
                <a:ea typeface="+mn-ea"/>
                <a:cs typeface="+mn-cs"/>
              </a:rPr>
              <a:t>HttpPost</a:t>
            </a:r>
            <a:r>
              <a:rPr lang="en-GB" sz="1200" kern="1200" dirty="0">
                <a:solidFill>
                  <a:schemeClr val="tx1"/>
                </a:solidFill>
                <a:latin typeface="+mn-lt"/>
                <a:ea typeface="+mn-ea"/>
                <a:cs typeface="+mn-cs"/>
              </a:rPr>
              <a:t>]</a:t>
            </a:r>
          </a:p>
          <a:p>
            <a:pPr lvl="2"/>
            <a:r>
              <a:rPr lang="en-GB" sz="1200" kern="1200" dirty="0">
                <a:solidFill>
                  <a:schemeClr val="tx1"/>
                </a:solidFill>
                <a:latin typeface="+mn-lt"/>
                <a:ea typeface="+mn-ea"/>
                <a:cs typeface="+mn-cs"/>
              </a:rPr>
              <a:t>        public </a:t>
            </a:r>
            <a:r>
              <a:rPr lang="en-GB" sz="1200" kern="1200" dirty="0" err="1">
                <a:solidFill>
                  <a:schemeClr val="tx1"/>
                </a:solidFill>
                <a:latin typeface="+mn-lt"/>
                <a:ea typeface="+mn-ea"/>
                <a:cs typeface="+mn-cs"/>
              </a:rPr>
              <a:t>ActionResult</a:t>
            </a:r>
            <a:r>
              <a:rPr lang="en-GB" sz="1200" kern="1200" dirty="0">
                <a:solidFill>
                  <a:schemeClr val="tx1"/>
                </a:solidFill>
                <a:latin typeface="+mn-lt"/>
                <a:ea typeface="+mn-ea"/>
                <a:cs typeface="+mn-cs"/>
              </a:rPr>
              <a:t> </a:t>
            </a:r>
            <a:r>
              <a:rPr lang="en-GB" sz="1200" kern="1200" dirty="0" err="1">
                <a:solidFill>
                  <a:schemeClr val="tx1"/>
                </a:solidFill>
                <a:latin typeface="+mn-lt"/>
                <a:ea typeface="+mn-ea"/>
                <a:cs typeface="+mn-cs"/>
              </a:rPr>
              <a:t>BookHoliday</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FormCollection</a:t>
            </a:r>
            <a:r>
              <a:rPr lang="en-GB" sz="1200" kern="1200" dirty="0">
                <a:solidFill>
                  <a:schemeClr val="tx1"/>
                </a:solidFill>
                <a:latin typeface="+mn-lt"/>
                <a:ea typeface="+mn-ea"/>
                <a:cs typeface="+mn-cs"/>
              </a:rPr>
              <a:t> form)</a:t>
            </a:r>
          </a:p>
          <a:p>
            <a:pPr lvl="2"/>
            <a:r>
              <a:rPr lang="en-GB" sz="1200" kern="1200" dirty="0">
                <a:solidFill>
                  <a:schemeClr val="tx1"/>
                </a:solidFill>
                <a:latin typeface="+mn-lt"/>
                <a:ea typeface="+mn-ea"/>
                <a:cs typeface="+mn-cs"/>
              </a:rPr>
              <a:t>        {</a:t>
            </a:r>
          </a:p>
          <a:p>
            <a:pPr lvl="2"/>
            <a:r>
              <a:rPr lang="en-GB" sz="1200" kern="1200" dirty="0">
                <a:solidFill>
                  <a:schemeClr val="tx1"/>
                </a:solidFill>
                <a:latin typeface="+mn-lt"/>
                <a:ea typeface="+mn-ea"/>
                <a:cs typeface="+mn-cs"/>
              </a:rPr>
              <a:t>        }</a:t>
            </a:r>
          </a:p>
        </p:txBody>
      </p:sp>
      <p:sp>
        <p:nvSpPr>
          <p:cNvPr id="4" name="Slide Number Placeholder 3"/>
          <p:cNvSpPr>
            <a:spLocks noGrp="1"/>
          </p:cNvSpPr>
          <p:nvPr>
            <p:ph type="sldNum" sz="quarter" idx="10"/>
          </p:nvPr>
        </p:nvSpPr>
        <p:spPr/>
        <p:txBody>
          <a:bodyPr/>
          <a:lstStyle/>
          <a:p>
            <a:fld id="{90071FBE-0E7E-4EDA-BB24-DCCD5507545A}" type="slidenum">
              <a:rPr lang="en-GB" smtClean="0"/>
              <a:t>24</a:t>
            </a:fld>
            <a:endParaRPr lang="en-GB"/>
          </a:p>
        </p:txBody>
      </p:sp>
    </p:spTree>
    <p:extLst>
      <p:ext uri="{BB962C8B-B14F-4D97-AF65-F5344CB8AC3E}">
        <p14:creationId xmlns:p14="http://schemas.microsoft.com/office/powerpoint/2010/main" val="1612367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Action can return an </a:t>
            </a:r>
            <a:r>
              <a:rPr lang="en-GB" dirty="0" err="1"/>
              <a:t>ActionResult</a:t>
            </a:r>
            <a:r>
              <a:rPr lang="en-GB" dirty="0"/>
              <a:t>, which is the base class for a variety of types (practically creates the correct response including headers (e.g. content-type)). </a:t>
            </a:r>
          </a:p>
          <a:p>
            <a:r>
              <a:rPr lang="en-GB" dirty="0"/>
              <a:t>There are several content types supported, including simple text, status codes, binary files, json responses, redirect instructions and so forth.</a:t>
            </a:r>
          </a:p>
          <a:p>
            <a:r>
              <a:rPr lang="en-GB" dirty="0"/>
              <a:t>Give</a:t>
            </a:r>
            <a:r>
              <a:rPr lang="en-GB" baseline="0" dirty="0"/>
              <a:t> a couple of examples on existing codebase.</a:t>
            </a:r>
          </a:p>
          <a:p>
            <a:pPr marL="628650" lvl="1" indent="-171450">
              <a:buFontTx/>
              <a:buChar char="-"/>
            </a:pPr>
            <a:r>
              <a:rPr lang="en-GB" b="1" baseline="0" dirty="0"/>
              <a:t>Return Content </a:t>
            </a:r>
            <a:r>
              <a:rPr lang="en-GB" baseline="0" dirty="0"/>
              <a:t>(simply comment out Index() and return “hello world”)</a:t>
            </a:r>
          </a:p>
          <a:p>
            <a:pPr marL="628650" lvl="1" indent="-171450">
              <a:buFontTx/>
              <a:buChar char="-"/>
            </a:pPr>
            <a:r>
              <a:rPr lang="en-GB" b="1" baseline="0" dirty="0"/>
              <a:t>Return Json </a:t>
            </a:r>
            <a:r>
              <a:rPr lang="en-GB" baseline="0" dirty="0"/>
              <a:t>(use existing Index() and return model (list of blogs))</a:t>
            </a:r>
          </a:p>
          <a:p>
            <a:pPr marL="628650" lvl="1" indent="-171450">
              <a:buFontTx/>
              <a:buChar char="-"/>
            </a:pPr>
            <a:r>
              <a:rPr lang="en-GB" baseline="0" dirty="0"/>
              <a:t>Return </a:t>
            </a:r>
            <a:r>
              <a:rPr lang="en-GB" b="1" baseline="0" dirty="0" err="1"/>
              <a:t>StatusCode</a:t>
            </a:r>
            <a:endParaRPr lang="en-GB" b="1" baseline="0" dirty="0"/>
          </a:p>
          <a:p>
            <a:pPr marL="779463" lvl="1" indent="-171450">
              <a:buFontTx/>
              <a:buChar char="-"/>
            </a:pPr>
            <a:r>
              <a:rPr lang="en-GB" baseline="0" dirty="0"/>
              <a:t>If (</a:t>
            </a:r>
            <a:r>
              <a:rPr lang="en-GB" baseline="0" dirty="0" err="1"/>
              <a:t>User.IsInRole</a:t>
            </a:r>
            <a:r>
              <a:rPr lang="en-GB" baseline="0" dirty="0"/>
              <a:t>(“Admin”) { do something } else {</a:t>
            </a:r>
            <a:r>
              <a:rPr lang="en-GB" sz="1200" kern="1200" dirty="0">
                <a:solidFill>
                  <a:schemeClr val="tx1"/>
                </a:solidFill>
                <a:latin typeface="+mn-lt"/>
                <a:ea typeface="+mn-ea"/>
                <a:cs typeface="+mn-cs"/>
              </a:rPr>
              <a:t>return new </a:t>
            </a:r>
            <a:r>
              <a:rPr lang="en-GB" sz="1200" kern="1200" dirty="0" err="1">
                <a:solidFill>
                  <a:schemeClr val="tx1"/>
                </a:solidFill>
                <a:latin typeface="+mn-lt"/>
                <a:ea typeface="+mn-ea"/>
                <a:cs typeface="+mn-cs"/>
              </a:rPr>
              <a:t>StatusCodeResult</a:t>
            </a:r>
            <a:r>
              <a:rPr lang="en-GB" sz="1200" kern="1200" dirty="0">
                <a:solidFill>
                  <a:schemeClr val="tx1"/>
                </a:solidFill>
                <a:latin typeface="+mn-lt"/>
                <a:ea typeface="+mn-ea"/>
                <a:cs typeface="+mn-cs"/>
              </a:rPr>
              <a:t>(StatusCodes.Status401Unauthorized);</a:t>
            </a:r>
            <a:r>
              <a:rPr lang="en-GB" baseline="0" dirty="0"/>
              <a:t> }</a:t>
            </a:r>
          </a:p>
          <a:p>
            <a:pPr marL="779463" lvl="1" indent="-171450">
              <a:buFontTx/>
              <a:buChar char="-"/>
            </a:pPr>
            <a:r>
              <a:rPr lang="en-GB" baseline="0" dirty="0"/>
              <a:t>You can also use return</a:t>
            </a:r>
            <a:r>
              <a:rPr lang="en-GB" i="1" baseline="0" dirty="0"/>
              <a:t> </a:t>
            </a:r>
            <a:r>
              <a:rPr lang="en-GB" sz="1200" i="1" kern="1200" dirty="0" err="1">
                <a:solidFill>
                  <a:schemeClr val="tx1"/>
                </a:solidFill>
                <a:latin typeface="+mn-lt"/>
                <a:ea typeface="+mn-ea"/>
                <a:cs typeface="+mn-cs"/>
              </a:rPr>
              <a:t>return</a:t>
            </a:r>
            <a:r>
              <a:rPr lang="en-GB" sz="1200" i="1" kern="1200" dirty="0">
                <a:solidFill>
                  <a:schemeClr val="tx1"/>
                </a:solidFill>
                <a:latin typeface="+mn-lt"/>
                <a:ea typeface="+mn-ea"/>
                <a:cs typeface="+mn-cs"/>
              </a:rPr>
              <a:t> Unauthorized();</a:t>
            </a:r>
            <a:endParaRPr lang="en-GB" i="1" baseline="0" dirty="0"/>
          </a:p>
          <a:p>
            <a:pPr marL="628650" lvl="1" indent="-171450">
              <a:buFontTx/>
              <a:buChar char="-"/>
            </a:pPr>
            <a:r>
              <a:rPr lang="en-GB" baseline="0" dirty="0"/>
              <a:t>Return </a:t>
            </a:r>
            <a:r>
              <a:rPr lang="en-GB" baseline="0" dirty="0" err="1"/>
              <a:t>RedirectToAction</a:t>
            </a:r>
            <a:r>
              <a:rPr lang="en-GB" baseline="0" dirty="0"/>
              <a:t> and </a:t>
            </a:r>
            <a:r>
              <a:rPr lang="en-GB" baseline="0" dirty="0" err="1"/>
              <a:t>RedirectToActionPermanent</a:t>
            </a:r>
            <a:r>
              <a:rPr lang="en-GB" baseline="0" dirty="0"/>
              <a:t>() – check headers (301/302)</a:t>
            </a:r>
          </a:p>
          <a:p>
            <a:pPr marL="628650" lvl="1" indent="-171450">
              <a:buFontTx/>
              <a:buChar char="-"/>
            </a:pPr>
            <a:endParaRPr lang="en-GB" baseline="0" dirty="0"/>
          </a:p>
          <a:p>
            <a:pPr marL="628650" lvl="1" indent="-171450">
              <a:buFontTx/>
              <a:buChar char="-"/>
            </a:pPr>
            <a:r>
              <a:rPr lang="en-GB" baseline="0" dirty="0"/>
              <a:t>Be careful with the Permanent Redirect</a:t>
            </a:r>
          </a:p>
          <a:p>
            <a:pPr marL="1085850" lvl="2" indent="-171450">
              <a:buFontTx/>
              <a:buChar char="-"/>
            </a:pPr>
            <a:r>
              <a:rPr lang="en-GB" sz="1200" b="0" i="0" u="sng" kern="1200" dirty="0">
                <a:solidFill>
                  <a:schemeClr val="tx1"/>
                </a:solidFill>
                <a:effectLst/>
                <a:latin typeface="+mn-lt"/>
                <a:ea typeface="+mn-ea"/>
                <a:cs typeface="+mn-cs"/>
                <a:hlinkClick r:id="rId3"/>
              </a:rPr>
              <a:t>https://moz.com/blog/can-you-reverse-a-301-redirect</a:t>
            </a:r>
            <a:r>
              <a:rPr lang="en-GB" sz="1200" b="0" i="0" kern="1200" dirty="0">
                <a:solidFill>
                  <a:schemeClr val="tx1"/>
                </a:solidFill>
                <a:effectLst/>
                <a:latin typeface="+mn-lt"/>
                <a:ea typeface="+mn-ea"/>
                <a:cs typeface="+mn-cs"/>
              </a:rPr>
              <a:t>  </a:t>
            </a:r>
            <a:br>
              <a:rPr lang="en-GB" dirty="0"/>
            </a:br>
            <a:r>
              <a:rPr lang="en-GB" sz="1200" b="0" i="0" kern="1200" dirty="0">
                <a:solidFill>
                  <a:schemeClr val="tx1"/>
                </a:solidFill>
                <a:effectLst/>
                <a:latin typeface="+mn-lt"/>
                <a:ea typeface="+mn-ea"/>
                <a:cs typeface="+mn-cs"/>
              </a:rPr>
              <a:t>In a dev env, you can delete local cache and reverse the 301, however in a live env, you would need to either reverse the 301 with another 301, or else ask all of your thousands of users to clean their user agent in some way (no control on what agents are used - and is highly unprofessional).</a:t>
            </a:r>
            <a:endParaRPr lang="en-GB" baseline="0" dirty="0"/>
          </a:p>
        </p:txBody>
      </p:sp>
      <p:sp>
        <p:nvSpPr>
          <p:cNvPr id="4" name="Slide Number Placeholder 3"/>
          <p:cNvSpPr>
            <a:spLocks noGrp="1"/>
          </p:cNvSpPr>
          <p:nvPr>
            <p:ph type="sldNum" sz="quarter" idx="10"/>
          </p:nvPr>
        </p:nvSpPr>
        <p:spPr/>
        <p:txBody>
          <a:bodyPr/>
          <a:lstStyle/>
          <a:p>
            <a:fld id="{90071FBE-0E7E-4EDA-BB24-DCCD5507545A}" type="slidenum">
              <a:rPr lang="en-GB" smtClean="0"/>
              <a:t>25</a:t>
            </a:fld>
            <a:endParaRPr lang="en-GB"/>
          </a:p>
        </p:txBody>
      </p:sp>
    </p:spTree>
    <p:extLst>
      <p:ext uri="{BB962C8B-B14F-4D97-AF65-F5344CB8AC3E}">
        <p14:creationId xmlns:p14="http://schemas.microsoft.com/office/powerpoint/2010/main" val="2218973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GB" b="0" baseline="0" dirty="0"/>
              <a:t>Returning data using </a:t>
            </a:r>
            <a:r>
              <a:rPr lang="en-GB" b="1" baseline="0" dirty="0" err="1"/>
              <a:t>ViewData</a:t>
            </a:r>
            <a:r>
              <a:rPr lang="en-GB" b="1" baseline="0" dirty="0"/>
              <a:t>, </a:t>
            </a:r>
            <a:r>
              <a:rPr lang="en-GB" b="1" baseline="0" dirty="0" err="1"/>
              <a:t>ViewBags</a:t>
            </a:r>
            <a:endParaRPr lang="en-GB" b="1" baseline="0" dirty="0"/>
          </a:p>
          <a:p>
            <a:r>
              <a:rPr lang="en-GB" dirty="0" err="1"/>
              <a:t>ViewData</a:t>
            </a:r>
            <a:endParaRPr lang="en-GB" dirty="0"/>
          </a:p>
          <a:p>
            <a:pPr lvl="1"/>
            <a:r>
              <a:rPr lang="en-GB" dirty="0"/>
              <a:t>Gets or sets a dictionary that contains data to pass between the controller and the view.</a:t>
            </a:r>
          </a:p>
          <a:p>
            <a:pPr lvl="1"/>
            <a:r>
              <a:rPr lang="en-GB" dirty="0"/>
              <a:t>E.g. Return an </a:t>
            </a:r>
            <a:r>
              <a:rPr lang="en-GB" dirty="0" err="1"/>
              <a:t>IEnumerable</a:t>
            </a:r>
            <a:r>
              <a:rPr lang="en-GB" dirty="0"/>
              <a:t> of running processes</a:t>
            </a:r>
          </a:p>
          <a:p>
            <a:pPr lvl="2"/>
            <a:r>
              <a:rPr lang="en-GB" dirty="0" err="1"/>
              <a:t>ViewData</a:t>
            </a:r>
            <a:r>
              <a:rPr lang="en-GB" dirty="0"/>
              <a:t>["</a:t>
            </a:r>
            <a:r>
              <a:rPr lang="en-GB" dirty="0" err="1"/>
              <a:t>ProcessList</a:t>
            </a:r>
            <a:r>
              <a:rPr lang="en-GB" dirty="0"/>
              <a:t>"] = </a:t>
            </a:r>
            <a:r>
              <a:rPr lang="en-GB" dirty="0" err="1"/>
              <a:t>Process.GetProcesses</a:t>
            </a:r>
            <a:r>
              <a:rPr lang="en-GB" dirty="0"/>
              <a:t>().</a:t>
            </a:r>
            <a:r>
              <a:rPr lang="en-GB" dirty="0" err="1"/>
              <a:t>ToList</a:t>
            </a:r>
            <a:r>
              <a:rPr lang="en-GB" dirty="0"/>
              <a:t>();</a:t>
            </a:r>
          </a:p>
          <a:p>
            <a:pPr lvl="3"/>
            <a:r>
              <a:rPr lang="en-GB" dirty="0"/>
              <a:t>It’s now up to the View designer to know that there’s a </a:t>
            </a:r>
            <a:r>
              <a:rPr lang="en-GB" dirty="0" err="1"/>
              <a:t>ViewData</a:t>
            </a:r>
            <a:r>
              <a:rPr lang="en-GB" dirty="0"/>
              <a:t> entry “</a:t>
            </a:r>
            <a:r>
              <a:rPr lang="en-GB" dirty="0" err="1"/>
              <a:t>ProcessList</a:t>
            </a:r>
            <a:r>
              <a:rPr lang="en-GB" dirty="0"/>
              <a:t>” of a specific type so that he/she could handle it to display its contents while casting to the correct type!</a:t>
            </a:r>
          </a:p>
          <a:p>
            <a:r>
              <a:rPr lang="en-GB" dirty="0" err="1"/>
              <a:t>ViewBag</a:t>
            </a:r>
            <a:endParaRPr lang="en-GB" dirty="0"/>
          </a:p>
          <a:p>
            <a:pPr lvl="1"/>
            <a:r>
              <a:rPr lang="en-GB" dirty="0"/>
              <a:t>Gets the dynamic view data dictionary.</a:t>
            </a:r>
          </a:p>
          <a:p>
            <a:pPr lvl="1"/>
            <a:r>
              <a:rPr lang="en-GB" dirty="0"/>
              <a:t>E.g. Return an </a:t>
            </a:r>
            <a:r>
              <a:rPr lang="en-GB" dirty="0" err="1"/>
              <a:t>IEnumerable</a:t>
            </a:r>
            <a:r>
              <a:rPr lang="en-GB" dirty="0"/>
              <a:t> of running processes</a:t>
            </a:r>
          </a:p>
          <a:p>
            <a:pPr lvl="2"/>
            <a:r>
              <a:rPr lang="en-GB" dirty="0" err="1"/>
              <a:t>ViewBag.CurrentProcesses</a:t>
            </a:r>
            <a:r>
              <a:rPr lang="en-GB" dirty="0"/>
              <a:t> = </a:t>
            </a:r>
            <a:r>
              <a:rPr lang="en-GB" dirty="0" err="1"/>
              <a:t>Process.GetProcesses</a:t>
            </a:r>
            <a:r>
              <a:rPr lang="en-GB" dirty="0"/>
              <a:t>().</a:t>
            </a:r>
            <a:r>
              <a:rPr lang="en-GB" dirty="0" err="1"/>
              <a:t>ToList</a:t>
            </a:r>
            <a:r>
              <a:rPr lang="en-GB" dirty="0"/>
              <a:t>();</a:t>
            </a:r>
          </a:p>
          <a:p>
            <a:pPr lvl="2"/>
            <a:endParaRPr lang="en-GB" dirty="0"/>
          </a:p>
          <a:p>
            <a:r>
              <a:rPr lang="en-GB" b="1" dirty="0"/>
              <a:t>Returning a Model</a:t>
            </a:r>
          </a:p>
          <a:p>
            <a:pPr lvl="1"/>
            <a:r>
              <a:rPr lang="en-GB" dirty="0"/>
              <a:t>Actions should return a model - this is the neatest (and most </a:t>
            </a:r>
            <a:r>
              <a:rPr lang="en-GB" dirty="0" err="1"/>
              <a:t>MVCesque</a:t>
            </a:r>
            <a:r>
              <a:rPr lang="en-GB" dirty="0"/>
              <a:t>) approach – even if it’s just a simple API response (201 Ok)</a:t>
            </a:r>
          </a:p>
          <a:p>
            <a:pPr lvl="1"/>
            <a:r>
              <a:rPr lang="en-GB" dirty="0"/>
              <a:t>When controller action returns a View, view models are then attached to it (return View(model);)</a:t>
            </a:r>
          </a:p>
          <a:p>
            <a:pPr lvl="1"/>
            <a:r>
              <a:rPr lang="en-GB" dirty="0"/>
              <a:t>View requires to be strongly typed (S</a:t>
            </a:r>
            <a:r>
              <a:rPr lang="en-GB" sz="1200" b="0" i="0" kern="1200" dirty="0">
                <a:solidFill>
                  <a:schemeClr val="tx1"/>
                </a:solidFill>
                <a:effectLst/>
                <a:latin typeface="+mn-lt"/>
                <a:ea typeface="+mn-ea"/>
                <a:cs typeface="+mn-cs"/>
              </a:rPr>
              <a:t>trongly-typed views typically use </a:t>
            </a:r>
            <a:r>
              <a:rPr lang="en-GB" sz="1200" b="0" i="0" kern="1200" dirty="0" err="1">
                <a:solidFill>
                  <a:schemeClr val="tx1"/>
                </a:solidFill>
                <a:effectLst/>
                <a:latin typeface="+mn-lt"/>
                <a:ea typeface="+mn-ea"/>
                <a:cs typeface="+mn-cs"/>
              </a:rPr>
              <a:t>ViewModel</a:t>
            </a:r>
            <a:r>
              <a:rPr lang="en-GB" sz="1200" b="0" i="0" kern="1200" dirty="0">
                <a:solidFill>
                  <a:schemeClr val="tx1"/>
                </a:solidFill>
                <a:effectLst/>
                <a:latin typeface="+mn-lt"/>
                <a:ea typeface="+mn-ea"/>
                <a:cs typeface="+mn-cs"/>
              </a:rPr>
              <a:t> types designed to contain the data to display on that view. The controller creates and populates these </a:t>
            </a:r>
            <a:r>
              <a:rPr lang="en-GB" sz="1200" b="0" i="0" kern="1200" dirty="0" err="1">
                <a:solidFill>
                  <a:schemeClr val="tx1"/>
                </a:solidFill>
                <a:effectLst/>
                <a:latin typeface="+mn-lt"/>
                <a:ea typeface="+mn-ea"/>
                <a:cs typeface="+mn-cs"/>
              </a:rPr>
              <a:t>ViewModel</a:t>
            </a:r>
            <a:r>
              <a:rPr lang="en-GB" sz="1200" b="0" i="0" kern="1200" dirty="0">
                <a:solidFill>
                  <a:schemeClr val="tx1"/>
                </a:solidFill>
                <a:effectLst/>
                <a:latin typeface="+mn-lt"/>
                <a:ea typeface="+mn-ea"/>
                <a:cs typeface="+mn-cs"/>
              </a:rPr>
              <a:t> instances from the model)</a:t>
            </a:r>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26</a:t>
            </a:fld>
            <a:endParaRPr lang="en-GB"/>
          </a:p>
        </p:txBody>
      </p:sp>
    </p:spTree>
    <p:extLst>
      <p:ext uri="{BB962C8B-B14F-4D97-AF65-F5344CB8AC3E}">
        <p14:creationId xmlns:p14="http://schemas.microsoft.com/office/powerpoint/2010/main" val="3662435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 action filter is an attribute that you can apply to a controller action -- or an entire controller -- that modifies the way in which the action is executed. The ASP.NET MVC framework includes several action filters:” - </a:t>
            </a:r>
            <a:r>
              <a:rPr lang="en-GB" dirty="0">
                <a:hlinkClick r:id="rId3"/>
              </a:rPr>
              <a:t>http://www.asp.net/mvc</a:t>
            </a:r>
            <a:endParaRPr lang="en-GB" dirty="0"/>
          </a:p>
          <a:p>
            <a:endParaRPr lang="en-GB" dirty="0"/>
          </a:p>
          <a:p>
            <a:r>
              <a:rPr lang="en-GB" dirty="0"/>
              <a:t>Attributes applicable to </a:t>
            </a:r>
          </a:p>
          <a:p>
            <a:pPr lvl="1"/>
            <a:r>
              <a:rPr lang="en-GB" dirty="0"/>
              <a:t>Controllers </a:t>
            </a:r>
          </a:p>
          <a:p>
            <a:pPr lvl="2"/>
            <a:r>
              <a:rPr lang="en-GB" dirty="0"/>
              <a:t>Applicable globally for all public methods</a:t>
            </a:r>
          </a:p>
          <a:p>
            <a:pPr lvl="1"/>
            <a:r>
              <a:rPr lang="en-GB" dirty="0"/>
              <a:t>Controller Actions</a:t>
            </a:r>
          </a:p>
          <a:p>
            <a:pPr lvl="2"/>
            <a:r>
              <a:rPr lang="en-GB" dirty="0"/>
              <a:t>Applicable only to specific actions</a:t>
            </a:r>
          </a:p>
          <a:p>
            <a:endParaRPr lang="en-GB" dirty="0"/>
          </a:p>
          <a:p>
            <a:r>
              <a:rPr lang="en-GB" dirty="0"/>
              <a:t>Action Filters</a:t>
            </a:r>
          </a:p>
          <a:p>
            <a:r>
              <a:rPr lang="en-GB" dirty="0"/>
              <a:t>- Attributes you can apply to Controllers and to Controller Actions</a:t>
            </a:r>
          </a:p>
          <a:p>
            <a:r>
              <a:rPr lang="en-GB" dirty="0"/>
              <a:t>- Can allow us to inject pre and post processing before and after the action is invoked, such as:</a:t>
            </a:r>
          </a:p>
          <a:p>
            <a:r>
              <a:rPr lang="en-GB" dirty="0"/>
              <a:t>	- Authorization (is the user authorized to invoke this action)</a:t>
            </a:r>
          </a:p>
          <a:p>
            <a:r>
              <a:rPr lang="en-GB" dirty="0"/>
              <a:t>	- </a:t>
            </a:r>
            <a:r>
              <a:rPr lang="en-GB" dirty="0" err="1"/>
              <a:t>ResponseCaching</a:t>
            </a:r>
            <a:r>
              <a:rPr lang="en-GB" dirty="0"/>
              <a:t> (will the result of the action be cached? Making future requests faster)</a:t>
            </a:r>
          </a:p>
          <a:p>
            <a:pPr marL="171450" indent="-171450">
              <a:buFontTx/>
              <a:buChar char="-"/>
            </a:pPr>
            <a:r>
              <a:rPr lang="en-GB" dirty="0"/>
              <a:t>Custom filters are also possible (</a:t>
            </a:r>
            <a:r>
              <a:rPr lang="en-GB" dirty="0" err="1"/>
              <a:t>e.t.</a:t>
            </a:r>
            <a:r>
              <a:rPr lang="en-GB" dirty="0"/>
              <a:t> Throttling, Localization, Logging)</a:t>
            </a:r>
          </a:p>
          <a:p>
            <a:pPr marL="171450" indent="-171450">
              <a:buFontTx/>
              <a:buChar char="-"/>
            </a:pPr>
            <a:endParaRPr lang="en-GB" dirty="0"/>
          </a:p>
          <a:p>
            <a:r>
              <a:rPr lang="en-GB" dirty="0"/>
              <a:t>Action Filters</a:t>
            </a:r>
          </a:p>
          <a:p>
            <a:pPr lvl="1"/>
            <a:r>
              <a:rPr lang="en-GB" b="1" dirty="0"/>
              <a:t>Method </a:t>
            </a:r>
          </a:p>
          <a:p>
            <a:pPr lvl="1"/>
            <a:r>
              <a:rPr lang="en-GB" b="0" dirty="0"/>
              <a:t>	What HTTP method should this action respond to (get vs post etc…)</a:t>
            </a:r>
          </a:p>
          <a:p>
            <a:pPr lvl="1"/>
            <a:r>
              <a:rPr lang="en-GB" b="1" dirty="0"/>
              <a:t>Authorization</a:t>
            </a:r>
          </a:p>
          <a:p>
            <a:pPr lvl="2"/>
            <a:r>
              <a:rPr lang="en-GB" dirty="0"/>
              <a:t>Restrict access to an action/controller by users/roles	</a:t>
            </a:r>
          </a:p>
          <a:p>
            <a:pPr lvl="3"/>
            <a:r>
              <a:rPr lang="en-GB" dirty="0"/>
              <a:t>E.g. [Authorize(Roles = "Admin, </a:t>
            </a:r>
            <a:r>
              <a:rPr lang="en-GB" dirty="0" err="1"/>
              <a:t>SuperUser</a:t>
            </a:r>
            <a:r>
              <a:rPr lang="en-GB" dirty="0"/>
              <a:t>")]</a:t>
            </a:r>
          </a:p>
          <a:p>
            <a:pPr lvl="3"/>
            <a:r>
              <a:rPr lang="en-GB" dirty="0"/>
              <a:t>E.g. [Authorize(Users= “</a:t>
            </a:r>
            <a:r>
              <a:rPr lang="en-GB" dirty="0" err="1"/>
              <a:t>Joe,Johnny</a:t>
            </a:r>
            <a:r>
              <a:rPr lang="en-GB" dirty="0"/>
              <a:t>")]</a:t>
            </a:r>
          </a:p>
          <a:p>
            <a:pPr lvl="1"/>
            <a:r>
              <a:rPr lang="en-GB" b="1" dirty="0" err="1"/>
              <a:t>ResponseCache</a:t>
            </a:r>
            <a:r>
              <a:rPr lang="en-GB" b="1" dirty="0"/>
              <a:t> </a:t>
            </a:r>
          </a:p>
          <a:p>
            <a:pPr lvl="1"/>
            <a:r>
              <a:rPr lang="en-GB" b="1" dirty="0"/>
              <a:t>	[NOTE: in Chrome, cache will be invalidated if you hit F5. Simply add a link which points to the same page, and use that (e.g. in Bloggy or </a:t>
            </a:r>
            <a:r>
              <a:rPr lang="en-GB" b="1" dirty="0" err="1"/>
              <a:t>Nemesys</a:t>
            </a:r>
            <a:r>
              <a:rPr lang="en-GB" b="1" dirty="0"/>
              <a:t>)]</a:t>
            </a:r>
            <a:endParaRPr lang="en-GB" dirty="0"/>
          </a:p>
          <a:p>
            <a:pPr lvl="2"/>
            <a:r>
              <a:rPr lang="en-GB" dirty="0"/>
              <a:t>Caches the output of a controller action for a specified amount of time</a:t>
            </a:r>
          </a:p>
          <a:p>
            <a:pPr lvl="3"/>
            <a:r>
              <a:rPr lang="en-GB" dirty="0"/>
              <a:t>E.g. [</a:t>
            </a:r>
            <a:r>
              <a:rPr lang="en-GB" dirty="0" err="1"/>
              <a:t>ResponseCach</a:t>
            </a:r>
            <a:r>
              <a:rPr lang="en-GB" dirty="0"/>
              <a:t>(Duration=10, </a:t>
            </a:r>
            <a:r>
              <a:rPr lang="en-GB" dirty="0" err="1"/>
              <a:t>VaryByQueryKeys</a:t>
            </a:r>
            <a:r>
              <a:rPr lang="en-GB" dirty="0"/>
              <a:t>=“…“, </a:t>
            </a:r>
            <a:r>
              <a:rPr lang="en-GB" dirty="0" err="1"/>
              <a:t>VaryByHeader</a:t>
            </a:r>
            <a:r>
              <a:rPr lang="en-GB" dirty="0"/>
              <a:t>=“…”)]</a:t>
            </a:r>
          </a:p>
          <a:p>
            <a:pPr lvl="4"/>
            <a:r>
              <a:rPr lang="en-GB" dirty="0"/>
              <a:t>Careful use is required (e.g. dynamic data might result in issues .. Time?)</a:t>
            </a:r>
          </a:p>
          <a:p>
            <a:pPr lvl="2"/>
            <a:r>
              <a:rPr lang="en-GB" dirty="0"/>
              <a:t>Full control on where to cache stuff</a:t>
            </a:r>
          </a:p>
          <a:p>
            <a:pPr lvl="1"/>
            <a:r>
              <a:rPr lang="en-GB" dirty="0"/>
              <a:t>	To cache or not to cache!</a:t>
            </a:r>
          </a:p>
          <a:p>
            <a:pPr lvl="3"/>
            <a:r>
              <a:rPr lang="en-GB" dirty="0"/>
              <a:t>Is it dynamic content?</a:t>
            </a:r>
          </a:p>
          <a:p>
            <a:pPr lvl="3"/>
            <a:r>
              <a:rPr lang="en-GB" dirty="0"/>
              <a:t>Is it important the latest stuff is returned (e.g. stock prices)?</a:t>
            </a:r>
          </a:p>
          <a:p>
            <a:pPr lvl="3"/>
            <a:r>
              <a:rPr lang="en-GB" dirty="0"/>
              <a:t>Is a delay acceptable (in terms of content)?	</a:t>
            </a:r>
          </a:p>
          <a:p>
            <a:pPr lvl="3"/>
            <a:r>
              <a:rPr lang="en-GB" dirty="0"/>
              <a:t>Caching speeds up your apps</a:t>
            </a:r>
          </a:p>
          <a:p>
            <a:pPr lvl="3"/>
            <a:r>
              <a:rPr lang="en-GB" dirty="0"/>
              <a:t>Caching reduces load on the server (no need to execute each and every time)</a:t>
            </a:r>
          </a:p>
          <a:p>
            <a:pPr lvl="1"/>
            <a:r>
              <a:rPr lang="en-GB" b="1" dirty="0"/>
              <a:t>Custom Filters</a:t>
            </a:r>
          </a:p>
          <a:p>
            <a:pPr lvl="2"/>
            <a:r>
              <a:rPr lang="en-GB" dirty="0"/>
              <a:t>E.g. handle authorization mechanisms, modify return data</a:t>
            </a:r>
          </a:p>
          <a:p>
            <a:pPr lvl="1"/>
            <a:r>
              <a:rPr lang="en-GB" b="1" dirty="0" err="1"/>
              <a:t>ValidateAntiForgeryToken</a:t>
            </a:r>
            <a:r>
              <a:rPr lang="en-GB" b="1" dirty="0"/>
              <a:t> *</a:t>
            </a:r>
          </a:p>
          <a:p>
            <a:pPr lvl="2"/>
            <a:r>
              <a:rPr lang="en-GB" dirty="0"/>
              <a:t>Protects against request forgery</a:t>
            </a:r>
          </a:p>
          <a:p>
            <a:pPr latinLnBrk="1"/>
            <a:endParaRPr lang="en-GB" sz="1200" b="0" i="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GB" sz="1200" b="0" i="0" kern="1200" dirty="0">
                <a:solidFill>
                  <a:schemeClr val="tx2"/>
                </a:solidFill>
                <a:effectLst/>
                <a:latin typeface="+mn-lt"/>
                <a:ea typeface="+mn-ea"/>
                <a:cs typeface="+mn-cs"/>
              </a:rPr>
              <a:t>* </a:t>
            </a:r>
            <a:r>
              <a:rPr lang="en-GB" b="1" dirty="0" err="1"/>
              <a:t>ValidateAntiForgeryToken</a:t>
            </a:r>
            <a:r>
              <a:rPr lang="en-GB" dirty="0"/>
              <a:t> (From </a:t>
            </a:r>
            <a:r>
              <a:rPr lang="en-GB" dirty="0" err="1"/>
              <a:t>stackoverflow</a:t>
            </a:r>
            <a:r>
              <a:rPr lang="en-GB" dirty="0"/>
              <a:t>): MVC's Anti-Forgery Token support writes a unique value to an HTTP-only cookie and then the same value is written to the form. When the page is submitted, an error is raised if the cookie value doesn't match the form value. It's important to note that the feature prevents cross site request forgeries. That is, a form from another site that posts to your site in an attempt to submit hidden content using an authenticated user's credentials. The attack involves tricking the logged in user into submitting a form.  The feature doesn't prevent any other type of data forgery or tampering based attacks. To use it, decorate the action method or controller with the </a:t>
            </a:r>
            <a:r>
              <a:rPr lang="en-GB" dirty="0" err="1"/>
              <a:t>ValidateAntiForgeryToken</a:t>
            </a:r>
            <a:r>
              <a:rPr lang="en-GB" dirty="0"/>
              <a:t> attribute.</a:t>
            </a:r>
          </a:p>
        </p:txBody>
      </p:sp>
      <p:sp>
        <p:nvSpPr>
          <p:cNvPr id="4" name="Slide Number Placeholder 3"/>
          <p:cNvSpPr>
            <a:spLocks noGrp="1"/>
          </p:cNvSpPr>
          <p:nvPr>
            <p:ph type="sldNum" sz="quarter" idx="10"/>
          </p:nvPr>
        </p:nvSpPr>
        <p:spPr/>
        <p:txBody>
          <a:bodyPr/>
          <a:lstStyle/>
          <a:p>
            <a:fld id="{90071FBE-0E7E-4EDA-BB24-DCCD5507545A}" type="slidenum">
              <a:rPr lang="en-GB" smtClean="0"/>
              <a:t>27</a:t>
            </a:fld>
            <a:endParaRPr lang="en-GB"/>
          </a:p>
        </p:txBody>
      </p:sp>
    </p:spTree>
    <p:extLst>
      <p:ext uri="{BB962C8B-B14F-4D97-AF65-F5344CB8AC3E}">
        <p14:creationId xmlns:p14="http://schemas.microsoft.com/office/powerpoint/2010/main" val="2703346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Actions can accept </a:t>
            </a:r>
          </a:p>
          <a:p>
            <a:pPr lvl="1"/>
            <a:r>
              <a:rPr lang="en-GB" b="1" dirty="0"/>
              <a:t>Primitive parameters</a:t>
            </a:r>
          </a:p>
          <a:p>
            <a:pPr lvl="2"/>
            <a:r>
              <a:rPr lang="en-GB" dirty="0"/>
              <a:t>Such as </a:t>
            </a:r>
            <a:r>
              <a:rPr lang="en-GB" dirty="0" err="1"/>
              <a:t>int</a:t>
            </a:r>
            <a:r>
              <a:rPr lang="en-GB" dirty="0"/>
              <a:t>, bool and string </a:t>
            </a:r>
          </a:p>
          <a:p>
            <a:pPr lvl="2"/>
            <a:r>
              <a:rPr lang="en-GB" dirty="0"/>
              <a:t>Assume a parameter “id”</a:t>
            </a:r>
          </a:p>
          <a:p>
            <a:pPr lvl="3"/>
            <a:r>
              <a:rPr lang="en-GB" dirty="0"/>
              <a:t>First action invoker looks at the route data </a:t>
            </a:r>
          </a:p>
          <a:p>
            <a:pPr lvl="4"/>
            <a:r>
              <a:rPr lang="en-GB" dirty="0"/>
              <a:t>E.g. accepting /{id}</a:t>
            </a:r>
          </a:p>
          <a:p>
            <a:pPr lvl="3"/>
            <a:r>
              <a:rPr lang="en-GB" dirty="0"/>
              <a:t>If not found in the URL, action invoker will look at</a:t>
            </a:r>
          </a:p>
          <a:p>
            <a:pPr lvl="4"/>
            <a:r>
              <a:rPr lang="en-GB" dirty="0"/>
              <a:t>Form and query string values</a:t>
            </a:r>
          </a:p>
          <a:p>
            <a:pPr lvl="3"/>
            <a:r>
              <a:rPr lang="en-GB" dirty="0"/>
              <a:t>If not found, id = null</a:t>
            </a:r>
          </a:p>
          <a:p>
            <a:pPr lvl="3"/>
            <a:r>
              <a:rPr lang="en-GB" dirty="0"/>
              <a:t>If found, but incorrect, exception is thrown</a:t>
            </a:r>
          </a:p>
          <a:p>
            <a:pPr lvl="3"/>
            <a:endParaRPr lang="en-GB" dirty="0"/>
          </a:p>
          <a:p>
            <a:pPr lvl="1"/>
            <a:r>
              <a:rPr lang="en-GB" b="1" dirty="0"/>
              <a:t>Complex parameters</a:t>
            </a:r>
          </a:p>
          <a:p>
            <a:pPr lvl="2"/>
            <a:r>
              <a:rPr lang="en-GB" dirty="0"/>
              <a:t>E.g. Action expects a Department object</a:t>
            </a:r>
          </a:p>
          <a:p>
            <a:pPr lvl="3"/>
            <a:r>
              <a:rPr lang="en-GB" dirty="0"/>
              <a:t>Model binder is used</a:t>
            </a:r>
          </a:p>
          <a:p>
            <a:pPr lvl="4"/>
            <a:r>
              <a:rPr lang="en-GB" dirty="0"/>
              <a:t>Get values from environment </a:t>
            </a:r>
          </a:p>
          <a:p>
            <a:pPr lvl="4"/>
            <a:r>
              <a:rPr lang="en-GB" dirty="0"/>
              <a:t>Matches parameter values to public properties in that type (class)</a:t>
            </a:r>
          </a:p>
          <a:p>
            <a:pPr lvl="4"/>
            <a:r>
              <a:rPr lang="en-GB" dirty="0"/>
              <a:t>Model binder maps properties (where possible)</a:t>
            </a:r>
          </a:p>
          <a:p>
            <a:pPr lvl="4"/>
            <a:endParaRPr lang="en-GB" dirty="0"/>
          </a:p>
          <a:p>
            <a:pPr lvl="0"/>
            <a:r>
              <a:rPr lang="en-GB" b="1" dirty="0"/>
              <a:t>Model Binding</a:t>
            </a:r>
          </a:p>
          <a:p>
            <a:pPr lvl="0"/>
            <a:endParaRPr lang="en-GB" b="1" dirty="0"/>
          </a:p>
          <a:p>
            <a:r>
              <a:rPr lang="en-GB" sz="1200" kern="1200" dirty="0">
                <a:solidFill>
                  <a:schemeClr val="tx1"/>
                </a:solidFill>
                <a:effectLst/>
                <a:latin typeface="+mn-lt"/>
                <a:ea typeface="+mn-ea"/>
                <a:cs typeface="+mn-cs"/>
              </a:rPr>
              <a:t>MVC matches data coming from HTTP request with arguments that the Action method requires. </a:t>
            </a:r>
          </a:p>
          <a:p>
            <a:r>
              <a:rPr lang="en-GB" sz="1200" kern="1200" dirty="0">
                <a:solidFill>
                  <a:schemeClr val="tx1"/>
                </a:solidFill>
                <a:effectLst/>
                <a:latin typeface="+mn-lt"/>
                <a:ea typeface="+mn-ea"/>
                <a:cs typeface="+mn-cs"/>
              </a:rPr>
              <a:t>Objects required as input parameters in actions are initiated from HTTP request values (in body or URL query)</a:t>
            </a:r>
          </a:p>
          <a:p>
            <a:r>
              <a:rPr lang="en-GB" sz="1200" kern="1200" dirty="0">
                <a:solidFill>
                  <a:schemeClr val="tx1"/>
                </a:solidFill>
                <a:effectLst/>
                <a:latin typeface="+mn-lt"/>
                <a:ea typeface="+mn-ea"/>
                <a:cs typeface="+mn-cs"/>
              </a:rPr>
              <a:t>If an integer with name id is set in the action’s input parameter list, model binder will try and locate a similar value in the http request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Model binders will look at certain locations in the HTTP request and attempt to map them to the action parameter list. There are three types of model binders, which are invoked in the following sequence:</a:t>
            </a:r>
          </a:p>
          <a:p>
            <a:r>
              <a:rPr lang="en-GB" sz="1200" kern="1200" dirty="0">
                <a:solidFill>
                  <a:schemeClr val="tx1"/>
                </a:solidFill>
                <a:effectLst/>
                <a:latin typeface="+mn-lt"/>
                <a:ea typeface="+mn-ea"/>
                <a:cs typeface="+mn-cs"/>
              </a:rPr>
              <a:t>1) Form Data</a:t>
            </a:r>
          </a:p>
          <a:p>
            <a:r>
              <a:rPr lang="en-GB" sz="1200" kern="1200" dirty="0">
                <a:solidFill>
                  <a:schemeClr val="tx1"/>
                </a:solidFill>
                <a:effectLst/>
                <a:latin typeface="+mn-lt"/>
                <a:ea typeface="+mn-ea"/>
                <a:cs typeface="+mn-cs"/>
              </a:rPr>
              <a:t>2) Route Variables /path/var1/path/var2</a:t>
            </a:r>
          </a:p>
          <a:p>
            <a:r>
              <a:rPr lang="en-GB" sz="1200" kern="1200" dirty="0">
                <a:solidFill>
                  <a:schemeClr val="tx1"/>
                </a:solidFill>
                <a:effectLst/>
                <a:latin typeface="+mn-lt"/>
                <a:ea typeface="+mn-ea"/>
                <a:cs typeface="+mn-cs"/>
              </a:rPr>
              <a:t>3) Query String ?var1=&amp;var2=</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As soon as a match is found, the process is stopped and the value is passed to the action method parameter. </a:t>
            </a:r>
            <a:endParaRPr lang="en-GB" dirty="0"/>
          </a:p>
          <a:p>
            <a:pPr lvl="3"/>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28</a:t>
            </a:fld>
            <a:endParaRPr lang="en-GB"/>
          </a:p>
        </p:txBody>
      </p:sp>
    </p:spTree>
    <p:extLst>
      <p:ext uri="{BB962C8B-B14F-4D97-AF65-F5344CB8AC3E}">
        <p14:creationId xmlns:p14="http://schemas.microsoft.com/office/powerpoint/2010/main" val="13482717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MVC views are HTML templates</a:t>
            </a:r>
          </a:p>
          <a:p>
            <a:pPr lvl="1"/>
            <a:r>
              <a:rPr lang="en-GB" dirty="0"/>
              <a:t>With some templating logic to inject data</a:t>
            </a:r>
          </a:p>
          <a:p>
            <a:pPr lvl="1"/>
            <a:endParaRPr lang="en-GB" dirty="0"/>
          </a:p>
          <a:p>
            <a:r>
              <a:rPr lang="en-GB" dirty="0"/>
              <a:t>MVC views are built on some conventions</a:t>
            </a:r>
          </a:p>
          <a:p>
            <a:pPr lvl="1"/>
            <a:r>
              <a:rPr lang="en-GB" dirty="0"/>
              <a:t>Every controller has a default views folder</a:t>
            </a:r>
          </a:p>
          <a:p>
            <a:pPr lvl="2"/>
            <a:r>
              <a:rPr lang="en-GB" dirty="0"/>
              <a:t>E.g. </a:t>
            </a:r>
            <a:r>
              <a:rPr lang="en-GB" dirty="0" err="1"/>
              <a:t>HomeController</a:t>
            </a:r>
            <a:r>
              <a:rPr lang="en-GB" dirty="0"/>
              <a:t> </a:t>
            </a:r>
            <a:r>
              <a:rPr lang="en-GB" dirty="0">
                <a:sym typeface="Wingdings" pitchFamily="2" charset="2"/>
              </a:rPr>
              <a:t> Views/Home/*.</a:t>
            </a:r>
            <a:r>
              <a:rPr lang="en-GB" dirty="0" err="1">
                <a:sym typeface="Wingdings" pitchFamily="2" charset="2"/>
              </a:rPr>
              <a:t>cshtml</a:t>
            </a:r>
            <a:endParaRPr lang="en-GB" dirty="0">
              <a:sym typeface="Wingdings" pitchFamily="2" charset="2"/>
            </a:endParaRPr>
          </a:p>
          <a:p>
            <a:pPr lvl="1"/>
            <a:r>
              <a:rPr lang="en-GB" dirty="0">
                <a:sym typeface="Wingdings" pitchFamily="2" charset="2"/>
              </a:rPr>
              <a:t>Every controller action has a default view to render </a:t>
            </a:r>
          </a:p>
          <a:p>
            <a:pPr lvl="2"/>
            <a:r>
              <a:rPr lang="en-GB" dirty="0">
                <a:sym typeface="Wingdings" pitchFamily="2" charset="2"/>
              </a:rPr>
              <a:t>E.g. </a:t>
            </a:r>
            <a:r>
              <a:rPr lang="en-GB" dirty="0" err="1">
                <a:sym typeface="Wingdings" pitchFamily="2" charset="2"/>
              </a:rPr>
              <a:t>HomeController’s</a:t>
            </a:r>
            <a:r>
              <a:rPr lang="en-GB" dirty="0">
                <a:sym typeface="Wingdings" pitchFamily="2" charset="2"/>
              </a:rPr>
              <a:t> Edit() can return View()</a:t>
            </a:r>
          </a:p>
          <a:p>
            <a:pPr lvl="3"/>
            <a:r>
              <a:rPr lang="en-GB" dirty="0">
                <a:sym typeface="Wingdings" pitchFamily="2" charset="2"/>
              </a:rPr>
              <a:t>MVC will look for Views/Home/</a:t>
            </a:r>
            <a:r>
              <a:rPr lang="en-GB" dirty="0" err="1">
                <a:sym typeface="Wingdings" pitchFamily="2" charset="2"/>
              </a:rPr>
              <a:t>Edit.cshtml</a:t>
            </a:r>
            <a:r>
              <a:rPr lang="en-GB" dirty="0">
                <a:sym typeface="Wingdings" pitchFamily="2" charset="2"/>
              </a:rPr>
              <a:t> by default</a:t>
            </a:r>
          </a:p>
          <a:p>
            <a:pPr lvl="3"/>
            <a:r>
              <a:rPr lang="en-GB" dirty="0">
                <a:sym typeface="Wingdings" pitchFamily="2" charset="2"/>
              </a:rPr>
              <a:t>If not found, it will look in the Views/Shared folder</a:t>
            </a:r>
            <a:endParaRPr lang="en-GB" dirty="0"/>
          </a:p>
          <a:p>
            <a:pPr lvl="1"/>
            <a:endParaRPr lang="en-GB" dirty="0"/>
          </a:p>
          <a:p>
            <a:r>
              <a:rPr lang="en-GB" dirty="0"/>
              <a:t>Actions can return different Views</a:t>
            </a:r>
          </a:p>
          <a:p>
            <a:pPr lvl="1"/>
            <a:r>
              <a:rPr lang="en-GB" dirty="0"/>
              <a:t>E.g. return View(“</a:t>
            </a:r>
            <a:r>
              <a:rPr lang="en-GB" dirty="0" err="1"/>
              <a:t>AnotherView</a:t>
            </a:r>
            <a:r>
              <a:rPr lang="en-GB" dirty="0"/>
              <a:t>”);</a:t>
            </a:r>
          </a:p>
          <a:p>
            <a:pPr lvl="2"/>
            <a:r>
              <a:rPr lang="en-GB" dirty="0"/>
              <a:t>MVC framework will look for </a:t>
            </a:r>
            <a:r>
              <a:rPr lang="en-GB" dirty="0" err="1"/>
              <a:t>AnotherView.cshtml</a:t>
            </a:r>
            <a:r>
              <a:rPr lang="en-GB" dirty="0"/>
              <a:t> in the respective folder (and in the Shared folder if not found)</a:t>
            </a:r>
          </a:p>
          <a:p>
            <a:pPr lvl="2"/>
            <a:endParaRPr lang="en-GB" dirty="0"/>
          </a:p>
          <a:p>
            <a:pPr lvl="1"/>
            <a:r>
              <a:rPr lang="en-GB" dirty="0"/>
              <a:t>Alternatively, if you want to render another view related to a different Action from a different Controller </a:t>
            </a:r>
          </a:p>
          <a:p>
            <a:pPr lvl="2"/>
            <a:r>
              <a:rPr lang="en-GB" dirty="0"/>
              <a:t>return </a:t>
            </a:r>
            <a:r>
              <a:rPr lang="en-GB" dirty="0" err="1"/>
              <a:t>RedirectToAction</a:t>
            </a:r>
            <a:r>
              <a:rPr lang="en-GB" dirty="0"/>
              <a:t>(“</a:t>
            </a:r>
            <a:r>
              <a:rPr lang="en-GB" dirty="0" err="1"/>
              <a:t>ActionName</a:t>
            </a:r>
            <a:r>
              <a:rPr lang="en-GB" dirty="0"/>
              <a:t>",“</a:t>
            </a:r>
            <a:r>
              <a:rPr lang="en-GB" dirty="0" err="1"/>
              <a:t>AnotherController</a:t>
            </a:r>
            <a:r>
              <a:rPr lang="en-GB" dirty="0"/>
              <a:t>"); </a:t>
            </a:r>
          </a:p>
          <a:p>
            <a:pPr lvl="2"/>
            <a:endParaRPr lang="en-GB" dirty="0"/>
          </a:p>
          <a:p>
            <a:r>
              <a:rPr lang="en-GB" b="1" dirty="0"/>
              <a:t>Partial views</a:t>
            </a:r>
          </a:p>
          <a:p>
            <a:r>
              <a:rPr lang="en-GB" dirty="0"/>
              <a:t>Partial views allow you to render portions of a page</a:t>
            </a:r>
          </a:p>
          <a:p>
            <a:r>
              <a:rPr lang="en-GB" dirty="0"/>
              <a:t>Reusing HTML codes across multiple views</a:t>
            </a:r>
          </a:p>
          <a:p>
            <a:r>
              <a:rPr lang="en-GB" dirty="0"/>
              <a:t>Especially useful for async updates</a:t>
            </a:r>
            <a:endParaRPr lang="en-GB" sz="1200" kern="1200" dirty="0">
              <a:solidFill>
                <a:schemeClr val="tx1"/>
              </a:solidFill>
              <a:latin typeface="+mn-lt"/>
              <a:ea typeface="+mn-ea"/>
              <a:cs typeface="+mn-cs"/>
            </a:endParaRPr>
          </a:p>
          <a:p>
            <a:endParaRPr lang="en-GB" dirty="0"/>
          </a:p>
          <a:p>
            <a:endParaRPr lang="en-GB" dirty="0"/>
          </a:p>
          <a:p>
            <a:pPr lvl="1"/>
            <a:endParaRPr lang="en-GB" dirty="0"/>
          </a:p>
          <a:p>
            <a:pPr lvl="1"/>
            <a:endParaRPr lang="en-GB" dirty="0"/>
          </a:p>
          <a:p>
            <a:pPr lvl="1"/>
            <a:endParaRPr lang="en-GB" dirty="0"/>
          </a:p>
          <a:p>
            <a:pPr lvl="2"/>
            <a:br>
              <a:rPr lang="en-GB" dirty="0"/>
            </a:br>
            <a:endParaRPr lang="en-GB" dirty="0"/>
          </a:p>
          <a:p>
            <a:pPr lvl="1"/>
            <a:endParaRPr lang="en-GB" dirty="0"/>
          </a:p>
          <a:p>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29</a:t>
            </a:fld>
            <a:endParaRPr lang="en-GB"/>
          </a:p>
        </p:txBody>
      </p:sp>
    </p:spTree>
    <p:extLst>
      <p:ext uri="{BB962C8B-B14F-4D97-AF65-F5344CB8AC3E}">
        <p14:creationId xmlns:p14="http://schemas.microsoft.com/office/powerpoint/2010/main" val="34555302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Tag Helpers</a:t>
            </a:r>
          </a:p>
          <a:p>
            <a:endParaRPr lang="en-GB" b="1" dirty="0"/>
          </a:p>
          <a:p>
            <a:r>
              <a:rPr lang="en-GB" sz="1200" b="1" i="0" kern="1200" dirty="0">
                <a:solidFill>
                  <a:schemeClr val="tx1"/>
                </a:solidFill>
                <a:effectLst/>
                <a:latin typeface="+mn-lt"/>
                <a:ea typeface="+mn-ea"/>
                <a:cs typeface="+mn-cs"/>
              </a:rPr>
              <a:t>Tag Helpers provide HTML-friendly development experience</a:t>
            </a:r>
            <a:r>
              <a:rPr lang="en-GB" sz="1200" b="0" i="0" kern="1200" dirty="0">
                <a:solidFill>
                  <a:schemeClr val="tx1"/>
                </a:solidFill>
                <a:effectLst/>
                <a:latin typeface="+mn-lt"/>
                <a:ea typeface="+mn-ea"/>
                <a:cs typeface="+mn-cs"/>
              </a:rPr>
              <a:t> For the most part, Razor </a:t>
            </a:r>
            <a:r>
              <a:rPr lang="en-GB" sz="1200" b="0" i="0" kern="1200" dirty="0" err="1">
                <a:solidFill>
                  <a:schemeClr val="tx1"/>
                </a:solidFill>
                <a:effectLst/>
                <a:latin typeface="+mn-lt"/>
                <a:ea typeface="+mn-ea"/>
                <a:cs typeface="+mn-cs"/>
              </a:rPr>
              <a:t>markup</a:t>
            </a:r>
            <a:r>
              <a:rPr lang="en-GB" sz="1200" b="0" i="0" kern="1200" dirty="0">
                <a:solidFill>
                  <a:schemeClr val="tx1"/>
                </a:solidFill>
                <a:effectLst/>
                <a:latin typeface="+mn-lt"/>
                <a:ea typeface="+mn-ea"/>
                <a:cs typeface="+mn-cs"/>
              </a:rPr>
              <a:t> using Tag Helpers looks like standard HTML. Front-end designers conversant with HTML/CSS/JavaScript can edit Razor without learning C# Razor syntax</a:t>
            </a:r>
          </a:p>
          <a:p>
            <a:endParaRPr lang="en-GB" b="1" dirty="0"/>
          </a:p>
          <a:p>
            <a:r>
              <a:rPr lang="en-GB" sz="1200" kern="1200" dirty="0">
                <a:solidFill>
                  <a:schemeClr val="tx1"/>
                </a:solidFill>
                <a:effectLst/>
                <a:latin typeface="+mn-lt"/>
                <a:ea typeface="+mn-ea"/>
                <a:cs typeface="+mn-cs"/>
              </a:rPr>
              <a:t>Tag helpers have been introduced to build dynamic HTML code.</a:t>
            </a:r>
          </a:p>
          <a:p>
            <a:r>
              <a:rPr lang="en-GB" sz="1200" kern="1200" dirty="0">
                <a:solidFill>
                  <a:schemeClr val="tx1"/>
                </a:solidFill>
                <a:effectLst/>
                <a:latin typeface="+mn-lt"/>
                <a:ea typeface="+mn-ea"/>
                <a:cs typeface="+mn-cs"/>
              </a:rPr>
              <a:t>Tag helper </a:t>
            </a:r>
            <a:r>
              <a:rPr lang="en-GB" sz="1200" kern="1200" dirty="0" err="1">
                <a:solidFill>
                  <a:schemeClr val="tx1"/>
                </a:solidFill>
                <a:effectLst/>
                <a:latin typeface="+mn-lt"/>
                <a:ea typeface="+mn-ea"/>
                <a:cs typeface="+mn-cs"/>
              </a:rPr>
              <a:t>markup</a:t>
            </a:r>
            <a:r>
              <a:rPr lang="en-GB" sz="1200" kern="1200" dirty="0">
                <a:solidFill>
                  <a:schemeClr val="tx1"/>
                </a:solidFill>
                <a:effectLst/>
                <a:latin typeface="+mn-lt"/>
                <a:ea typeface="+mn-ea"/>
                <a:cs typeface="+mn-cs"/>
              </a:rPr>
              <a:t> code will be executed server side – out of which HTML will be generated.</a:t>
            </a:r>
          </a:p>
          <a:p>
            <a:r>
              <a:rPr lang="en-GB" sz="1200" kern="1200" dirty="0">
                <a:solidFill>
                  <a:schemeClr val="tx1"/>
                </a:solidFill>
                <a:effectLst/>
                <a:latin typeface="+mn-lt"/>
                <a:ea typeface="+mn-ea"/>
                <a:cs typeface="+mn-cs"/>
              </a:rPr>
              <a:t>This also replaces HTML helpers in </a:t>
            </a:r>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MVC (although it is still available) – HTML helpers make your views look quite messy</a:t>
            </a:r>
          </a:p>
          <a:p>
            <a:r>
              <a:rPr lang="en-GB" sz="1200" kern="1200" dirty="0">
                <a:solidFill>
                  <a:schemeClr val="tx1"/>
                </a:solidFill>
                <a:effectLst/>
                <a:latin typeface="+mn-lt"/>
                <a:ea typeface="+mn-ea"/>
                <a:cs typeface="+mn-cs"/>
              </a:rPr>
              <a:t>Tag helpers are also used for navigation.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To generate a link from the home page to the list page, one uses tag helpers in anchor tags (e.g. asp-controller and asp-action)</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asp-controller: defines which controller to use</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asp-action: defines which action to use</a:t>
            </a:r>
          </a:p>
          <a:p>
            <a:pPr lvl="0"/>
            <a:endParaRPr lang="en-GB"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 these links will however be generated according to the default routing pattern we have defined earlier.</a:t>
            </a:r>
          </a:p>
          <a:p>
            <a:pPr lvl="0"/>
            <a:r>
              <a:rPr lang="en-GB" sz="1200" kern="1200" dirty="0">
                <a:solidFill>
                  <a:schemeClr val="tx1"/>
                </a:solidFill>
                <a:effectLst/>
                <a:latin typeface="+mn-lt"/>
                <a:ea typeface="+mn-ea"/>
                <a:cs typeface="+mn-cs"/>
              </a:rPr>
              <a:t>asp-route-* can be used to specify individual route parameters (e.g. asp-route-id="@</a:t>
            </a:r>
            <a:r>
              <a:rPr lang="en-GB" sz="1200" kern="1200" dirty="0" err="1">
                <a:solidFill>
                  <a:schemeClr val="tx1"/>
                </a:solidFill>
                <a:effectLst/>
                <a:latin typeface="+mn-lt"/>
                <a:ea typeface="+mn-ea"/>
                <a:cs typeface="+mn-cs"/>
              </a:rPr>
              <a:t>Model.ReportId</a:t>
            </a:r>
            <a:r>
              <a:rPr lang="en-GB" sz="1200" kern="1200" dirty="0">
                <a:solidFill>
                  <a:schemeClr val="tx1"/>
                </a:solidFill>
                <a:effectLst/>
                <a:latin typeface="+mn-lt"/>
                <a:ea typeface="+mn-ea"/>
                <a:cs typeface="+mn-cs"/>
              </a:rPr>
              <a:t>"&gt;).</a:t>
            </a:r>
          </a:p>
          <a:p>
            <a:pPr lvl="0"/>
            <a:r>
              <a:rPr lang="en-GB" sz="1200" kern="1200" dirty="0">
                <a:solidFill>
                  <a:schemeClr val="tx1"/>
                </a:solidFill>
                <a:effectLst/>
                <a:latin typeface="+mn-lt"/>
                <a:ea typeface="+mn-ea"/>
                <a:cs typeface="+mn-cs"/>
              </a:rPr>
              <a:t>If we change the routing pattern, then the links will be re-generated automatically – making it easier to maintain the code-base. </a:t>
            </a:r>
          </a:p>
          <a:p>
            <a:r>
              <a:rPr lang="en-GB" sz="1200" kern="1200" dirty="0">
                <a:solidFill>
                  <a:schemeClr val="tx1"/>
                </a:solidFill>
                <a:effectLst/>
                <a:latin typeface="+mn-lt"/>
                <a:ea typeface="+mn-ea"/>
                <a:cs typeface="+mn-cs"/>
              </a:rPr>
              <a:t>We can also specify the exact route by name should we want, using the asp-route tag helper (this links to a named route on an Action [Route(… Name=””)].</a:t>
            </a:r>
          </a:p>
          <a:p>
            <a:endParaRPr lang="en-GB" sz="1200" kern="1200" dirty="0">
              <a:solidFill>
                <a:schemeClr val="tx1"/>
              </a:solidFill>
              <a:effectLst/>
              <a:latin typeface="+mn-lt"/>
              <a:ea typeface="+mn-ea"/>
              <a:cs typeface="+mn-cs"/>
            </a:endParaRPr>
          </a:p>
          <a:p>
            <a:r>
              <a:rPr lang="en-GB" dirty="0"/>
              <a:t>… if we create a link, then change the routing rules, the link will update itself automatically.</a:t>
            </a:r>
          </a:p>
          <a:p>
            <a:endParaRPr lang="en-GB" dirty="0"/>
          </a:p>
          <a:p>
            <a:r>
              <a:rPr lang="en-GB" dirty="0"/>
              <a:t>1) First, add </a:t>
            </a:r>
            <a:r>
              <a:rPr lang="en-GB" dirty="0" err="1"/>
              <a:t>TagHelper</a:t>
            </a:r>
            <a:r>
              <a:rPr lang="en-GB" dirty="0"/>
              <a:t> support</a:t>
            </a:r>
          </a:p>
          <a:p>
            <a:r>
              <a:rPr lang="en-GB" sz="1200" kern="1200" dirty="0">
                <a:solidFill>
                  <a:schemeClr val="tx1"/>
                </a:solidFill>
                <a:effectLst/>
                <a:latin typeface="+mn-lt"/>
                <a:ea typeface="+mn-ea"/>
                <a:cs typeface="+mn-cs"/>
              </a:rPr>
              <a:t>In </a:t>
            </a:r>
            <a:r>
              <a:rPr lang="en-GB" sz="1200" b="0" i="1" kern="1200" dirty="0">
                <a:solidFill>
                  <a:schemeClr val="tx1"/>
                </a:solidFill>
                <a:effectLst/>
                <a:latin typeface="+mn-lt"/>
                <a:ea typeface="+mn-ea"/>
                <a:cs typeface="+mn-cs"/>
              </a:rPr>
              <a:t>Views/_</a:t>
            </a:r>
            <a:r>
              <a:rPr lang="en-GB" sz="1200" b="0" i="1" kern="1200" dirty="0" err="1">
                <a:solidFill>
                  <a:schemeClr val="tx1"/>
                </a:solidFill>
                <a:effectLst/>
                <a:latin typeface="+mn-lt"/>
                <a:ea typeface="+mn-ea"/>
                <a:cs typeface="+mn-cs"/>
              </a:rPr>
              <a:t>ViewImports.cshtml</a:t>
            </a:r>
            <a:r>
              <a:rPr lang="en-GB" sz="1200" b="0" i="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dirty="0"/>
              <a:t>@</a:t>
            </a:r>
            <a:r>
              <a:rPr lang="en-GB" dirty="0" err="1"/>
              <a:t>addTagHelper</a:t>
            </a:r>
            <a:r>
              <a:rPr lang="en-GB" dirty="0"/>
              <a:t> *, </a:t>
            </a:r>
            <a:r>
              <a:rPr lang="en-GB" dirty="0" err="1"/>
              <a:t>Microsoft.AspNetCore.Mvc.TagHelpers</a:t>
            </a:r>
            <a:endParaRPr lang="en-GB" dirty="0"/>
          </a:p>
          <a:p>
            <a:r>
              <a:rPr lang="en-GB" dirty="0"/>
              <a:t>@</a:t>
            </a:r>
            <a:r>
              <a:rPr lang="en-GB" dirty="0" err="1"/>
              <a:t>addTagHelper</a:t>
            </a:r>
            <a:r>
              <a:rPr lang="en-GB" dirty="0"/>
              <a:t> *, </a:t>
            </a:r>
            <a:r>
              <a:rPr lang="en-GB" dirty="0" err="1"/>
              <a:t>AuthoringTagHelpers</a:t>
            </a:r>
            <a:endParaRPr lang="en-GB" dirty="0"/>
          </a:p>
          <a:p>
            <a:endParaRPr lang="en-GB" dirty="0"/>
          </a:p>
          <a:p>
            <a:r>
              <a:rPr lang="en-GB" dirty="0"/>
              <a:t>2) Then create a dummy action in Home (Details returning View())</a:t>
            </a:r>
          </a:p>
          <a:p>
            <a:endParaRPr lang="en-GB" dirty="0"/>
          </a:p>
          <a:p>
            <a:r>
              <a:rPr lang="en-GB" sz="1200" kern="1200" dirty="0">
                <a:solidFill>
                  <a:schemeClr val="tx1"/>
                </a:solidFill>
                <a:latin typeface="+mn-lt"/>
                <a:ea typeface="+mn-ea"/>
                <a:cs typeface="+mn-cs"/>
              </a:rPr>
              <a:t>3) Then add this to </a:t>
            </a:r>
            <a:r>
              <a:rPr lang="en-GB" sz="1200" kern="1200" dirty="0" err="1">
                <a:solidFill>
                  <a:schemeClr val="tx1"/>
                </a:solidFill>
                <a:latin typeface="+mn-lt"/>
                <a:ea typeface="+mn-ea"/>
                <a:cs typeface="+mn-cs"/>
              </a:rPr>
              <a:t>Index.cshtml</a:t>
            </a:r>
            <a:r>
              <a:rPr lang="en-GB" sz="1200" kern="1200" dirty="0">
                <a:solidFill>
                  <a:schemeClr val="tx1"/>
                </a:solidFill>
                <a:latin typeface="+mn-lt"/>
                <a:ea typeface="+mn-ea"/>
                <a:cs typeface="+mn-cs"/>
              </a:rPr>
              <a:t> &lt;a </a:t>
            </a:r>
            <a:r>
              <a:rPr lang="en-GB" sz="1200" b="1" kern="1200" dirty="0">
                <a:solidFill>
                  <a:schemeClr val="tx1"/>
                </a:solidFill>
                <a:latin typeface="+mn-lt"/>
                <a:ea typeface="+mn-ea"/>
                <a:cs typeface="+mn-cs"/>
              </a:rPr>
              <a:t>asp-controller</a:t>
            </a:r>
            <a:r>
              <a:rPr lang="en-GB" sz="1200" b="0" kern="1200" dirty="0">
                <a:solidFill>
                  <a:schemeClr val="tx1"/>
                </a:solidFill>
                <a:latin typeface="+mn-lt"/>
                <a:ea typeface="+mn-ea"/>
                <a:cs typeface="+mn-cs"/>
              </a:rPr>
              <a:t>="Home</a:t>
            </a:r>
            <a:r>
              <a:rPr lang="en-GB" sz="1200" kern="1200" dirty="0">
                <a:solidFill>
                  <a:schemeClr val="tx1"/>
                </a:solidFill>
                <a:latin typeface="+mn-lt"/>
                <a:ea typeface="+mn-ea"/>
                <a:cs typeface="+mn-cs"/>
              </a:rPr>
              <a:t>" </a:t>
            </a:r>
            <a:r>
              <a:rPr lang="en-GB" sz="1200" b="1" kern="1200" dirty="0">
                <a:solidFill>
                  <a:schemeClr val="tx1"/>
                </a:solidFill>
                <a:latin typeface="+mn-lt"/>
                <a:ea typeface="+mn-ea"/>
                <a:cs typeface="+mn-cs"/>
              </a:rPr>
              <a:t>asp-action</a:t>
            </a:r>
            <a:r>
              <a:rPr lang="en-GB" sz="1200" kern="1200" dirty="0">
                <a:solidFill>
                  <a:schemeClr val="tx1"/>
                </a:solidFill>
                <a:latin typeface="+mn-lt"/>
                <a:ea typeface="+mn-ea"/>
                <a:cs typeface="+mn-cs"/>
              </a:rPr>
              <a:t>="Index" </a:t>
            </a:r>
            <a:r>
              <a:rPr lang="en-GB" sz="1200" b="1" kern="1200" dirty="0">
                <a:solidFill>
                  <a:schemeClr val="tx1"/>
                </a:solidFill>
                <a:latin typeface="+mn-lt"/>
                <a:ea typeface="+mn-ea"/>
                <a:cs typeface="+mn-cs"/>
              </a:rPr>
              <a:t>asp-route-id</a:t>
            </a:r>
            <a:r>
              <a:rPr lang="en-GB" sz="1200" kern="1200" dirty="0">
                <a:solidFill>
                  <a:schemeClr val="tx1"/>
                </a:solidFill>
                <a:latin typeface="+mn-lt"/>
                <a:ea typeface="+mn-ea"/>
                <a:cs typeface="+mn-cs"/>
              </a:rPr>
              <a:t>="3"&gt;Click here&lt;/a&gt;</a:t>
            </a:r>
          </a:p>
          <a:p>
            <a:endParaRPr lang="en-GB" sz="1200" kern="1200" dirty="0">
              <a:solidFill>
                <a:schemeClr val="tx1"/>
              </a:solidFill>
              <a:latin typeface="+mn-lt"/>
              <a:ea typeface="+mn-ea"/>
              <a:cs typeface="+mn-cs"/>
            </a:endParaRPr>
          </a:p>
          <a:p>
            <a:r>
              <a:rPr lang="en-GB" sz="1200" kern="1200" dirty="0">
                <a:solidFill>
                  <a:schemeClr val="tx1"/>
                </a:solidFill>
                <a:latin typeface="+mn-lt"/>
                <a:ea typeface="+mn-ea"/>
                <a:cs typeface="+mn-cs"/>
              </a:rPr>
              <a:t>… check URL generated</a:t>
            </a:r>
          </a:p>
          <a:p>
            <a:endParaRPr lang="en-GB" sz="1200" kern="1200" dirty="0">
              <a:solidFill>
                <a:schemeClr val="tx1"/>
              </a:solidFill>
              <a:latin typeface="+mn-lt"/>
              <a:ea typeface="+mn-ea"/>
              <a:cs typeface="+mn-cs"/>
            </a:endParaRPr>
          </a:p>
          <a:p>
            <a:r>
              <a:rPr lang="en-GB" sz="1200" kern="1200" dirty="0">
                <a:solidFill>
                  <a:schemeClr val="tx1"/>
                </a:solidFill>
                <a:latin typeface="+mn-lt"/>
                <a:ea typeface="+mn-ea"/>
                <a:cs typeface="+mn-cs"/>
              </a:rPr>
              <a:t>4) Add Custom Route to Action Details  [Route("</a:t>
            </a:r>
            <a:r>
              <a:rPr lang="en-GB" sz="1200" kern="1200" dirty="0" err="1">
                <a:solidFill>
                  <a:schemeClr val="tx1"/>
                </a:solidFill>
                <a:latin typeface="+mn-lt"/>
                <a:ea typeface="+mn-ea"/>
                <a:cs typeface="+mn-cs"/>
              </a:rPr>
              <a:t>VeryDifferent</a:t>
            </a:r>
            <a:r>
              <a:rPr lang="en-GB" sz="1200" kern="1200" dirty="0">
                <a:solidFill>
                  <a:schemeClr val="tx1"/>
                </a:solidFill>
                <a:latin typeface="+mn-lt"/>
                <a:ea typeface="+mn-ea"/>
                <a:cs typeface="+mn-cs"/>
              </a:rPr>
              <a:t>/Route/{Id}")] and see </a:t>
            </a:r>
            <a:endParaRPr lang="en-GB" dirty="0"/>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check URL generated</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Tag helpers are also used for form creation:</a:t>
            </a:r>
          </a:p>
          <a:p>
            <a:pPr lvl="0"/>
            <a:r>
              <a:rPr lang="en-GB" sz="1200" b="1" kern="1200" dirty="0">
                <a:solidFill>
                  <a:schemeClr val="tx1"/>
                </a:solidFill>
                <a:effectLst/>
                <a:latin typeface="+mn-lt"/>
                <a:ea typeface="+mn-ea"/>
                <a:cs typeface="+mn-cs"/>
              </a:rPr>
              <a:t>form</a:t>
            </a:r>
            <a:r>
              <a:rPr lang="en-GB" sz="1200" kern="1200" dirty="0">
                <a:solidFill>
                  <a:schemeClr val="tx1"/>
                </a:solidFill>
                <a:effectLst/>
                <a:latin typeface="+mn-lt"/>
                <a:ea typeface="+mn-ea"/>
                <a:cs typeface="+mn-cs"/>
              </a:rPr>
              <a:t> tag helper – happens to have the same name as the HTML element</a:t>
            </a:r>
          </a:p>
          <a:p>
            <a:pPr lvl="0"/>
            <a:r>
              <a:rPr lang="en-GB" sz="1200" b="1" kern="1200" dirty="0">
                <a:solidFill>
                  <a:schemeClr val="tx1"/>
                </a:solidFill>
                <a:effectLst/>
                <a:latin typeface="+mn-lt"/>
                <a:ea typeface="+mn-ea"/>
                <a:cs typeface="+mn-cs"/>
              </a:rPr>
              <a:t>input</a:t>
            </a:r>
            <a:r>
              <a:rPr lang="en-GB" sz="1200" kern="1200" dirty="0">
                <a:solidFill>
                  <a:schemeClr val="tx1"/>
                </a:solidFill>
                <a:effectLst/>
                <a:latin typeface="+mn-lt"/>
                <a:ea typeface="+mn-ea"/>
                <a:cs typeface="+mn-cs"/>
              </a:rPr>
              <a:t> tag helper </a:t>
            </a:r>
          </a:p>
          <a:p>
            <a:pPr lvl="0"/>
            <a:r>
              <a:rPr lang="en-GB" sz="1200" b="1" kern="1200" dirty="0">
                <a:solidFill>
                  <a:schemeClr val="tx1"/>
                </a:solidFill>
                <a:effectLst/>
                <a:latin typeface="+mn-lt"/>
                <a:ea typeface="+mn-ea"/>
                <a:cs typeface="+mn-cs"/>
              </a:rPr>
              <a:t>label</a:t>
            </a:r>
            <a:r>
              <a:rPr lang="en-GB" sz="1200" kern="1200" dirty="0">
                <a:solidFill>
                  <a:schemeClr val="tx1"/>
                </a:solidFill>
                <a:effectLst/>
                <a:latin typeface="+mn-lt"/>
                <a:ea typeface="+mn-ea"/>
                <a:cs typeface="+mn-cs"/>
              </a:rPr>
              <a:t> tag helper</a:t>
            </a:r>
          </a:p>
          <a:p>
            <a:pPr lvl="0"/>
            <a:r>
              <a:rPr lang="en-GB" sz="1200" b="1" kern="1200" dirty="0" err="1">
                <a:solidFill>
                  <a:schemeClr val="tx1"/>
                </a:solidFill>
                <a:effectLst/>
                <a:latin typeface="+mn-lt"/>
                <a:ea typeface="+mn-ea"/>
                <a:cs typeface="+mn-cs"/>
              </a:rPr>
              <a:t>textarea</a:t>
            </a:r>
            <a:r>
              <a:rPr lang="en-GB" sz="1200" kern="1200" dirty="0">
                <a:solidFill>
                  <a:schemeClr val="tx1"/>
                </a:solidFill>
                <a:effectLst/>
                <a:latin typeface="+mn-lt"/>
                <a:ea typeface="+mn-ea"/>
                <a:cs typeface="+mn-cs"/>
              </a:rPr>
              <a:t> tag helper</a:t>
            </a:r>
          </a:p>
          <a:p>
            <a:pPr lvl="0"/>
            <a:r>
              <a:rPr lang="en-GB" sz="1200" b="1" kern="1200" dirty="0">
                <a:solidFill>
                  <a:schemeClr val="tx1"/>
                </a:solidFill>
                <a:effectLst/>
                <a:latin typeface="+mn-lt"/>
                <a:ea typeface="+mn-ea"/>
                <a:cs typeface="+mn-cs"/>
              </a:rPr>
              <a:t>select</a:t>
            </a:r>
            <a:r>
              <a:rPr lang="en-GB" sz="1200" kern="1200" dirty="0">
                <a:solidFill>
                  <a:schemeClr val="tx1"/>
                </a:solidFill>
                <a:effectLst/>
                <a:latin typeface="+mn-lt"/>
                <a:ea typeface="+mn-ea"/>
                <a:cs typeface="+mn-cs"/>
              </a:rPr>
              <a:t> tag </a:t>
            </a:r>
            <a:r>
              <a:rPr lang="en-GB" sz="1200" kern="1200" dirty="0" err="1">
                <a:solidFill>
                  <a:schemeClr val="tx1"/>
                </a:solidFill>
                <a:effectLst/>
                <a:latin typeface="+mn-lt"/>
                <a:ea typeface="+mn-ea"/>
                <a:cs typeface="+mn-cs"/>
              </a:rPr>
              <a:t>heler</a:t>
            </a:r>
            <a:endParaRPr lang="en-GB" sz="1200" kern="1200" dirty="0">
              <a:solidFill>
                <a:schemeClr val="tx1"/>
              </a:solidFill>
              <a:effectLst/>
              <a:latin typeface="+mn-lt"/>
              <a:ea typeface="+mn-ea"/>
              <a:cs typeface="+mn-cs"/>
            </a:endParaRPr>
          </a:p>
          <a:p>
            <a:pPr lvl="0"/>
            <a:r>
              <a:rPr lang="en-GB" sz="1200" b="1" kern="1200" dirty="0">
                <a:solidFill>
                  <a:schemeClr val="tx1"/>
                </a:solidFill>
                <a:effectLst/>
                <a:latin typeface="+mn-lt"/>
                <a:ea typeface="+mn-ea"/>
                <a:cs typeface="+mn-cs"/>
              </a:rPr>
              <a:t>validation</a:t>
            </a:r>
            <a:r>
              <a:rPr lang="en-GB" sz="1200" kern="1200" dirty="0">
                <a:solidFill>
                  <a:schemeClr val="tx1"/>
                </a:solidFill>
                <a:effectLst/>
                <a:latin typeface="+mn-lt"/>
                <a:ea typeface="+mn-ea"/>
                <a:cs typeface="+mn-cs"/>
              </a:rPr>
              <a:t> tag helpers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Examples: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form asp-controller</a:t>
            </a:r>
            <a:r>
              <a:rPr lang="en-GB" sz="1200" b="0" kern="1200" dirty="0">
                <a:solidFill>
                  <a:schemeClr val="tx1"/>
                </a:solidFill>
                <a:effectLst/>
                <a:latin typeface="+mn-lt"/>
                <a:ea typeface="+mn-ea"/>
                <a:cs typeface="+mn-cs"/>
              </a:rPr>
              <a:t>=“Home”</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asp-action</a:t>
            </a:r>
            <a:r>
              <a:rPr lang="en-GB" sz="1200" kern="1200" dirty="0">
                <a:solidFill>
                  <a:schemeClr val="tx1"/>
                </a:solidFill>
                <a:effectLst/>
                <a:latin typeface="+mn-lt"/>
                <a:ea typeface="+mn-ea"/>
                <a:cs typeface="+mn-cs"/>
              </a:rPr>
              <a:t>="Index" method="post" role="form"&gt;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form</a:t>
            </a:r>
            <a:r>
              <a:rPr lang="en-GB" sz="1200" kern="1200" dirty="0">
                <a:solidFill>
                  <a:schemeClr val="tx1"/>
                </a:solidFill>
                <a:effectLst/>
                <a:latin typeface="+mn-lt"/>
                <a:ea typeface="+mn-ea"/>
                <a:cs typeface="+mn-cs"/>
              </a:rPr>
              <a:t>&gt;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…results in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form</a:t>
            </a:r>
            <a:r>
              <a:rPr lang="en-GB" sz="1200" kern="1200" dirty="0">
                <a:solidFill>
                  <a:schemeClr val="tx1"/>
                </a:solidFill>
                <a:effectLst/>
                <a:latin typeface="+mn-lt"/>
                <a:ea typeface="+mn-ea"/>
                <a:cs typeface="+mn-cs"/>
              </a:rPr>
              <a:t> action="/Home/Index" method="post" role="form"&gt;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form</a:t>
            </a:r>
            <a:r>
              <a:rPr lang="en-GB" sz="1200" kern="1200" dirty="0">
                <a:solidFill>
                  <a:schemeClr val="tx1"/>
                </a:solidFill>
                <a:effectLst/>
                <a:latin typeface="+mn-lt"/>
                <a:ea typeface="+mn-ea"/>
                <a:cs typeface="+mn-cs"/>
              </a:rPr>
              <a:t>&gt;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label</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asp-for</a:t>
            </a:r>
            <a:r>
              <a:rPr lang="en-GB" sz="1200" kern="1200" dirty="0">
                <a:solidFill>
                  <a:schemeClr val="tx1"/>
                </a:solidFill>
                <a:effectLst/>
                <a:latin typeface="+mn-lt"/>
                <a:ea typeface="+mn-ea"/>
                <a:cs typeface="+mn-cs"/>
              </a:rPr>
              <a:t>="Name"&gt; //name is the model attribute used in the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label</a:t>
            </a:r>
            <a:r>
              <a:rPr lang="en-GB" sz="1200" kern="1200" dirty="0">
                <a:solidFill>
                  <a:schemeClr val="tx1"/>
                </a:solidFill>
                <a:effectLst/>
                <a:latin typeface="+mn-lt"/>
                <a:ea typeface="+mn-ea"/>
                <a:cs typeface="+mn-cs"/>
              </a:rPr>
              <a:t>&gt;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results in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label</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for</a:t>
            </a:r>
            <a:r>
              <a:rPr lang="en-GB" sz="1200" kern="1200" dirty="0">
                <a:solidFill>
                  <a:schemeClr val="tx1"/>
                </a:solidFill>
                <a:effectLst/>
                <a:latin typeface="+mn-lt"/>
                <a:ea typeface="+mn-ea"/>
                <a:cs typeface="+mn-cs"/>
              </a:rPr>
              <a:t>="Name"&gt; </a:t>
            </a:r>
          </a:p>
          <a:p>
            <a:r>
              <a:rPr lang="en-GB" sz="1200" kern="1200" dirty="0">
                <a:solidFill>
                  <a:schemeClr val="tx1"/>
                </a:solidFill>
                <a:effectLst/>
                <a:latin typeface="+mn-lt"/>
                <a:ea typeface="+mn-ea"/>
                <a:cs typeface="+mn-cs"/>
              </a:rPr>
              <a:t>    Name</a:t>
            </a:r>
          </a:p>
          <a:p>
            <a:r>
              <a:rPr lang="en-GB" sz="1200" kern="1200" dirty="0">
                <a:solidFill>
                  <a:schemeClr val="tx1"/>
                </a:solidFill>
                <a:effectLst/>
                <a:latin typeface="+mn-lt"/>
                <a:ea typeface="+mn-ea"/>
                <a:cs typeface="+mn-cs"/>
              </a:rPr>
              <a:t>&lt;/</a:t>
            </a:r>
            <a:r>
              <a:rPr lang="en-GB" sz="1200" b="1" kern="1200" dirty="0">
                <a:solidFill>
                  <a:schemeClr val="tx1"/>
                </a:solidFill>
                <a:effectLst/>
                <a:latin typeface="+mn-lt"/>
                <a:ea typeface="+mn-ea"/>
                <a:cs typeface="+mn-cs"/>
              </a:rPr>
              <a:t>label</a:t>
            </a:r>
            <a:r>
              <a:rPr lang="en-GB" sz="1200" kern="1200" dirty="0">
                <a:solidFill>
                  <a:schemeClr val="tx1"/>
                </a:solidFill>
                <a:effectLst/>
                <a:latin typeface="+mn-lt"/>
                <a:ea typeface="+mn-ea"/>
                <a:cs typeface="+mn-cs"/>
              </a:rPr>
              <a:t>&gt;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More details here: </a:t>
            </a:r>
            <a:r>
              <a:rPr lang="en-GB" dirty="0">
                <a:hlinkClick r:id="rId3"/>
              </a:rPr>
              <a:t>https://docs.microsoft.com/en-us/aspnet/core/mvc/views/tag-helpers/intro?view=aspnetcore-3.1</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0071FBE-0E7E-4EDA-BB24-DCCD5507545A}" type="slidenum">
              <a:rPr lang="en-GB" smtClean="0"/>
              <a:t>30</a:t>
            </a:fld>
            <a:endParaRPr lang="en-GB"/>
          </a:p>
        </p:txBody>
      </p:sp>
    </p:spTree>
    <p:extLst>
      <p:ext uri="{BB962C8B-B14F-4D97-AF65-F5344CB8AC3E}">
        <p14:creationId xmlns:p14="http://schemas.microsoft.com/office/powerpoint/2010/main" val="15857666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a framework, MVC offers powerful model validation technologies, for both back and front end. The central premise here, is the view model.</a:t>
            </a:r>
          </a:p>
          <a:p>
            <a:endParaRPr lang="en-GB" dirty="0"/>
          </a:p>
          <a:p>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Core model binding engine can check whether values meet the requirement of the model object.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have </a:t>
            </a:r>
            <a:r>
              <a:rPr lang="en-GB" sz="1200" kern="1200" dirty="0" err="1">
                <a:solidFill>
                  <a:schemeClr val="tx1"/>
                </a:solidFill>
                <a:effectLst/>
                <a:latin typeface="+mn-lt"/>
                <a:ea typeface="+mn-ea"/>
                <a:cs typeface="+mn-cs"/>
              </a:rPr>
              <a:t>ModelState</a:t>
            </a:r>
            <a:r>
              <a:rPr lang="en-GB" sz="1200" kern="1200" dirty="0">
                <a:solidFill>
                  <a:schemeClr val="tx1"/>
                </a:solidFill>
                <a:effectLst/>
                <a:latin typeface="+mn-lt"/>
                <a:ea typeface="+mn-ea"/>
                <a:cs typeface="+mn-cs"/>
              </a:rPr>
              <a:t> at our disposal, where we can use the </a:t>
            </a:r>
            <a:r>
              <a:rPr lang="en-GB" sz="1200" kern="1200" dirty="0" err="1">
                <a:solidFill>
                  <a:schemeClr val="tx1"/>
                </a:solidFill>
                <a:effectLst/>
                <a:latin typeface="+mn-lt"/>
                <a:ea typeface="+mn-ea"/>
                <a:cs typeface="+mn-cs"/>
              </a:rPr>
              <a:t>IsValid</a:t>
            </a:r>
            <a:r>
              <a:rPr lang="en-GB" sz="1200" kern="1200" dirty="0">
                <a:solidFill>
                  <a:schemeClr val="tx1"/>
                </a:solidFill>
                <a:effectLst/>
                <a:latin typeface="+mn-lt"/>
                <a:ea typeface="+mn-ea"/>
                <a:cs typeface="+mn-cs"/>
              </a:rPr>
              <a:t> property, which returns true if object has no validation errors. </a:t>
            </a:r>
          </a:p>
          <a:p>
            <a:r>
              <a:rPr lang="en-GB" sz="1200" kern="1200" dirty="0">
                <a:solidFill>
                  <a:schemeClr val="tx1"/>
                </a:solidFill>
                <a:effectLst/>
                <a:latin typeface="+mn-lt"/>
                <a:ea typeface="+mn-ea"/>
                <a:cs typeface="+mn-cs"/>
              </a:rPr>
              <a:t>Through this check, we can then decide whether to store the model and return the user to a different location or to simply return the user to the same view and show error messages.</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Validation Attributes</a:t>
            </a:r>
          </a:p>
          <a:p>
            <a:r>
              <a:rPr lang="en-GB" sz="1200" kern="1200" dirty="0">
                <a:solidFill>
                  <a:schemeClr val="tx1"/>
                </a:solidFill>
                <a:effectLst/>
                <a:latin typeface="+mn-lt"/>
                <a:ea typeface="+mn-ea"/>
                <a:cs typeface="+mn-cs"/>
              </a:rPr>
              <a:t> </a:t>
            </a:r>
          </a:p>
          <a:p>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Core MVC will do some validation automatically (e.g. type of data. Is parameter “Title” a string as expected in the model?). </a:t>
            </a:r>
          </a:p>
          <a:p>
            <a:r>
              <a:rPr lang="en-GB" sz="1200" kern="1200" dirty="0">
                <a:solidFill>
                  <a:schemeClr val="tx1"/>
                </a:solidFill>
                <a:effectLst/>
                <a:latin typeface="+mn-lt"/>
                <a:ea typeface="+mn-ea"/>
                <a:cs typeface="+mn-cs"/>
              </a:rPr>
              <a:t>However, most applications require more complex validation.</a:t>
            </a: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0071FBE-0E7E-4EDA-BB24-DCCD5507545A}" type="slidenum">
              <a:rPr lang="en-GB" smtClean="0"/>
              <a:t>31</a:t>
            </a:fld>
            <a:endParaRPr lang="en-GB"/>
          </a:p>
        </p:txBody>
      </p:sp>
    </p:spTree>
    <p:extLst>
      <p:ext uri="{BB962C8B-B14F-4D97-AF65-F5344CB8AC3E}">
        <p14:creationId xmlns:p14="http://schemas.microsoft.com/office/powerpoint/2010/main" val="208780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Core come with a number of attributes that we can use in our View Models (see table).</a:t>
            </a:r>
          </a:p>
          <a:p>
            <a:pPr marL="228600" indent="-228600">
              <a:buAutoNum type="arabicParenR"/>
            </a:pPr>
            <a:endParaRPr lang="en-GB" dirty="0"/>
          </a:p>
          <a:p>
            <a:pPr marL="228600" indent="-228600">
              <a:buAutoNum type="arabicParenR"/>
            </a:pPr>
            <a:r>
              <a:rPr lang="en-GB" dirty="0" err="1"/>
              <a:t>ViewModels</a:t>
            </a:r>
            <a:r>
              <a:rPr lang="en-GB" dirty="0"/>
              <a:t> must be specified, including validation attributes (e.g. [Required], [</a:t>
            </a:r>
            <a:r>
              <a:rPr lang="en-GB" dirty="0" err="1"/>
              <a:t>StringLength</a:t>
            </a:r>
            <a:r>
              <a:rPr lang="en-GB" dirty="0"/>
              <a:t>(100)], [</a:t>
            </a:r>
            <a:r>
              <a:rPr lang="en-GB" dirty="0" err="1"/>
              <a:t>DataType</a:t>
            </a:r>
            <a:r>
              <a:rPr lang="en-GB" dirty="0"/>
              <a:t>(</a:t>
            </a:r>
            <a:r>
              <a:rPr lang="en-GB" dirty="0" err="1"/>
              <a:t>DataType.Date</a:t>
            </a:r>
            <a:r>
              <a:rPr lang="en-GB" dirty="0"/>
              <a:t>)], </a:t>
            </a:r>
            <a:r>
              <a:rPr lang="en-GB" sz="1200" b="0" i="0" kern="1200" dirty="0">
                <a:solidFill>
                  <a:schemeClr val="tx1"/>
                </a:solidFill>
                <a:effectLst/>
                <a:latin typeface="+mn-lt"/>
                <a:ea typeface="+mn-ea"/>
                <a:cs typeface="+mn-cs"/>
              </a:rPr>
              <a:t>[Range(0, 999.99)], [</a:t>
            </a:r>
            <a:r>
              <a:rPr lang="en-GB" sz="1200" b="0" i="0" kern="1200" dirty="0" err="1">
                <a:solidFill>
                  <a:schemeClr val="tx1"/>
                </a:solidFill>
                <a:effectLst/>
                <a:latin typeface="+mn-lt"/>
                <a:ea typeface="+mn-ea"/>
                <a:cs typeface="+mn-cs"/>
              </a:rPr>
              <a:t>CreditCard</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EmailAddress</a:t>
            </a:r>
            <a:r>
              <a:rPr lang="en-GB" sz="1200" b="0" i="0" kern="1200" dirty="0">
                <a:solidFill>
                  <a:schemeClr val="tx1"/>
                </a:solidFill>
                <a:effectLst/>
                <a:latin typeface="+mn-lt"/>
                <a:ea typeface="+mn-ea"/>
                <a:cs typeface="+mn-cs"/>
              </a:rPr>
              <a:t>], [Phone], [</a:t>
            </a:r>
            <a:r>
              <a:rPr lang="en-GB" sz="1200" b="0" i="0" kern="1200" dirty="0" err="1">
                <a:solidFill>
                  <a:schemeClr val="tx1"/>
                </a:solidFill>
                <a:effectLst/>
                <a:latin typeface="+mn-lt"/>
                <a:ea typeface="+mn-ea"/>
                <a:cs typeface="+mn-cs"/>
              </a:rPr>
              <a:t>Url</a:t>
            </a:r>
            <a:r>
              <a:rPr lang="en-GB" sz="1200" b="0" i="0" kern="1200" dirty="0">
                <a:solidFill>
                  <a:schemeClr val="tx1"/>
                </a:solidFill>
                <a:effectLst/>
                <a:latin typeface="+mn-lt"/>
                <a:ea typeface="+mn-ea"/>
                <a:cs typeface="+mn-cs"/>
              </a:rPr>
              <a:t>], </a:t>
            </a:r>
            <a:endParaRPr lang="en-GB" dirty="0"/>
          </a:p>
          <a:p>
            <a:pPr marL="228600" indent="-228600">
              <a:buAutoNum type="arabicParenR"/>
            </a:pPr>
            <a:r>
              <a:rPr lang="en-GB" dirty="0"/>
              <a:t>When receiving actions are bound to such models, you can then check the model state, which contains any validation errors in submitted HTML forms (by default, MVC keeps checking for up to 200 errors, but this can be modified)</a:t>
            </a:r>
          </a:p>
          <a:p>
            <a:r>
              <a:rPr lang="en-GB" sz="1200" b="0" i="0" kern="1200" dirty="0">
                <a:solidFill>
                  <a:schemeClr val="tx1"/>
                </a:solidFill>
                <a:effectLst/>
                <a:latin typeface="+mn-lt"/>
                <a:ea typeface="+mn-ea"/>
                <a:cs typeface="+mn-cs"/>
              </a:rPr>
              <a:t>3)   Model validation occurs prior to each controller action being invoked, but it’s the action method's responsibility to inspect </a:t>
            </a:r>
            <a:r>
              <a:rPr lang="en-GB" sz="1200" b="0" i="0" kern="1200" dirty="0" err="1">
                <a:solidFill>
                  <a:schemeClr val="tx1"/>
                </a:solidFill>
                <a:effectLst/>
                <a:latin typeface="+mn-lt"/>
                <a:ea typeface="+mn-ea"/>
                <a:cs typeface="+mn-cs"/>
              </a:rPr>
              <a:t>ModelState.IsValid</a:t>
            </a:r>
            <a:r>
              <a:rPr lang="en-GB" sz="1200" b="0" i="0" kern="1200" dirty="0">
                <a:solidFill>
                  <a:schemeClr val="tx1"/>
                </a:solidFill>
                <a:effectLst/>
                <a:latin typeface="+mn-lt"/>
                <a:ea typeface="+mn-ea"/>
                <a:cs typeface="+mn-cs"/>
              </a:rPr>
              <a:t> and react appropriately. </a:t>
            </a:r>
          </a:p>
          <a:p>
            <a:r>
              <a:rPr lang="en-GB" sz="1200" b="0" i="0" kern="1200" dirty="0">
                <a:solidFill>
                  <a:schemeClr val="tx1"/>
                </a:solidFill>
                <a:effectLst/>
                <a:latin typeface="+mn-lt"/>
                <a:ea typeface="+mn-ea"/>
                <a:cs typeface="+mn-cs"/>
              </a:rPr>
              <a:t>4)   In many cases, the appropriate reaction is to return an error response, ideally detailing the reason why model validation failed.</a:t>
            </a:r>
          </a:p>
          <a:p>
            <a:pPr marL="228600" indent="-228600">
              <a:buAutoNum type="arabicParenR" startAt="5"/>
            </a:pPr>
            <a:r>
              <a:rPr lang="en-GB" sz="1200" b="0" i="0" kern="1200" dirty="0">
                <a:solidFill>
                  <a:schemeClr val="tx1"/>
                </a:solidFill>
                <a:effectLst/>
                <a:latin typeface="+mn-lt"/>
                <a:ea typeface="+mn-ea"/>
                <a:cs typeface="+mn-cs"/>
              </a:rPr>
              <a:t>Further manual validations may be fired up using </a:t>
            </a:r>
            <a:r>
              <a:rPr lang="en-GB" sz="1200" b="0" i="0" kern="1200" dirty="0" err="1">
                <a:solidFill>
                  <a:schemeClr val="tx1"/>
                </a:solidFill>
                <a:effectLst/>
                <a:latin typeface="+mn-lt"/>
                <a:ea typeface="+mn-ea"/>
                <a:cs typeface="+mn-cs"/>
              </a:rPr>
              <a:t>TryValidateModel</a:t>
            </a:r>
            <a:r>
              <a:rPr lang="en-GB" sz="1200" b="0" i="0" kern="1200" dirty="0">
                <a:solidFill>
                  <a:schemeClr val="tx1"/>
                </a:solidFill>
                <a:effectLst/>
                <a:latin typeface="+mn-lt"/>
                <a:ea typeface="+mn-ea"/>
                <a:cs typeface="+mn-cs"/>
              </a:rPr>
              <a:t>(model);</a:t>
            </a:r>
          </a:p>
          <a:p>
            <a:pPr marL="228600" indent="-228600">
              <a:buAutoNum type="arabicParenR" startAt="5"/>
            </a:pPr>
            <a:r>
              <a:rPr lang="en-GB" sz="1200" b="0" i="0" kern="1200" dirty="0">
                <a:solidFill>
                  <a:schemeClr val="tx1"/>
                </a:solidFill>
                <a:effectLst/>
                <a:latin typeface="+mn-lt"/>
                <a:ea typeface="+mn-ea"/>
                <a:cs typeface="+mn-cs"/>
              </a:rPr>
              <a:t>Custom validation attributes can be created as well (e.g. [Postgraduate(“</a:t>
            </a:r>
            <a:r>
              <a:rPr lang="en-GB" sz="1200" b="0" i="0" kern="1200" dirty="0" err="1">
                <a:solidFill>
                  <a:schemeClr val="tx1"/>
                </a:solidFill>
                <a:effectLst/>
                <a:latin typeface="+mn-lt"/>
                <a:ea typeface="+mn-ea"/>
                <a:cs typeface="+mn-cs"/>
              </a:rPr>
              <a:t>MSc”,”MA</a:t>
            </a:r>
            <a:r>
              <a:rPr lang="en-GB" sz="1200" b="0" i="0" kern="1200" dirty="0">
                <a:solidFill>
                  <a:schemeClr val="tx1"/>
                </a:solidFill>
                <a:effectLst/>
                <a:latin typeface="+mn-lt"/>
                <a:ea typeface="+mn-ea"/>
                <a:cs typeface="+mn-cs"/>
              </a:rPr>
              <a:t>”] – which then goes about checking that if the course selected is MSc or MA, the student type must be Postgraduate (another attribute in the model). Alternatively, instead of implementing an Attribute class (public class </a:t>
            </a:r>
            <a:r>
              <a:rPr lang="en-GB" sz="1200" b="0" i="0" kern="1200" dirty="0" err="1">
                <a:solidFill>
                  <a:schemeClr val="tx1"/>
                </a:solidFill>
                <a:effectLst/>
                <a:latin typeface="+mn-lt"/>
                <a:ea typeface="+mn-ea"/>
                <a:cs typeface="+mn-cs"/>
              </a:rPr>
              <a:t>PostgraduateAttribute</a:t>
            </a:r>
            <a:r>
              <a:rPr lang="en-GB" sz="1200" b="0" i="0" kern="1200" dirty="0">
                <a:solidFill>
                  <a:schemeClr val="tx1"/>
                </a:solidFill>
                <a:effectLst/>
                <a:latin typeface="+mn-lt"/>
                <a:ea typeface="+mn-ea"/>
                <a:cs typeface="+mn-cs"/>
              </a:rPr>
              <a:t> : </a:t>
            </a:r>
            <a:r>
              <a:rPr lang="en-GB" sz="1200" b="0" i="0" kern="1200" dirty="0" err="1">
                <a:solidFill>
                  <a:schemeClr val="tx1"/>
                </a:solidFill>
                <a:effectLst/>
                <a:latin typeface="+mn-lt"/>
                <a:ea typeface="+mn-ea"/>
                <a:cs typeface="+mn-cs"/>
              </a:rPr>
              <a:t>ValidationAttribute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IClientModelValidator</a:t>
            </a:r>
            <a:r>
              <a:rPr lang="en-GB" sz="1200" b="0" i="0" kern="1200" dirty="0">
                <a:solidFill>
                  <a:schemeClr val="tx1"/>
                </a:solidFill>
                <a:effectLst/>
                <a:latin typeface="+mn-lt"/>
                <a:ea typeface="+mn-ea"/>
                <a:cs typeface="+mn-cs"/>
              </a:rPr>
              <a:t>), one can use the Validate() method in the model class itself.</a:t>
            </a:r>
          </a:p>
          <a:p>
            <a:pPr marL="228600" indent="-228600">
              <a:buAutoNum type="arabicParenR" startAt="5"/>
            </a:pPr>
            <a:r>
              <a:rPr lang="en-GB" sz="1200" b="0" i="0" kern="1200" dirty="0">
                <a:solidFill>
                  <a:schemeClr val="tx1"/>
                </a:solidFill>
                <a:effectLst/>
                <a:latin typeface="+mn-lt"/>
                <a:ea typeface="+mn-ea"/>
                <a:cs typeface="+mn-cs"/>
              </a:rPr>
              <a:t>Client-side validation is also possible. Immediate client-side validation improves the experience while allows for less processing on the server side (imagine Facebook having to validate every request at the server-side all the time).</a:t>
            </a:r>
          </a:p>
          <a:p>
            <a:pPr marL="228600" lvl="0" indent="-228600">
              <a:buAutoNum type="arabicParenR" startAt="5"/>
            </a:pPr>
            <a:r>
              <a:rPr lang="en-GB" sz="1200" b="0" i="0" kern="1200" dirty="0">
                <a:solidFill>
                  <a:schemeClr val="tx1"/>
                </a:solidFill>
                <a:effectLst/>
                <a:latin typeface="+mn-lt"/>
                <a:ea typeface="+mn-ea"/>
                <a:cs typeface="+mn-cs"/>
              </a:rPr>
              <a:t>The jQuery Unobtrusive Validation script is a custom Microsoft front-end library that builds on the popular jQuery Validate plugin. Without jQuery Unobtrusive Validation, you would have to code the same validation logic in two places: once in the server side validation attributes on model properties, and then again in client side scripts. MVC's HTML helpers are able to use the validation attributes and type metadata from model properties to render HTML 5 data- attributes in the form elements that need validation. MVC generates the data- attributes for both built-in and custom attributes. jQuery Unobtrusive Validation then parses these data- attributes and passes the logic to jQuery Validate, effectively "copying" the server side validation logic to the client. You can display validation errors on the client using the relevant tag helpers. Client-side validation prevents submission until the form is valid. The Submit button runs JavaScript that either submits the form or displays error messages. MVC determines type attribute values based on the .NET data type of a property, possibly overridden using [</a:t>
            </a:r>
            <a:r>
              <a:rPr lang="en-GB" sz="1200" b="0" i="0" kern="1200" dirty="0" err="1">
                <a:solidFill>
                  <a:schemeClr val="tx1"/>
                </a:solidFill>
                <a:effectLst/>
                <a:latin typeface="+mn-lt"/>
                <a:ea typeface="+mn-ea"/>
                <a:cs typeface="+mn-cs"/>
              </a:rPr>
              <a:t>DataType</a:t>
            </a:r>
            <a:r>
              <a:rPr lang="en-GB" sz="1200" b="0" i="0" kern="1200" dirty="0">
                <a:solidFill>
                  <a:schemeClr val="tx1"/>
                </a:solidFill>
                <a:effectLst/>
                <a:latin typeface="+mn-lt"/>
                <a:ea typeface="+mn-ea"/>
                <a:cs typeface="+mn-cs"/>
              </a:rPr>
              <a:t>] attributes.</a:t>
            </a:r>
            <a:endParaRPr lang="en-GB" dirty="0"/>
          </a:p>
          <a:p>
            <a:endParaRPr lang="en-GB" dirty="0"/>
          </a:p>
          <a:p>
            <a:endParaRPr lang="en-GB" dirty="0"/>
          </a:p>
          <a:p>
            <a:r>
              <a:rPr lang="en-GB" dirty="0"/>
              <a:t>More details here: </a:t>
            </a:r>
            <a:r>
              <a:rPr lang="en-GB" dirty="0">
                <a:hlinkClick r:id="rId3"/>
              </a:rPr>
              <a:t>https://docs.microsoft.com/en-us/aspnet/core/mvc/models/validation?view=aspnetcore-3.1</a:t>
            </a:r>
            <a:endParaRPr lang="en-GB" dirty="0"/>
          </a:p>
        </p:txBody>
      </p:sp>
      <p:sp>
        <p:nvSpPr>
          <p:cNvPr id="4" name="Slide Number Placeholder 3"/>
          <p:cNvSpPr>
            <a:spLocks noGrp="1"/>
          </p:cNvSpPr>
          <p:nvPr>
            <p:ph type="sldNum" sz="quarter" idx="5"/>
          </p:nvPr>
        </p:nvSpPr>
        <p:spPr/>
        <p:txBody>
          <a:bodyPr/>
          <a:lstStyle/>
          <a:p>
            <a:fld id="{90071FBE-0E7E-4EDA-BB24-DCCD5507545A}" type="slidenum">
              <a:rPr lang="en-GB" smtClean="0"/>
              <a:t>32</a:t>
            </a:fld>
            <a:endParaRPr lang="en-GB"/>
          </a:p>
        </p:txBody>
      </p:sp>
    </p:spTree>
    <p:extLst>
      <p:ext uri="{BB962C8B-B14F-4D97-AF65-F5344CB8AC3E}">
        <p14:creationId xmlns:p14="http://schemas.microsoft.com/office/powerpoint/2010/main" val="3940868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Core Identity Framework is a membership system built into </a:t>
            </a:r>
            <a:r>
              <a:rPr lang="en-GB" sz="1200" kern="1200" dirty="0" err="1">
                <a:solidFill>
                  <a:schemeClr val="tx1"/>
                </a:solidFill>
                <a:effectLst/>
                <a:latin typeface="+mn-lt"/>
                <a:ea typeface="+mn-ea"/>
                <a:cs typeface="+mn-cs"/>
              </a:rPr>
              <a:t>ASP.Net</a:t>
            </a:r>
            <a:r>
              <a:rPr lang="en-GB" sz="1200" kern="1200" dirty="0">
                <a:solidFill>
                  <a:schemeClr val="tx1"/>
                </a:solidFill>
                <a:effectLst/>
                <a:latin typeface="+mn-lt"/>
                <a:ea typeface="+mn-ea"/>
                <a:cs typeface="+mn-cs"/>
              </a:rPr>
              <a:t> Core</a:t>
            </a:r>
          </a:p>
          <a:p>
            <a:r>
              <a:rPr lang="en-GB" sz="1200" kern="1200" dirty="0">
                <a:solidFill>
                  <a:schemeClr val="tx1"/>
                </a:solidFill>
                <a:effectLst/>
                <a:latin typeface="+mn-lt"/>
                <a:ea typeface="+mn-ea"/>
                <a:cs typeface="+mn-cs"/>
              </a:rPr>
              <a:t>We can </a:t>
            </a:r>
            <a:r>
              <a:rPr lang="en-GB" sz="1200" b="1" kern="1200" dirty="0">
                <a:solidFill>
                  <a:schemeClr val="tx1"/>
                </a:solidFill>
                <a:effectLst/>
                <a:latin typeface="+mn-lt"/>
                <a:ea typeface="+mn-ea"/>
                <a:cs typeface="+mn-cs"/>
              </a:rPr>
              <a:t>authenticate</a:t>
            </a:r>
            <a:r>
              <a:rPr lang="en-GB" sz="1200" kern="1200" dirty="0">
                <a:solidFill>
                  <a:schemeClr val="tx1"/>
                </a:solidFill>
                <a:effectLst/>
                <a:latin typeface="+mn-lt"/>
                <a:ea typeface="+mn-ea"/>
                <a:cs typeface="+mn-cs"/>
              </a:rPr>
              <a:t> and </a:t>
            </a:r>
            <a:r>
              <a:rPr lang="en-GB" sz="1200" b="1" kern="1200" dirty="0">
                <a:solidFill>
                  <a:schemeClr val="tx1"/>
                </a:solidFill>
                <a:effectLst/>
                <a:latin typeface="+mn-lt"/>
                <a:ea typeface="+mn-ea"/>
                <a:cs typeface="+mn-cs"/>
              </a:rPr>
              <a:t>authorize</a:t>
            </a:r>
            <a:r>
              <a:rPr lang="en-GB" sz="1200" kern="1200" dirty="0">
                <a:solidFill>
                  <a:schemeClr val="tx1"/>
                </a:solidFill>
                <a:effectLst/>
                <a:latin typeface="+mn-lt"/>
                <a:ea typeface="+mn-ea"/>
                <a:cs typeface="+mn-cs"/>
              </a:rPr>
              <a:t> users (e.g. roles, claims)</a:t>
            </a:r>
          </a:p>
          <a:p>
            <a:r>
              <a:rPr lang="en-GB" sz="1200" kern="1200" dirty="0">
                <a:solidFill>
                  <a:schemeClr val="tx1"/>
                </a:solidFill>
                <a:effectLst/>
                <a:latin typeface="+mn-lt"/>
                <a:ea typeface="+mn-ea"/>
                <a:cs typeface="+mn-cs"/>
              </a:rPr>
              <a:t>It also supports external providers</a:t>
            </a:r>
          </a:p>
          <a:p>
            <a:r>
              <a:rPr lang="en-GB" sz="1200" kern="1200" dirty="0">
                <a:solidFill>
                  <a:schemeClr val="tx1"/>
                </a:solidFill>
                <a:effectLst/>
                <a:latin typeface="+mn-lt"/>
                <a:ea typeface="+mn-ea"/>
                <a:cs typeface="+mn-cs"/>
              </a:rPr>
              <a:t>SQL Server is supported out of the box, but can also work with other data storage technology</a:t>
            </a:r>
          </a:p>
          <a:p>
            <a:endParaRPr lang="en-GB" dirty="0"/>
          </a:p>
          <a:p>
            <a:r>
              <a:rPr lang="en-GB" dirty="0"/>
              <a:t>Goals of </a:t>
            </a:r>
            <a:r>
              <a:rPr lang="en-GB" dirty="0" err="1"/>
              <a:t>ASP.Net</a:t>
            </a:r>
            <a:r>
              <a:rPr lang="en-GB" dirty="0"/>
              <a:t> Identity</a:t>
            </a:r>
          </a:p>
          <a:p>
            <a:pPr lvl="1"/>
            <a:r>
              <a:rPr lang="en-GB" dirty="0"/>
              <a:t>One identity system for everything </a:t>
            </a:r>
            <a:r>
              <a:rPr lang="en-GB" dirty="0" err="1"/>
              <a:t>.Net</a:t>
            </a:r>
            <a:r>
              <a:rPr lang="en-GB" dirty="0"/>
              <a:t> (incl. MVC, WebForms, </a:t>
            </a:r>
            <a:r>
              <a:rPr lang="en-GB" dirty="0" err="1"/>
              <a:t>WebPages</a:t>
            </a:r>
            <a:r>
              <a:rPr lang="en-GB" dirty="0"/>
              <a:t>, </a:t>
            </a:r>
            <a:r>
              <a:rPr lang="en-GB" dirty="0" err="1"/>
              <a:t>WebAPI</a:t>
            </a:r>
            <a:r>
              <a:rPr lang="en-GB" dirty="0"/>
              <a:t>, </a:t>
            </a:r>
            <a:r>
              <a:rPr lang="en-GB" dirty="0" err="1"/>
              <a:t>SignalR</a:t>
            </a:r>
            <a:r>
              <a:rPr lang="en-GB" dirty="0"/>
              <a:t>, Phone,  Store apps…)</a:t>
            </a:r>
          </a:p>
          <a:p>
            <a:pPr lvl="1"/>
            <a:r>
              <a:rPr lang="en-GB" dirty="0"/>
              <a:t>Gives you control over the schema – i.e. user and profile information held in the data store (e.g. add/mod fields about users)</a:t>
            </a:r>
          </a:p>
          <a:p>
            <a:pPr lvl="1"/>
            <a:r>
              <a:rPr lang="en-GB" dirty="0"/>
              <a:t>Gives you control as to where to store user information and how</a:t>
            </a:r>
          </a:p>
          <a:p>
            <a:pPr lvl="2"/>
            <a:r>
              <a:rPr lang="en-GB" dirty="0"/>
              <a:t>Default uses DB (via EF), however other storage can be Azure Tables, NoSQL etc…</a:t>
            </a:r>
          </a:p>
          <a:p>
            <a:pPr lvl="1"/>
            <a:r>
              <a:rPr lang="en-GB" dirty="0"/>
              <a:t>Role provider and claim based access</a:t>
            </a:r>
          </a:p>
          <a:p>
            <a:pPr lvl="2"/>
            <a:r>
              <a:rPr lang="en-GB" dirty="0"/>
              <a:t>Role providers restrict access by roles (which is a </a:t>
            </a:r>
            <a:r>
              <a:rPr lang="en-GB" dirty="0" err="1"/>
              <a:t>boolean</a:t>
            </a:r>
            <a:r>
              <a:rPr lang="en-GB" dirty="0"/>
              <a:t> method – is user a member of Role X?). </a:t>
            </a:r>
          </a:p>
          <a:p>
            <a:pPr lvl="2"/>
            <a:r>
              <a:rPr lang="en-GB" dirty="0"/>
              <a:t>Claims can include richer information about identities</a:t>
            </a:r>
          </a:p>
          <a:p>
            <a:pPr lvl="1"/>
            <a:r>
              <a:rPr lang="en-GB" dirty="0"/>
              <a:t>Social logins (FB, Twitter, G+,…)</a:t>
            </a:r>
          </a:p>
          <a:p>
            <a:endParaRPr lang="en-GB" dirty="0"/>
          </a:p>
          <a:p>
            <a:r>
              <a:rPr lang="en-GB" dirty="0"/>
              <a:t>Various options exist in </a:t>
            </a:r>
            <a:r>
              <a:rPr lang="en-GB" dirty="0" err="1"/>
              <a:t>ASP.Net</a:t>
            </a:r>
            <a:r>
              <a:rPr lang="en-GB" dirty="0"/>
              <a:t> MVC</a:t>
            </a:r>
          </a:p>
          <a:p>
            <a:pPr marL="171450" indent="-171450">
              <a:buFontTx/>
              <a:buChar char="-"/>
            </a:pPr>
            <a:r>
              <a:rPr lang="en-GB" dirty="0"/>
              <a:t>No Authentication: anonymous access to all</a:t>
            </a:r>
          </a:p>
          <a:p>
            <a:pPr marL="171450" indent="-171450">
              <a:buFontTx/>
              <a:buChar char="-"/>
            </a:pPr>
            <a:r>
              <a:rPr lang="en-GB" dirty="0"/>
              <a:t>Individual User Account: traditional forms based authentication (store credentials in database, with hashed passwords). Apart from local logins, one can allow third party logins, without storing any passwords locally.</a:t>
            </a:r>
          </a:p>
          <a:p>
            <a:pPr marL="171450" indent="-171450">
              <a:buFontTx/>
              <a:buChar char="-"/>
            </a:pPr>
            <a:r>
              <a:rPr lang="en-GB" dirty="0"/>
              <a:t>Organizational accounts: based on active directory federation services (Office 365, Windows Azure AD). Allows for SSO when multiple apps are involved. Generally used when building enterprise apps.</a:t>
            </a:r>
          </a:p>
          <a:p>
            <a:pPr marL="171450" indent="-171450">
              <a:buFontTx/>
              <a:buChar char="-"/>
            </a:pPr>
            <a:r>
              <a:rPr lang="en-GB" dirty="0"/>
              <a:t>Windows authentication: works well for intranet applications – using AD – but not federated. App needs to sit within the firewall – asking users for their windows credentials.</a:t>
            </a:r>
          </a:p>
          <a:p>
            <a:pPr marL="171450" indent="-171450">
              <a:buFontTx/>
              <a:buChar char="-"/>
            </a:pPr>
            <a:endParaRPr lang="en-GB" dirty="0"/>
          </a:p>
          <a:p>
            <a:pPr marL="0" indent="0">
              <a:buFontTx/>
              <a:buNone/>
            </a:pPr>
            <a:r>
              <a:rPr lang="en-GB" b="1" dirty="0"/>
              <a:t>Individual User Accounts</a:t>
            </a:r>
          </a:p>
          <a:p>
            <a:pPr marL="0" indent="0">
              <a:buFontTx/>
              <a:buNone/>
            </a:pPr>
            <a:r>
              <a:rPr lang="en-GB" b="0" dirty="0"/>
              <a:t>By default, a </a:t>
            </a:r>
            <a:r>
              <a:rPr lang="en-GB" b="0" dirty="0" err="1"/>
              <a:t>LocalDB</a:t>
            </a:r>
            <a:r>
              <a:rPr lang="en-GB" b="0" dirty="0"/>
              <a:t> is used out of the box, pointed to by the </a:t>
            </a:r>
            <a:r>
              <a:rPr lang="en-GB" b="0" dirty="0" err="1"/>
              <a:t>DefaultConnection</a:t>
            </a:r>
            <a:r>
              <a:rPr lang="en-GB" b="0" dirty="0"/>
              <a:t>. You can change the name of the DB from there, or, you can also point to a standalone SQL Server instance.</a:t>
            </a:r>
          </a:p>
          <a:p>
            <a:pPr marL="0" indent="0">
              <a:buFontTx/>
              <a:buNone/>
            </a:pPr>
            <a:endParaRPr lang="en-GB" b="0" dirty="0"/>
          </a:p>
          <a:p>
            <a:pPr marL="0" indent="0">
              <a:buFontTx/>
              <a:buNone/>
            </a:pPr>
            <a:r>
              <a:rPr lang="en-GB" b="0" dirty="0"/>
              <a:t>Core Identity</a:t>
            </a:r>
          </a:p>
          <a:p>
            <a:pPr marL="171450" indent="-171450">
              <a:buFontTx/>
              <a:buChar char="-"/>
            </a:pPr>
            <a:r>
              <a:rPr lang="en-GB" b="0" dirty="0"/>
              <a:t>Implements authentication + an RBAC authorization component.</a:t>
            </a:r>
          </a:p>
          <a:p>
            <a:pPr marL="171450" indent="-171450">
              <a:buFontTx/>
              <a:buChar char="-"/>
            </a:pPr>
            <a:r>
              <a:rPr lang="en-GB" dirty="0" err="1"/>
              <a:t>UserManager</a:t>
            </a:r>
            <a:r>
              <a:rPr lang="en-GB" dirty="0"/>
              <a:t>: API to user CRUD, claim and authentication information (an interface between you and </a:t>
            </a:r>
            <a:r>
              <a:rPr lang="en-GB" dirty="0" err="1"/>
              <a:t>UserStore</a:t>
            </a:r>
            <a:r>
              <a:rPr lang="en-GB" dirty="0"/>
              <a:t>)</a:t>
            </a:r>
          </a:p>
          <a:p>
            <a:pPr marL="171450" lvl="0" indent="-171450">
              <a:buFontTx/>
              <a:buChar char="-"/>
            </a:pPr>
            <a:r>
              <a:rPr lang="en-GB" dirty="0" err="1"/>
              <a:t>UserStore</a:t>
            </a:r>
            <a:r>
              <a:rPr lang="en-GB" dirty="0"/>
              <a:t> and </a:t>
            </a:r>
            <a:r>
              <a:rPr lang="en-GB" dirty="0" err="1"/>
              <a:t>RoleStore</a:t>
            </a:r>
            <a:r>
              <a:rPr lang="en-GB" dirty="0"/>
              <a:t>: </a:t>
            </a:r>
            <a:r>
              <a:rPr lang="en-GB" dirty="0" err="1"/>
              <a:t>alks</a:t>
            </a:r>
            <a:r>
              <a:rPr lang="en-GB" dirty="0"/>
              <a:t> to the data store to store users, user roles, login providers, user claims…</a:t>
            </a:r>
          </a:p>
          <a:p>
            <a:pPr marL="171450" lvl="0" indent="-171450">
              <a:buFontTx/>
              <a:buChar char="-"/>
            </a:pPr>
            <a:r>
              <a:rPr lang="en-GB" dirty="0" err="1"/>
              <a:t>IdentityUser</a:t>
            </a:r>
            <a:r>
              <a:rPr lang="en-GB" dirty="0"/>
              <a:t>: Is the class representing a user on your system and his/her properties</a:t>
            </a:r>
          </a:p>
          <a:p>
            <a:pPr marL="171450" lvl="0" indent="-171450">
              <a:buFontTx/>
              <a:buChar char="-"/>
            </a:pPr>
            <a:r>
              <a:rPr lang="en-GB" dirty="0" err="1"/>
              <a:t>ApplicationUser</a:t>
            </a:r>
            <a:r>
              <a:rPr lang="en-GB" dirty="0"/>
              <a:t>: inherits </a:t>
            </a:r>
            <a:r>
              <a:rPr lang="en-GB" dirty="0" err="1"/>
              <a:t>IdentityUser</a:t>
            </a:r>
            <a:r>
              <a:rPr lang="en-GB" dirty="0"/>
              <a:t> (which you can use and customize) – managed via the </a:t>
            </a:r>
            <a:r>
              <a:rPr lang="en-GB" dirty="0" err="1"/>
              <a:t>ApplicationUserManager</a:t>
            </a:r>
            <a:endParaRPr lang="en-GB" dirty="0"/>
          </a:p>
          <a:p>
            <a:pPr marL="171450" lvl="0" indent="-171450">
              <a:buFontTx/>
              <a:buChar char="-"/>
            </a:pPr>
            <a:r>
              <a:rPr lang="en-GB" dirty="0" err="1"/>
              <a:t>RoleManager</a:t>
            </a:r>
            <a:r>
              <a:rPr lang="en-GB" dirty="0"/>
              <a:t>: Used to store and manage roles for users (via </a:t>
            </a:r>
            <a:r>
              <a:rPr lang="en-GB" dirty="0" err="1"/>
              <a:t>RoleStore</a:t>
            </a:r>
            <a:endParaRPr lang="en-GB" dirty="0"/>
          </a:p>
          <a:p>
            <a:pPr marL="628650" lvl="1" indent="-171450">
              <a:buFontTx/>
              <a:buChar char="-"/>
            </a:pPr>
            <a:r>
              <a:rPr lang="en-GB" dirty="0"/>
              <a:t>If you want to create a role – use </a:t>
            </a:r>
            <a:r>
              <a:rPr lang="en-GB" dirty="0" err="1"/>
              <a:t>RoleManager</a:t>
            </a:r>
            <a:endParaRPr lang="en-GB" dirty="0"/>
          </a:p>
          <a:p>
            <a:pPr marL="628650" lvl="1" indent="-171450">
              <a:buFontTx/>
              <a:buChar char="-"/>
            </a:pPr>
            <a:r>
              <a:rPr lang="en-GB" dirty="0"/>
              <a:t>If you want to get roles for a specific user, use </a:t>
            </a:r>
            <a:r>
              <a:rPr lang="en-GB" dirty="0" err="1"/>
              <a:t>UserManager</a:t>
            </a:r>
            <a:endParaRPr lang="en-GB" dirty="0"/>
          </a:p>
          <a:p>
            <a:pPr marL="171450" lvl="0" indent="-171450">
              <a:buFontTx/>
              <a:buChar char="-"/>
            </a:pPr>
            <a:r>
              <a:rPr lang="en-GB" dirty="0" err="1"/>
              <a:t>SignInManager</a:t>
            </a:r>
            <a:r>
              <a:rPr lang="en-GB" dirty="0"/>
              <a:t>: helps you sign users in</a:t>
            </a:r>
          </a:p>
          <a:p>
            <a:pPr marL="171450" lvl="0" indent="-171450">
              <a:buFontTx/>
              <a:buChar char="-"/>
            </a:pPr>
            <a:r>
              <a:rPr lang="en-GB" dirty="0"/>
              <a:t>2-Factor Authentication support via OTPs via SMS or Email</a:t>
            </a:r>
          </a:p>
          <a:p>
            <a:pPr marL="628650" lvl="1" indent="-171450">
              <a:buFontTx/>
              <a:buChar char="-"/>
            </a:pPr>
            <a:r>
              <a:rPr lang="en-GB" dirty="0" err="1"/>
              <a:t>EmailService</a:t>
            </a:r>
            <a:endParaRPr lang="en-GB" dirty="0"/>
          </a:p>
          <a:p>
            <a:pPr marL="628650" lvl="1" indent="-171450">
              <a:buFontTx/>
              <a:buChar char="-"/>
            </a:pPr>
            <a:r>
              <a:rPr lang="en-GB" dirty="0" err="1"/>
              <a:t>SMSService</a:t>
            </a:r>
            <a:r>
              <a:rPr lang="en-GB" b="0" dirty="0"/>
              <a:t> </a:t>
            </a:r>
          </a:p>
          <a:p>
            <a:pPr marL="628650" lvl="1" indent="-171450">
              <a:buFontTx/>
              <a:buChar char="-"/>
            </a:pPr>
            <a:endParaRPr lang="en-GB" b="0" dirty="0"/>
          </a:p>
          <a:p>
            <a:pPr marL="171450" lvl="0" indent="-171450">
              <a:buFontTx/>
              <a:buChar char="-"/>
            </a:pPr>
            <a:r>
              <a:rPr lang="en-GB" b="1" dirty="0"/>
              <a:t>Third party logins</a:t>
            </a:r>
          </a:p>
          <a:p>
            <a:pPr marL="628650" lvl="1" indent="-171450">
              <a:buFontTx/>
              <a:buChar char="-"/>
            </a:pPr>
            <a:r>
              <a:rPr lang="en-GB" b="0" dirty="0"/>
              <a:t>Allows users to reuse credentials across domains, while saving you the hassle to manage user passwords (with all the associated risks)</a:t>
            </a:r>
          </a:p>
          <a:p>
            <a:pPr marL="628650" lvl="1" indent="-171450">
              <a:buFontTx/>
              <a:buChar char="-"/>
            </a:pPr>
            <a:r>
              <a:rPr lang="en-GB" b="0" dirty="0"/>
              <a:t>Makes use of OAuth and Open ID protocols</a:t>
            </a:r>
            <a:endParaRPr lang="en-GB" dirty="0"/>
          </a:p>
          <a:p>
            <a:pPr lvl="1"/>
            <a:endParaRPr lang="en-GB" dirty="0"/>
          </a:p>
          <a:p>
            <a:pPr lvl="1"/>
            <a:endParaRPr lang="en-GB" dirty="0"/>
          </a:p>
          <a:p>
            <a:pPr lvl="1"/>
            <a:endParaRPr lang="en-GB" dirty="0"/>
          </a:p>
          <a:p>
            <a:pPr lvl="1"/>
            <a:endParaRPr lang="en-GB" dirty="0"/>
          </a:p>
          <a:p>
            <a:pPr lvl="1"/>
            <a:endParaRPr lang="en-GB" dirty="0"/>
          </a:p>
          <a:p>
            <a:pPr marL="171450" lvl="0" indent="-171450">
              <a:buFontTx/>
              <a:buChar char="-"/>
            </a:pPr>
            <a:endParaRPr lang="en-GB" b="0" dirty="0"/>
          </a:p>
        </p:txBody>
      </p:sp>
      <p:sp>
        <p:nvSpPr>
          <p:cNvPr id="4" name="Slide Number Placeholder 3"/>
          <p:cNvSpPr>
            <a:spLocks noGrp="1"/>
          </p:cNvSpPr>
          <p:nvPr>
            <p:ph type="sldNum" sz="quarter" idx="10"/>
          </p:nvPr>
        </p:nvSpPr>
        <p:spPr/>
        <p:txBody>
          <a:bodyPr/>
          <a:lstStyle/>
          <a:p>
            <a:fld id="{90071FBE-0E7E-4EDA-BB24-DCCD5507545A}" type="slidenum">
              <a:rPr lang="en-GB" smtClean="0"/>
              <a:t>33</a:t>
            </a:fld>
            <a:endParaRPr lang="en-GB"/>
          </a:p>
        </p:txBody>
      </p:sp>
    </p:spTree>
    <p:extLst>
      <p:ext uri="{BB962C8B-B14F-4D97-AF65-F5344CB8AC3E}">
        <p14:creationId xmlns:p14="http://schemas.microsoft.com/office/powerpoint/2010/main" val="3798477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EE037ED5-D4E9-4DD4-AEF4-91114EDB0467}" type="datetimeFigureOut">
              <a:rPr lang="en-GB" smtClean="0"/>
              <a:t>12/01/2025</a:t>
            </a:fld>
            <a:endParaRPr lang="en-GB"/>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1F966D15-323D-4863-879D-66AAD5CAC2A5}" type="slidenum">
              <a:rPr lang="en-GB" smtClean="0"/>
              <a:t>‹#›</a:t>
            </a:fld>
            <a:endParaRPr lang="en-GB"/>
          </a:p>
        </p:txBody>
      </p:sp>
    </p:spTree>
    <p:extLst>
      <p:ext uri="{BB962C8B-B14F-4D97-AF65-F5344CB8AC3E}">
        <p14:creationId xmlns:p14="http://schemas.microsoft.com/office/powerpoint/2010/main" val="201830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37ED5-D4E9-4DD4-AEF4-91114EDB0467}" type="datetimeFigureOut">
              <a:rPr lang="en-GB" smtClean="0"/>
              <a:t>12/01/2025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99223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037ED5-D4E9-4DD4-AEF4-91114EDB0467}" type="datetimeFigureOut">
              <a:rPr lang="en-GB" smtClean="0"/>
              <a:t>12/01/2025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273336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037ED5-D4E9-4DD4-AEF4-91114EDB0467}" type="datetimeFigureOut">
              <a:rPr lang="en-GB" smtClean="0"/>
              <a:t>12/01/2025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4148117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037ED5-D4E9-4DD4-AEF4-91114EDB0467}" type="datetimeFigureOut">
              <a:rPr lang="en-GB" smtClean="0"/>
              <a:t>12/01/2025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2214468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037ED5-D4E9-4DD4-AEF4-91114EDB0467}" type="datetimeFigureOut">
              <a:rPr lang="en-GB" smtClean="0"/>
              <a:t>12/01/2025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3287199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37ED5-D4E9-4DD4-AEF4-91114EDB0467}" type="datetimeFigureOut">
              <a:rPr lang="en-GB" smtClean="0"/>
              <a:t>12/01/2025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2086695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EE037ED5-D4E9-4DD4-AEF4-91114EDB0467}" type="datetimeFigureOut">
              <a:rPr lang="en-GB" smtClean="0"/>
              <a:t>12/01/2025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1F966D15-323D-4863-879D-66AAD5CAC2A5}" type="slidenum">
              <a:rPr lang="en-GB" smtClean="0"/>
              <a:t>‹#›</a:t>
            </a:fld>
            <a:endParaRPr lang="en-GB"/>
          </a:p>
        </p:txBody>
      </p:sp>
    </p:spTree>
    <p:extLst>
      <p:ext uri="{BB962C8B-B14F-4D97-AF65-F5344CB8AC3E}">
        <p14:creationId xmlns:p14="http://schemas.microsoft.com/office/powerpoint/2010/main" val="1945795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EE037ED5-D4E9-4DD4-AEF4-91114EDB0467}" type="datetimeFigureOut">
              <a:rPr lang="en-GB" smtClean="0"/>
              <a:t>12/01/2025</a:t>
            </a:fld>
            <a:endParaRPr lang="en-GB"/>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1F966D15-323D-4863-879D-66AAD5CAC2A5}" type="slidenum">
              <a:rPr lang="en-GB" smtClean="0"/>
              <a:t>‹#›</a:t>
            </a:fld>
            <a:endParaRPr lang="en-GB"/>
          </a:p>
        </p:txBody>
      </p:sp>
    </p:spTree>
    <p:extLst>
      <p:ext uri="{BB962C8B-B14F-4D97-AF65-F5344CB8AC3E}">
        <p14:creationId xmlns:p14="http://schemas.microsoft.com/office/powerpoint/2010/main" val="35744886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37ED5-D4E9-4DD4-AEF4-91114EDB0467}" type="datetimeFigureOut">
              <a:rPr lang="en-GB" smtClean="0"/>
              <a:t>12/01/2025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83017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37ED5-D4E9-4DD4-AEF4-91114EDB0467}" type="datetimeFigureOut">
              <a:rPr lang="en-GB" smtClean="0"/>
              <a:t>12/01/2025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6D15-323D-4863-879D-66AAD5CAC2A5}" type="slidenum">
              <a:rPr lang="en-GB" smtClean="0"/>
              <a:t>‹#›</a:t>
            </a:fld>
            <a:endParaRPr lang="en-GB"/>
          </a:p>
        </p:txBody>
      </p:sp>
    </p:spTree>
    <p:extLst>
      <p:ext uri="{BB962C8B-B14F-4D97-AF65-F5344CB8AC3E}">
        <p14:creationId xmlns:p14="http://schemas.microsoft.com/office/powerpoint/2010/main" val="90506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EE037ED5-D4E9-4DD4-AEF4-91114EDB0467}" type="datetimeFigureOut">
              <a:rPr lang="en-GB" smtClean="0"/>
              <a:t>12/01/2025</a:t>
            </a:fld>
            <a:endParaRPr lang="en-GB"/>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GB"/>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1F966D15-323D-4863-879D-66AAD5CAC2A5}" type="slidenum">
              <a:rPr lang="en-GB" smtClean="0"/>
              <a:t>‹#›</a:t>
            </a:fld>
            <a:endParaRPr lang="en-GB"/>
          </a:p>
        </p:txBody>
      </p:sp>
    </p:spTree>
    <p:extLst>
      <p:ext uri="{BB962C8B-B14F-4D97-AF65-F5344CB8AC3E}">
        <p14:creationId xmlns:p14="http://schemas.microsoft.com/office/powerpoint/2010/main" val="1782019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docs.microsoft.com/en-us/dotnet/architecture/modern-web-apps-azure/common-web-application-architecture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medium.com/@elliotchance/a-new-simpler-way-to-do-dependency-injection-in-go-9e191bef50d5"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c-sharpcorner.com/article/model-validation-in-asp-net-mvc-core-3-1/"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125E6-32F9-4F06-ABC3-4E8CD0600A03}"/>
              </a:ext>
            </a:extLst>
          </p:cNvPr>
          <p:cNvSpPr>
            <a:spLocks noGrp="1"/>
          </p:cNvSpPr>
          <p:nvPr>
            <p:ph type="ctrTitle"/>
          </p:nvPr>
        </p:nvSpPr>
        <p:spPr/>
        <p:txBody>
          <a:bodyPr/>
          <a:lstStyle/>
          <a:p>
            <a:r>
              <a:rPr lang="en-GB" dirty="0"/>
              <a:t>ASP.Net Core MVC</a:t>
            </a:r>
            <a:endParaRPr lang="en-GB" sz="6600" dirty="0"/>
          </a:p>
        </p:txBody>
      </p:sp>
      <p:sp>
        <p:nvSpPr>
          <p:cNvPr id="3" name="Subtitle 2">
            <a:extLst>
              <a:ext uri="{FF2B5EF4-FFF2-40B4-BE49-F238E27FC236}">
                <a16:creationId xmlns:a16="http://schemas.microsoft.com/office/drawing/2014/main" id="{BA8D9947-EB46-4CA8-94C2-1799052F95CB}"/>
              </a:ext>
            </a:extLst>
          </p:cNvPr>
          <p:cNvSpPr>
            <a:spLocks noGrp="1"/>
          </p:cNvSpPr>
          <p:nvPr>
            <p:ph type="subTitle" idx="1"/>
          </p:nvPr>
        </p:nvSpPr>
        <p:spPr/>
        <p:txBody>
          <a:bodyPr/>
          <a:lstStyle/>
          <a:p>
            <a:r>
              <a:rPr lang="en-GB" dirty="0"/>
              <a:t>Dr Chris Porter</a:t>
            </a:r>
          </a:p>
        </p:txBody>
      </p:sp>
    </p:spTree>
    <p:extLst>
      <p:ext uri="{BB962C8B-B14F-4D97-AF65-F5344CB8AC3E}">
        <p14:creationId xmlns:p14="http://schemas.microsoft.com/office/powerpoint/2010/main" val="2571124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Image result for .net core">
            <a:extLst>
              <a:ext uri="{FF2B5EF4-FFF2-40B4-BE49-F238E27FC236}">
                <a16:creationId xmlns:a16="http://schemas.microsoft.com/office/drawing/2014/main" id="{B4ABC76E-2548-4F51-9FEB-BAB0E0FA9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5338" y="2105025"/>
            <a:ext cx="2981325"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569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asp.net mvc">
            <a:extLst>
              <a:ext uri="{FF2B5EF4-FFF2-40B4-BE49-F238E27FC236}">
                <a16:creationId xmlns:a16="http://schemas.microsoft.com/office/drawing/2014/main" id="{4941338C-8925-4D52-9841-48B51B25F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8228"/>
            <a:ext cx="1417153" cy="14171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Image result for ASP.Net core">
            <a:extLst>
              <a:ext uri="{FF2B5EF4-FFF2-40B4-BE49-F238E27FC236}">
                <a16:creationId xmlns:a16="http://schemas.microsoft.com/office/drawing/2014/main" id="{56DB57C4-CD74-4727-A562-05721A0D539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246808" y="303867"/>
            <a:ext cx="1414292" cy="1321514"/>
          </a:xfrm>
          <a:prstGeom prst="rect">
            <a:avLst/>
          </a:prstGeom>
          <a:noFill/>
        </p:spPr>
      </p:pic>
      <p:graphicFrame>
        <p:nvGraphicFramePr>
          <p:cNvPr id="7" name="Diagram 6">
            <a:extLst>
              <a:ext uri="{FF2B5EF4-FFF2-40B4-BE49-F238E27FC236}">
                <a16:creationId xmlns:a16="http://schemas.microsoft.com/office/drawing/2014/main" id="{3ACF54EA-A912-43F1-83CD-BE65BBA80DED}"/>
              </a:ext>
            </a:extLst>
          </p:cNvPr>
          <p:cNvGraphicFramePr/>
          <p:nvPr>
            <p:extLst>
              <p:ext uri="{D42A27DB-BD31-4B8C-83A1-F6EECF244321}">
                <p14:modId xmlns:p14="http://schemas.microsoft.com/office/powerpoint/2010/main" val="132358006"/>
              </p:ext>
            </p:extLst>
          </p:nvPr>
        </p:nvGraphicFramePr>
        <p:xfrm>
          <a:off x="923821" y="621784"/>
          <a:ext cx="10160000" cy="626068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7128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P.NET Core Architecture 2">
            <a:extLst>
              <a:ext uri="{FF2B5EF4-FFF2-40B4-BE49-F238E27FC236}">
                <a16:creationId xmlns:a16="http://schemas.microsoft.com/office/drawing/2014/main" id="{AB78BE86-ADC9-4B2A-BCEE-D4A2BAC53E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888"/>
            <a:ext cx="12192000" cy="6626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71740B7-6337-4084-B5B1-486685B9C840}"/>
              </a:ext>
            </a:extLst>
          </p:cNvPr>
          <p:cNvSpPr txBox="1"/>
          <p:nvPr/>
        </p:nvSpPr>
        <p:spPr>
          <a:xfrm>
            <a:off x="-2458" y="6557446"/>
            <a:ext cx="6098458" cy="307777"/>
          </a:xfrm>
          <a:prstGeom prst="rect">
            <a:avLst/>
          </a:prstGeom>
          <a:noFill/>
        </p:spPr>
        <p:txBody>
          <a:bodyPr wrap="square">
            <a:spAutoFit/>
          </a:bodyPr>
          <a:lstStyle/>
          <a:p>
            <a:r>
              <a:rPr lang="en-GB" sz="1400" dirty="0">
                <a:hlinkClick r:id="rId4"/>
              </a:rPr>
              <a:t>Common web application architectures | Microsoft Docs</a:t>
            </a:r>
            <a:endParaRPr lang="en-GB" sz="1400" dirty="0"/>
          </a:p>
        </p:txBody>
      </p:sp>
    </p:spTree>
    <p:extLst>
      <p:ext uri="{BB962C8B-B14F-4D97-AF65-F5344CB8AC3E}">
        <p14:creationId xmlns:p14="http://schemas.microsoft.com/office/powerpoint/2010/main" val="118119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74">
            <a:extLst>
              <a:ext uri="{FF2B5EF4-FFF2-40B4-BE49-F238E27FC236}">
                <a16:creationId xmlns:a16="http://schemas.microsoft.com/office/drawing/2014/main" id="{CD333CBE-B699-4E3B-9F45-C045F773434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pic>
        <p:nvPicPr>
          <p:cNvPr id="1030" name="Picture 6">
            <a:extLst>
              <a:ext uri="{FF2B5EF4-FFF2-40B4-BE49-F238E27FC236}">
                <a16:creationId xmlns:a16="http://schemas.microsoft.com/office/drawing/2014/main" id="{130CF7E9-6541-46E5-B74B-058134C8A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653" b="765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76">
            <a:extLst>
              <a:ext uri="{FF2B5EF4-FFF2-40B4-BE49-F238E27FC236}">
                <a16:creationId xmlns:a16="http://schemas.microsoft.com/office/drawing/2014/main" id="{F78FA41B-9A77-4FFE-A10F-9443EFDE6096}"/>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65037"/>
            <a:ext cx="7534631" cy="262869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C9464F-D8BA-448C-91CE-E5A0436E226A}"/>
              </a:ext>
            </a:extLst>
          </p:cNvPr>
          <p:cNvSpPr>
            <a:spLocks noGrp="1"/>
          </p:cNvSpPr>
          <p:nvPr>
            <p:ph type="title"/>
          </p:nvPr>
        </p:nvSpPr>
        <p:spPr>
          <a:xfrm>
            <a:off x="603504" y="2477347"/>
            <a:ext cx="6766928" cy="1645920"/>
          </a:xfrm>
        </p:spPr>
        <p:txBody>
          <a:bodyPr vert="horz" lIns="91440" tIns="45720" rIns="91440" bIns="45720" rtlCol="0" anchor="b">
            <a:normAutofit/>
          </a:bodyPr>
          <a:lstStyle/>
          <a:p>
            <a:pPr>
              <a:lnSpc>
                <a:spcPct val="80000"/>
              </a:lnSpc>
            </a:pPr>
            <a:r>
              <a:rPr lang="en-US" kern="1200" spc="-120" baseline="0">
                <a:solidFill>
                  <a:schemeClr val="tx1"/>
                </a:solidFill>
                <a:latin typeface="+mj-lt"/>
                <a:ea typeface="+mj-ea"/>
                <a:cs typeface="+mj-cs"/>
              </a:rPr>
              <a:t>Conventions</a:t>
            </a:r>
          </a:p>
        </p:txBody>
      </p:sp>
    </p:spTree>
    <p:extLst>
      <p:ext uri="{BB962C8B-B14F-4D97-AF65-F5344CB8AC3E}">
        <p14:creationId xmlns:p14="http://schemas.microsoft.com/office/powerpoint/2010/main" val="196917172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3821-81C9-4565-8995-788D0E460C0E}"/>
              </a:ext>
            </a:extLst>
          </p:cNvPr>
          <p:cNvSpPr>
            <a:spLocks noGrp="1"/>
          </p:cNvSpPr>
          <p:nvPr>
            <p:ph type="title"/>
          </p:nvPr>
        </p:nvSpPr>
        <p:spPr/>
        <p:txBody>
          <a:bodyPr/>
          <a:lstStyle/>
          <a:p>
            <a:r>
              <a:rPr lang="en-GB" dirty="0"/>
              <a:t>Getting started</a:t>
            </a:r>
          </a:p>
        </p:txBody>
      </p:sp>
      <p:sp>
        <p:nvSpPr>
          <p:cNvPr id="3" name="Content Placeholder 2">
            <a:extLst>
              <a:ext uri="{FF2B5EF4-FFF2-40B4-BE49-F238E27FC236}">
                <a16:creationId xmlns:a16="http://schemas.microsoft.com/office/drawing/2014/main" id="{54B2DD4C-200D-41B3-BB46-4A601A1F163D}"/>
              </a:ext>
            </a:extLst>
          </p:cNvPr>
          <p:cNvSpPr>
            <a:spLocks noGrp="1"/>
          </p:cNvSpPr>
          <p:nvPr>
            <p:ph idx="1"/>
          </p:nvPr>
        </p:nvSpPr>
        <p:spPr/>
        <p:txBody>
          <a:bodyPr>
            <a:normAutofit fontScale="85000" lnSpcReduction="20000"/>
          </a:bodyPr>
          <a:lstStyle/>
          <a:p>
            <a:r>
              <a:rPr lang="en-GB" dirty="0"/>
              <a:t>IDE</a:t>
            </a:r>
          </a:p>
          <a:p>
            <a:pPr lvl="1"/>
            <a:r>
              <a:rPr lang="en-GB" dirty="0"/>
              <a:t>Windows</a:t>
            </a:r>
          </a:p>
          <a:p>
            <a:pPr lvl="2"/>
            <a:r>
              <a:rPr lang="en-GB" dirty="0"/>
              <a:t>- Visual Studio 2022 Community Edition (&gt;=17.4)  </a:t>
            </a:r>
          </a:p>
          <a:p>
            <a:pPr lvl="2"/>
            <a:r>
              <a:rPr lang="en-GB" dirty="0"/>
              <a:t>- with the ASP.NET and web development workload</a:t>
            </a:r>
          </a:p>
          <a:p>
            <a:pPr lvl="1"/>
            <a:r>
              <a:rPr lang="en-GB" dirty="0"/>
              <a:t>Other platforms</a:t>
            </a:r>
          </a:p>
          <a:p>
            <a:pPr lvl="2"/>
            <a:r>
              <a:rPr lang="en-GB" dirty="0"/>
              <a:t>- VS Code + C# plugin</a:t>
            </a:r>
          </a:p>
          <a:p>
            <a:pPr lvl="2"/>
            <a:endParaRPr lang="en-GB" dirty="0"/>
          </a:p>
          <a:p>
            <a:pPr marL="0" indent="0">
              <a:buNone/>
            </a:pPr>
            <a:r>
              <a:rPr lang="en-GB" dirty="0"/>
              <a:t>  SDK</a:t>
            </a:r>
          </a:p>
          <a:p>
            <a:pPr lvl="1"/>
            <a:r>
              <a:rPr lang="en-GB" dirty="0"/>
              <a:t>.NET 6.0 or later</a:t>
            </a:r>
          </a:p>
          <a:p>
            <a:endParaRPr lang="en-GB" dirty="0"/>
          </a:p>
          <a:p>
            <a:r>
              <a:rPr lang="en-GB" dirty="0"/>
              <a:t>SQL Server</a:t>
            </a:r>
          </a:p>
          <a:p>
            <a:pPr lvl="1"/>
            <a:r>
              <a:rPr lang="en-GB" dirty="0"/>
              <a:t>- SQL Server 2022 (Developer) and Management Studio 18</a:t>
            </a:r>
          </a:p>
          <a:p>
            <a:pPr lvl="2"/>
            <a:r>
              <a:rPr lang="en-GB" dirty="0"/>
              <a:t>- https://www.microsoft.com/en-gb/sql-server/sql-server-downloads</a:t>
            </a:r>
          </a:p>
          <a:p>
            <a:endParaRPr lang="en-GB" dirty="0"/>
          </a:p>
        </p:txBody>
      </p:sp>
    </p:spTree>
    <p:extLst>
      <p:ext uri="{BB962C8B-B14F-4D97-AF65-F5344CB8AC3E}">
        <p14:creationId xmlns:p14="http://schemas.microsoft.com/office/powerpoint/2010/main" val="2803173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93BE-B941-439A-A7B4-D252F550A7A3}"/>
              </a:ext>
            </a:extLst>
          </p:cNvPr>
          <p:cNvSpPr>
            <a:spLocks noGrp="1"/>
          </p:cNvSpPr>
          <p:nvPr>
            <p:ph type="title"/>
          </p:nvPr>
        </p:nvSpPr>
        <p:spPr/>
        <p:txBody>
          <a:bodyPr/>
          <a:lstStyle/>
          <a:p>
            <a:r>
              <a:rPr lang="en-GB" dirty="0"/>
              <a:t>Getting started – with tooling</a:t>
            </a:r>
          </a:p>
        </p:txBody>
      </p:sp>
      <p:pic>
        <p:nvPicPr>
          <p:cNvPr id="5" name="Picture 4">
            <a:extLst>
              <a:ext uri="{FF2B5EF4-FFF2-40B4-BE49-F238E27FC236}">
                <a16:creationId xmlns:a16="http://schemas.microsoft.com/office/drawing/2014/main" id="{7561E28F-AD7D-DCF0-BFCD-025872F50776}"/>
              </a:ext>
            </a:extLst>
          </p:cNvPr>
          <p:cNvPicPr>
            <a:picLocks noChangeAspect="1"/>
          </p:cNvPicPr>
          <p:nvPr/>
        </p:nvPicPr>
        <p:blipFill>
          <a:blip r:embed="rId3"/>
          <a:stretch>
            <a:fillRect/>
          </a:stretch>
        </p:blipFill>
        <p:spPr>
          <a:xfrm>
            <a:off x="537884" y="1826367"/>
            <a:ext cx="6521824" cy="4031673"/>
          </a:xfrm>
          <a:prstGeom prst="rect">
            <a:avLst/>
          </a:prstGeom>
        </p:spPr>
      </p:pic>
      <p:pic>
        <p:nvPicPr>
          <p:cNvPr id="7" name="Picture 6">
            <a:extLst>
              <a:ext uri="{FF2B5EF4-FFF2-40B4-BE49-F238E27FC236}">
                <a16:creationId xmlns:a16="http://schemas.microsoft.com/office/drawing/2014/main" id="{56E36044-04CB-C227-9338-6919B6C2E11E}"/>
              </a:ext>
            </a:extLst>
          </p:cNvPr>
          <p:cNvPicPr>
            <a:picLocks noChangeAspect="1"/>
          </p:cNvPicPr>
          <p:nvPr/>
        </p:nvPicPr>
        <p:blipFill>
          <a:blip r:embed="rId4"/>
          <a:stretch>
            <a:fillRect/>
          </a:stretch>
        </p:blipFill>
        <p:spPr>
          <a:xfrm>
            <a:off x="5519938" y="3429000"/>
            <a:ext cx="5910061" cy="3274402"/>
          </a:xfrm>
          <a:prstGeom prst="rect">
            <a:avLst/>
          </a:prstGeom>
        </p:spPr>
      </p:pic>
    </p:spTree>
    <p:extLst>
      <p:ext uri="{BB962C8B-B14F-4D97-AF65-F5344CB8AC3E}">
        <p14:creationId xmlns:p14="http://schemas.microsoft.com/office/powerpoint/2010/main" val="589295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C702-5E7B-43E3-B6B2-96FD7731B749}"/>
              </a:ext>
            </a:extLst>
          </p:cNvPr>
          <p:cNvSpPr>
            <a:spLocks noGrp="1"/>
          </p:cNvSpPr>
          <p:nvPr>
            <p:ph type="title"/>
          </p:nvPr>
        </p:nvSpPr>
        <p:spPr/>
        <p:txBody>
          <a:bodyPr/>
          <a:lstStyle/>
          <a:p>
            <a:r>
              <a:rPr lang="en-GB" dirty="0"/>
              <a:t>Getting started – CLI</a:t>
            </a:r>
          </a:p>
        </p:txBody>
      </p:sp>
      <p:pic>
        <p:nvPicPr>
          <p:cNvPr id="4" name="Picture 3">
            <a:extLst>
              <a:ext uri="{FF2B5EF4-FFF2-40B4-BE49-F238E27FC236}">
                <a16:creationId xmlns:a16="http://schemas.microsoft.com/office/drawing/2014/main" id="{984CD338-086C-484C-8F3F-EAB34BF1109F}"/>
              </a:ext>
            </a:extLst>
          </p:cNvPr>
          <p:cNvPicPr>
            <a:picLocks noChangeAspect="1"/>
          </p:cNvPicPr>
          <p:nvPr/>
        </p:nvPicPr>
        <p:blipFill>
          <a:blip r:embed="rId3"/>
          <a:stretch>
            <a:fillRect/>
          </a:stretch>
        </p:blipFill>
        <p:spPr>
          <a:xfrm>
            <a:off x="762001" y="1933930"/>
            <a:ext cx="8645653" cy="4186675"/>
          </a:xfrm>
          <a:prstGeom prst="rect">
            <a:avLst/>
          </a:prstGeom>
        </p:spPr>
      </p:pic>
    </p:spTree>
    <p:extLst>
      <p:ext uri="{BB962C8B-B14F-4D97-AF65-F5344CB8AC3E}">
        <p14:creationId xmlns:p14="http://schemas.microsoft.com/office/powerpoint/2010/main" val="665754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D527BC-30FA-6D7C-2A51-B4B7E6BB53DC}"/>
              </a:ext>
            </a:extLst>
          </p:cNvPr>
          <p:cNvPicPr>
            <a:picLocks noChangeAspect="1"/>
          </p:cNvPicPr>
          <p:nvPr/>
        </p:nvPicPr>
        <p:blipFill>
          <a:blip r:embed="rId3"/>
          <a:stretch>
            <a:fillRect/>
          </a:stretch>
        </p:blipFill>
        <p:spPr>
          <a:xfrm>
            <a:off x="3803916" y="1889222"/>
            <a:ext cx="4799321" cy="4253625"/>
          </a:xfrm>
          <a:prstGeom prst="rect">
            <a:avLst/>
          </a:prstGeom>
        </p:spPr>
      </p:pic>
      <p:sp>
        <p:nvSpPr>
          <p:cNvPr id="2" name="Title 1">
            <a:extLst>
              <a:ext uri="{FF2B5EF4-FFF2-40B4-BE49-F238E27FC236}">
                <a16:creationId xmlns:a16="http://schemas.microsoft.com/office/drawing/2014/main" id="{47B8F0A4-8D6D-46AD-806C-EF7E617A96E9}"/>
              </a:ext>
            </a:extLst>
          </p:cNvPr>
          <p:cNvSpPr>
            <a:spLocks noGrp="1"/>
          </p:cNvSpPr>
          <p:nvPr>
            <p:ph type="title"/>
          </p:nvPr>
        </p:nvSpPr>
        <p:spPr/>
        <p:txBody>
          <a:bodyPr/>
          <a:lstStyle/>
          <a:p>
            <a:r>
              <a:rPr lang="en-GB" dirty="0"/>
              <a:t>Getting started – scaffolding</a:t>
            </a:r>
          </a:p>
        </p:txBody>
      </p:sp>
      <p:sp>
        <p:nvSpPr>
          <p:cNvPr id="9" name="Rectangle 8">
            <a:extLst>
              <a:ext uri="{FF2B5EF4-FFF2-40B4-BE49-F238E27FC236}">
                <a16:creationId xmlns:a16="http://schemas.microsoft.com/office/drawing/2014/main" id="{EB047E11-D584-4036-A400-44847EE7896C}"/>
              </a:ext>
            </a:extLst>
          </p:cNvPr>
          <p:cNvSpPr/>
          <p:nvPr/>
        </p:nvSpPr>
        <p:spPr>
          <a:xfrm>
            <a:off x="4430332" y="3733926"/>
            <a:ext cx="2331076" cy="34773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8C7E27E4-DE52-4D0E-B0EC-273EC1BD8B50}"/>
              </a:ext>
            </a:extLst>
          </p:cNvPr>
          <p:cNvSpPr/>
          <p:nvPr/>
        </p:nvSpPr>
        <p:spPr>
          <a:xfrm>
            <a:off x="4430332" y="4264108"/>
            <a:ext cx="2331076" cy="57215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6295C50D-6E1B-4A27-B4F9-A07EB0CF33CB}"/>
              </a:ext>
            </a:extLst>
          </p:cNvPr>
          <p:cNvSpPr/>
          <p:nvPr/>
        </p:nvSpPr>
        <p:spPr>
          <a:xfrm>
            <a:off x="4430332" y="3203744"/>
            <a:ext cx="2331076" cy="34773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827CAF2A-74CF-4678-A3FC-35B7613FF359}"/>
              </a:ext>
            </a:extLst>
          </p:cNvPr>
          <p:cNvSpPr/>
          <p:nvPr/>
        </p:nvSpPr>
        <p:spPr>
          <a:xfrm>
            <a:off x="4430332" y="2633973"/>
            <a:ext cx="2331076" cy="34773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81CF004-3522-483C-B5A8-FFB73D74164D}"/>
              </a:ext>
            </a:extLst>
          </p:cNvPr>
          <p:cNvSpPr/>
          <p:nvPr/>
        </p:nvSpPr>
        <p:spPr>
          <a:xfrm>
            <a:off x="4430332" y="5071357"/>
            <a:ext cx="2331076" cy="346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142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2" grpId="0" animBg="1"/>
      <p:bldP spid="12" grpId="1" animBg="1"/>
      <p:bldP spid="13" grpId="0" animBg="1"/>
      <p:bldP spid="13" grpId="1" animBg="1"/>
      <p:bldP spid="14" grpId="0" animBg="1"/>
      <p:bldP spid="14"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12" name="Rectangle 11">
            <a:extLst>
              <a:ext uri="{FF2B5EF4-FFF2-40B4-BE49-F238E27FC236}">
                <a16:creationId xmlns:a16="http://schemas.microsoft.com/office/drawing/2014/main" id="{CC4A892D-088E-4414-965D-1F8C4212F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53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B8F0A4-8D6D-46AD-806C-EF7E617A96E9}"/>
              </a:ext>
            </a:extLst>
          </p:cNvPr>
          <p:cNvSpPr>
            <a:spLocks noGrp="1"/>
          </p:cNvSpPr>
          <p:nvPr>
            <p:ph type="title"/>
          </p:nvPr>
        </p:nvSpPr>
        <p:spPr>
          <a:xfrm>
            <a:off x="609601" y="4714251"/>
            <a:ext cx="10923638" cy="1714258"/>
          </a:xfrm>
        </p:spPr>
        <p:txBody>
          <a:bodyPr vert="horz" lIns="91440" tIns="45720" rIns="91440" bIns="45720" rtlCol="0" anchor="b">
            <a:normAutofit/>
          </a:bodyPr>
          <a:lstStyle/>
          <a:p>
            <a:pPr>
              <a:lnSpc>
                <a:spcPct val="80000"/>
              </a:lnSpc>
            </a:pPr>
            <a:r>
              <a:rPr lang="en-US" sz="6600" b="1" dirty="0">
                <a:solidFill>
                  <a:srgbClr val="FFFFFF"/>
                </a:solidFill>
              </a:rPr>
              <a:t>Program class </a:t>
            </a:r>
            <a:br>
              <a:rPr lang="en-US" sz="6600" b="1" dirty="0">
                <a:solidFill>
                  <a:srgbClr val="FFFFFF"/>
                </a:solidFill>
              </a:rPr>
            </a:br>
            <a:r>
              <a:rPr lang="en-US" sz="4000" dirty="0">
                <a:solidFill>
                  <a:srgbClr val="FFFFFF"/>
                </a:solidFill>
              </a:rPr>
              <a:t>Defaults and Kestrel</a:t>
            </a:r>
          </a:p>
        </p:txBody>
      </p:sp>
      <p:sp>
        <p:nvSpPr>
          <p:cNvPr id="14" name="Rectangle 13">
            <a:extLst>
              <a:ext uri="{FF2B5EF4-FFF2-40B4-BE49-F238E27FC236}">
                <a16:creationId xmlns:a16="http://schemas.microsoft.com/office/drawing/2014/main" id="{472BC85F-BF83-4D6D-A1BC-8EE5822F0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79E27F7-AB44-5516-80FF-5930A4AE7751}"/>
              </a:ext>
            </a:extLst>
          </p:cNvPr>
          <p:cNvPicPr>
            <a:picLocks noChangeAspect="1"/>
          </p:cNvPicPr>
          <p:nvPr/>
        </p:nvPicPr>
        <p:blipFill>
          <a:blip r:embed="rId3"/>
          <a:stretch>
            <a:fillRect/>
          </a:stretch>
        </p:blipFill>
        <p:spPr>
          <a:xfrm>
            <a:off x="3008122" y="1"/>
            <a:ext cx="6126595" cy="4572000"/>
          </a:xfrm>
          <a:prstGeom prst="rect">
            <a:avLst/>
          </a:prstGeom>
        </p:spPr>
      </p:pic>
    </p:spTree>
    <p:extLst>
      <p:ext uri="{BB962C8B-B14F-4D97-AF65-F5344CB8AC3E}">
        <p14:creationId xmlns:p14="http://schemas.microsoft.com/office/powerpoint/2010/main" val="969858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3C848E0-AED5-4B49-ACED-29B15B09C4C9}"/>
              </a:ext>
            </a:extLst>
          </p:cNvPr>
          <p:cNvGraphicFramePr/>
          <p:nvPr>
            <p:extLst>
              <p:ext uri="{D42A27DB-BD31-4B8C-83A1-F6EECF244321}">
                <p14:modId xmlns:p14="http://schemas.microsoft.com/office/powerpoint/2010/main" val="3820477634"/>
              </p:ext>
            </p:extLst>
          </p:nvPr>
        </p:nvGraphicFramePr>
        <p:xfrm>
          <a:off x="0" y="0"/>
          <a:ext cx="12192000" cy="6954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2333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D392A-C7B3-454F-B805-D4A099A6C24B}"/>
              </a:ext>
            </a:extLst>
          </p:cNvPr>
          <p:cNvSpPr>
            <a:spLocks noGrp="1"/>
          </p:cNvSpPr>
          <p:nvPr>
            <p:ph type="title"/>
          </p:nvPr>
        </p:nvSpPr>
        <p:spPr>
          <a:xfrm>
            <a:off x="709612" y="2599901"/>
            <a:ext cx="10772775" cy="1658198"/>
          </a:xfrm>
        </p:spPr>
        <p:txBody>
          <a:bodyPr/>
          <a:lstStyle/>
          <a:p>
            <a:pPr algn="ctr"/>
            <a:r>
              <a:rPr lang="en-GB" dirty="0"/>
              <a:t>Practical discussion</a:t>
            </a:r>
          </a:p>
        </p:txBody>
      </p:sp>
    </p:spTree>
    <p:extLst>
      <p:ext uri="{BB962C8B-B14F-4D97-AF65-F5344CB8AC3E}">
        <p14:creationId xmlns:p14="http://schemas.microsoft.com/office/powerpoint/2010/main" val="3563129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9380-30C4-4982-BDF2-B0266C049B12}"/>
              </a:ext>
            </a:extLst>
          </p:cNvPr>
          <p:cNvSpPr>
            <a:spLocks noGrp="1"/>
          </p:cNvSpPr>
          <p:nvPr>
            <p:ph type="title"/>
          </p:nvPr>
        </p:nvSpPr>
        <p:spPr/>
        <p:txBody>
          <a:bodyPr/>
          <a:lstStyle/>
          <a:p>
            <a:r>
              <a:rPr lang="en-GB" dirty="0"/>
              <a:t>Model</a:t>
            </a:r>
          </a:p>
        </p:txBody>
      </p:sp>
      <p:sp>
        <p:nvSpPr>
          <p:cNvPr id="3" name="Content Placeholder 2">
            <a:extLst>
              <a:ext uri="{FF2B5EF4-FFF2-40B4-BE49-F238E27FC236}">
                <a16:creationId xmlns:a16="http://schemas.microsoft.com/office/drawing/2014/main" id="{F27F10EE-D4F0-4D38-8FCF-57FC7DB53A90}"/>
              </a:ext>
            </a:extLst>
          </p:cNvPr>
          <p:cNvSpPr>
            <a:spLocks noGrp="1"/>
          </p:cNvSpPr>
          <p:nvPr>
            <p:ph idx="1"/>
          </p:nvPr>
        </p:nvSpPr>
        <p:spPr>
          <a:xfrm>
            <a:off x="676656" y="2011680"/>
            <a:ext cx="10753725" cy="3766185"/>
          </a:xfrm>
        </p:spPr>
        <p:txBody>
          <a:bodyPr>
            <a:normAutofit lnSpcReduction="10000"/>
          </a:bodyPr>
          <a:lstStyle/>
          <a:p>
            <a:r>
              <a:rPr lang="en-GB" dirty="0"/>
              <a:t>Group of classes that </a:t>
            </a:r>
          </a:p>
          <a:p>
            <a:pPr lvl="1"/>
            <a:r>
              <a:rPr lang="en-GB" dirty="0"/>
              <a:t>make up the domain data</a:t>
            </a:r>
          </a:p>
          <a:p>
            <a:pPr lvl="1"/>
            <a:r>
              <a:rPr lang="en-GB" dirty="0"/>
              <a:t>and those that manage the data (logic)</a:t>
            </a:r>
          </a:p>
          <a:p>
            <a:pPr lvl="2"/>
            <a:r>
              <a:rPr lang="en-GB" dirty="0"/>
              <a:t>a repository class allows our code to use objects without knowing how they are persisted</a:t>
            </a:r>
          </a:p>
          <a:p>
            <a:pPr lvl="1"/>
            <a:endParaRPr lang="en-GB" dirty="0"/>
          </a:p>
          <a:p>
            <a:pPr lvl="1"/>
            <a:r>
              <a:rPr lang="en-GB" dirty="0"/>
              <a:t>A simple repository API is exposed to the rest of the app</a:t>
            </a:r>
          </a:p>
          <a:p>
            <a:pPr lvl="2"/>
            <a:r>
              <a:rPr lang="en-GB" dirty="0"/>
              <a:t>an interface that defines what the repository would do</a:t>
            </a:r>
          </a:p>
          <a:p>
            <a:endParaRPr lang="en-GB" dirty="0"/>
          </a:p>
          <a:p>
            <a:endParaRPr lang="en-GB" dirty="0"/>
          </a:p>
          <a:p>
            <a:r>
              <a:rPr lang="en-GB" dirty="0"/>
              <a:t>… in principle hide data management from the rest of the system</a:t>
            </a:r>
          </a:p>
          <a:p>
            <a:endParaRPr lang="en-GB" dirty="0"/>
          </a:p>
          <a:p>
            <a:endParaRPr lang="en-GB" dirty="0"/>
          </a:p>
          <a:p>
            <a:endParaRPr lang="en-GB" dirty="0"/>
          </a:p>
        </p:txBody>
      </p:sp>
      <p:pic>
        <p:nvPicPr>
          <p:cNvPr id="4" name="Picture 3">
            <a:extLst>
              <a:ext uri="{FF2B5EF4-FFF2-40B4-BE49-F238E27FC236}">
                <a16:creationId xmlns:a16="http://schemas.microsoft.com/office/drawing/2014/main" id="{04FBC7C7-9A84-4C7C-83DD-7DDEFD59C18B}"/>
              </a:ext>
            </a:extLst>
          </p:cNvPr>
          <p:cNvPicPr>
            <a:picLocks noChangeAspect="1"/>
          </p:cNvPicPr>
          <p:nvPr/>
        </p:nvPicPr>
        <p:blipFill>
          <a:blip r:embed="rId3"/>
          <a:stretch>
            <a:fillRect/>
          </a:stretch>
        </p:blipFill>
        <p:spPr>
          <a:xfrm>
            <a:off x="7497271" y="499533"/>
            <a:ext cx="3770901" cy="2509931"/>
          </a:xfrm>
          <a:prstGeom prst="rect">
            <a:avLst/>
          </a:prstGeom>
        </p:spPr>
      </p:pic>
      <p:cxnSp>
        <p:nvCxnSpPr>
          <p:cNvPr id="6" name="Straight Arrow Connector 5">
            <a:extLst>
              <a:ext uri="{FF2B5EF4-FFF2-40B4-BE49-F238E27FC236}">
                <a16:creationId xmlns:a16="http://schemas.microsoft.com/office/drawing/2014/main" id="{A8186BA6-4203-4B93-925D-A9ACE3A1E33A}"/>
              </a:ext>
            </a:extLst>
          </p:cNvPr>
          <p:cNvCxnSpPr>
            <a:cxnSpLocks/>
          </p:cNvCxnSpPr>
          <p:nvPr/>
        </p:nvCxnSpPr>
        <p:spPr>
          <a:xfrm flipV="1">
            <a:off x="5409127" y="1764407"/>
            <a:ext cx="1931831" cy="721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865F594-83A3-45F7-BCE4-A9A7ABD2C583}"/>
              </a:ext>
            </a:extLst>
          </p:cNvPr>
          <p:cNvPicPr>
            <a:picLocks noChangeAspect="1"/>
          </p:cNvPicPr>
          <p:nvPr/>
        </p:nvPicPr>
        <p:blipFill>
          <a:blip r:embed="rId4"/>
          <a:stretch>
            <a:fillRect/>
          </a:stretch>
        </p:blipFill>
        <p:spPr>
          <a:xfrm>
            <a:off x="8164021" y="4156149"/>
            <a:ext cx="3321937" cy="1152509"/>
          </a:xfrm>
          <a:prstGeom prst="rect">
            <a:avLst/>
          </a:prstGeom>
        </p:spPr>
      </p:pic>
      <p:cxnSp>
        <p:nvCxnSpPr>
          <p:cNvPr id="12" name="Straight Arrow Connector 11">
            <a:extLst>
              <a:ext uri="{FF2B5EF4-FFF2-40B4-BE49-F238E27FC236}">
                <a16:creationId xmlns:a16="http://schemas.microsoft.com/office/drawing/2014/main" id="{AACD5A44-A1FA-405D-81DE-A9A067F1A055}"/>
              </a:ext>
            </a:extLst>
          </p:cNvPr>
          <p:cNvCxnSpPr>
            <a:cxnSpLocks/>
          </p:cNvCxnSpPr>
          <p:nvPr/>
        </p:nvCxnSpPr>
        <p:spPr>
          <a:xfrm>
            <a:off x="7338833" y="4036247"/>
            <a:ext cx="840707" cy="544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493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2">
            <a:extLst>
              <a:ext uri="{FF2B5EF4-FFF2-40B4-BE49-F238E27FC236}">
                <a16:creationId xmlns:a16="http://schemas.microsoft.com/office/drawing/2014/main" id="{F1BF8556-3201-48E0-8BCC-9D03D5E7B87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7722" b="7722"/>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F9B51DC-CFAC-4B9A-8E3F-533CCE92AF8A}"/>
              </a:ext>
            </a:extLst>
          </p:cNvPr>
          <p:cNvSpPr>
            <a:spLocks noGrp="1"/>
          </p:cNvSpPr>
          <p:nvPr>
            <p:ph type="title"/>
          </p:nvPr>
        </p:nvSpPr>
        <p:spPr>
          <a:xfrm>
            <a:off x="187825" y="4949819"/>
            <a:ext cx="6766928" cy="967494"/>
          </a:xfrm>
        </p:spPr>
        <p:txBody>
          <a:bodyPr vert="horz" lIns="91440" tIns="45720" rIns="91440" bIns="45720" rtlCol="0" anchor="b">
            <a:normAutofit/>
          </a:bodyPr>
          <a:lstStyle/>
          <a:p>
            <a:pPr>
              <a:lnSpc>
                <a:spcPct val="80000"/>
              </a:lnSpc>
            </a:pPr>
            <a:r>
              <a:rPr lang="en-US" kern="1200" spc="-120" baseline="0" dirty="0">
                <a:solidFill>
                  <a:schemeClr val="bg1"/>
                </a:solidFill>
                <a:latin typeface="+mj-lt"/>
                <a:ea typeface="+mj-ea"/>
                <a:cs typeface="+mj-cs"/>
              </a:rPr>
              <a:t>Dependency Injection</a:t>
            </a:r>
          </a:p>
        </p:txBody>
      </p:sp>
    </p:spTree>
    <p:extLst>
      <p:ext uri="{BB962C8B-B14F-4D97-AF65-F5344CB8AC3E}">
        <p14:creationId xmlns:p14="http://schemas.microsoft.com/office/powerpoint/2010/main" val="3416826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dependency injection">
            <a:extLst>
              <a:ext uri="{FF2B5EF4-FFF2-40B4-BE49-F238E27FC236}">
                <a16:creationId xmlns:a16="http://schemas.microsoft.com/office/drawing/2014/main" id="{43903A72-AC5E-4D0F-900B-45CE1F9D2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936" y="1286648"/>
            <a:ext cx="9083380" cy="3286579"/>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42">
            <a:extLst>
              <a:ext uri="{FF2B5EF4-FFF2-40B4-BE49-F238E27FC236}">
                <a16:creationId xmlns:a16="http://schemas.microsoft.com/office/drawing/2014/main" id="{52DF4454-CE1C-426F-9156-89821896733F}"/>
              </a:ext>
            </a:extLst>
          </p:cNvPr>
          <p:cNvSpPr/>
          <p:nvPr/>
        </p:nvSpPr>
        <p:spPr>
          <a:xfrm>
            <a:off x="522513" y="5718407"/>
            <a:ext cx="7489373" cy="276999"/>
          </a:xfrm>
          <a:prstGeom prst="rect">
            <a:avLst/>
          </a:prstGeom>
        </p:spPr>
        <p:txBody>
          <a:bodyPr wrap="square">
            <a:spAutoFit/>
          </a:bodyPr>
          <a:lstStyle/>
          <a:p>
            <a:r>
              <a:rPr lang="en-GB" sz="1200" dirty="0">
                <a:hlinkClick r:id="rId4"/>
              </a:rPr>
              <a:t>Source: https://medium.com/@elliotchance/a-new-simpler-way-to-do-dependency-injection-in-go-9e191bef50d5</a:t>
            </a:r>
            <a:endParaRPr lang="en-GB" sz="1200" dirty="0"/>
          </a:p>
        </p:txBody>
      </p:sp>
    </p:spTree>
    <p:extLst>
      <p:ext uri="{BB962C8B-B14F-4D97-AF65-F5344CB8AC3E}">
        <p14:creationId xmlns:p14="http://schemas.microsoft.com/office/powerpoint/2010/main" val="1008046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2EC13-CAD7-4C18-B448-65F0479F561C}"/>
              </a:ext>
            </a:extLst>
          </p:cNvPr>
          <p:cNvSpPr>
            <a:spLocks noGrp="1"/>
          </p:cNvSpPr>
          <p:nvPr>
            <p:ph type="title"/>
          </p:nvPr>
        </p:nvSpPr>
        <p:spPr>
          <a:xfrm>
            <a:off x="657224" y="499533"/>
            <a:ext cx="10772775" cy="1658198"/>
          </a:xfrm>
        </p:spPr>
        <p:txBody>
          <a:bodyPr/>
          <a:lstStyle/>
          <a:p>
            <a:r>
              <a:rPr lang="en-GB"/>
              <a:t>Dependency Injection</a:t>
            </a:r>
            <a:endParaRPr lang="en-GB" dirty="0"/>
          </a:p>
        </p:txBody>
      </p:sp>
      <p:graphicFrame>
        <p:nvGraphicFramePr>
          <p:cNvPr id="4" name="Content Placeholder 3">
            <a:extLst>
              <a:ext uri="{FF2B5EF4-FFF2-40B4-BE49-F238E27FC236}">
                <a16:creationId xmlns:a16="http://schemas.microsoft.com/office/drawing/2014/main" id="{DD59C956-9675-4137-AFF5-05954C5C2EA6}"/>
              </a:ext>
            </a:extLst>
          </p:cNvPr>
          <p:cNvGraphicFramePr>
            <a:graphicFrameLocks noGrp="1"/>
          </p:cNvGraphicFramePr>
          <p:nvPr>
            <p:ph idx="1"/>
          </p:nvPr>
        </p:nvGraphicFramePr>
        <p:xfrm>
          <a:off x="676275" y="2011363"/>
          <a:ext cx="10753726" cy="2382520"/>
        </p:xfrm>
        <a:graphic>
          <a:graphicData uri="http://schemas.openxmlformats.org/drawingml/2006/table">
            <a:tbl>
              <a:tblPr firstRow="1" bandRow="1">
                <a:tableStyleId>{5C22544A-7EE6-4342-B048-85BDC9FD1C3A}</a:tableStyleId>
              </a:tblPr>
              <a:tblGrid>
                <a:gridCol w="5376863">
                  <a:extLst>
                    <a:ext uri="{9D8B030D-6E8A-4147-A177-3AD203B41FA5}">
                      <a16:colId xmlns:a16="http://schemas.microsoft.com/office/drawing/2014/main" val="1157133149"/>
                    </a:ext>
                  </a:extLst>
                </a:gridCol>
                <a:gridCol w="5376863">
                  <a:extLst>
                    <a:ext uri="{9D8B030D-6E8A-4147-A177-3AD203B41FA5}">
                      <a16:colId xmlns:a16="http://schemas.microsoft.com/office/drawing/2014/main" val="1143352619"/>
                    </a:ext>
                  </a:extLst>
                </a:gridCol>
              </a:tblGrid>
              <a:tr h="370840">
                <a:tc>
                  <a:txBody>
                    <a:bodyPr/>
                    <a:lstStyle/>
                    <a:p>
                      <a:pPr algn="ctr"/>
                      <a:r>
                        <a:rPr lang="en-GB" dirty="0"/>
                        <a:t>Non-DI</a:t>
                      </a:r>
                    </a:p>
                  </a:txBody>
                  <a:tcPr/>
                </a:tc>
                <a:tc>
                  <a:txBody>
                    <a:bodyPr/>
                    <a:lstStyle/>
                    <a:p>
                      <a:pPr algn="ctr"/>
                      <a:r>
                        <a:rPr lang="en-GB" dirty="0"/>
                        <a:t>DI</a:t>
                      </a:r>
                    </a:p>
                  </a:txBody>
                  <a:tcPr/>
                </a:tc>
                <a:extLst>
                  <a:ext uri="{0D108BD9-81ED-4DB2-BD59-A6C34878D82A}">
                    <a16:rowId xmlns:a16="http://schemas.microsoft.com/office/drawing/2014/main" val="2241099902"/>
                  </a:ext>
                </a:extLst>
              </a:tr>
              <a:tr h="370840">
                <a:tc>
                  <a:txBody>
                    <a:bodyPr/>
                    <a:lstStyle/>
                    <a:p>
                      <a:pPr algn="l"/>
                      <a:r>
                        <a:rPr lang="en-GB" b="1" dirty="0">
                          <a:solidFill>
                            <a:srgbClr val="C00000"/>
                          </a:solidFill>
                        </a:rPr>
                        <a:t>Hard wired object creation</a:t>
                      </a:r>
                    </a:p>
                    <a:p>
                      <a:pPr algn="l"/>
                      <a:r>
                        <a:rPr lang="en-GB" sz="1400" dirty="0"/>
                        <a:t>Creating objects is implemented (hard-wired) directly within a class (Client).</a:t>
                      </a:r>
                    </a:p>
                    <a:p>
                      <a:pPr algn="l"/>
                      <a:endParaRPr lang="en-GB" sz="1400" dirty="0"/>
                    </a:p>
                    <a:p>
                      <a:pPr algn="l"/>
                      <a:r>
                        <a:rPr lang="en-GB" sz="1400" dirty="0"/>
                        <a:t>This makes it hard to change the way objects are created independently from (without having to change) the class.</a:t>
                      </a:r>
                    </a:p>
                  </a:txBody>
                  <a:tcPr/>
                </a:tc>
                <a:tc>
                  <a:txBody>
                    <a:bodyPr/>
                    <a:lstStyle/>
                    <a:p>
                      <a:pPr algn="l"/>
                      <a:r>
                        <a:rPr lang="en-GB" b="1" dirty="0">
                          <a:solidFill>
                            <a:srgbClr val="00B050"/>
                          </a:solidFill>
                        </a:rPr>
                        <a:t>Separated object creation</a:t>
                      </a:r>
                    </a:p>
                    <a:p>
                      <a:pPr marL="0" algn="l" defTabSz="914400" rtl="0" eaLnBrk="1" latinLnBrk="0" hangingPunct="1"/>
                      <a:r>
                        <a:rPr lang="en-GB" sz="1400" kern="1200" dirty="0">
                          <a:solidFill>
                            <a:schemeClr val="dk1"/>
                          </a:solidFill>
                          <a:latin typeface="+mn-lt"/>
                          <a:ea typeface="+mn-ea"/>
                          <a:cs typeface="+mn-cs"/>
                        </a:rPr>
                        <a:t>A separate Injector creates and injects the objects. The way objects are created is defined in separate configuration files.</a:t>
                      </a:r>
                    </a:p>
                    <a:p>
                      <a:pPr marL="0" algn="l" defTabSz="914400" rtl="0" eaLnBrk="1" latinLnBrk="0" hangingPunct="1"/>
                      <a:endParaRPr lang="en-GB" sz="1400" kern="1200" dirty="0">
                        <a:solidFill>
                          <a:schemeClr val="dk1"/>
                        </a:solidFill>
                        <a:latin typeface="+mn-lt"/>
                        <a:ea typeface="+mn-ea"/>
                        <a:cs typeface="+mn-cs"/>
                      </a:endParaRPr>
                    </a:p>
                    <a:p>
                      <a:pPr marL="0" algn="l" defTabSz="914400" rtl="0" eaLnBrk="1" latinLnBrk="0" hangingPunct="1"/>
                      <a:r>
                        <a:rPr lang="en-GB" sz="1400" kern="1200" dirty="0">
                          <a:solidFill>
                            <a:schemeClr val="dk1"/>
                          </a:solidFill>
                          <a:latin typeface="+mn-lt"/>
                          <a:ea typeface="+mn-ea"/>
                          <a:cs typeface="+mn-cs"/>
                        </a:rPr>
                        <a:t>This makes it easy to change the way objects are created independently from (without having to change) existing classes</a:t>
                      </a:r>
                    </a:p>
                  </a:txBody>
                  <a:tcPr/>
                </a:tc>
                <a:extLst>
                  <a:ext uri="{0D108BD9-81ED-4DB2-BD59-A6C34878D82A}">
                    <a16:rowId xmlns:a16="http://schemas.microsoft.com/office/drawing/2014/main" val="1269833429"/>
                  </a:ext>
                </a:extLst>
              </a:tr>
              <a:tr h="370840">
                <a:tc>
                  <a:txBody>
                    <a:bodyPr/>
                    <a:lstStyle/>
                    <a:p>
                      <a:pPr algn="l"/>
                      <a:r>
                        <a:rPr lang="en-GB" sz="1800" b="1" kern="1200" dirty="0">
                          <a:solidFill>
                            <a:srgbClr val="C00000"/>
                          </a:solidFill>
                          <a:latin typeface="+mn-lt"/>
                          <a:ea typeface="+mn-ea"/>
                          <a:cs typeface="+mn-cs"/>
                        </a:rPr>
                        <a:t>Distributed object creation</a:t>
                      </a:r>
                    </a:p>
                    <a:p>
                      <a:pPr marL="0" algn="l" defTabSz="914400" rtl="0" eaLnBrk="1" latinLnBrk="0" hangingPunct="1"/>
                      <a:r>
                        <a:rPr lang="en-GB" sz="1400" kern="1200" dirty="0">
                          <a:solidFill>
                            <a:schemeClr val="dk1"/>
                          </a:solidFill>
                          <a:latin typeface="+mn-lt"/>
                          <a:ea typeface="+mn-ea"/>
                          <a:cs typeface="+mn-cs"/>
                        </a:rPr>
                        <a:t>Creating objects is distributed across the classes of an application.</a:t>
                      </a:r>
                    </a:p>
                  </a:txBody>
                  <a:tcPr/>
                </a:tc>
                <a:tc>
                  <a:txBody>
                    <a:bodyPr/>
                    <a:lstStyle/>
                    <a:p>
                      <a:pPr marL="0" algn="l" defTabSz="914400" rtl="0" eaLnBrk="1" latinLnBrk="0" hangingPunct="1"/>
                      <a:r>
                        <a:rPr lang="en-GB" sz="1800" b="1" kern="1200" dirty="0">
                          <a:solidFill>
                            <a:srgbClr val="00B050"/>
                          </a:solidFill>
                          <a:latin typeface="+mn-lt"/>
                          <a:ea typeface="+mn-ea"/>
                          <a:cs typeface="+mn-cs"/>
                        </a:rPr>
                        <a:t>Centralized object creation</a:t>
                      </a:r>
                    </a:p>
                    <a:p>
                      <a:pPr marL="0" algn="l" defTabSz="914400" rtl="0" eaLnBrk="1" latinLnBrk="0" hangingPunct="1"/>
                      <a:r>
                        <a:rPr lang="en-GB" sz="1400" kern="1200" dirty="0">
                          <a:solidFill>
                            <a:schemeClr val="dk1"/>
                          </a:solidFill>
                          <a:latin typeface="+mn-lt"/>
                          <a:ea typeface="+mn-ea"/>
                          <a:cs typeface="+mn-cs"/>
                        </a:rPr>
                        <a:t>Creating objects is centralized in a single Injector class</a:t>
                      </a:r>
                    </a:p>
                  </a:txBody>
                  <a:tcPr/>
                </a:tc>
                <a:extLst>
                  <a:ext uri="{0D108BD9-81ED-4DB2-BD59-A6C34878D82A}">
                    <a16:rowId xmlns:a16="http://schemas.microsoft.com/office/drawing/2014/main" val="2161137070"/>
                  </a:ext>
                </a:extLst>
              </a:tr>
            </a:tbl>
          </a:graphicData>
        </a:graphic>
      </p:graphicFrame>
      <p:sp>
        <p:nvSpPr>
          <p:cNvPr id="9" name="Rectangle 8">
            <a:extLst>
              <a:ext uri="{FF2B5EF4-FFF2-40B4-BE49-F238E27FC236}">
                <a16:creationId xmlns:a16="http://schemas.microsoft.com/office/drawing/2014/main" id="{90F7FC9B-E5E0-4BBB-8EE7-CE2AE0FBF0EA}"/>
              </a:ext>
            </a:extLst>
          </p:cNvPr>
          <p:cNvSpPr/>
          <p:nvPr/>
        </p:nvSpPr>
        <p:spPr>
          <a:xfrm>
            <a:off x="8574730" y="6358467"/>
            <a:ext cx="2855269" cy="261610"/>
          </a:xfrm>
          <a:prstGeom prst="rect">
            <a:avLst/>
          </a:prstGeom>
        </p:spPr>
        <p:txBody>
          <a:bodyPr wrap="none">
            <a:spAutoFit/>
          </a:bodyPr>
          <a:lstStyle/>
          <a:p>
            <a:r>
              <a:rPr lang="en-GB" sz="1100" dirty="0"/>
              <a:t>http://w3sdesign.com/?gr=u01&amp;ugr=proble#gf</a:t>
            </a:r>
          </a:p>
        </p:txBody>
      </p:sp>
    </p:spTree>
    <p:extLst>
      <p:ext uri="{BB962C8B-B14F-4D97-AF65-F5344CB8AC3E}">
        <p14:creationId xmlns:p14="http://schemas.microsoft.com/office/powerpoint/2010/main" val="178823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7EEF5-83E2-4E80-B151-1D7E787D6A03}"/>
              </a:ext>
            </a:extLst>
          </p:cNvPr>
          <p:cNvSpPr>
            <a:spLocks noGrp="1"/>
          </p:cNvSpPr>
          <p:nvPr>
            <p:ph type="title"/>
          </p:nvPr>
        </p:nvSpPr>
        <p:spPr/>
        <p:txBody>
          <a:bodyPr/>
          <a:lstStyle/>
          <a:p>
            <a:r>
              <a:rPr lang="en-GB" dirty="0"/>
              <a:t>View</a:t>
            </a:r>
          </a:p>
        </p:txBody>
      </p:sp>
      <p:sp>
        <p:nvSpPr>
          <p:cNvPr id="3" name="Content Placeholder 2">
            <a:extLst>
              <a:ext uri="{FF2B5EF4-FFF2-40B4-BE49-F238E27FC236}">
                <a16:creationId xmlns:a16="http://schemas.microsoft.com/office/drawing/2014/main" id="{4A15C5C0-A6EE-4A85-8633-C2FED51070A7}"/>
              </a:ext>
            </a:extLst>
          </p:cNvPr>
          <p:cNvSpPr>
            <a:spLocks noGrp="1"/>
          </p:cNvSpPr>
          <p:nvPr>
            <p:ph idx="1"/>
          </p:nvPr>
        </p:nvSpPr>
        <p:spPr/>
        <p:txBody>
          <a:bodyPr>
            <a:normAutofit/>
          </a:bodyPr>
          <a:lstStyle/>
          <a:p>
            <a:r>
              <a:rPr lang="en-GB" dirty="0"/>
              <a:t>Necessary to visualize model data (e.g. reports) in HTML</a:t>
            </a:r>
          </a:p>
          <a:p>
            <a:r>
              <a:rPr lang="en-GB" dirty="0"/>
              <a:t>They can be Plain or Strongly-Typed (with a View Model)</a:t>
            </a:r>
          </a:p>
          <a:p>
            <a:r>
              <a:rPr lang="en-GB" dirty="0"/>
              <a:t>Razor is a view engine that allows us to use C# like logic to construct HTML dynamically based on our view models</a:t>
            </a:r>
          </a:p>
          <a:p>
            <a:r>
              <a:rPr lang="en-GB" dirty="0">
                <a:sym typeface="Wingdings" panose="05000000000000000000" pitchFamily="2" charset="2"/>
              </a:rPr>
              <a:t>Views receive data in various ways:</a:t>
            </a:r>
          </a:p>
          <a:p>
            <a:pPr lvl="1"/>
            <a:r>
              <a:rPr lang="en-GB" dirty="0" err="1">
                <a:sym typeface="Wingdings" panose="05000000000000000000" pitchFamily="2" charset="2"/>
              </a:rPr>
              <a:t>ViewBag</a:t>
            </a:r>
            <a:r>
              <a:rPr lang="en-GB" dirty="0">
                <a:sym typeface="Wingdings" panose="05000000000000000000" pitchFamily="2" charset="2"/>
              </a:rPr>
              <a:t>: dynamic data type</a:t>
            </a:r>
          </a:p>
          <a:p>
            <a:pPr lvl="1"/>
            <a:r>
              <a:rPr lang="en-GB" dirty="0" err="1">
                <a:sym typeface="Wingdings" panose="05000000000000000000" pitchFamily="2" charset="2"/>
              </a:rPr>
              <a:t>ViewData</a:t>
            </a:r>
            <a:r>
              <a:rPr lang="en-GB" dirty="0">
                <a:sym typeface="Wingdings" panose="05000000000000000000" pitchFamily="2" charset="2"/>
              </a:rPr>
              <a:t>: data dictionary</a:t>
            </a:r>
          </a:p>
          <a:p>
            <a:pPr lvl="1"/>
            <a:r>
              <a:rPr lang="en-GB" dirty="0">
                <a:sym typeface="Wingdings" panose="05000000000000000000" pitchFamily="2" charset="2"/>
              </a:rPr>
              <a:t>Typed views</a:t>
            </a:r>
          </a:p>
          <a:p>
            <a:pPr lvl="1"/>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p>
        </p:txBody>
      </p:sp>
      <p:grpSp>
        <p:nvGrpSpPr>
          <p:cNvPr id="14" name="Group 13">
            <a:extLst>
              <a:ext uri="{FF2B5EF4-FFF2-40B4-BE49-F238E27FC236}">
                <a16:creationId xmlns:a16="http://schemas.microsoft.com/office/drawing/2014/main" id="{AE88B650-E0FB-43F6-98B0-C1B14188E2D4}"/>
              </a:ext>
            </a:extLst>
          </p:cNvPr>
          <p:cNvGrpSpPr/>
          <p:nvPr/>
        </p:nvGrpSpPr>
        <p:grpSpPr>
          <a:xfrm>
            <a:off x="6267628" y="3429000"/>
            <a:ext cx="5730408" cy="3332018"/>
            <a:chOff x="6559220" y="725041"/>
            <a:chExt cx="5037681" cy="2944837"/>
          </a:xfrm>
        </p:grpSpPr>
        <p:pic>
          <p:nvPicPr>
            <p:cNvPr id="4" name="Picture 3">
              <a:extLst>
                <a:ext uri="{FF2B5EF4-FFF2-40B4-BE49-F238E27FC236}">
                  <a16:creationId xmlns:a16="http://schemas.microsoft.com/office/drawing/2014/main" id="{62EF32EC-148C-43C4-94D5-52C6E855D4B7}"/>
                </a:ext>
              </a:extLst>
            </p:cNvPr>
            <p:cNvPicPr>
              <a:picLocks noChangeAspect="1"/>
            </p:cNvPicPr>
            <p:nvPr/>
          </p:nvPicPr>
          <p:blipFill>
            <a:blip r:embed="rId3"/>
            <a:stretch>
              <a:fillRect/>
            </a:stretch>
          </p:blipFill>
          <p:spPr>
            <a:xfrm>
              <a:off x="6559220" y="1316875"/>
              <a:ext cx="4096322" cy="2353003"/>
            </a:xfrm>
            <a:prstGeom prst="rect">
              <a:avLst/>
            </a:prstGeom>
          </p:spPr>
        </p:pic>
        <p:cxnSp>
          <p:nvCxnSpPr>
            <p:cNvPr id="5" name="Straight Arrow Connector 4">
              <a:extLst>
                <a:ext uri="{FF2B5EF4-FFF2-40B4-BE49-F238E27FC236}">
                  <a16:creationId xmlns:a16="http://schemas.microsoft.com/office/drawing/2014/main" id="{0DB8EDAD-8354-4F19-B39D-16625BBBFB01}"/>
                </a:ext>
              </a:extLst>
            </p:cNvPr>
            <p:cNvCxnSpPr>
              <a:cxnSpLocks/>
            </p:cNvCxnSpPr>
            <p:nvPr/>
          </p:nvCxnSpPr>
          <p:spPr>
            <a:xfrm flipV="1">
              <a:off x="7920507" y="888642"/>
              <a:ext cx="953037" cy="528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667CDFF-A410-445E-B6B8-28478E728078}"/>
                </a:ext>
              </a:extLst>
            </p:cNvPr>
            <p:cNvCxnSpPr>
              <a:cxnSpLocks/>
            </p:cNvCxnSpPr>
            <p:nvPr/>
          </p:nvCxnSpPr>
          <p:spPr>
            <a:xfrm flipV="1">
              <a:off x="8723291" y="3068266"/>
              <a:ext cx="106465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8BB6285-34AB-4250-9D6F-DEA783EE96CB}"/>
                </a:ext>
              </a:extLst>
            </p:cNvPr>
            <p:cNvSpPr/>
            <p:nvPr/>
          </p:nvSpPr>
          <p:spPr>
            <a:xfrm>
              <a:off x="8816844" y="725041"/>
              <a:ext cx="971100" cy="276999"/>
            </a:xfrm>
            <a:prstGeom prst="rect">
              <a:avLst/>
            </a:prstGeom>
          </p:spPr>
          <p:txBody>
            <a:bodyPr wrap="none">
              <a:spAutoFit/>
            </a:bodyPr>
            <a:lstStyle/>
            <a:p>
              <a:r>
                <a:rPr lang="en-GB" sz="1200" dirty="0"/>
                <a:t>Views\Home</a:t>
              </a:r>
            </a:p>
          </p:txBody>
        </p:sp>
        <p:sp>
          <p:nvSpPr>
            <p:cNvPr id="13" name="Rectangle 12">
              <a:extLst>
                <a:ext uri="{FF2B5EF4-FFF2-40B4-BE49-F238E27FC236}">
                  <a16:creationId xmlns:a16="http://schemas.microsoft.com/office/drawing/2014/main" id="{9FB8EE78-A8AE-4FD7-86D8-55027B38C43B}"/>
                </a:ext>
              </a:extLst>
            </p:cNvPr>
            <p:cNvSpPr/>
            <p:nvPr/>
          </p:nvSpPr>
          <p:spPr>
            <a:xfrm>
              <a:off x="9787944" y="2929766"/>
              <a:ext cx="1808957" cy="276999"/>
            </a:xfrm>
            <a:prstGeom prst="rect">
              <a:avLst/>
            </a:prstGeom>
          </p:spPr>
          <p:txBody>
            <a:bodyPr wrap="none">
              <a:spAutoFit/>
            </a:bodyPr>
            <a:lstStyle/>
            <a:p>
              <a:r>
                <a:rPr lang="en-GB" sz="1200" dirty="0"/>
                <a:t>Views\Home\Index.cshtml</a:t>
              </a:r>
            </a:p>
          </p:txBody>
        </p:sp>
      </p:grpSp>
    </p:spTree>
    <p:extLst>
      <p:ext uri="{BB962C8B-B14F-4D97-AF65-F5344CB8AC3E}">
        <p14:creationId xmlns:p14="http://schemas.microsoft.com/office/powerpoint/2010/main" val="2781967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0344307D-EA2F-4D93-B9D5-2C7E3A2066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784" b="778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D66CBB-2846-4809-9184-7AC4803EE575}"/>
              </a:ext>
            </a:extLst>
          </p:cNvPr>
          <p:cNvSpPr>
            <a:spLocks noGrp="1"/>
          </p:cNvSpPr>
          <p:nvPr>
            <p:ph type="title"/>
          </p:nvPr>
        </p:nvSpPr>
        <p:spPr>
          <a:xfrm>
            <a:off x="603504" y="904939"/>
            <a:ext cx="7612649" cy="1219698"/>
          </a:xfrm>
        </p:spPr>
        <p:txBody>
          <a:bodyPr vert="horz" lIns="91440" tIns="45720" rIns="91440" bIns="45720" rtlCol="0" anchor="b">
            <a:normAutofit/>
          </a:bodyPr>
          <a:lstStyle/>
          <a:p>
            <a:pPr>
              <a:lnSpc>
                <a:spcPct val="80000"/>
              </a:lnSpc>
            </a:pPr>
            <a:r>
              <a:rPr lang="en-US" sz="6600" kern="1200" spc="-120" baseline="0" dirty="0">
                <a:solidFill>
                  <a:schemeClr val="tx1"/>
                </a:solidFill>
                <a:latin typeface="+mj-lt"/>
                <a:ea typeface="+mj-ea"/>
                <a:cs typeface="+mj-cs"/>
              </a:rPr>
              <a:t>View templating</a:t>
            </a:r>
          </a:p>
        </p:txBody>
      </p:sp>
    </p:spTree>
    <p:extLst>
      <p:ext uri="{BB962C8B-B14F-4D97-AF65-F5344CB8AC3E}">
        <p14:creationId xmlns:p14="http://schemas.microsoft.com/office/powerpoint/2010/main" val="1370168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reaching for a drawer&#10;&#10;Description automatically generated">
            <a:extLst>
              <a:ext uri="{FF2B5EF4-FFF2-40B4-BE49-F238E27FC236}">
                <a16:creationId xmlns:a16="http://schemas.microsoft.com/office/drawing/2014/main" id="{3EDFE0C3-3602-8327-2715-843666511B06}"/>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0" y="0"/>
            <a:ext cx="12192000" cy="8131178"/>
          </a:xfrm>
          <a:prstGeom prst="rect">
            <a:avLst/>
          </a:prstGeom>
        </p:spPr>
      </p:pic>
      <p:sp>
        <p:nvSpPr>
          <p:cNvPr id="6" name="Title 1">
            <a:extLst>
              <a:ext uri="{FF2B5EF4-FFF2-40B4-BE49-F238E27FC236}">
                <a16:creationId xmlns:a16="http://schemas.microsoft.com/office/drawing/2014/main" id="{8BB0D3B9-8C03-8CB3-8BA3-7B67BCDCB4DC}"/>
              </a:ext>
            </a:extLst>
          </p:cNvPr>
          <p:cNvSpPr>
            <a:spLocks noGrp="1"/>
          </p:cNvSpPr>
          <p:nvPr>
            <p:ph type="title"/>
          </p:nvPr>
        </p:nvSpPr>
        <p:spPr>
          <a:xfrm>
            <a:off x="603504" y="904939"/>
            <a:ext cx="7612649" cy="1219698"/>
          </a:xfrm>
        </p:spPr>
        <p:txBody>
          <a:bodyPr vert="horz" lIns="91440" tIns="45720" rIns="91440" bIns="45720" rtlCol="0" anchor="b">
            <a:normAutofit/>
          </a:bodyPr>
          <a:lstStyle/>
          <a:p>
            <a:pPr>
              <a:lnSpc>
                <a:spcPct val="80000"/>
              </a:lnSpc>
            </a:pPr>
            <a:r>
              <a:rPr lang="en-US" sz="6600" kern="1200" spc="-120" baseline="0" dirty="0">
                <a:solidFill>
                  <a:schemeClr val="bg1"/>
                </a:solidFill>
                <a:latin typeface="+mj-lt"/>
                <a:ea typeface="+mj-ea"/>
                <a:cs typeface="+mj-cs"/>
              </a:rPr>
              <a:t>Database access</a:t>
            </a:r>
          </a:p>
        </p:txBody>
      </p:sp>
      <p:sp>
        <p:nvSpPr>
          <p:cNvPr id="2" name="Content Placeholder 2">
            <a:extLst>
              <a:ext uri="{FF2B5EF4-FFF2-40B4-BE49-F238E27FC236}">
                <a16:creationId xmlns:a16="http://schemas.microsoft.com/office/drawing/2014/main" id="{F8845809-EF27-A3D3-5A80-26F283559E4A}"/>
              </a:ext>
            </a:extLst>
          </p:cNvPr>
          <p:cNvSpPr>
            <a:spLocks noGrp="1"/>
          </p:cNvSpPr>
          <p:nvPr>
            <p:ph idx="1"/>
          </p:nvPr>
        </p:nvSpPr>
        <p:spPr>
          <a:xfrm>
            <a:off x="719137" y="2718261"/>
            <a:ext cx="10753725" cy="3766185"/>
          </a:xfrm>
        </p:spPr>
        <p:txBody>
          <a:bodyPr>
            <a:normAutofit/>
          </a:bodyPr>
          <a:lstStyle/>
          <a:p>
            <a:r>
              <a:rPr lang="en-GB" b="1" dirty="0">
                <a:solidFill>
                  <a:schemeClr val="bg1"/>
                </a:solidFill>
              </a:rPr>
              <a:t>Various database drivers:</a:t>
            </a:r>
          </a:p>
          <a:p>
            <a:r>
              <a:rPr lang="en-GB" b="1" dirty="0">
                <a:solidFill>
                  <a:schemeClr val="bg1"/>
                </a:solidFill>
              </a:rPr>
              <a:t>JDBC</a:t>
            </a:r>
          </a:p>
          <a:p>
            <a:r>
              <a:rPr lang="en-GB" b="1" dirty="0">
                <a:solidFill>
                  <a:schemeClr val="bg1"/>
                </a:solidFill>
              </a:rPr>
              <a:t>ADO.NET</a:t>
            </a:r>
          </a:p>
          <a:p>
            <a:r>
              <a:rPr lang="en-GB" b="1" dirty="0">
                <a:solidFill>
                  <a:schemeClr val="bg1"/>
                </a:solidFill>
              </a:rPr>
              <a:t>ODBC</a:t>
            </a:r>
          </a:p>
          <a:p>
            <a:r>
              <a:rPr lang="en-GB" b="1" dirty="0">
                <a:solidFill>
                  <a:schemeClr val="bg1"/>
                </a:solidFill>
              </a:rPr>
              <a:t>Psycopg2</a:t>
            </a:r>
          </a:p>
          <a:p>
            <a:r>
              <a:rPr lang="en-GB" b="1" dirty="0" err="1">
                <a:solidFill>
                  <a:schemeClr val="bg1"/>
                </a:solidFill>
              </a:rPr>
              <a:t>SQLAlchemy</a:t>
            </a:r>
            <a:endParaRPr lang="en-GB" b="1" dirty="0">
              <a:solidFill>
                <a:schemeClr val="bg1"/>
              </a:solidFill>
            </a:endParaRPr>
          </a:p>
        </p:txBody>
      </p:sp>
    </p:spTree>
    <p:extLst>
      <p:ext uri="{BB962C8B-B14F-4D97-AF65-F5344CB8AC3E}">
        <p14:creationId xmlns:p14="http://schemas.microsoft.com/office/powerpoint/2010/main" val="1245681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mage result for EF Core">
            <a:extLst>
              <a:ext uri="{FF2B5EF4-FFF2-40B4-BE49-F238E27FC236}">
                <a16:creationId xmlns:a16="http://schemas.microsoft.com/office/drawing/2014/main" id="{2C52DD78-E77F-4EED-A669-A07B31730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81" y="717394"/>
            <a:ext cx="5629275" cy="5629275"/>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B07C5811-7098-49F0-9684-4B44BE9529AC}"/>
              </a:ext>
            </a:extLst>
          </p:cNvPr>
          <p:cNvGrpSpPr/>
          <p:nvPr/>
        </p:nvGrpSpPr>
        <p:grpSpPr>
          <a:xfrm>
            <a:off x="9775064" y="2205507"/>
            <a:ext cx="853567" cy="758903"/>
            <a:chOff x="8847785" y="3013656"/>
            <a:chExt cx="1725770" cy="887034"/>
          </a:xfrm>
          <a:solidFill>
            <a:schemeClr val="bg1"/>
          </a:solidFill>
        </p:grpSpPr>
        <p:sp>
          <p:nvSpPr>
            <p:cNvPr id="22" name="Flowchart: Magnetic Disk 21">
              <a:extLst>
                <a:ext uri="{FF2B5EF4-FFF2-40B4-BE49-F238E27FC236}">
                  <a16:creationId xmlns:a16="http://schemas.microsoft.com/office/drawing/2014/main" id="{24A3B681-B405-4850-B9FB-7A9CEB77CE62}"/>
                </a:ext>
              </a:extLst>
            </p:cNvPr>
            <p:cNvSpPr/>
            <p:nvPr/>
          </p:nvSpPr>
          <p:spPr>
            <a:xfrm>
              <a:off x="8847785" y="3485346"/>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Flowchart: Magnetic Disk 20">
              <a:extLst>
                <a:ext uri="{FF2B5EF4-FFF2-40B4-BE49-F238E27FC236}">
                  <a16:creationId xmlns:a16="http://schemas.microsoft.com/office/drawing/2014/main" id="{FC43F74C-FB1E-4891-A7CB-76F3B124B83C}"/>
                </a:ext>
              </a:extLst>
            </p:cNvPr>
            <p:cNvSpPr/>
            <p:nvPr/>
          </p:nvSpPr>
          <p:spPr>
            <a:xfrm>
              <a:off x="8847786" y="3259965"/>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Magnetic Disk 10">
              <a:extLst>
                <a:ext uri="{FF2B5EF4-FFF2-40B4-BE49-F238E27FC236}">
                  <a16:creationId xmlns:a16="http://schemas.microsoft.com/office/drawing/2014/main" id="{BEE7B179-6EFD-4456-B2F6-AA9B1FB4D7B1}"/>
                </a:ext>
              </a:extLst>
            </p:cNvPr>
            <p:cNvSpPr/>
            <p:nvPr/>
          </p:nvSpPr>
          <p:spPr>
            <a:xfrm>
              <a:off x="8847786" y="3013656"/>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5" name="Graphic 14" descr="Web design">
            <a:extLst>
              <a:ext uri="{FF2B5EF4-FFF2-40B4-BE49-F238E27FC236}">
                <a16:creationId xmlns:a16="http://schemas.microsoft.com/office/drawing/2014/main" id="{BE9F87F9-B2C7-449B-8041-AB79333228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6384" y="2139504"/>
            <a:ext cx="914400" cy="914400"/>
          </a:xfrm>
          <a:prstGeom prst="rect">
            <a:avLst/>
          </a:prstGeom>
        </p:spPr>
      </p:pic>
      <p:cxnSp>
        <p:nvCxnSpPr>
          <p:cNvPr id="25" name="Straight Arrow Connector 24">
            <a:extLst>
              <a:ext uri="{FF2B5EF4-FFF2-40B4-BE49-F238E27FC236}">
                <a16:creationId xmlns:a16="http://schemas.microsoft.com/office/drawing/2014/main" id="{101881D4-2ABD-46AC-AFDA-3C7268627D9E}"/>
              </a:ext>
            </a:extLst>
          </p:cNvPr>
          <p:cNvCxnSpPr>
            <a:stCxn id="15" idx="3"/>
            <a:endCxn id="21" idx="2"/>
          </p:cNvCxnSpPr>
          <p:nvPr/>
        </p:nvCxnSpPr>
        <p:spPr>
          <a:xfrm flipV="1">
            <a:off x="7170784" y="2593911"/>
            <a:ext cx="2604280" cy="2793"/>
          </a:xfrm>
          <a:prstGeom prst="straightConnector1">
            <a:avLst/>
          </a:prstGeom>
          <a:ln>
            <a:solidFill>
              <a:schemeClr val="bg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7B9751-5D3F-4C5E-8A5F-D2133A79B924}"/>
              </a:ext>
            </a:extLst>
          </p:cNvPr>
          <p:cNvSpPr txBox="1"/>
          <p:nvPr/>
        </p:nvSpPr>
        <p:spPr>
          <a:xfrm>
            <a:off x="7744936" y="2278973"/>
            <a:ext cx="1455976" cy="307777"/>
          </a:xfrm>
          <a:prstGeom prst="rect">
            <a:avLst/>
          </a:prstGeom>
          <a:noFill/>
        </p:spPr>
        <p:txBody>
          <a:bodyPr wrap="none" rtlCol="0">
            <a:spAutoFit/>
          </a:bodyPr>
          <a:lstStyle/>
          <a:p>
            <a:r>
              <a:rPr lang="en-GB" sz="1400" dirty="0">
                <a:solidFill>
                  <a:schemeClr val="bg1"/>
                </a:solidFill>
              </a:rPr>
              <a:t>Entity Framework</a:t>
            </a:r>
          </a:p>
        </p:txBody>
      </p:sp>
      <p:sp>
        <p:nvSpPr>
          <p:cNvPr id="34" name="TextBox 33">
            <a:extLst>
              <a:ext uri="{FF2B5EF4-FFF2-40B4-BE49-F238E27FC236}">
                <a16:creationId xmlns:a16="http://schemas.microsoft.com/office/drawing/2014/main" id="{DB694228-F7B0-4B8C-A9A7-539F319DB1D9}"/>
              </a:ext>
            </a:extLst>
          </p:cNvPr>
          <p:cNvSpPr txBox="1"/>
          <p:nvPr/>
        </p:nvSpPr>
        <p:spPr>
          <a:xfrm>
            <a:off x="6447490" y="2900015"/>
            <a:ext cx="554960" cy="307777"/>
          </a:xfrm>
          <a:prstGeom prst="rect">
            <a:avLst/>
          </a:prstGeom>
          <a:noFill/>
        </p:spPr>
        <p:txBody>
          <a:bodyPr wrap="none" rtlCol="0">
            <a:spAutoFit/>
          </a:bodyPr>
          <a:lstStyle/>
          <a:p>
            <a:r>
              <a:rPr lang="en-GB" sz="1400" dirty="0">
                <a:solidFill>
                  <a:schemeClr val="bg1"/>
                </a:solidFill>
              </a:rPr>
              <a:t>Code</a:t>
            </a:r>
          </a:p>
        </p:txBody>
      </p:sp>
      <p:sp>
        <p:nvSpPr>
          <p:cNvPr id="35" name="TextBox 34">
            <a:extLst>
              <a:ext uri="{FF2B5EF4-FFF2-40B4-BE49-F238E27FC236}">
                <a16:creationId xmlns:a16="http://schemas.microsoft.com/office/drawing/2014/main" id="{F4A9B9A7-E96A-47D8-94D7-D08688F13FC3}"/>
              </a:ext>
            </a:extLst>
          </p:cNvPr>
          <p:cNvSpPr txBox="1"/>
          <p:nvPr/>
        </p:nvSpPr>
        <p:spPr>
          <a:xfrm>
            <a:off x="9775064" y="3007708"/>
            <a:ext cx="853567" cy="307777"/>
          </a:xfrm>
          <a:prstGeom prst="rect">
            <a:avLst/>
          </a:prstGeom>
          <a:noFill/>
        </p:spPr>
        <p:txBody>
          <a:bodyPr wrap="none" rtlCol="0">
            <a:spAutoFit/>
          </a:bodyPr>
          <a:lstStyle/>
          <a:p>
            <a:r>
              <a:rPr lang="en-GB" sz="1400" dirty="0">
                <a:solidFill>
                  <a:schemeClr val="bg1"/>
                </a:solidFill>
              </a:rPr>
              <a:t>Database</a:t>
            </a:r>
          </a:p>
        </p:txBody>
      </p:sp>
      <p:pic>
        <p:nvPicPr>
          <p:cNvPr id="29" name="Picture 28">
            <a:extLst>
              <a:ext uri="{FF2B5EF4-FFF2-40B4-BE49-F238E27FC236}">
                <a16:creationId xmlns:a16="http://schemas.microsoft.com/office/drawing/2014/main" id="{AEA9266C-DB57-4643-BF61-4A411DC5035B}"/>
              </a:ext>
            </a:extLst>
          </p:cNvPr>
          <p:cNvPicPr>
            <a:picLocks noChangeAspect="1"/>
          </p:cNvPicPr>
          <p:nvPr/>
        </p:nvPicPr>
        <p:blipFill>
          <a:blip r:embed="rId6"/>
          <a:stretch>
            <a:fillRect/>
          </a:stretch>
        </p:blipFill>
        <p:spPr>
          <a:xfrm>
            <a:off x="8882450" y="3655283"/>
            <a:ext cx="2638793" cy="1371791"/>
          </a:xfrm>
          <a:prstGeom prst="rect">
            <a:avLst/>
          </a:prstGeom>
        </p:spPr>
      </p:pic>
      <p:pic>
        <p:nvPicPr>
          <p:cNvPr id="30" name="Picture 29">
            <a:extLst>
              <a:ext uri="{FF2B5EF4-FFF2-40B4-BE49-F238E27FC236}">
                <a16:creationId xmlns:a16="http://schemas.microsoft.com/office/drawing/2014/main" id="{A4B6B746-E9CB-4734-AF62-DC6E98D357A7}"/>
              </a:ext>
            </a:extLst>
          </p:cNvPr>
          <p:cNvPicPr>
            <a:picLocks noChangeAspect="1"/>
          </p:cNvPicPr>
          <p:nvPr/>
        </p:nvPicPr>
        <p:blipFill>
          <a:blip r:embed="rId7"/>
          <a:stretch>
            <a:fillRect/>
          </a:stretch>
        </p:blipFill>
        <p:spPr>
          <a:xfrm>
            <a:off x="5289692" y="3650209"/>
            <a:ext cx="2862635" cy="1376865"/>
          </a:xfrm>
          <a:prstGeom prst="rect">
            <a:avLst/>
          </a:prstGeom>
        </p:spPr>
      </p:pic>
    </p:spTree>
    <p:extLst>
      <p:ext uri="{BB962C8B-B14F-4D97-AF65-F5344CB8AC3E}">
        <p14:creationId xmlns:p14="http://schemas.microsoft.com/office/powerpoint/2010/main" val="651460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E12D53-2AC6-40A7-948E-DD1FEB3C1E63}"/>
              </a:ext>
            </a:extLst>
          </p:cNvPr>
          <p:cNvPicPr>
            <a:picLocks noChangeAspect="1"/>
          </p:cNvPicPr>
          <p:nvPr/>
        </p:nvPicPr>
        <p:blipFill>
          <a:blip r:embed="rId3"/>
          <a:stretch>
            <a:fillRect/>
          </a:stretch>
        </p:blipFill>
        <p:spPr>
          <a:xfrm>
            <a:off x="703302" y="1754112"/>
            <a:ext cx="3989746" cy="2676352"/>
          </a:xfrm>
          <a:prstGeom prst="rect">
            <a:avLst/>
          </a:prstGeom>
        </p:spPr>
      </p:pic>
      <p:graphicFrame>
        <p:nvGraphicFramePr>
          <p:cNvPr id="6" name="Table 6">
            <a:extLst>
              <a:ext uri="{FF2B5EF4-FFF2-40B4-BE49-F238E27FC236}">
                <a16:creationId xmlns:a16="http://schemas.microsoft.com/office/drawing/2014/main" id="{37F0B740-3341-4FB6-A9C9-D4770BC1D098}"/>
              </a:ext>
            </a:extLst>
          </p:cNvPr>
          <p:cNvGraphicFramePr>
            <a:graphicFrameLocks noGrp="1"/>
          </p:cNvGraphicFramePr>
          <p:nvPr>
            <p:extLst>
              <p:ext uri="{D42A27DB-BD31-4B8C-83A1-F6EECF244321}">
                <p14:modId xmlns:p14="http://schemas.microsoft.com/office/powerpoint/2010/main" val="1921674324"/>
              </p:ext>
            </p:extLst>
          </p:nvPr>
        </p:nvGraphicFramePr>
        <p:xfrm>
          <a:off x="7907181" y="2134300"/>
          <a:ext cx="3716794" cy="2055912"/>
        </p:xfrm>
        <a:graphic>
          <a:graphicData uri="http://schemas.openxmlformats.org/drawingml/2006/table">
            <a:tbl>
              <a:tblPr bandRow="1">
                <a:tableStyleId>{5C22544A-7EE6-4342-B048-85BDC9FD1C3A}</a:tableStyleId>
              </a:tblPr>
              <a:tblGrid>
                <a:gridCol w="1858397">
                  <a:extLst>
                    <a:ext uri="{9D8B030D-6E8A-4147-A177-3AD203B41FA5}">
                      <a16:colId xmlns:a16="http://schemas.microsoft.com/office/drawing/2014/main" val="1298223749"/>
                    </a:ext>
                  </a:extLst>
                </a:gridCol>
                <a:gridCol w="1858397">
                  <a:extLst>
                    <a:ext uri="{9D8B030D-6E8A-4147-A177-3AD203B41FA5}">
                      <a16:colId xmlns:a16="http://schemas.microsoft.com/office/drawing/2014/main" val="3131893168"/>
                    </a:ext>
                  </a:extLst>
                </a:gridCol>
              </a:tblGrid>
              <a:tr h="350976">
                <a:tc>
                  <a:txBody>
                    <a:bodyPr/>
                    <a:lstStyle/>
                    <a:p>
                      <a:r>
                        <a:rPr lang="en-GB" b="1" dirty="0"/>
                        <a:t>Id</a:t>
                      </a:r>
                    </a:p>
                  </a:txBody>
                  <a:tcPr/>
                </a:tc>
                <a:tc>
                  <a:txBody>
                    <a:bodyPr/>
                    <a:lstStyle/>
                    <a:p>
                      <a:r>
                        <a:rPr lang="en-GB" b="1" dirty="0"/>
                        <a:t>Int (PK</a:t>
                      </a:r>
                    </a:p>
                  </a:txBody>
                  <a:tcPr/>
                </a:tc>
                <a:extLst>
                  <a:ext uri="{0D108BD9-81ED-4DB2-BD59-A6C34878D82A}">
                    <a16:rowId xmlns:a16="http://schemas.microsoft.com/office/drawing/2014/main" val="3321340739"/>
                  </a:ext>
                </a:extLst>
              </a:tr>
              <a:tr h="422538">
                <a:tc>
                  <a:txBody>
                    <a:bodyPr/>
                    <a:lstStyle/>
                    <a:p>
                      <a:r>
                        <a:rPr lang="en-GB" dirty="0" err="1"/>
                        <a:t>CreatedDate</a:t>
                      </a:r>
                      <a:endParaRPr lang="en-GB" dirty="0"/>
                    </a:p>
                  </a:txBody>
                  <a:tcPr/>
                </a:tc>
                <a:tc>
                  <a:txBody>
                    <a:bodyPr/>
                    <a:lstStyle/>
                    <a:p>
                      <a:r>
                        <a:rPr lang="en-GB" dirty="0"/>
                        <a:t>datetime</a:t>
                      </a:r>
                    </a:p>
                  </a:txBody>
                  <a:tcPr/>
                </a:tc>
                <a:extLst>
                  <a:ext uri="{0D108BD9-81ED-4DB2-BD59-A6C34878D82A}">
                    <a16:rowId xmlns:a16="http://schemas.microsoft.com/office/drawing/2014/main" val="2625211431"/>
                  </a:ext>
                </a:extLst>
              </a:tr>
              <a:tr h="422538">
                <a:tc>
                  <a:txBody>
                    <a:bodyPr/>
                    <a:lstStyle/>
                    <a:p>
                      <a:r>
                        <a:rPr lang="en-GB" dirty="0"/>
                        <a:t>Title</a:t>
                      </a:r>
                    </a:p>
                  </a:txBody>
                  <a:tcPr/>
                </a:tc>
                <a:tc>
                  <a:txBody>
                    <a:bodyPr/>
                    <a:lstStyle/>
                    <a:p>
                      <a:r>
                        <a:rPr lang="en-GB" dirty="0" err="1"/>
                        <a:t>nvarchar</a:t>
                      </a:r>
                      <a:r>
                        <a:rPr lang="en-GB" dirty="0"/>
                        <a:t>(MAX)</a:t>
                      </a:r>
                    </a:p>
                  </a:txBody>
                  <a:tcPr/>
                </a:tc>
                <a:extLst>
                  <a:ext uri="{0D108BD9-81ED-4DB2-BD59-A6C34878D82A}">
                    <a16:rowId xmlns:a16="http://schemas.microsoft.com/office/drawing/2014/main" val="2776416559"/>
                  </a:ext>
                </a:extLst>
              </a:tr>
              <a:tr h="422538">
                <a:tc>
                  <a:txBody>
                    <a:bodyPr/>
                    <a:lstStyle/>
                    <a:p>
                      <a:r>
                        <a:rPr lang="en-GB" dirty="0"/>
                        <a:t>Content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nvarchar</a:t>
                      </a:r>
                      <a:r>
                        <a:rPr lang="en-GB" dirty="0"/>
                        <a:t>(MAX)</a:t>
                      </a:r>
                    </a:p>
                  </a:txBody>
                  <a:tcPr/>
                </a:tc>
                <a:extLst>
                  <a:ext uri="{0D108BD9-81ED-4DB2-BD59-A6C34878D82A}">
                    <a16:rowId xmlns:a16="http://schemas.microsoft.com/office/drawing/2014/main" val="1618561514"/>
                  </a:ext>
                </a:extLst>
              </a:tr>
              <a:tr h="422538">
                <a:tc>
                  <a:txBody>
                    <a:bodyPr/>
                    <a:lstStyle/>
                    <a:p>
                      <a:r>
                        <a:rPr lang="en-GB" dirty="0" err="1"/>
                        <a:t>ImageUrl</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nvarchar</a:t>
                      </a:r>
                      <a:r>
                        <a:rPr lang="en-GB" dirty="0"/>
                        <a:t>(2048)</a:t>
                      </a:r>
                    </a:p>
                  </a:txBody>
                  <a:tcPr/>
                </a:tc>
                <a:extLst>
                  <a:ext uri="{0D108BD9-81ED-4DB2-BD59-A6C34878D82A}">
                    <a16:rowId xmlns:a16="http://schemas.microsoft.com/office/drawing/2014/main" val="782980026"/>
                  </a:ext>
                </a:extLst>
              </a:tr>
            </a:tbl>
          </a:graphicData>
        </a:graphic>
      </p:graphicFrame>
      <p:sp>
        <p:nvSpPr>
          <p:cNvPr id="15" name="TextBox 14">
            <a:extLst>
              <a:ext uri="{FF2B5EF4-FFF2-40B4-BE49-F238E27FC236}">
                <a16:creationId xmlns:a16="http://schemas.microsoft.com/office/drawing/2014/main" id="{CE3A4EE7-B95B-447B-8BE5-60B1C4E78BD5}"/>
              </a:ext>
            </a:extLst>
          </p:cNvPr>
          <p:cNvSpPr txBox="1"/>
          <p:nvPr/>
        </p:nvSpPr>
        <p:spPr>
          <a:xfrm>
            <a:off x="599830" y="1248355"/>
            <a:ext cx="1961983" cy="461665"/>
          </a:xfrm>
          <a:prstGeom prst="rect">
            <a:avLst/>
          </a:prstGeom>
          <a:noFill/>
        </p:spPr>
        <p:txBody>
          <a:bodyPr wrap="square" rtlCol="0">
            <a:spAutoFit/>
          </a:bodyPr>
          <a:lstStyle/>
          <a:p>
            <a:r>
              <a:rPr lang="en-GB" sz="2400" b="1" dirty="0"/>
              <a:t>Class</a:t>
            </a:r>
          </a:p>
        </p:txBody>
      </p:sp>
      <p:sp>
        <p:nvSpPr>
          <p:cNvPr id="16" name="TextBox 15">
            <a:extLst>
              <a:ext uri="{FF2B5EF4-FFF2-40B4-BE49-F238E27FC236}">
                <a16:creationId xmlns:a16="http://schemas.microsoft.com/office/drawing/2014/main" id="{800D27A7-89AF-4CE4-A4C9-694F9070FA78}"/>
              </a:ext>
            </a:extLst>
          </p:cNvPr>
          <p:cNvSpPr txBox="1"/>
          <p:nvPr/>
        </p:nvSpPr>
        <p:spPr>
          <a:xfrm>
            <a:off x="7907181" y="1787867"/>
            <a:ext cx="1961983" cy="461665"/>
          </a:xfrm>
          <a:prstGeom prst="rect">
            <a:avLst/>
          </a:prstGeom>
          <a:noFill/>
        </p:spPr>
        <p:txBody>
          <a:bodyPr wrap="square" rtlCol="0">
            <a:spAutoFit/>
          </a:bodyPr>
          <a:lstStyle/>
          <a:p>
            <a:r>
              <a:rPr lang="en-GB" sz="2400" b="1" dirty="0"/>
              <a:t>Table</a:t>
            </a:r>
          </a:p>
        </p:txBody>
      </p:sp>
      <p:grpSp>
        <p:nvGrpSpPr>
          <p:cNvPr id="17" name="Group 16">
            <a:extLst>
              <a:ext uri="{FF2B5EF4-FFF2-40B4-BE49-F238E27FC236}">
                <a16:creationId xmlns:a16="http://schemas.microsoft.com/office/drawing/2014/main" id="{C2A5616A-0002-42D3-BAB5-F322ACA3ABFE}"/>
              </a:ext>
            </a:extLst>
          </p:cNvPr>
          <p:cNvGrpSpPr/>
          <p:nvPr/>
        </p:nvGrpSpPr>
        <p:grpSpPr>
          <a:xfrm>
            <a:off x="9333135" y="445360"/>
            <a:ext cx="853567" cy="758903"/>
            <a:chOff x="8847785" y="3013656"/>
            <a:chExt cx="1725770" cy="887034"/>
          </a:xfrm>
          <a:solidFill>
            <a:schemeClr val="bg1"/>
          </a:solidFill>
        </p:grpSpPr>
        <p:sp>
          <p:nvSpPr>
            <p:cNvPr id="18" name="Flowchart: Magnetic Disk 17">
              <a:extLst>
                <a:ext uri="{FF2B5EF4-FFF2-40B4-BE49-F238E27FC236}">
                  <a16:creationId xmlns:a16="http://schemas.microsoft.com/office/drawing/2014/main" id="{F90395CB-B599-48D5-99E7-5F2FFD503C11}"/>
                </a:ext>
              </a:extLst>
            </p:cNvPr>
            <p:cNvSpPr/>
            <p:nvPr/>
          </p:nvSpPr>
          <p:spPr>
            <a:xfrm>
              <a:off x="8847785" y="3485346"/>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lowchart: Magnetic Disk 18">
              <a:extLst>
                <a:ext uri="{FF2B5EF4-FFF2-40B4-BE49-F238E27FC236}">
                  <a16:creationId xmlns:a16="http://schemas.microsoft.com/office/drawing/2014/main" id="{E617F31D-A9E4-49FD-B3D7-B6FAD9EEB202}"/>
                </a:ext>
              </a:extLst>
            </p:cNvPr>
            <p:cNvSpPr/>
            <p:nvPr/>
          </p:nvSpPr>
          <p:spPr>
            <a:xfrm>
              <a:off x="8847786" y="3259965"/>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Magnetic Disk 19">
              <a:extLst>
                <a:ext uri="{FF2B5EF4-FFF2-40B4-BE49-F238E27FC236}">
                  <a16:creationId xmlns:a16="http://schemas.microsoft.com/office/drawing/2014/main" id="{18242858-CBC8-4BB2-AAD2-1F4CDFB4EEAC}"/>
                </a:ext>
              </a:extLst>
            </p:cNvPr>
            <p:cNvSpPr/>
            <p:nvPr/>
          </p:nvSpPr>
          <p:spPr>
            <a:xfrm>
              <a:off x="8847786" y="3013656"/>
              <a:ext cx="1725769" cy="415344"/>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1" name="Graphic 20" descr="Web design">
            <a:extLst>
              <a:ext uri="{FF2B5EF4-FFF2-40B4-BE49-F238E27FC236}">
                <a16:creationId xmlns:a16="http://schemas.microsoft.com/office/drawing/2014/main" id="{4D8F5243-F801-4B18-A6B0-2A15E0BAB4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40975" y="289863"/>
            <a:ext cx="914400" cy="914400"/>
          </a:xfrm>
          <a:prstGeom prst="rect">
            <a:avLst/>
          </a:prstGeom>
        </p:spPr>
      </p:pic>
      <p:cxnSp>
        <p:nvCxnSpPr>
          <p:cNvPr id="22" name="Straight Arrow Connector 21">
            <a:extLst>
              <a:ext uri="{FF2B5EF4-FFF2-40B4-BE49-F238E27FC236}">
                <a16:creationId xmlns:a16="http://schemas.microsoft.com/office/drawing/2014/main" id="{6C9BD571-0AFD-497A-99AE-5C4058FA885B}"/>
              </a:ext>
            </a:extLst>
          </p:cNvPr>
          <p:cNvCxnSpPr>
            <a:cxnSpLocks/>
          </p:cNvCxnSpPr>
          <p:nvPr/>
        </p:nvCxnSpPr>
        <p:spPr>
          <a:xfrm flipV="1">
            <a:off x="4998146" y="3169417"/>
            <a:ext cx="2604280" cy="2793"/>
          </a:xfrm>
          <a:prstGeom prst="straightConnector1">
            <a:avLst/>
          </a:prstGeom>
          <a:ln>
            <a:solidFill>
              <a:schemeClr val="bg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F0D0992-882E-4BC2-9F7E-BF4890B808AC}"/>
              </a:ext>
            </a:extLst>
          </p:cNvPr>
          <p:cNvSpPr txBox="1"/>
          <p:nvPr/>
        </p:nvSpPr>
        <p:spPr>
          <a:xfrm>
            <a:off x="5572298" y="2854479"/>
            <a:ext cx="1455976" cy="307777"/>
          </a:xfrm>
          <a:prstGeom prst="rect">
            <a:avLst/>
          </a:prstGeom>
          <a:noFill/>
        </p:spPr>
        <p:txBody>
          <a:bodyPr wrap="none" rtlCol="0">
            <a:spAutoFit/>
          </a:bodyPr>
          <a:lstStyle/>
          <a:p>
            <a:r>
              <a:rPr lang="en-GB" sz="1400" dirty="0">
                <a:solidFill>
                  <a:schemeClr val="bg1"/>
                </a:solidFill>
              </a:rPr>
              <a:t>Entity Framework</a:t>
            </a:r>
          </a:p>
        </p:txBody>
      </p:sp>
      <p:sp>
        <p:nvSpPr>
          <p:cNvPr id="24" name="TextBox 23">
            <a:extLst>
              <a:ext uri="{FF2B5EF4-FFF2-40B4-BE49-F238E27FC236}">
                <a16:creationId xmlns:a16="http://schemas.microsoft.com/office/drawing/2014/main" id="{E2F04C4D-D1DA-4167-AE73-83CB8BE61252}"/>
              </a:ext>
            </a:extLst>
          </p:cNvPr>
          <p:cNvSpPr txBox="1"/>
          <p:nvPr/>
        </p:nvSpPr>
        <p:spPr>
          <a:xfrm>
            <a:off x="2432081" y="1050374"/>
            <a:ext cx="554960" cy="307777"/>
          </a:xfrm>
          <a:prstGeom prst="rect">
            <a:avLst/>
          </a:prstGeom>
          <a:noFill/>
        </p:spPr>
        <p:txBody>
          <a:bodyPr wrap="none" rtlCol="0">
            <a:spAutoFit/>
          </a:bodyPr>
          <a:lstStyle/>
          <a:p>
            <a:r>
              <a:rPr lang="en-GB" sz="1400" dirty="0">
                <a:solidFill>
                  <a:schemeClr val="bg1"/>
                </a:solidFill>
              </a:rPr>
              <a:t>Code</a:t>
            </a:r>
          </a:p>
        </p:txBody>
      </p:sp>
      <p:sp>
        <p:nvSpPr>
          <p:cNvPr id="25" name="TextBox 24">
            <a:extLst>
              <a:ext uri="{FF2B5EF4-FFF2-40B4-BE49-F238E27FC236}">
                <a16:creationId xmlns:a16="http://schemas.microsoft.com/office/drawing/2014/main" id="{2B68E03A-313D-42F8-91E6-6078B9F8FE15}"/>
              </a:ext>
            </a:extLst>
          </p:cNvPr>
          <p:cNvSpPr txBox="1"/>
          <p:nvPr/>
        </p:nvSpPr>
        <p:spPr>
          <a:xfrm>
            <a:off x="9333135" y="1247561"/>
            <a:ext cx="853567" cy="307777"/>
          </a:xfrm>
          <a:prstGeom prst="rect">
            <a:avLst/>
          </a:prstGeom>
          <a:noFill/>
        </p:spPr>
        <p:txBody>
          <a:bodyPr wrap="none" rtlCol="0">
            <a:spAutoFit/>
          </a:bodyPr>
          <a:lstStyle/>
          <a:p>
            <a:r>
              <a:rPr lang="en-GB" sz="1400" dirty="0">
                <a:solidFill>
                  <a:schemeClr val="bg1"/>
                </a:solidFill>
              </a:rPr>
              <a:t>Database</a:t>
            </a:r>
          </a:p>
        </p:txBody>
      </p:sp>
    </p:spTree>
    <p:extLst>
      <p:ext uri="{BB962C8B-B14F-4D97-AF65-F5344CB8AC3E}">
        <p14:creationId xmlns:p14="http://schemas.microsoft.com/office/powerpoint/2010/main" val="3046384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70">
            <a:extLst>
              <a:ext uri="{FF2B5EF4-FFF2-40B4-BE49-F238E27FC236}">
                <a16:creationId xmlns:a16="http://schemas.microsoft.com/office/drawing/2014/main" id="{D87AB319-64C0-4E2D-B1CD-0A970301BEEA}"/>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73" name="Rectangle 72">
            <a:extLst>
              <a:ext uri="{FF2B5EF4-FFF2-40B4-BE49-F238E27FC236}">
                <a16:creationId xmlns:a16="http://schemas.microsoft.com/office/drawing/2014/main" id="{73B36B60-731F-409B-A240-BBF521AB746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602AA2-7489-47F4-ABF9-CDE281697850}"/>
              </a:ext>
            </a:extLst>
          </p:cNvPr>
          <p:cNvSpPr>
            <a:spLocks noGrp="1"/>
          </p:cNvSpPr>
          <p:nvPr>
            <p:ph type="title"/>
          </p:nvPr>
        </p:nvSpPr>
        <p:spPr>
          <a:xfrm>
            <a:off x="603504" y="770467"/>
            <a:ext cx="3467051" cy="3352800"/>
          </a:xfrm>
        </p:spPr>
        <p:txBody>
          <a:bodyPr vert="horz" lIns="91440" tIns="45720" rIns="91440" bIns="45720" rtlCol="0" anchor="b">
            <a:normAutofit/>
          </a:bodyPr>
          <a:lstStyle/>
          <a:p>
            <a:pPr>
              <a:lnSpc>
                <a:spcPct val="80000"/>
              </a:lnSpc>
            </a:pPr>
            <a:r>
              <a:rPr lang="en-US" sz="6000">
                <a:solidFill>
                  <a:srgbClr val="FFFFFF"/>
                </a:solidFill>
              </a:rPr>
              <a:t>Routing</a:t>
            </a:r>
          </a:p>
        </p:txBody>
      </p:sp>
      <p:pic>
        <p:nvPicPr>
          <p:cNvPr id="1028" name="Picture 4" descr="Image result for blank browser window">
            <a:extLst>
              <a:ext uri="{FF2B5EF4-FFF2-40B4-BE49-F238E27FC236}">
                <a16:creationId xmlns:a16="http://schemas.microsoft.com/office/drawing/2014/main" id="{9A9413D7-8C9B-4209-84C3-B7319284A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2011" y="309297"/>
            <a:ext cx="2910373" cy="172803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Image result for blank browser window">
            <a:extLst>
              <a:ext uri="{FF2B5EF4-FFF2-40B4-BE49-F238E27FC236}">
                <a16:creationId xmlns:a16="http://schemas.microsoft.com/office/drawing/2014/main" id="{EB0637AC-862D-457D-B467-17DAD234D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6956" y="309297"/>
            <a:ext cx="2910373" cy="172803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4EB751F1-7401-4C22-B8B3-0A15A7E18203}"/>
              </a:ext>
            </a:extLst>
          </p:cNvPr>
          <p:cNvSpPr/>
          <p:nvPr/>
        </p:nvSpPr>
        <p:spPr>
          <a:xfrm>
            <a:off x="6103770" y="3103610"/>
            <a:ext cx="4623516" cy="23852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BAA05F46-2BE7-4242-B9E3-249104082DB3}"/>
              </a:ext>
            </a:extLst>
          </p:cNvPr>
          <p:cNvSpPr/>
          <p:nvPr/>
        </p:nvSpPr>
        <p:spPr>
          <a:xfrm>
            <a:off x="6222090" y="3533426"/>
            <a:ext cx="2102749" cy="553791"/>
          </a:xfrm>
          <a:prstGeom prst="roundRect">
            <a:avLst/>
          </a:prstGeom>
          <a:solidFill>
            <a:schemeClr val="accent1">
              <a:lumMod val="75000"/>
            </a:schemeClr>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ASP.Net</a:t>
            </a:r>
            <a:r>
              <a:rPr lang="en-GB" dirty="0"/>
              <a:t> Routing</a:t>
            </a:r>
          </a:p>
        </p:txBody>
      </p:sp>
      <p:sp>
        <p:nvSpPr>
          <p:cNvPr id="16" name="Rectangle: Rounded Corners 15">
            <a:extLst>
              <a:ext uri="{FF2B5EF4-FFF2-40B4-BE49-F238E27FC236}">
                <a16:creationId xmlns:a16="http://schemas.microsoft.com/office/drawing/2014/main" id="{419C08B8-B8EA-431C-9798-7D53F965851D}"/>
              </a:ext>
            </a:extLst>
          </p:cNvPr>
          <p:cNvSpPr/>
          <p:nvPr/>
        </p:nvSpPr>
        <p:spPr>
          <a:xfrm>
            <a:off x="8495748" y="3533425"/>
            <a:ext cx="2102749" cy="553791"/>
          </a:xfrm>
          <a:prstGeom prst="roundRect">
            <a:avLst/>
          </a:prstGeom>
          <a:solidFill>
            <a:schemeClr val="accent1">
              <a:lumMod val="75000"/>
            </a:schemeClr>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t>View Engine</a:t>
            </a:r>
          </a:p>
        </p:txBody>
      </p:sp>
      <p:sp>
        <p:nvSpPr>
          <p:cNvPr id="18" name="Rectangle: Rounded Corners 17">
            <a:extLst>
              <a:ext uri="{FF2B5EF4-FFF2-40B4-BE49-F238E27FC236}">
                <a16:creationId xmlns:a16="http://schemas.microsoft.com/office/drawing/2014/main" id="{8758BECE-B818-4C11-9CF6-EB609D78B0D1}"/>
              </a:ext>
            </a:extLst>
          </p:cNvPr>
          <p:cNvSpPr/>
          <p:nvPr/>
        </p:nvSpPr>
        <p:spPr>
          <a:xfrm>
            <a:off x="6736234" y="4511146"/>
            <a:ext cx="3358587" cy="553791"/>
          </a:xfrm>
          <a:prstGeom prst="roundRect">
            <a:avLst/>
          </a:prstGeom>
          <a:solidFill>
            <a:schemeClr val="accent1">
              <a:lumMod val="75000"/>
            </a:schemeClr>
          </a:solid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t>Controller/Action</a:t>
            </a:r>
          </a:p>
        </p:txBody>
      </p:sp>
      <p:cxnSp>
        <p:nvCxnSpPr>
          <p:cNvPr id="6" name="Straight Arrow Connector 5">
            <a:extLst>
              <a:ext uri="{FF2B5EF4-FFF2-40B4-BE49-F238E27FC236}">
                <a16:creationId xmlns:a16="http://schemas.microsoft.com/office/drawing/2014/main" id="{B7EE14FD-37B4-4910-A08B-29D93C3CF9E8}"/>
              </a:ext>
            </a:extLst>
          </p:cNvPr>
          <p:cNvCxnSpPr>
            <a:stCxn id="1028" idx="2"/>
            <a:endCxn id="4" idx="0"/>
          </p:cNvCxnSpPr>
          <p:nvPr/>
        </p:nvCxnSpPr>
        <p:spPr>
          <a:xfrm>
            <a:off x="6507198" y="2037331"/>
            <a:ext cx="766267" cy="1496095"/>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C7F4A13-058B-4D9E-AFDB-B6C05F935D99}"/>
              </a:ext>
            </a:extLst>
          </p:cNvPr>
          <p:cNvCxnSpPr>
            <a:cxnSpLocks/>
            <a:stCxn id="16" idx="0"/>
            <a:endCxn id="13" idx="2"/>
          </p:cNvCxnSpPr>
          <p:nvPr/>
        </p:nvCxnSpPr>
        <p:spPr>
          <a:xfrm flipV="1">
            <a:off x="9547123" y="2037331"/>
            <a:ext cx="775020" cy="1496094"/>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DBA05E6-C811-44A1-A2B1-AE7A8F13F94F}"/>
              </a:ext>
            </a:extLst>
          </p:cNvPr>
          <p:cNvCxnSpPr>
            <a:cxnSpLocks/>
            <a:stCxn id="4" idx="2"/>
          </p:cNvCxnSpPr>
          <p:nvPr/>
        </p:nvCxnSpPr>
        <p:spPr>
          <a:xfrm>
            <a:off x="7273465" y="4087217"/>
            <a:ext cx="0" cy="423929"/>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640D4A8-8F09-490D-914F-D1501FEB063A}"/>
              </a:ext>
            </a:extLst>
          </p:cNvPr>
          <p:cNvCxnSpPr>
            <a:cxnSpLocks/>
          </p:cNvCxnSpPr>
          <p:nvPr/>
        </p:nvCxnSpPr>
        <p:spPr>
          <a:xfrm flipV="1">
            <a:off x="9547122" y="4087217"/>
            <a:ext cx="1" cy="423928"/>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69E09E97-4339-4947-9272-381CB8ED0021}"/>
              </a:ext>
            </a:extLst>
          </p:cNvPr>
          <p:cNvPicPr>
            <a:picLocks noChangeAspect="1"/>
          </p:cNvPicPr>
          <p:nvPr/>
        </p:nvPicPr>
        <p:blipFill>
          <a:blip r:embed="rId4"/>
          <a:stretch>
            <a:fillRect/>
          </a:stretch>
        </p:blipFill>
        <p:spPr>
          <a:xfrm>
            <a:off x="8866956" y="552713"/>
            <a:ext cx="2910373" cy="1484617"/>
          </a:xfrm>
          <a:prstGeom prst="rect">
            <a:avLst/>
          </a:prstGeom>
        </p:spPr>
      </p:pic>
      <p:pic>
        <p:nvPicPr>
          <p:cNvPr id="5" name="Picture 4">
            <a:extLst>
              <a:ext uri="{FF2B5EF4-FFF2-40B4-BE49-F238E27FC236}">
                <a16:creationId xmlns:a16="http://schemas.microsoft.com/office/drawing/2014/main" id="{6B88673A-C3A2-421F-B523-5AB5BC8C4F33}"/>
              </a:ext>
            </a:extLst>
          </p:cNvPr>
          <p:cNvPicPr>
            <a:picLocks noChangeAspect="1"/>
          </p:cNvPicPr>
          <p:nvPr/>
        </p:nvPicPr>
        <p:blipFill>
          <a:blip r:embed="rId5"/>
          <a:stretch>
            <a:fillRect/>
          </a:stretch>
        </p:blipFill>
        <p:spPr>
          <a:xfrm>
            <a:off x="6703360" y="5550917"/>
            <a:ext cx="3424333" cy="1277555"/>
          </a:xfrm>
          <a:prstGeom prst="rect">
            <a:avLst/>
          </a:prstGeom>
        </p:spPr>
      </p:pic>
      <p:sp>
        <p:nvSpPr>
          <p:cNvPr id="17" name="TextBox 16">
            <a:extLst>
              <a:ext uri="{FF2B5EF4-FFF2-40B4-BE49-F238E27FC236}">
                <a16:creationId xmlns:a16="http://schemas.microsoft.com/office/drawing/2014/main" id="{F14D3D03-1454-47DD-A03B-C7EF41B30F81}"/>
              </a:ext>
            </a:extLst>
          </p:cNvPr>
          <p:cNvSpPr txBox="1"/>
          <p:nvPr/>
        </p:nvSpPr>
        <p:spPr>
          <a:xfrm>
            <a:off x="8923250" y="5635697"/>
            <a:ext cx="1109406" cy="369332"/>
          </a:xfrm>
          <a:prstGeom prst="rect">
            <a:avLst/>
          </a:prstGeom>
          <a:noFill/>
        </p:spPr>
        <p:txBody>
          <a:bodyPr wrap="none" rtlCol="0">
            <a:spAutoFit/>
          </a:bodyPr>
          <a:lstStyle/>
          <a:p>
            <a:r>
              <a:rPr lang="en-GB" dirty="0" err="1">
                <a:solidFill>
                  <a:schemeClr val="bg1"/>
                </a:solidFill>
              </a:rPr>
              <a:t>Startup.cs</a:t>
            </a:r>
            <a:endParaRPr lang="en-GB" dirty="0">
              <a:solidFill>
                <a:schemeClr val="bg1"/>
              </a:solidFill>
            </a:endParaRPr>
          </a:p>
        </p:txBody>
      </p:sp>
    </p:spTree>
    <p:extLst>
      <p:ext uri="{BB962C8B-B14F-4D97-AF65-F5344CB8AC3E}">
        <p14:creationId xmlns:p14="http://schemas.microsoft.com/office/powerpoint/2010/main" val="50372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70">
            <a:extLst>
              <a:ext uri="{FF2B5EF4-FFF2-40B4-BE49-F238E27FC236}">
                <a16:creationId xmlns:a16="http://schemas.microsoft.com/office/drawing/2014/main" id="{D87AB319-64C0-4E2D-B1CD-0A970301BEEA}"/>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pic>
        <p:nvPicPr>
          <p:cNvPr id="4" name="Picture 3">
            <a:extLst>
              <a:ext uri="{FF2B5EF4-FFF2-40B4-BE49-F238E27FC236}">
                <a16:creationId xmlns:a16="http://schemas.microsoft.com/office/drawing/2014/main" id="{E6A4A0BA-8091-C276-E15C-58573EDDB4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8125325"/>
          </a:xfrm>
          <a:prstGeom prst="rect">
            <a:avLst/>
          </a:prstGeom>
        </p:spPr>
      </p:pic>
      <p:sp>
        <p:nvSpPr>
          <p:cNvPr id="2" name="Title 1">
            <a:extLst>
              <a:ext uri="{FF2B5EF4-FFF2-40B4-BE49-F238E27FC236}">
                <a16:creationId xmlns:a16="http://schemas.microsoft.com/office/drawing/2014/main" id="{C3EAC9ED-A7C7-42F7-8AC2-979284B9F6F7}"/>
              </a:ext>
            </a:extLst>
          </p:cNvPr>
          <p:cNvSpPr>
            <a:spLocks noGrp="1"/>
          </p:cNvSpPr>
          <p:nvPr>
            <p:ph type="title"/>
          </p:nvPr>
        </p:nvSpPr>
        <p:spPr>
          <a:xfrm>
            <a:off x="684209" y="578223"/>
            <a:ext cx="3372464" cy="1059636"/>
          </a:xfrm>
        </p:spPr>
        <p:txBody>
          <a:bodyPr vert="horz" lIns="91440" tIns="45720" rIns="91440" bIns="45720" rtlCol="0" anchor="b">
            <a:normAutofit/>
          </a:bodyPr>
          <a:lstStyle/>
          <a:p>
            <a:pPr>
              <a:lnSpc>
                <a:spcPct val="80000"/>
              </a:lnSpc>
            </a:pPr>
            <a:r>
              <a:rPr lang="en-US" sz="6000" dirty="0">
                <a:solidFill>
                  <a:srgbClr val="FFFFFF"/>
                </a:solidFill>
              </a:rPr>
              <a:t>Controllers</a:t>
            </a:r>
          </a:p>
        </p:txBody>
      </p:sp>
    </p:spTree>
    <p:extLst>
      <p:ext uri="{BB962C8B-B14F-4D97-AF65-F5344CB8AC3E}">
        <p14:creationId xmlns:p14="http://schemas.microsoft.com/office/powerpoint/2010/main" val="2788875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D333CBE-B699-4E3B-9F45-C045F773434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73" name="Rectangle 72">
            <a:extLst>
              <a:ext uri="{FF2B5EF4-FFF2-40B4-BE49-F238E27FC236}">
                <a16:creationId xmlns:a16="http://schemas.microsoft.com/office/drawing/2014/main" id="{FFE50961-0F1B-484C-85BC-4BD16B9FF90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FA75BAC-442B-49CE-9C44-B7E9D9D7D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834" b="98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05EA30-A7AA-4D58-A2DC-0499DE3CF954}"/>
              </a:ext>
            </a:extLst>
          </p:cNvPr>
          <p:cNvSpPr>
            <a:spLocks noGrp="1"/>
          </p:cNvSpPr>
          <p:nvPr>
            <p:ph type="title"/>
          </p:nvPr>
        </p:nvSpPr>
        <p:spPr>
          <a:xfrm>
            <a:off x="482480" y="5284694"/>
            <a:ext cx="10782300" cy="1339726"/>
          </a:xfrm>
        </p:spPr>
        <p:txBody>
          <a:bodyPr vert="horz" lIns="91440" tIns="45720" rIns="91440" bIns="45720" rtlCol="0" anchor="b">
            <a:normAutofit/>
          </a:bodyPr>
          <a:lstStyle/>
          <a:p>
            <a:pPr>
              <a:lnSpc>
                <a:spcPct val="80000"/>
              </a:lnSpc>
            </a:pPr>
            <a:r>
              <a:rPr lang="en-US" sz="8800" kern="1200" spc="-120" baseline="0" dirty="0">
                <a:solidFill>
                  <a:schemeClr val="tx1"/>
                </a:solidFill>
                <a:latin typeface="+mj-lt"/>
                <a:ea typeface="+mj-ea"/>
                <a:cs typeface="+mj-cs"/>
              </a:rPr>
              <a:t>Actions</a:t>
            </a:r>
          </a:p>
        </p:txBody>
      </p:sp>
    </p:spTree>
    <p:extLst>
      <p:ext uri="{BB962C8B-B14F-4D97-AF65-F5344CB8AC3E}">
        <p14:creationId xmlns:p14="http://schemas.microsoft.com/office/powerpoint/2010/main" val="3280830930"/>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4AF0CD-934E-AE61-B723-E8A7F5E74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834" b="98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05EA30-A7AA-4D58-A2DC-0499DE3CF954}"/>
              </a:ext>
            </a:extLst>
          </p:cNvPr>
          <p:cNvSpPr>
            <a:spLocks noGrp="1"/>
          </p:cNvSpPr>
          <p:nvPr>
            <p:ph type="title"/>
          </p:nvPr>
        </p:nvSpPr>
        <p:spPr>
          <a:xfrm>
            <a:off x="374904" y="5096434"/>
            <a:ext cx="10782300" cy="1380067"/>
          </a:xfrm>
        </p:spPr>
        <p:txBody>
          <a:bodyPr vert="horz" lIns="91440" tIns="45720" rIns="91440" bIns="45720" rtlCol="0" anchor="b">
            <a:normAutofit/>
          </a:bodyPr>
          <a:lstStyle/>
          <a:p>
            <a:pPr>
              <a:lnSpc>
                <a:spcPct val="80000"/>
              </a:lnSpc>
            </a:pPr>
            <a:r>
              <a:rPr lang="en-US" sz="8800" dirty="0">
                <a:solidFill>
                  <a:schemeClr val="bg1"/>
                </a:solidFill>
              </a:rPr>
              <a:t>Action Results</a:t>
            </a:r>
          </a:p>
        </p:txBody>
      </p:sp>
    </p:spTree>
    <p:extLst>
      <p:ext uri="{BB962C8B-B14F-4D97-AF65-F5344CB8AC3E}">
        <p14:creationId xmlns:p14="http://schemas.microsoft.com/office/powerpoint/2010/main" val="2892771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A75BAC-442B-49CE-9C44-B7E9D9D7D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05EA30-A7AA-4D58-A2DC-0499DE3CF954}"/>
              </a:ext>
            </a:extLst>
          </p:cNvPr>
          <p:cNvSpPr>
            <a:spLocks noGrp="1"/>
          </p:cNvSpPr>
          <p:nvPr>
            <p:ph type="title"/>
          </p:nvPr>
        </p:nvSpPr>
        <p:spPr>
          <a:xfrm>
            <a:off x="536269" y="5029199"/>
            <a:ext cx="10782300" cy="1460749"/>
          </a:xfrm>
        </p:spPr>
        <p:txBody>
          <a:bodyPr vert="horz" lIns="91440" tIns="45720" rIns="91440" bIns="45720" rtlCol="0" anchor="b">
            <a:normAutofit/>
          </a:bodyPr>
          <a:lstStyle/>
          <a:p>
            <a:pPr>
              <a:lnSpc>
                <a:spcPct val="80000"/>
              </a:lnSpc>
            </a:pPr>
            <a:r>
              <a:rPr lang="en-US" sz="8800" kern="1200" spc="-120" baseline="0" dirty="0">
                <a:solidFill>
                  <a:schemeClr val="bg1"/>
                </a:solidFill>
                <a:latin typeface="+mj-lt"/>
                <a:ea typeface="+mj-ea"/>
                <a:cs typeface="+mj-cs"/>
              </a:rPr>
              <a:t>Actions and Data</a:t>
            </a:r>
          </a:p>
        </p:txBody>
      </p:sp>
    </p:spTree>
    <p:extLst>
      <p:ext uri="{BB962C8B-B14F-4D97-AF65-F5344CB8AC3E}">
        <p14:creationId xmlns:p14="http://schemas.microsoft.com/office/powerpoint/2010/main" val="2949556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A75BAC-442B-49CE-9C44-B7E9D9D7D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05EA30-A7AA-4D58-A2DC-0499DE3CF954}"/>
              </a:ext>
            </a:extLst>
          </p:cNvPr>
          <p:cNvSpPr>
            <a:spLocks noGrp="1"/>
          </p:cNvSpPr>
          <p:nvPr>
            <p:ph type="title"/>
          </p:nvPr>
        </p:nvSpPr>
        <p:spPr>
          <a:xfrm>
            <a:off x="704850" y="685601"/>
            <a:ext cx="10782300" cy="1363542"/>
          </a:xfrm>
        </p:spPr>
        <p:txBody>
          <a:bodyPr vert="horz" lIns="91440" tIns="45720" rIns="91440" bIns="45720" rtlCol="0" anchor="b">
            <a:normAutofit/>
          </a:bodyPr>
          <a:lstStyle/>
          <a:p>
            <a:pPr>
              <a:lnSpc>
                <a:spcPct val="80000"/>
              </a:lnSpc>
            </a:pPr>
            <a:r>
              <a:rPr lang="en-US" sz="8800" kern="1200" spc="-120" baseline="0" dirty="0">
                <a:solidFill>
                  <a:schemeClr val="bg1"/>
                </a:solidFill>
                <a:latin typeface="+mj-lt"/>
                <a:ea typeface="+mj-ea"/>
                <a:cs typeface="+mj-cs"/>
              </a:rPr>
              <a:t>Action Filters</a:t>
            </a:r>
          </a:p>
        </p:txBody>
      </p:sp>
      <p:pic>
        <p:nvPicPr>
          <p:cNvPr id="4" name="Picture 3">
            <a:extLst>
              <a:ext uri="{FF2B5EF4-FFF2-40B4-BE49-F238E27FC236}">
                <a16:creationId xmlns:a16="http://schemas.microsoft.com/office/drawing/2014/main" id="{467EE84A-BE9B-4D22-B4AA-D143AEE0BB65}"/>
              </a:ext>
            </a:extLst>
          </p:cNvPr>
          <p:cNvPicPr>
            <a:picLocks noChangeAspect="1"/>
          </p:cNvPicPr>
          <p:nvPr/>
        </p:nvPicPr>
        <p:blipFill>
          <a:blip r:embed="rId4"/>
          <a:stretch>
            <a:fillRect/>
          </a:stretch>
        </p:blipFill>
        <p:spPr>
          <a:xfrm>
            <a:off x="806196" y="4098275"/>
            <a:ext cx="8225165" cy="1831470"/>
          </a:xfrm>
          <a:prstGeom prst="rect">
            <a:avLst/>
          </a:prstGeom>
        </p:spPr>
      </p:pic>
    </p:spTree>
    <p:extLst>
      <p:ext uri="{BB962C8B-B14F-4D97-AF65-F5344CB8AC3E}">
        <p14:creationId xmlns:p14="http://schemas.microsoft.com/office/powerpoint/2010/main" val="399227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70">
            <a:extLst>
              <a:ext uri="{FF2B5EF4-FFF2-40B4-BE49-F238E27FC236}">
                <a16:creationId xmlns:a16="http://schemas.microsoft.com/office/drawing/2014/main" id="{5D4BBAA4-5350-4225-A232-680E7C33436B}"/>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2053" name="Rectangle 72">
            <a:extLst>
              <a:ext uri="{FF2B5EF4-FFF2-40B4-BE49-F238E27FC236}">
                <a16:creationId xmlns:a16="http://schemas.microsoft.com/office/drawing/2014/main" id="{DDBB8A1B-F478-46E3-B3D4-FC7E87D51182}"/>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428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brackets">
            <a:extLst>
              <a:ext uri="{FF2B5EF4-FFF2-40B4-BE49-F238E27FC236}">
                <a16:creationId xmlns:a16="http://schemas.microsoft.com/office/drawing/2014/main" id="{03D85CD0-6D83-4BA2-973B-08D106E23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867" y="640080"/>
            <a:ext cx="4159846" cy="315108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05EA30-A7AA-4D58-A2DC-0499DE3CF954}"/>
              </a:ext>
            </a:extLst>
          </p:cNvPr>
          <p:cNvSpPr>
            <a:spLocks noGrp="1"/>
          </p:cNvSpPr>
          <p:nvPr>
            <p:ph type="title"/>
          </p:nvPr>
        </p:nvSpPr>
        <p:spPr>
          <a:xfrm>
            <a:off x="609601" y="4385066"/>
            <a:ext cx="10923638" cy="1832854"/>
          </a:xfrm>
        </p:spPr>
        <p:txBody>
          <a:bodyPr vert="horz" lIns="91440" tIns="45720" rIns="91440" bIns="45720" rtlCol="0" anchor="b">
            <a:normAutofit fontScale="90000"/>
          </a:bodyPr>
          <a:lstStyle/>
          <a:p>
            <a:pPr>
              <a:lnSpc>
                <a:spcPct val="80000"/>
              </a:lnSpc>
            </a:pPr>
            <a:r>
              <a:rPr lang="en-US" sz="8000" dirty="0">
                <a:solidFill>
                  <a:srgbClr val="FFFFFF"/>
                </a:solidFill>
              </a:rPr>
              <a:t>Action Params </a:t>
            </a:r>
            <a:br>
              <a:rPr lang="en-US" sz="8000" dirty="0">
                <a:solidFill>
                  <a:srgbClr val="FFFFFF"/>
                </a:solidFill>
              </a:rPr>
            </a:br>
            <a:r>
              <a:rPr lang="en-US" sz="8000" dirty="0">
                <a:solidFill>
                  <a:srgbClr val="FFFFFF"/>
                </a:solidFill>
              </a:rPr>
              <a:t>and Model Binding</a:t>
            </a:r>
          </a:p>
        </p:txBody>
      </p:sp>
      <p:pic>
        <p:nvPicPr>
          <p:cNvPr id="4" name="Picture 3">
            <a:extLst>
              <a:ext uri="{FF2B5EF4-FFF2-40B4-BE49-F238E27FC236}">
                <a16:creationId xmlns:a16="http://schemas.microsoft.com/office/drawing/2014/main" id="{330909D2-CD18-4AD2-8476-93707DDF8361}"/>
              </a:ext>
            </a:extLst>
          </p:cNvPr>
          <p:cNvPicPr>
            <a:picLocks noChangeAspect="1"/>
          </p:cNvPicPr>
          <p:nvPr/>
        </p:nvPicPr>
        <p:blipFill>
          <a:blip r:embed="rId4"/>
          <a:stretch>
            <a:fillRect/>
          </a:stretch>
        </p:blipFill>
        <p:spPr>
          <a:xfrm>
            <a:off x="609601" y="1123838"/>
            <a:ext cx="4989826" cy="2057888"/>
          </a:xfrm>
          <a:prstGeom prst="rect">
            <a:avLst/>
          </a:prstGeom>
        </p:spPr>
      </p:pic>
    </p:spTree>
    <p:extLst>
      <p:ext uri="{BB962C8B-B14F-4D97-AF65-F5344CB8AC3E}">
        <p14:creationId xmlns:p14="http://schemas.microsoft.com/office/powerpoint/2010/main" val="4175544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CD333CBE-B699-4E3B-9F45-C045F773434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75" name="Rectangle 74">
            <a:extLst>
              <a:ext uri="{FF2B5EF4-FFF2-40B4-BE49-F238E27FC236}">
                <a16:creationId xmlns:a16="http://schemas.microsoft.com/office/drawing/2014/main" id="{FFE50961-0F1B-484C-85BC-4BD16B9FF90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0344307D-EA2F-4D93-B9D5-2C7E3A2066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D66CBB-2846-4809-9184-7AC4803EE575}"/>
              </a:ext>
            </a:extLst>
          </p:cNvPr>
          <p:cNvSpPr>
            <a:spLocks noGrp="1"/>
          </p:cNvSpPr>
          <p:nvPr>
            <p:ph type="title"/>
          </p:nvPr>
        </p:nvSpPr>
        <p:spPr>
          <a:xfrm>
            <a:off x="563163" y="4976897"/>
            <a:ext cx="10782300" cy="1854199"/>
          </a:xfrm>
        </p:spPr>
        <p:txBody>
          <a:bodyPr vert="horz" lIns="91440" tIns="45720" rIns="91440" bIns="45720" rtlCol="0" anchor="b">
            <a:normAutofit/>
          </a:bodyPr>
          <a:lstStyle/>
          <a:p>
            <a:pPr>
              <a:lnSpc>
                <a:spcPct val="80000"/>
              </a:lnSpc>
            </a:pPr>
            <a:r>
              <a:rPr lang="en-US" sz="8800" kern="1200" spc="-120" baseline="0" dirty="0">
                <a:solidFill>
                  <a:schemeClr val="tx1"/>
                </a:solidFill>
                <a:latin typeface="+mj-lt"/>
                <a:ea typeface="+mj-ea"/>
                <a:cs typeface="+mj-cs"/>
              </a:rPr>
              <a:t>Views and Actions </a:t>
            </a:r>
          </a:p>
        </p:txBody>
      </p:sp>
    </p:spTree>
    <p:extLst>
      <p:ext uri="{BB962C8B-B14F-4D97-AF65-F5344CB8AC3E}">
        <p14:creationId xmlns:p14="http://schemas.microsoft.com/office/powerpoint/2010/main" val="497442904"/>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0344307D-EA2F-4D93-B9D5-2C7E3A2066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D66CBB-2846-4809-9184-7AC4803EE575}"/>
              </a:ext>
            </a:extLst>
          </p:cNvPr>
          <p:cNvSpPr>
            <a:spLocks noGrp="1"/>
          </p:cNvSpPr>
          <p:nvPr>
            <p:ph type="title"/>
          </p:nvPr>
        </p:nvSpPr>
        <p:spPr>
          <a:xfrm>
            <a:off x="704850" y="5177118"/>
            <a:ext cx="10782300" cy="1491129"/>
          </a:xfrm>
        </p:spPr>
        <p:txBody>
          <a:bodyPr vert="horz" lIns="91440" tIns="45720" rIns="91440" bIns="45720" rtlCol="0" anchor="b">
            <a:normAutofit/>
          </a:bodyPr>
          <a:lstStyle/>
          <a:p>
            <a:pPr>
              <a:lnSpc>
                <a:spcPct val="80000"/>
              </a:lnSpc>
            </a:pPr>
            <a:r>
              <a:rPr lang="en-US" sz="8800" kern="1200" spc="-120" baseline="0" dirty="0">
                <a:solidFill>
                  <a:schemeClr val="bg1"/>
                </a:solidFill>
                <a:latin typeface="+mj-lt"/>
                <a:ea typeface="+mj-ea"/>
                <a:cs typeface="+mj-cs"/>
              </a:rPr>
              <a:t>Tag Helpers</a:t>
            </a:r>
          </a:p>
        </p:txBody>
      </p:sp>
    </p:spTree>
    <p:extLst>
      <p:ext uri="{BB962C8B-B14F-4D97-AF65-F5344CB8AC3E}">
        <p14:creationId xmlns:p14="http://schemas.microsoft.com/office/powerpoint/2010/main" val="1433607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D333CBE-B699-4E3B-9F45-C045F773434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sp>
        <p:nvSpPr>
          <p:cNvPr id="11" name="Rectangle 10">
            <a:extLst>
              <a:ext uri="{FF2B5EF4-FFF2-40B4-BE49-F238E27FC236}">
                <a16:creationId xmlns:a16="http://schemas.microsoft.com/office/drawing/2014/main" id="{FFE50961-0F1B-484C-85BC-4BD16B9FF90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35AE61D-E3FA-46BE-A6B4-529D96F4BDEA}"/>
              </a:ext>
            </a:extLst>
          </p:cNvPr>
          <p:cNvPicPr>
            <a:picLocks noChangeAspect="1"/>
          </p:cNvPicPr>
          <p:nvPr/>
        </p:nvPicPr>
        <p:blipFill rotWithShape="1">
          <a:blip r:embed="rId3">
            <a:alphaModFix amt="45000"/>
          </a:blip>
          <a:srcRect t="5747" b="4612"/>
          <a:stretch/>
        </p:blipFill>
        <p:spPr>
          <a:xfrm>
            <a:off x="20" y="10"/>
            <a:ext cx="12191980" cy="6857990"/>
          </a:xfrm>
          <a:prstGeom prst="rect">
            <a:avLst/>
          </a:prstGeom>
        </p:spPr>
      </p:pic>
      <p:sp>
        <p:nvSpPr>
          <p:cNvPr id="2" name="Title 1">
            <a:extLst>
              <a:ext uri="{FF2B5EF4-FFF2-40B4-BE49-F238E27FC236}">
                <a16:creationId xmlns:a16="http://schemas.microsoft.com/office/drawing/2014/main" id="{5E562289-2560-4685-AC53-42B7AE8E9158}"/>
              </a:ext>
            </a:extLst>
          </p:cNvPr>
          <p:cNvSpPr>
            <a:spLocks noGrp="1"/>
          </p:cNvSpPr>
          <p:nvPr>
            <p:ph type="title"/>
          </p:nvPr>
        </p:nvSpPr>
        <p:spPr>
          <a:xfrm>
            <a:off x="603504" y="770467"/>
            <a:ext cx="10782300" cy="3352800"/>
          </a:xfrm>
        </p:spPr>
        <p:txBody>
          <a:bodyPr vert="horz" lIns="91440" tIns="45720" rIns="91440" bIns="45720" rtlCol="0" anchor="b">
            <a:normAutofit/>
          </a:bodyPr>
          <a:lstStyle/>
          <a:p>
            <a:pPr>
              <a:lnSpc>
                <a:spcPct val="80000"/>
              </a:lnSpc>
            </a:pPr>
            <a:r>
              <a:rPr lang="en-US" sz="8800" kern="1200" spc="-120" baseline="0" dirty="0">
                <a:solidFill>
                  <a:schemeClr val="tx1"/>
                </a:solidFill>
                <a:latin typeface="+mj-lt"/>
                <a:ea typeface="+mj-ea"/>
                <a:cs typeface="+mj-cs"/>
              </a:rPr>
              <a:t>Validation</a:t>
            </a:r>
          </a:p>
        </p:txBody>
      </p:sp>
    </p:spTree>
    <p:extLst>
      <p:ext uri="{BB962C8B-B14F-4D97-AF65-F5344CB8AC3E}">
        <p14:creationId xmlns:p14="http://schemas.microsoft.com/office/powerpoint/2010/main" val="1318562052"/>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FD75-2CDE-4A89-8F54-19BB291528A7}"/>
              </a:ext>
            </a:extLst>
          </p:cNvPr>
          <p:cNvSpPr>
            <a:spLocks noGrp="1"/>
          </p:cNvSpPr>
          <p:nvPr>
            <p:ph type="title"/>
          </p:nvPr>
        </p:nvSpPr>
        <p:spPr/>
        <p:txBody>
          <a:bodyPr/>
          <a:lstStyle/>
          <a:p>
            <a:r>
              <a:rPr lang="en-GB" dirty="0"/>
              <a:t>Validation Attributes</a:t>
            </a:r>
          </a:p>
        </p:txBody>
      </p:sp>
      <p:sp>
        <p:nvSpPr>
          <p:cNvPr id="3" name="Content Placeholder 2">
            <a:extLst>
              <a:ext uri="{FF2B5EF4-FFF2-40B4-BE49-F238E27FC236}">
                <a16:creationId xmlns:a16="http://schemas.microsoft.com/office/drawing/2014/main" id="{5BB047E8-6A52-4583-9193-E822C64FE516}"/>
              </a:ext>
            </a:extLst>
          </p:cNvPr>
          <p:cNvSpPr>
            <a:spLocks noGrp="1"/>
          </p:cNvSpPr>
          <p:nvPr>
            <p:ph idx="1"/>
          </p:nvPr>
        </p:nvSpPr>
        <p:spPr/>
        <p:txBody>
          <a:bodyPr>
            <a:normAutofit/>
          </a:bodyPr>
          <a:lstStyle/>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p>
        </p:txBody>
      </p:sp>
      <p:graphicFrame>
        <p:nvGraphicFramePr>
          <p:cNvPr id="5" name="Content Placeholder 3">
            <a:extLst>
              <a:ext uri="{FF2B5EF4-FFF2-40B4-BE49-F238E27FC236}">
                <a16:creationId xmlns:a16="http://schemas.microsoft.com/office/drawing/2014/main" id="{BE802D8D-198A-4928-B8BB-69068198DC9D}"/>
              </a:ext>
            </a:extLst>
          </p:cNvPr>
          <p:cNvGraphicFramePr>
            <a:graphicFrameLocks/>
          </p:cNvGraphicFramePr>
          <p:nvPr>
            <p:extLst>
              <p:ext uri="{D42A27DB-BD31-4B8C-83A1-F6EECF244321}">
                <p14:modId xmlns:p14="http://schemas.microsoft.com/office/powerpoint/2010/main" val="2333573467"/>
              </p:ext>
            </p:extLst>
          </p:nvPr>
        </p:nvGraphicFramePr>
        <p:xfrm>
          <a:off x="781050" y="1884142"/>
          <a:ext cx="10753726" cy="4577080"/>
        </p:xfrm>
        <a:graphic>
          <a:graphicData uri="http://schemas.openxmlformats.org/drawingml/2006/table">
            <a:tbl>
              <a:tblPr firstRow="1" bandRow="1">
                <a:tableStyleId>{5C22544A-7EE6-4342-B048-85BDC9FD1C3A}</a:tableStyleId>
              </a:tblPr>
              <a:tblGrid>
                <a:gridCol w="2528100">
                  <a:extLst>
                    <a:ext uri="{9D8B030D-6E8A-4147-A177-3AD203B41FA5}">
                      <a16:colId xmlns:a16="http://schemas.microsoft.com/office/drawing/2014/main" val="1157133149"/>
                    </a:ext>
                  </a:extLst>
                </a:gridCol>
                <a:gridCol w="8225626">
                  <a:extLst>
                    <a:ext uri="{9D8B030D-6E8A-4147-A177-3AD203B41FA5}">
                      <a16:colId xmlns:a16="http://schemas.microsoft.com/office/drawing/2014/main" val="1143352619"/>
                    </a:ext>
                  </a:extLst>
                </a:gridCol>
              </a:tblGrid>
              <a:tr h="370840">
                <a:tc>
                  <a:txBody>
                    <a:bodyPr/>
                    <a:lstStyle/>
                    <a:p>
                      <a:pPr algn="ctr"/>
                      <a:r>
                        <a:rPr lang="en-GB" dirty="0" err="1"/>
                        <a:t>Buil</a:t>
                      </a:r>
                      <a:r>
                        <a:rPr lang="en-GB" dirty="0"/>
                        <a:t>-in Attribute</a:t>
                      </a:r>
                    </a:p>
                  </a:txBody>
                  <a:tcPr/>
                </a:tc>
                <a:tc>
                  <a:txBody>
                    <a:bodyPr/>
                    <a:lstStyle/>
                    <a:p>
                      <a:pPr algn="l"/>
                      <a:r>
                        <a:rPr lang="en-GB" dirty="0"/>
                        <a:t>Description</a:t>
                      </a:r>
                    </a:p>
                  </a:txBody>
                  <a:tcPr/>
                </a:tc>
                <a:extLst>
                  <a:ext uri="{0D108BD9-81ED-4DB2-BD59-A6C34878D82A}">
                    <a16:rowId xmlns:a16="http://schemas.microsoft.com/office/drawing/2014/main" val="2241099902"/>
                  </a:ext>
                </a:extLst>
              </a:tr>
              <a:tr h="370840">
                <a:tc>
                  <a:txBody>
                    <a:bodyPr/>
                    <a:lstStyle/>
                    <a:p>
                      <a:pPr algn="l"/>
                      <a:r>
                        <a:rPr lang="en-GB" sz="2000" b="1" dirty="0">
                          <a:solidFill>
                            <a:schemeClr val="tx1">
                              <a:lumMod val="75000"/>
                              <a:lumOff val="25000"/>
                            </a:schemeClr>
                          </a:solidFill>
                          <a:latin typeface="Arial Nova Light" panose="020B0304020202020204" pitchFamily="34" charset="0"/>
                          <a:cs typeface="Courier New" panose="02070309020205020404" pitchFamily="49" charset="0"/>
                        </a:rPr>
                        <a:t>[Credit Card]</a:t>
                      </a:r>
                    </a:p>
                  </a:txBody>
                  <a:tcPr/>
                </a:tc>
                <a:tc>
                  <a:txBody>
                    <a:bodyPr/>
                    <a:lstStyle/>
                    <a:p>
                      <a:pPr algn="l"/>
                      <a:r>
                        <a:rPr lang="en-GB" sz="1800" kern="1200" dirty="0">
                          <a:solidFill>
                            <a:schemeClr val="dk1"/>
                          </a:solidFill>
                          <a:latin typeface="+mn-lt"/>
                          <a:ea typeface="+mn-ea"/>
                          <a:cs typeface="+mn-cs"/>
                        </a:rPr>
                        <a:t>This validates that the property has a credit card format.</a:t>
                      </a:r>
                    </a:p>
                  </a:txBody>
                  <a:tcPr/>
                </a:tc>
                <a:extLst>
                  <a:ext uri="{0D108BD9-81ED-4DB2-BD59-A6C34878D82A}">
                    <a16:rowId xmlns:a16="http://schemas.microsoft.com/office/drawing/2014/main" val="1269833429"/>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[Compare]</a:t>
                      </a:r>
                    </a:p>
                  </a:txBody>
                  <a:tcPr/>
                </a:tc>
                <a:tc>
                  <a:txBody>
                    <a:bodyPr/>
                    <a:lstStyle/>
                    <a:p>
                      <a:pPr marL="0" algn="l" defTabSz="914400" rtl="0" eaLnBrk="1" latinLnBrk="0" hangingPunct="1"/>
                      <a:r>
                        <a:rPr lang="en-GB" sz="1800" kern="1200" dirty="0">
                          <a:solidFill>
                            <a:schemeClr val="dk1"/>
                          </a:solidFill>
                          <a:latin typeface="+mn-lt"/>
                          <a:ea typeface="+mn-ea"/>
                          <a:cs typeface="+mn-cs"/>
                        </a:rPr>
                        <a:t>This attribute validates that two property in model class match like password and compare password.</a:t>
                      </a:r>
                    </a:p>
                  </a:txBody>
                  <a:tcPr/>
                </a:tc>
                <a:extLst>
                  <a:ext uri="{0D108BD9-81ED-4DB2-BD59-A6C34878D82A}">
                    <a16:rowId xmlns:a16="http://schemas.microsoft.com/office/drawing/2014/main" val="2161137070"/>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r>
                        <a:rPr lang="en-GB" sz="2000" b="1" kern="1200" dirty="0" err="1">
                          <a:solidFill>
                            <a:schemeClr val="tx1">
                              <a:lumMod val="75000"/>
                              <a:lumOff val="25000"/>
                            </a:schemeClr>
                          </a:solidFill>
                          <a:latin typeface="Arial Nova Light" panose="020B0304020202020204" pitchFamily="34" charset="0"/>
                          <a:ea typeface="+mn-ea"/>
                          <a:cs typeface="Courier New" panose="02070309020205020404" pitchFamily="49" charset="0"/>
                        </a:rPr>
                        <a:t>EmailAddress</a:t>
                      </a:r>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the property has email address format.</a:t>
                      </a:r>
                    </a:p>
                  </a:txBody>
                  <a:tcPr/>
                </a:tc>
                <a:extLst>
                  <a:ext uri="{0D108BD9-81ED-4DB2-BD59-A6C34878D82A}">
                    <a16:rowId xmlns:a16="http://schemas.microsoft.com/office/drawing/2014/main" val="1915155601"/>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[Phone]</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the property has a telephone number format.</a:t>
                      </a:r>
                    </a:p>
                  </a:txBody>
                  <a:tcPr/>
                </a:tc>
                <a:extLst>
                  <a:ext uri="{0D108BD9-81ED-4DB2-BD59-A6C34878D82A}">
                    <a16:rowId xmlns:a16="http://schemas.microsoft.com/office/drawing/2014/main" val="1862675423"/>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[Range]</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the property value within a specified range.</a:t>
                      </a:r>
                    </a:p>
                  </a:txBody>
                  <a:tcPr/>
                </a:tc>
                <a:extLst>
                  <a:ext uri="{0D108BD9-81ED-4DB2-BD59-A6C34878D82A}">
                    <a16:rowId xmlns:a16="http://schemas.microsoft.com/office/drawing/2014/main" val="2443679688"/>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r>
                        <a:rPr lang="en-GB" sz="2000" b="1" kern="1200" dirty="0" err="1">
                          <a:solidFill>
                            <a:schemeClr val="tx1">
                              <a:lumMod val="75000"/>
                              <a:lumOff val="25000"/>
                            </a:schemeClr>
                          </a:solidFill>
                          <a:latin typeface="Arial Nova Light" panose="020B0304020202020204" pitchFamily="34" charset="0"/>
                          <a:ea typeface="+mn-ea"/>
                          <a:cs typeface="Courier New" panose="02070309020205020404" pitchFamily="49" charset="0"/>
                        </a:rPr>
                        <a:t>RegularExpression</a:t>
                      </a:r>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the property value matches a specified regular expression.</a:t>
                      </a:r>
                    </a:p>
                  </a:txBody>
                  <a:tcPr/>
                </a:tc>
                <a:extLst>
                  <a:ext uri="{0D108BD9-81ED-4DB2-BD59-A6C34878D82A}">
                    <a16:rowId xmlns:a16="http://schemas.microsoft.com/office/drawing/2014/main" val="101018583"/>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[Required]</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the field is not null.</a:t>
                      </a:r>
                    </a:p>
                  </a:txBody>
                  <a:tcPr/>
                </a:tc>
                <a:extLst>
                  <a:ext uri="{0D108BD9-81ED-4DB2-BD59-A6C34878D82A}">
                    <a16:rowId xmlns:a16="http://schemas.microsoft.com/office/drawing/2014/main" val="2120925052"/>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r>
                        <a:rPr lang="en-GB" sz="2000" b="1" kern="1200" dirty="0" err="1">
                          <a:solidFill>
                            <a:schemeClr val="tx1">
                              <a:lumMod val="75000"/>
                              <a:lumOff val="25000"/>
                            </a:schemeClr>
                          </a:solidFill>
                          <a:latin typeface="Arial Nova Light" panose="020B0304020202020204" pitchFamily="34" charset="0"/>
                          <a:ea typeface="+mn-ea"/>
                          <a:cs typeface="Courier New" panose="02070309020205020404" pitchFamily="49" charset="0"/>
                        </a:rPr>
                        <a:t>StringLength</a:t>
                      </a:r>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a string property value doesn't exceed a specified length limit.</a:t>
                      </a:r>
                    </a:p>
                  </a:txBody>
                  <a:tcPr/>
                </a:tc>
                <a:extLst>
                  <a:ext uri="{0D108BD9-81ED-4DB2-BD59-A6C34878D82A}">
                    <a16:rowId xmlns:a16="http://schemas.microsoft.com/office/drawing/2014/main" val="3966614159"/>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r>
                        <a:rPr lang="en-GB" sz="2000" b="1" kern="1200" dirty="0" err="1">
                          <a:solidFill>
                            <a:schemeClr val="tx1">
                              <a:lumMod val="75000"/>
                              <a:lumOff val="25000"/>
                            </a:schemeClr>
                          </a:solidFill>
                          <a:latin typeface="Arial Nova Light" panose="020B0304020202020204" pitchFamily="34" charset="0"/>
                          <a:ea typeface="+mn-ea"/>
                          <a:cs typeface="Courier New" panose="02070309020205020404" pitchFamily="49" charset="0"/>
                        </a:rPr>
                        <a:t>Url</a:t>
                      </a:r>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that the property has a URL format.</a:t>
                      </a:r>
                    </a:p>
                  </a:txBody>
                  <a:tcPr/>
                </a:tc>
                <a:extLst>
                  <a:ext uri="{0D108BD9-81ED-4DB2-BD59-A6C34878D82A}">
                    <a16:rowId xmlns:a16="http://schemas.microsoft.com/office/drawing/2014/main" val="1891667314"/>
                  </a:ext>
                </a:extLst>
              </a:tr>
              <a:tr h="370840">
                <a:tc>
                  <a:txBody>
                    <a:bodyPr/>
                    <a:lstStyle/>
                    <a:p>
                      <a:pPr algn="l"/>
                      <a:r>
                        <a:rPr lang="en-GB" sz="2000" b="1" kern="1200" dirty="0">
                          <a:solidFill>
                            <a:schemeClr val="tx1">
                              <a:lumMod val="75000"/>
                              <a:lumOff val="25000"/>
                            </a:schemeClr>
                          </a:solidFill>
                          <a:latin typeface="Arial Nova Light" panose="020B0304020202020204" pitchFamily="34" charset="0"/>
                          <a:ea typeface="+mn-ea"/>
                          <a:cs typeface="Courier New" panose="02070309020205020404" pitchFamily="49" charset="0"/>
                        </a:rPr>
                        <a:t>[Remote]</a:t>
                      </a:r>
                    </a:p>
                  </a:txBody>
                  <a:tcPr/>
                </a:tc>
                <a:tc>
                  <a:txBody>
                    <a:bodyPr/>
                    <a:lstStyle/>
                    <a:p>
                      <a:pPr marL="0" algn="l" defTabSz="914400" rtl="0" eaLnBrk="1" latinLnBrk="0" hangingPunct="1"/>
                      <a:r>
                        <a:rPr lang="en-GB" sz="1800" kern="1200" dirty="0">
                          <a:solidFill>
                            <a:schemeClr val="dk1"/>
                          </a:solidFill>
                          <a:latin typeface="+mn-lt"/>
                          <a:ea typeface="+mn-ea"/>
                          <a:cs typeface="+mn-cs"/>
                        </a:rPr>
                        <a:t>This validates input on the client by calling an action method on the server.</a:t>
                      </a:r>
                    </a:p>
                  </a:txBody>
                  <a:tcPr/>
                </a:tc>
                <a:extLst>
                  <a:ext uri="{0D108BD9-81ED-4DB2-BD59-A6C34878D82A}">
                    <a16:rowId xmlns:a16="http://schemas.microsoft.com/office/drawing/2014/main" val="464757704"/>
                  </a:ext>
                </a:extLst>
              </a:tr>
            </a:tbl>
          </a:graphicData>
        </a:graphic>
      </p:graphicFrame>
      <p:sp>
        <p:nvSpPr>
          <p:cNvPr id="7" name="Rectangle 6">
            <a:extLst>
              <a:ext uri="{FF2B5EF4-FFF2-40B4-BE49-F238E27FC236}">
                <a16:creationId xmlns:a16="http://schemas.microsoft.com/office/drawing/2014/main" id="{A5FDFCAD-D2AF-40EB-999B-3AD29A7CD1AF}"/>
              </a:ext>
            </a:extLst>
          </p:cNvPr>
          <p:cNvSpPr/>
          <p:nvPr/>
        </p:nvSpPr>
        <p:spPr>
          <a:xfrm>
            <a:off x="781050" y="6502966"/>
            <a:ext cx="6096000" cy="276999"/>
          </a:xfrm>
          <a:prstGeom prst="rect">
            <a:avLst/>
          </a:prstGeom>
        </p:spPr>
        <p:txBody>
          <a:bodyPr>
            <a:spAutoFit/>
          </a:bodyPr>
          <a:lstStyle/>
          <a:p>
            <a:r>
              <a:rPr lang="en-GB" sz="1200" dirty="0">
                <a:hlinkClick r:id="rId3"/>
              </a:rPr>
              <a:t>https://www.c-sharpcorner.com/article/model-validation-in-asp-net-mvc-core-3-1/</a:t>
            </a:r>
            <a:endParaRPr lang="en-GB" sz="1200" dirty="0"/>
          </a:p>
        </p:txBody>
      </p:sp>
    </p:spTree>
    <p:extLst>
      <p:ext uri="{BB962C8B-B14F-4D97-AF65-F5344CB8AC3E}">
        <p14:creationId xmlns:p14="http://schemas.microsoft.com/office/powerpoint/2010/main" val="574854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D333CBE-B699-4E3B-9F45-C045F773434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T"/>
          </a:p>
        </p:txBody>
      </p:sp>
      <p:pic>
        <p:nvPicPr>
          <p:cNvPr id="2050" name="Picture 2">
            <a:extLst>
              <a:ext uri="{FF2B5EF4-FFF2-40B4-BE49-F238E27FC236}">
                <a16:creationId xmlns:a16="http://schemas.microsoft.com/office/drawing/2014/main" id="{0ADF5956-F3AF-4A64-8E2A-2456BCFCD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61" b="861"/>
          <a:stretch/>
        </p:blipFill>
        <p:spPr bwMode="auto">
          <a:xfrm>
            <a:off x="7541980" y="10"/>
            <a:ext cx="4660217" cy="68644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E2E6FB8-1F78-4025-94CD-67DDF1926B03}"/>
              </a:ext>
            </a:extLst>
          </p:cNvPr>
          <p:cNvSpPr>
            <a:spLocks noGrp="1"/>
          </p:cNvSpPr>
          <p:nvPr>
            <p:ph type="title"/>
          </p:nvPr>
        </p:nvSpPr>
        <p:spPr>
          <a:xfrm>
            <a:off x="603504" y="770467"/>
            <a:ext cx="6608963" cy="3352800"/>
          </a:xfrm>
        </p:spPr>
        <p:txBody>
          <a:bodyPr vert="horz" lIns="91440" tIns="45720" rIns="91440" bIns="45720" rtlCol="0" anchor="b">
            <a:normAutofit/>
          </a:bodyPr>
          <a:lstStyle/>
          <a:p>
            <a:pPr>
              <a:lnSpc>
                <a:spcPct val="80000"/>
              </a:lnSpc>
            </a:pPr>
            <a:r>
              <a:rPr lang="en-US" sz="8800" kern="1200" spc="-120" baseline="0" dirty="0">
                <a:solidFill>
                  <a:srgbClr val="FFFFFF"/>
                </a:solidFill>
                <a:latin typeface="+mj-lt"/>
                <a:ea typeface="+mj-ea"/>
                <a:cs typeface="+mj-cs"/>
              </a:rPr>
              <a:t>Identity</a:t>
            </a:r>
          </a:p>
        </p:txBody>
      </p:sp>
    </p:spTree>
    <p:extLst>
      <p:ext uri="{BB962C8B-B14F-4D97-AF65-F5344CB8AC3E}">
        <p14:creationId xmlns:p14="http://schemas.microsoft.com/office/powerpoint/2010/main" val="391837461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7922</Words>
  <Application>Microsoft Office PowerPoint</Application>
  <PresentationFormat>Widescreen</PresentationFormat>
  <Paragraphs>750</Paragraphs>
  <Slides>33</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arial</vt:lpstr>
      <vt:lpstr>Arial Nova Light</vt:lpstr>
      <vt:lpstr>Calibri</vt:lpstr>
      <vt:lpstr>Calibri Light</vt:lpstr>
      <vt:lpstr>Segoe UI</vt:lpstr>
      <vt:lpstr>Söhne</vt:lpstr>
      <vt:lpstr>Times New Roman</vt:lpstr>
      <vt:lpstr>Wingdings</vt:lpstr>
      <vt:lpstr>Metropolitan</vt:lpstr>
      <vt:lpstr>ASP.Net Core MVC</vt:lpstr>
      <vt:lpstr>PowerPoint Presentation</vt:lpstr>
      <vt:lpstr>PowerPoint Presentation</vt:lpstr>
      <vt:lpstr>PowerPoint Presentation</vt:lpstr>
      <vt:lpstr>Conventions</vt:lpstr>
      <vt:lpstr>Getting started</vt:lpstr>
      <vt:lpstr>Getting started – with tooling</vt:lpstr>
      <vt:lpstr>Getting started – CLI</vt:lpstr>
      <vt:lpstr>Getting started – scaffolding</vt:lpstr>
      <vt:lpstr>Program class  Defaults and Kestrel</vt:lpstr>
      <vt:lpstr>PowerPoint Presentation</vt:lpstr>
      <vt:lpstr>Practical discussion</vt:lpstr>
      <vt:lpstr>Model</vt:lpstr>
      <vt:lpstr>Dependency Injection</vt:lpstr>
      <vt:lpstr>PowerPoint Presentation</vt:lpstr>
      <vt:lpstr>Dependency Injection</vt:lpstr>
      <vt:lpstr>View</vt:lpstr>
      <vt:lpstr>View templating</vt:lpstr>
      <vt:lpstr>Database access</vt:lpstr>
      <vt:lpstr>PowerPoint Presentation</vt:lpstr>
      <vt:lpstr>PowerPoint Presentation</vt:lpstr>
      <vt:lpstr>Routing</vt:lpstr>
      <vt:lpstr>Controllers</vt:lpstr>
      <vt:lpstr>Actions</vt:lpstr>
      <vt:lpstr>Action Results</vt:lpstr>
      <vt:lpstr>Actions and Data</vt:lpstr>
      <vt:lpstr>Action Filters</vt:lpstr>
      <vt:lpstr>Action Params  and Model Binding</vt:lpstr>
      <vt:lpstr>Views and Actions </vt:lpstr>
      <vt:lpstr>Tag Helpers</vt:lpstr>
      <vt:lpstr>Validation</vt:lpstr>
      <vt:lpstr>Validation Attributes</vt:lpstr>
      <vt:lpstr>Identity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ASP.Net Core MVC</dc:title>
  <dc:creator>Chris Porter</dc:creator>
  <cp:lastModifiedBy>Jurgen Cassar</cp:lastModifiedBy>
  <cp:revision>264</cp:revision>
  <dcterms:created xsi:type="dcterms:W3CDTF">2020-03-25T11:09:42Z</dcterms:created>
  <dcterms:modified xsi:type="dcterms:W3CDTF">2025-01-12T17:34:10Z</dcterms:modified>
</cp:coreProperties>
</file>