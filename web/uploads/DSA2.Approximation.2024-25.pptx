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88"/>
  </p:notesMasterIdLst>
  <p:handoutMasterIdLst>
    <p:handoutMasterId r:id="rId89"/>
  </p:handoutMasterIdLst>
  <p:sldIdLst>
    <p:sldId id="442" r:id="rId2"/>
    <p:sldId id="268" r:id="rId3"/>
    <p:sldId id="470" r:id="rId4"/>
    <p:sldId id="348" r:id="rId5"/>
    <p:sldId id="471" r:id="rId6"/>
    <p:sldId id="428" r:id="rId7"/>
    <p:sldId id="473" r:id="rId8"/>
    <p:sldId id="895" r:id="rId9"/>
    <p:sldId id="896" r:id="rId10"/>
    <p:sldId id="472" r:id="rId11"/>
    <p:sldId id="429" r:id="rId12"/>
    <p:sldId id="430" r:id="rId13"/>
    <p:sldId id="474" r:id="rId14"/>
    <p:sldId id="475" r:id="rId15"/>
    <p:sldId id="476" r:id="rId16"/>
    <p:sldId id="477" r:id="rId17"/>
    <p:sldId id="478" r:id="rId18"/>
    <p:sldId id="899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7" r:id="rId28"/>
    <p:sldId id="488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497" r:id="rId38"/>
    <p:sldId id="498" r:id="rId39"/>
    <p:sldId id="499" r:id="rId40"/>
    <p:sldId id="500" r:id="rId41"/>
    <p:sldId id="501" r:id="rId42"/>
    <p:sldId id="502" r:id="rId43"/>
    <p:sldId id="503" r:id="rId44"/>
    <p:sldId id="504" r:id="rId45"/>
    <p:sldId id="505" r:id="rId46"/>
    <p:sldId id="506" r:id="rId47"/>
    <p:sldId id="507" r:id="rId48"/>
    <p:sldId id="508" r:id="rId49"/>
    <p:sldId id="509" r:id="rId50"/>
    <p:sldId id="510" r:id="rId51"/>
    <p:sldId id="511" r:id="rId52"/>
    <p:sldId id="512" r:id="rId53"/>
    <p:sldId id="513" r:id="rId54"/>
    <p:sldId id="514" r:id="rId55"/>
    <p:sldId id="515" r:id="rId56"/>
    <p:sldId id="516" r:id="rId57"/>
    <p:sldId id="517" r:id="rId58"/>
    <p:sldId id="518" r:id="rId59"/>
    <p:sldId id="519" r:id="rId60"/>
    <p:sldId id="520" r:id="rId61"/>
    <p:sldId id="521" r:id="rId62"/>
    <p:sldId id="522" r:id="rId63"/>
    <p:sldId id="523" r:id="rId64"/>
    <p:sldId id="524" r:id="rId65"/>
    <p:sldId id="525" r:id="rId66"/>
    <p:sldId id="526" r:id="rId67"/>
    <p:sldId id="527" r:id="rId68"/>
    <p:sldId id="897" r:id="rId69"/>
    <p:sldId id="528" r:id="rId70"/>
    <p:sldId id="529" r:id="rId71"/>
    <p:sldId id="530" r:id="rId72"/>
    <p:sldId id="531" r:id="rId73"/>
    <p:sldId id="532" r:id="rId74"/>
    <p:sldId id="533" r:id="rId75"/>
    <p:sldId id="898" r:id="rId76"/>
    <p:sldId id="534" r:id="rId77"/>
    <p:sldId id="535" r:id="rId78"/>
    <p:sldId id="536" r:id="rId79"/>
    <p:sldId id="537" r:id="rId80"/>
    <p:sldId id="538" r:id="rId81"/>
    <p:sldId id="539" r:id="rId82"/>
    <p:sldId id="540" r:id="rId83"/>
    <p:sldId id="541" r:id="rId84"/>
    <p:sldId id="542" r:id="rId85"/>
    <p:sldId id="543" r:id="rId86"/>
    <p:sldId id="544" r:id="rId87"/>
  </p:sldIdLst>
  <p:sldSz cx="12192000" cy="6858000"/>
  <p:notesSz cx="7010400" cy="9296400"/>
  <p:defaultTextStyle>
    <a:defPPr>
      <a:defRPr lang="en-GB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6600"/>
    <a:srgbClr val="A44114"/>
    <a:srgbClr val="000066"/>
    <a:srgbClr val="893611"/>
    <a:srgbClr val="F3B99F"/>
    <a:srgbClr val="B94917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6" autoAdjust="0"/>
    <p:restoredTop sz="89959" autoAdjust="0"/>
  </p:normalViewPr>
  <p:slideViewPr>
    <p:cSldViewPr>
      <p:cViewPr varScale="1">
        <p:scale>
          <a:sx n="115" d="100"/>
          <a:sy n="115" d="100"/>
        </p:scale>
        <p:origin x="1596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GB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GB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GB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C4626508-2D0A-49D3-AE49-3D1CBC15385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58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GB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GB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GB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E70A2A47-64D6-4741-BBB5-029366EC9F3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638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  <a:prstGeom prst="rect">
            <a:avLst/>
          </a:prstGeom>
        </p:spPr>
        <p:txBody>
          <a:bodyPr/>
          <a:lstStyle>
            <a:lvl1pPr marL="0" indent="0" algn="r">
              <a:defRPr sz="29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5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088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524001"/>
            <a:ext cx="4826000" cy="44116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524001"/>
            <a:ext cx="4826000" cy="44116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47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538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1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59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83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01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1524001"/>
            <a:ext cx="9855200" cy="4411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045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0600" y="228601"/>
            <a:ext cx="2768600" cy="5707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1"/>
            <a:ext cx="8102600" cy="57070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447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83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9573" y="6538712"/>
            <a:ext cx="163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Slide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fld id="{8943086A-00A4-4CD2-9004-5E8AD6DCEC11}" type="slidenum">
              <a:rPr lang="en-US" sz="1400" smtClean="0">
                <a:solidFill>
                  <a:schemeClr val="bg1">
                    <a:lumMod val="65000"/>
                  </a:schemeClr>
                </a:solidFill>
              </a:rPr>
              <a:pPr>
                <a:buNone/>
              </a:pPr>
              <a:t>‹#›</a:t>
            </a:fld>
            <a:endParaRPr lang="en-GB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941959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DD01-3FA4-4E22-ABA7-20A41844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E1404-A03B-442F-87FE-CACD50BFA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BAC2B-E59B-4FB7-A611-5F2A4C966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F6B2-1D79-48FA-BFB4-AA0DFCD76237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98E5D-A4CF-4BAF-9221-50D555BB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82C87-7C92-4AC4-8CD3-EB9734C1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551-2FB7-482E-AEBC-EB2C3C5F4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0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10261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/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/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abela@um.edu.m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en.wikipedia.org/wiki/List_of_NP-complete_problem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lp_fuer_vl_homepage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simanneal" TargetMode="External"/><Relationship Id="rId7" Type="http://schemas.openxmlformats.org/officeDocument/2006/relationships/image" Target="crossove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Blacksmith+Pounding+Captioned" TargetMode="External"/><Relationship Id="rId10" Type="http://schemas.openxmlformats.org/officeDocument/2006/relationships/image" Target="../media/image5.jpeg"/><Relationship Id="rId4" Type="http://schemas.openxmlformats.org/officeDocument/2006/relationships/image" Target="../media/image10.jpeg"/><Relationship Id="rId9" Type="http://schemas.openxmlformats.org/officeDocument/2006/relationships/image" Target="genetic_algorithm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uffmanSample.pp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0.jpeg"/><Relationship Id="rId7" Type="http://schemas.openxmlformats.org/officeDocument/2006/relationships/image" Target="../media/image5.jpe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6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620661"/>
            <a:ext cx="10058400" cy="2241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76257" y="6438630"/>
            <a:ext cx="2596224" cy="468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1300"/>
              </a:lnSpc>
              <a:buNone/>
            </a:pPr>
            <a:r>
              <a:rPr lang="en-GB" sz="1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</a:t>
            </a:r>
          </a:p>
          <a:p>
            <a:pPr algn="r">
              <a:lnSpc>
                <a:spcPts val="1300"/>
              </a:lnSpc>
              <a:buNone/>
            </a:pPr>
            <a:r>
              <a:rPr lang="en-GB" sz="1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Information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9984432" y="88005"/>
            <a:ext cx="2117632" cy="2286000"/>
          </a:xfrm>
          <a:prstGeom prst="rect">
            <a:avLst/>
          </a:prstGeom>
          <a:solidFill>
            <a:srgbClr val="CCFF33"/>
          </a:solidFill>
          <a:ln w="28575">
            <a:solidFill>
              <a:srgbClr val="0066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b="1" dirty="0">
                <a:latin typeface="Arial Rounded MT Bold" panose="020F0704030504030204" pitchFamily="34" charset="0"/>
                <a:cs typeface="Calibri" panose="020F0502020204030204" pitchFamily="34" charset="0"/>
              </a:rPr>
              <a:t>Prof. John Abela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Department of CIS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Faculty of ICT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University of Malta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800" dirty="0">
              <a:hlinkClick r:id="rId3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u="sng" dirty="0">
                <a:solidFill>
                  <a:srgbClr val="0070C0"/>
                </a:solidFill>
              </a:rPr>
              <a:t>john.abela@um.edu.mt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800" u="sng" dirty="0">
              <a:solidFill>
                <a:srgbClr val="0070C0"/>
              </a:solidFill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+ 365 79367936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Room 1A/27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FICT Building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b="1" dirty="0">
                <a:solidFill>
                  <a:srgbClr val="33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©John Abela, 2018-2025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1600" dirty="0">
              <a:latin typeface="Arial Rounded MT Bold" panose="020F07040305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1600" dirty="0">
              <a:latin typeface="Arial Rounded MT Bold" panose="020F07040305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42964" y="529223"/>
            <a:ext cx="7741468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800"/>
              </a:lnSpc>
              <a:spcBef>
                <a:spcPts val="0"/>
              </a:spcBef>
              <a:buNone/>
            </a:pPr>
            <a:r>
              <a:rPr lang="en-GB" sz="5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Data Structures</a:t>
            </a:r>
          </a:p>
          <a:p>
            <a:pPr algn="ctr">
              <a:lnSpc>
                <a:spcPts val="5800"/>
              </a:lnSpc>
              <a:spcBef>
                <a:spcPts val="0"/>
              </a:spcBef>
              <a:buNone/>
            </a:pPr>
            <a:r>
              <a:rPr lang="en-GB" sz="5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And</a:t>
            </a:r>
          </a:p>
          <a:p>
            <a:pPr algn="ctr">
              <a:lnSpc>
                <a:spcPts val="5800"/>
              </a:lnSpc>
              <a:spcBef>
                <a:spcPts val="0"/>
              </a:spcBef>
              <a:buNone/>
            </a:pPr>
            <a:r>
              <a:rPr lang="en-GB" sz="5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Algorithms 2</a:t>
            </a:r>
            <a:endParaRPr lang="en-GB" sz="2400" b="1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369" y="2996952"/>
            <a:ext cx="4130295" cy="25435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3429000"/>
            <a:ext cx="3861735" cy="16500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56937" y="2996952"/>
            <a:ext cx="3096344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Arial Rounded MT Bold" panose="020F0704030504030204" pitchFamily="34" charset="0"/>
              </a:rPr>
              <a:t>Module 2 2024-25</a:t>
            </a:r>
          </a:p>
          <a:p>
            <a:pPr algn="ctr">
              <a:buNone/>
            </a:pPr>
            <a:r>
              <a:rPr lang="en-GB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Turing Reductions &amp; Approximation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05057-8D9D-40B8-93DF-27B30B22993B}"/>
              </a:ext>
            </a:extLst>
          </p:cNvPr>
          <p:cNvSpPr txBox="1"/>
          <p:nvPr/>
        </p:nvSpPr>
        <p:spPr>
          <a:xfrm>
            <a:off x="10843848" y="6536701"/>
            <a:ext cx="1371600" cy="381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  <a:buNone/>
            </a:pPr>
            <a:r>
              <a:rPr lang="en-GB" sz="1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Last Updated</a:t>
            </a:r>
          </a:p>
          <a:p>
            <a:pPr algn="r">
              <a:lnSpc>
                <a:spcPts val="1000"/>
              </a:lnSpc>
              <a:buNone/>
            </a:pPr>
            <a:r>
              <a:rPr lang="en-GB" sz="1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01-April-2025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9856" y="5373216"/>
            <a:ext cx="1743975" cy="160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800"/>
              </a:lnSpc>
              <a:buNone/>
            </a:pPr>
            <a:r>
              <a:rPr lang="en-GB" sz="2000" b="1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Faculty of</a:t>
            </a:r>
          </a:p>
          <a:p>
            <a:pPr algn="ctr">
              <a:lnSpc>
                <a:spcPts val="5800"/>
              </a:lnSpc>
              <a:buNone/>
            </a:pPr>
            <a:r>
              <a:rPr lang="en-GB" sz="7200" b="1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ICT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6BE93A-4EF6-4FCA-BF18-7010C2319A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4" y="44624"/>
            <a:ext cx="3284232" cy="74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4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271464" y="850621"/>
            <a:ext cx="6912768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Module Overview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983432" y="1772816"/>
            <a:ext cx="8064896" cy="4176464"/>
          </a:xfrm>
          <a:prstGeom prst="rect">
            <a:avLst/>
          </a:prstGeom>
        </p:spPr>
        <p:txBody>
          <a:bodyPr/>
          <a:lstStyle/>
          <a:p>
            <a:pPr marL="601200" indent="-457200" fontAlgn="auto">
              <a:spcBef>
                <a:spcPct val="2000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800" b="1" kern="1200" dirty="0">
                <a:latin typeface="Calibri" pitchFamily="34" charset="0"/>
                <a:cs typeface="Calibri" pitchFamily="34" charset="0"/>
              </a:rPr>
              <a:t>Present Books used for Material</a:t>
            </a:r>
          </a:p>
          <a:p>
            <a:pPr marL="601200" indent="-457200" fontAlgn="auto">
              <a:spcBef>
                <a:spcPct val="2000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800" b="1" kern="1200" dirty="0">
                <a:latin typeface="Calibri" pitchFamily="34" charset="0"/>
                <a:cs typeface="Calibri" pitchFamily="34" charset="0"/>
              </a:rPr>
              <a:t>Re-visit VC-IS-Clique Problem</a:t>
            </a:r>
          </a:p>
          <a:p>
            <a:pPr marL="144000" indent="0" fontAlgn="auto">
              <a:spcBef>
                <a:spcPct val="20000"/>
              </a:spcBef>
              <a:spcAft>
                <a:spcPts val="0"/>
              </a:spcAft>
              <a:buClr>
                <a:srgbClr val="008000"/>
              </a:buClr>
              <a:buSzPct val="100000"/>
              <a:defRPr/>
            </a:pPr>
            <a:r>
              <a:rPr lang="en-GB" sz="1600" b="1" kern="1200" dirty="0">
                <a:latin typeface="Calibri" pitchFamily="34" charset="0"/>
                <a:cs typeface="Calibri" pitchFamily="34" charset="0"/>
              </a:rPr>
              <a:t>	</a:t>
            </a:r>
            <a:r>
              <a:rPr lang="en-GB" sz="1800" b="1" kern="1200" dirty="0">
                <a:latin typeface="Calibri" pitchFamily="34" charset="0"/>
                <a:cs typeface="Calibri" pitchFamily="34" charset="0"/>
              </a:rPr>
              <a:t>Present general strategies for Turing Reduction</a:t>
            </a:r>
            <a:endParaRPr lang="en-GB" sz="2800" b="1" kern="1200" dirty="0">
              <a:latin typeface="Calibri" pitchFamily="34" charset="0"/>
              <a:cs typeface="Calibri" pitchFamily="34" charset="0"/>
            </a:endParaRPr>
          </a:p>
          <a:p>
            <a:pPr marL="601200" indent="-457200" fontAlgn="auto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2800" b="1" kern="1200" dirty="0">
                <a:latin typeface="Calibri" pitchFamily="34" charset="0"/>
                <a:cs typeface="Calibri" pitchFamily="34" charset="0"/>
              </a:rPr>
              <a:t>Approximation Algorithms</a:t>
            </a:r>
          </a:p>
          <a:p>
            <a:pPr marL="601200" indent="-457200" fontAlgn="auto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2800" b="1" kern="1200" dirty="0">
                <a:latin typeface="Calibri" pitchFamily="34" charset="0"/>
                <a:cs typeface="Calibri" pitchFamily="34" charset="0"/>
              </a:rPr>
              <a:t>Genetic Algorithms</a:t>
            </a:r>
          </a:p>
          <a:p>
            <a:pPr marL="493250" lvl="1" indent="0" fontAlgn="auto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None/>
              <a:defRPr/>
            </a:pPr>
            <a:r>
              <a:rPr lang="en-GB" sz="1500" b="1" kern="1200" dirty="0">
                <a:latin typeface="Calibri" pitchFamily="34" charset="0"/>
                <a:cs typeface="Calibri" pitchFamily="34" charset="0"/>
              </a:rPr>
              <a:t>	with applications in various domains</a:t>
            </a:r>
          </a:p>
          <a:p>
            <a:pPr marL="144000" indent="0" fontAlgn="auto"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100000"/>
              <a:defRPr/>
            </a:pPr>
            <a:endParaRPr lang="en-GB" sz="1800" b="1" kern="1200" dirty="0">
              <a:latin typeface="Calibri" pitchFamily="34" charset="0"/>
              <a:cs typeface="Calibri" pitchFamily="34" charset="0"/>
            </a:endParaRPr>
          </a:p>
          <a:p>
            <a:pPr marL="144000" indent="0" fontAlgn="auto"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100000"/>
              <a:defRPr/>
            </a:pPr>
            <a:r>
              <a:rPr lang="en-GB" sz="1800" dirty="0">
                <a:hlinkClick r:id="rId2"/>
              </a:rPr>
              <a:t>https://en.wikipedia.org/wiki/List_of_NP-complete_problems</a:t>
            </a:r>
            <a:endParaRPr lang="en-GB" sz="1800" b="1" kern="1200" dirty="0">
              <a:latin typeface="Calibri" pitchFamily="34" charset="0"/>
              <a:cs typeface="Calibri" pitchFamily="34" charset="0"/>
            </a:endParaRPr>
          </a:p>
          <a:p>
            <a:pPr marL="144000" indent="0" fontAlgn="auto">
              <a:spcBef>
                <a:spcPct val="2000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100000"/>
              <a:defRPr/>
            </a:pPr>
            <a:endParaRPr lang="en-GB" sz="2800" b="1" kern="1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831736"/>
            <a:ext cx="770485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We Cannot Throw NP-Complete and NP-Hard Problems out of the Window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A946C-A218-4B36-A820-96FD9FECE011}"/>
              </a:ext>
            </a:extLst>
          </p:cNvPr>
          <p:cNvSpPr txBox="1"/>
          <p:nvPr/>
        </p:nvSpPr>
        <p:spPr>
          <a:xfrm>
            <a:off x="1309058" y="3717032"/>
            <a:ext cx="100091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There are,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literally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thousands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problems that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shown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NP-Hard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throw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these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everyday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scheduling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etc.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use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brute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option is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approximations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Some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problems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8C0F2E-13A4-7F02-712C-AEA96F3F6E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57" y="1484784"/>
            <a:ext cx="2955003" cy="2073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C8835E-8761-D714-F707-7B89279C259B}"/>
              </a:ext>
            </a:extLst>
          </p:cNvPr>
          <p:cNvSpPr txBox="1"/>
          <p:nvPr/>
        </p:nvSpPr>
        <p:spPr>
          <a:xfrm>
            <a:off x="1631504" y="1928445"/>
            <a:ext cx="5184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Provably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Exponential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Problems?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57737-412F-5379-3A1E-E155880EE0D7}"/>
              </a:ext>
            </a:extLst>
          </p:cNvPr>
          <p:cNvSpPr txBox="1"/>
          <p:nvPr/>
        </p:nvSpPr>
        <p:spPr>
          <a:xfrm>
            <a:off x="1703512" y="2936557"/>
            <a:ext cx="42484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254125" algn="l"/>
              </a:tabLst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Non-Computable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Problems?</a:t>
            </a:r>
          </a:p>
        </p:txBody>
      </p:sp>
      <p:sp>
        <p:nvSpPr>
          <p:cNvPr id="16" name="Right Arrow 4">
            <a:extLst>
              <a:ext uri="{FF2B5EF4-FFF2-40B4-BE49-F238E27FC236}">
                <a16:creationId xmlns:a16="http://schemas.microsoft.com/office/drawing/2014/main" id="{F5710983-4E47-836A-CF88-4F464F710169}"/>
              </a:ext>
            </a:extLst>
          </p:cNvPr>
          <p:cNvSpPr/>
          <p:nvPr/>
        </p:nvSpPr>
        <p:spPr bwMode="auto">
          <a:xfrm>
            <a:off x="6960096" y="2780928"/>
            <a:ext cx="936104" cy="792088"/>
          </a:xfrm>
          <a:prstGeom prst="rightArrow">
            <a:avLst>
              <a:gd name="adj1" fmla="val 50000"/>
              <a:gd name="adj2" fmla="val 4017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2150" indent="-347663"/>
            <a:endParaRPr lang="en-US"/>
          </a:p>
        </p:txBody>
      </p:sp>
      <p:sp>
        <p:nvSpPr>
          <p:cNvPr id="17" name="Right Arrow 9">
            <a:extLst>
              <a:ext uri="{FF2B5EF4-FFF2-40B4-BE49-F238E27FC236}">
                <a16:creationId xmlns:a16="http://schemas.microsoft.com/office/drawing/2014/main" id="{01128476-9539-D374-C094-84D1B1735CAC}"/>
              </a:ext>
            </a:extLst>
          </p:cNvPr>
          <p:cNvSpPr/>
          <p:nvPr/>
        </p:nvSpPr>
        <p:spPr bwMode="auto">
          <a:xfrm>
            <a:off x="6949468" y="1772816"/>
            <a:ext cx="946732" cy="792088"/>
          </a:xfrm>
          <a:prstGeom prst="rightArrow">
            <a:avLst>
              <a:gd name="adj1" fmla="val 50000"/>
              <a:gd name="adj2" fmla="val 4017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2150" indent="-347663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/>
      <p:bldP spid="9" grpId="0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703512" y="345701"/>
            <a:ext cx="7704856" cy="615586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Approximating NP-Hard Problems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A946C-A218-4B36-A820-96FD9FECE011}"/>
              </a:ext>
            </a:extLst>
          </p:cNvPr>
          <p:cNvSpPr txBox="1"/>
          <p:nvPr/>
        </p:nvSpPr>
        <p:spPr>
          <a:xfrm>
            <a:off x="1091444" y="1052736"/>
            <a:ext cx="10009112" cy="592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we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about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we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usually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do not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decision problems (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unless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is, by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such as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where;</a:t>
            </a:r>
          </a:p>
          <a:p>
            <a:pPr marL="800100" lvl="1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candidate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solutions (the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sz="24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Examples: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chess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timetabling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scheduling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etc.</a:t>
            </a:r>
          </a:p>
          <a:p>
            <a:pPr marL="800100" lvl="1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Or we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might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have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maximize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minimize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some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navigation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TSP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longest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vertex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etc.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for these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super-polynomial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the time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solving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such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, we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relax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obtain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feasible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en-US" altLang="zh-TW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close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’ to an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solution.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does ‘</a:t>
            </a:r>
            <a:r>
              <a:rPr lang="en-US" altLang="zh-TW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close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en-US" altLang="zh-TW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0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703512" y="345701"/>
            <a:ext cx="7704856" cy="615586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Important Note!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A946C-A218-4B36-A820-96FD9FECE011}"/>
              </a:ext>
            </a:extLst>
          </p:cNvPr>
          <p:cNvSpPr txBox="1"/>
          <p:nvPr/>
        </p:nvSpPr>
        <p:spPr>
          <a:xfrm>
            <a:off x="1091444" y="1052736"/>
            <a:ext cx="100091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you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encounter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manufacturing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academia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FYP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NP-Hard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do an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extensive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before you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decide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whether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that has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algorithm is not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clever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Using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or some other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technique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should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after you have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determined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that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NP-Hard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just ‘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’ that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NP-Hard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Clr>
                <a:srgbClr val="008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Check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or else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known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NP-Hard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your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4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415480" y="405824"/>
            <a:ext cx="6912768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Choices we must make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EE0174-14B7-735D-00A5-49E64E789CEB}"/>
              </a:ext>
            </a:extLst>
          </p:cNvPr>
          <p:cNvSpPr/>
          <p:nvPr/>
        </p:nvSpPr>
        <p:spPr>
          <a:xfrm>
            <a:off x="6114728" y="3505200"/>
            <a:ext cx="2743200" cy="1447800"/>
          </a:xfrm>
          <a:prstGeom prst="rect">
            <a:avLst/>
          </a:prstGeom>
          <a:solidFill>
            <a:srgbClr val="DDDDDD"/>
          </a:solidFill>
          <a:ln w="76200">
            <a:solidFill>
              <a:srgbClr val="FF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69C84-8B89-2C7A-587D-EAFC437465C4}"/>
              </a:ext>
            </a:extLst>
          </p:cNvPr>
          <p:cNvGrpSpPr/>
          <p:nvPr/>
        </p:nvGrpSpPr>
        <p:grpSpPr>
          <a:xfrm>
            <a:off x="1923728" y="2286000"/>
            <a:ext cx="6934200" cy="4114800"/>
            <a:chOff x="480" y="1440"/>
            <a:chExt cx="4368" cy="25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585851-3BF5-0457-0476-96B3DD0C668B}"/>
                </a:ext>
              </a:extLst>
            </p:cNvPr>
            <p:cNvSpPr/>
            <p:nvPr/>
          </p:nvSpPr>
          <p:spPr>
            <a:xfrm>
              <a:off x="1392" y="2208"/>
              <a:ext cx="3456" cy="1824"/>
            </a:xfrm>
            <a:prstGeom prst="rect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8233853-8457-923A-F905-7BF3D115083C}"/>
                </a:ext>
              </a:extLst>
            </p:cNvPr>
            <p:cNvCxnSpPr/>
            <p:nvPr/>
          </p:nvCxnSpPr>
          <p:spPr>
            <a:xfrm>
              <a:off x="1392" y="3120"/>
              <a:ext cx="3456" cy="0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943C3B7-2332-C9E5-6D97-EA09637A1FAC}"/>
                </a:ext>
              </a:extLst>
            </p:cNvPr>
            <p:cNvCxnSpPr/>
            <p:nvPr/>
          </p:nvCxnSpPr>
          <p:spPr>
            <a:xfrm flipH="1">
              <a:off x="3120" y="2208"/>
              <a:ext cx="0" cy="18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5F2362-204E-2D86-222A-5D00724B559A}"/>
                </a:ext>
              </a:extLst>
            </p:cNvPr>
            <p:cNvSpPr/>
            <p:nvPr/>
          </p:nvSpPr>
          <p:spPr>
            <a:xfrm>
              <a:off x="2496" y="1440"/>
              <a:ext cx="1248" cy="40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5pPr>
            </a:lstStyle>
            <a:p>
              <a:pPr lvl="0" eaLnBrk="0" hangingPunct="0">
                <a:spcBef>
                  <a:spcPct val="50000"/>
                </a:spcBef>
              </a:pPr>
              <a:r>
                <a:rPr sz="3600" dirty="0">
                  <a:solidFill>
                    <a:srgbClr val="008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Solution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119569-9967-6D46-085E-3032F9E3798B}"/>
                </a:ext>
              </a:extLst>
            </p:cNvPr>
            <p:cNvSpPr/>
            <p:nvPr/>
          </p:nvSpPr>
          <p:spPr>
            <a:xfrm>
              <a:off x="2064" y="1872"/>
              <a:ext cx="624" cy="32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5pPr>
            </a:lstStyle>
            <a:p>
              <a:pPr lvl="0" eaLnBrk="0" hangingPunct="0">
                <a:spcBef>
                  <a:spcPct val="50000"/>
                </a:spcBef>
              </a:pPr>
              <a:r>
                <a:rPr sz="2800">
                  <a:solidFill>
                    <a:srgbClr val="3399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exact</a:t>
              </a:r>
              <a:endParaRPr sz="2400">
                <a:solidFill>
                  <a:srgbClr val="339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2E60EC-8593-E4DF-D9D0-B1FCA32D3AE0}"/>
                </a:ext>
              </a:extLst>
            </p:cNvPr>
            <p:cNvSpPr/>
            <p:nvPr/>
          </p:nvSpPr>
          <p:spPr>
            <a:xfrm>
              <a:off x="3289" y="1872"/>
              <a:ext cx="1497" cy="3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5pPr>
            </a:lstStyle>
            <a:p>
              <a:pPr lvl="0" eaLnBrk="0" hangingPunct="0">
                <a:spcBef>
                  <a:spcPct val="50000"/>
                </a:spcBef>
              </a:pPr>
              <a:r>
                <a:rPr sz="2800" dirty="0">
                  <a:solidFill>
                    <a:srgbClr val="3399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approximation</a:t>
              </a:r>
              <a:endParaRPr sz="2400" dirty="0">
                <a:solidFill>
                  <a:srgbClr val="339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A8F61B-44FD-5907-7A91-DC6A2CCCD4D5}"/>
                </a:ext>
              </a:extLst>
            </p:cNvPr>
            <p:cNvSpPr/>
            <p:nvPr/>
          </p:nvSpPr>
          <p:spPr>
            <a:xfrm rot="16200000">
              <a:off x="869" y="2404"/>
              <a:ext cx="624" cy="32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5pPr>
            </a:lstStyle>
            <a:p>
              <a:pPr lvl="0" eaLnBrk="0" hangingPunct="0">
                <a:spcBef>
                  <a:spcPct val="50000"/>
                </a:spcBef>
              </a:pPr>
              <a:r>
                <a:rPr sz="2800">
                  <a:solidFill>
                    <a:srgbClr val="3399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fast</a:t>
              </a:r>
              <a:endParaRPr sz="2400">
                <a:solidFill>
                  <a:srgbClr val="339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B8564D-942C-B602-52F1-F8A6468440F0}"/>
                </a:ext>
              </a:extLst>
            </p:cNvPr>
            <p:cNvSpPr/>
            <p:nvPr/>
          </p:nvSpPr>
          <p:spPr>
            <a:xfrm rot="16200000">
              <a:off x="869" y="3364"/>
              <a:ext cx="624" cy="32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5pPr>
            </a:lstStyle>
            <a:p>
              <a:pPr lvl="0" eaLnBrk="0" hangingPunct="0">
                <a:spcBef>
                  <a:spcPct val="50000"/>
                </a:spcBef>
              </a:pPr>
              <a:r>
                <a:rPr sz="2800">
                  <a:solidFill>
                    <a:srgbClr val="3399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slow</a:t>
              </a:r>
              <a:endParaRPr sz="2400">
                <a:solidFill>
                  <a:srgbClr val="339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926538-D141-FB2E-3BC2-4E6CEA2D2797}"/>
                </a:ext>
              </a:extLst>
            </p:cNvPr>
            <p:cNvSpPr/>
            <p:nvPr/>
          </p:nvSpPr>
          <p:spPr>
            <a:xfrm rot="16200000">
              <a:off x="110" y="2674"/>
              <a:ext cx="1143" cy="40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1800" b="0" i="0" u="none" baseline="0">
                  <a:solidFill>
                    <a:schemeClr val="tx1"/>
                  </a:solidFill>
                  <a:effectLst/>
                  <a:latin typeface="Arial" pitchFamily="34" charset="0"/>
                </a:defRPr>
              </a:lvl5pPr>
            </a:lstStyle>
            <a:p>
              <a:pPr lvl="0" eaLnBrk="0" hangingPunct="0">
                <a:spcBef>
                  <a:spcPct val="50000"/>
                </a:spcBef>
              </a:pPr>
              <a:r>
                <a:rPr sz="3600" dirty="0">
                  <a:solidFill>
                    <a:srgbClr val="008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Speed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7535A34-F947-BEEB-BBD3-10E2B63299B9}"/>
              </a:ext>
            </a:extLst>
          </p:cNvPr>
          <p:cNvSpPr/>
          <p:nvPr/>
        </p:nvSpPr>
        <p:spPr>
          <a:xfrm>
            <a:off x="3600128" y="4038600"/>
            <a:ext cx="22860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>
              <a:spcBef>
                <a:spcPct val="50000"/>
              </a:spcBef>
            </a:pP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“Fast &amp; exact”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A323BD-C065-DF8F-59A1-491C6493CDAD}"/>
              </a:ext>
            </a:extLst>
          </p:cNvPr>
          <p:cNvSpPr/>
          <p:nvPr/>
        </p:nvSpPr>
        <p:spPr>
          <a:xfrm>
            <a:off x="6419528" y="4038600"/>
            <a:ext cx="22098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>
              <a:spcBef>
                <a:spcPct val="50000"/>
              </a:spcBef>
            </a:pPr>
            <a:r>
              <a: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“Quick &amp; dirty”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0C8D6A-8A0C-AC87-9B4C-15A8AE913697}"/>
              </a:ext>
            </a:extLst>
          </p:cNvPr>
          <p:cNvSpPr/>
          <p:nvPr/>
        </p:nvSpPr>
        <p:spPr>
          <a:xfrm>
            <a:off x="3371528" y="5410200"/>
            <a:ext cx="27432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>
              <a:spcBef>
                <a:spcPct val="50000"/>
              </a:spcBef>
            </a:pP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“Not feasible”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F7E7DF-55C0-B7BF-B706-4AE5E206B0A6}"/>
              </a:ext>
            </a:extLst>
          </p:cNvPr>
          <p:cNvSpPr/>
          <p:nvPr/>
        </p:nvSpPr>
        <p:spPr>
          <a:xfrm>
            <a:off x="6114728" y="5410200"/>
            <a:ext cx="28194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>
              <a:spcBef>
                <a:spcPct val="50000"/>
              </a:spcBef>
            </a:pP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“Not clever”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90F441-7819-664B-CD3C-E326954F7534}"/>
              </a:ext>
            </a:extLst>
          </p:cNvPr>
          <p:cNvSpPr/>
          <p:nvPr/>
        </p:nvSpPr>
        <p:spPr>
          <a:xfrm>
            <a:off x="1847528" y="1524000"/>
            <a:ext cx="7702550" cy="5794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eaLnBrk="0" hangingPunct="0"/>
            <a:r>
              <a:rPr sz="32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Tradeoff</a:t>
            </a:r>
            <a:r>
              <a:rPr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Execution speed vs. solution quality</a:t>
            </a:r>
          </a:p>
        </p:txBody>
      </p:sp>
    </p:spTree>
    <p:extLst>
      <p:ext uri="{BB962C8B-B14F-4D97-AF65-F5344CB8AC3E}">
        <p14:creationId xmlns:p14="http://schemas.microsoft.com/office/powerpoint/2010/main" val="93627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415480" y="405824"/>
            <a:ext cx="6912768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Curse of Local Minima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23B17FE-657E-9B34-449A-63DB22EF5941}"/>
              </a:ext>
            </a:extLst>
          </p:cNvPr>
          <p:cNvSpPr/>
          <p:nvPr/>
        </p:nvSpPr>
        <p:spPr bwMode="auto">
          <a:xfrm>
            <a:off x="2199456" y="3714204"/>
            <a:ext cx="7620000" cy="1651000"/>
          </a:xfrm>
          <a:custGeom>
            <a:avLst/>
            <a:gdLst/>
            <a:ahLst/>
            <a:cxnLst/>
            <a:rect l="0" t="0" r="0" b="0"/>
            <a:pathLst>
              <a:path w="4800" h="1040">
                <a:moveTo>
                  <a:pt x="0" y="0"/>
                </a:moveTo>
                <a:cubicBezTo>
                  <a:pt x="332" y="192"/>
                  <a:pt x="664" y="384"/>
                  <a:pt x="912" y="432"/>
                </a:cubicBezTo>
                <a:cubicBezTo>
                  <a:pt x="1160" y="480"/>
                  <a:pt x="1336" y="192"/>
                  <a:pt x="1488" y="288"/>
                </a:cubicBezTo>
                <a:cubicBezTo>
                  <a:pt x="1640" y="384"/>
                  <a:pt x="1704" y="1040"/>
                  <a:pt x="1824" y="1008"/>
                </a:cubicBezTo>
                <a:cubicBezTo>
                  <a:pt x="1944" y="976"/>
                  <a:pt x="1888" y="168"/>
                  <a:pt x="2208" y="96"/>
                </a:cubicBezTo>
                <a:cubicBezTo>
                  <a:pt x="2528" y="24"/>
                  <a:pt x="3312" y="592"/>
                  <a:pt x="3744" y="576"/>
                </a:cubicBezTo>
                <a:cubicBezTo>
                  <a:pt x="4176" y="560"/>
                  <a:pt x="4488" y="280"/>
                  <a:pt x="4800" y="0"/>
                </a:cubicBezTo>
              </a:path>
            </a:pathLst>
          </a:custGeom>
          <a:noFill/>
          <a:ln cap="flat" cmpd="sng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989F7F-66C5-A14B-D13E-F95E19FC5D6F}"/>
              </a:ext>
            </a:extLst>
          </p:cNvPr>
          <p:cNvSpPr/>
          <p:nvPr/>
        </p:nvSpPr>
        <p:spPr>
          <a:xfrm>
            <a:off x="9571806" y="3676104"/>
            <a:ext cx="152400" cy="152400"/>
          </a:xfrm>
          <a:prstGeom prst="ellipse">
            <a:avLst/>
          </a:prstGeom>
          <a:solidFill>
            <a:srgbClr val="3399FF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9D84035-6BFD-A62E-4696-4A92FE822B44}"/>
              </a:ext>
            </a:extLst>
          </p:cNvPr>
          <p:cNvSpPr/>
          <p:nvPr/>
        </p:nvSpPr>
        <p:spPr>
          <a:xfrm>
            <a:off x="5895156" y="3701504"/>
            <a:ext cx="152400" cy="152400"/>
          </a:xfrm>
          <a:prstGeom prst="ellipse">
            <a:avLst/>
          </a:prstGeom>
          <a:solidFill>
            <a:srgbClr val="3399FF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E39CD83-8BB0-B14C-3447-657B08F323FA}"/>
              </a:ext>
            </a:extLst>
          </p:cNvPr>
          <p:cNvSpPr/>
          <p:nvPr/>
        </p:nvSpPr>
        <p:spPr>
          <a:xfrm>
            <a:off x="2339156" y="3650704"/>
            <a:ext cx="152400" cy="152400"/>
          </a:xfrm>
          <a:prstGeom prst="ellipse">
            <a:avLst/>
          </a:prstGeom>
          <a:solidFill>
            <a:srgbClr val="3399FF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C2ADBCB-EE83-D11B-6FD6-587FDBEF79D6}"/>
              </a:ext>
            </a:extLst>
          </p:cNvPr>
          <p:cNvSpPr/>
          <p:nvPr/>
        </p:nvSpPr>
        <p:spPr>
          <a:xfrm>
            <a:off x="5002981" y="5133429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99F4DD-8D67-4551-DDC8-AF66B84B109B}"/>
              </a:ext>
            </a:extLst>
          </p:cNvPr>
          <p:cNvSpPr/>
          <p:nvPr/>
        </p:nvSpPr>
        <p:spPr>
          <a:xfrm>
            <a:off x="1666056" y="1821904"/>
            <a:ext cx="8534400" cy="685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3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lvl="0">
              <a:buNone/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Avoid getting </a:t>
            </a:r>
            <a:r>
              <a:rPr>
                <a:solidFill>
                  <a:srgbClr val="33CC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trapped</a:t>
            </a:r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>
                <a:solidFill>
                  <a:srgbClr val="339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minima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BA8602-D63A-215C-AF27-4D854F1ED9C9}"/>
              </a:ext>
            </a:extLst>
          </p:cNvPr>
          <p:cNvCxnSpPr/>
          <p:nvPr/>
        </p:nvCxnSpPr>
        <p:spPr>
          <a:xfrm flipH="1">
            <a:off x="8143056" y="2355304"/>
            <a:ext cx="76200" cy="2057400"/>
          </a:xfrm>
          <a:prstGeom prst="line">
            <a:avLst/>
          </a:prstGeom>
          <a:noFill/>
          <a:ln w="38100">
            <a:solidFill>
              <a:srgbClr val="3399FF"/>
            </a:solidFill>
            <a:miter lim="800000"/>
            <a:tailEnd type="triangle"/>
          </a:ln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C05C019-1603-8C6D-F872-9D63C967E99B}"/>
              </a:ext>
            </a:extLst>
          </p:cNvPr>
          <p:cNvCxnSpPr/>
          <p:nvPr/>
        </p:nvCxnSpPr>
        <p:spPr>
          <a:xfrm flipH="1">
            <a:off x="3875856" y="2355304"/>
            <a:ext cx="4038600" cy="1828800"/>
          </a:xfrm>
          <a:prstGeom prst="line">
            <a:avLst/>
          </a:prstGeom>
          <a:noFill/>
          <a:ln w="38100">
            <a:solidFill>
              <a:srgbClr val="3399FF"/>
            </a:solidFill>
            <a:miter lim="800000"/>
            <a:tailEnd type="triangle"/>
          </a:ln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A3910EE-0697-6C0B-C8B6-7BA4A75224CE}"/>
              </a:ext>
            </a:extLst>
          </p:cNvPr>
          <p:cNvCxnSpPr/>
          <p:nvPr/>
        </p:nvCxnSpPr>
        <p:spPr>
          <a:xfrm flipH="1" flipV="1">
            <a:off x="5247456" y="5327104"/>
            <a:ext cx="1066800" cy="45720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 type="triangle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A67ED58-2FB8-6123-B913-3E43FA950409}"/>
              </a:ext>
            </a:extLst>
          </p:cNvPr>
          <p:cNvSpPr/>
          <p:nvPr/>
        </p:nvSpPr>
        <p:spPr>
          <a:xfrm>
            <a:off x="6390456" y="5479504"/>
            <a:ext cx="2819400" cy="685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3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lvl="0">
              <a:buNone/>
            </a:pPr>
            <a:r>
              <a:rPr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</a:t>
            </a:r>
            <a:r>
              <a:rPr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optimum</a:t>
            </a:r>
          </a:p>
        </p:txBody>
      </p:sp>
    </p:spTree>
    <p:extLst>
      <p:ext uri="{BB962C8B-B14F-4D97-AF65-F5344CB8AC3E}">
        <p14:creationId xmlns:p14="http://schemas.microsoft.com/office/powerpoint/2010/main" val="1251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3" presetClass="entr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48148E-6 C 0.02565 0.0243 0.05156 0.04884 0.07018 0.0625 C 0.0888 0.07639 0.10026 0.07917 0.11198 0.08241 " rAng="0" ptsTypes="AAA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99" y="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22222E-6 C -0.01615 0.02315 -0.03204 0.04676 -0.04688 0.06412 C -0.06172 0.08125 -0.07709 0.09676 -0.08985 0.10486 C -0.10248 0.11343 -0.11797 0.11158 -0.12344 0.11297 " rAng="0" ptsTypes="AAAA">
                                      <p:cBhvr>
                                        <p:cTn id="4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72" y="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C 0.01706 0.00763 0.03451 0.01551 0.05065 0.02662 C 0.06693 0.0375 0.07995 0.05347 0.09675 0.06597 C 0.11328 0.07824 0.13881 0.09467 0.15078 0.10138 C 0.16302 0.10833 0.16693 0.10555 0.17032 0.10648 " rAng="0" ptsTypes="AAAAA">
                                      <p:cBhvr>
                                        <p:cTn id="4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16" y="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7" grpId="0" animBg="1"/>
      <p:bldP spid="28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740353"/>
          <p:cNvSpPr/>
          <p:nvPr/>
        </p:nvSpPr>
        <p:spPr>
          <a:xfrm>
            <a:off x="1676400" y="76200"/>
            <a:ext cx="8534400" cy="7620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/>
          <a:lstStyle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4400" b="0" i="0" u="none" baseline="0">
                <a:solidFill>
                  <a:schemeClr val="tx2"/>
                </a:solidFill>
                <a:effectLst/>
                <a:latin typeface="Times New Roman" pitchFamily="18" charset="0"/>
              </a:defRPr>
            </a:lvl1pPr>
          </a:lstStyle>
          <a:p>
            <a:pPr lvl="0"/>
            <a:r>
              <a:rPr sz="3600" b="1" dirty="0">
                <a:solidFill>
                  <a:srgbClr val="FF6600"/>
                </a:solidFill>
                <a:latin typeface="Calibri" pitchFamily="34" charset="0"/>
                <a:ea typeface="+mj-ea"/>
                <a:cs typeface="Calibri" pitchFamily="34" charset="0"/>
              </a:rPr>
              <a:t>Approximation Algorithms</a:t>
            </a:r>
          </a:p>
        </p:txBody>
      </p:sp>
      <p:sp>
        <p:nvSpPr>
          <p:cNvPr id="740355" name="Rectangle 74035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740356" name="Rectangle 740355"/>
          <p:cNvSpPr/>
          <p:nvPr/>
        </p:nvSpPr>
        <p:spPr>
          <a:xfrm>
            <a:off x="1752600" y="838200"/>
            <a:ext cx="8915400" cy="53991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3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lvl="0">
              <a:buNone/>
            </a:pPr>
            <a:r>
              <a:rPr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Some </a:t>
            </a:r>
            <a:r>
              <a:rPr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intractable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be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efficiently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approximated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within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  <a:p>
            <a:pPr lvl="0">
              <a:buNone/>
            </a:pP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Fast:</a:t>
            </a:r>
          </a:p>
          <a:p>
            <a:pPr lvl="0">
              <a:buClr>
                <a:srgbClr val="008000"/>
              </a:buClr>
            </a:pPr>
            <a:r>
              <a:rPr lang="en-US" altLang="en-US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greedy)</a:t>
            </a:r>
          </a:p>
          <a:p>
            <a:pPr lvl="0">
              <a:buClr>
                <a:srgbClr val="008000"/>
              </a:buClr>
            </a:pPr>
            <a:r>
              <a:rPr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Provably-good approximations</a:t>
            </a:r>
          </a:p>
          <a:p>
            <a:pPr lvl="0">
              <a:buNone/>
            </a:pP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Slower:</a:t>
            </a:r>
          </a:p>
          <a:p>
            <a:pPr lvl="0">
              <a:buClr>
                <a:srgbClr val="008000"/>
              </a:buClr>
            </a:pPr>
            <a:r>
              <a:rPr lang="en-US" altLang="en-US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Branch-and-bound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approaches</a:t>
            </a:r>
          </a:p>
          <a:p>
            <a:pPr lvl="0">
              <a:buClr>
                <a:srgbClr val="008000"/>
              </a:buCl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Integer </a:t>
            </a:r>
            <a:r>
              <a:rPr lang="en-US" altLang="en-US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relaxation</a:t>
            </a:r>
          </a:p>
        </p:txBody>
      </p:sp>
      <p:sp>
        <p:nvSpPr>
          <p:cNvPr id="740457" name="Freeform: Shape 740456"/>
          <p:cNvSpPr/>
          <p:nvPr/>
        </p:nvSpPr>
        <p:spPr bwMode="auto">
          <a:xfrm>
            <a:off x="6858000" y="2667001"/>
            <a:ext cx="3505200" cy="758825"/>
          </a:xfrm>
          <a:custGeom>
            <a:avLst/>
            <a:gdLst/>
            <a:ahLst/>
            <a:cxnLst/>
            <a:rect l="0" t="0" r="0" b="0"/>
            <a:pathLst>
              <a:path w="4800" h="1040">
                <a:moveTo>
                  <a:pt x="0" y="0"/>
                </a:moveTo>
                <a:cubicBezTo>
                  <a:pt x="332" y="192"/>
                  <a:pt x="664" y="384"/>
                  <a:pt x="912" y="432"/>
                </a:cubicBezTo>
                <a:cubicBezTo>
                  <a:pt x="1160" y="480"/>
                  <a:pt x="1336" y="192"/>
                  <a:pt x="1488" y="288"/>
                </a:cubicBezTo>
                <a:cubicBezTo>
                  <a:pt x="1640" y="384"/>
                  <a:pt x="1704" y="1040"/>
                  <a:pt x="1824" y="1008"/>
                </a:cubicBezTo>
                <a:cubicBezTo>
                  <a:pt x="1944" y="976"/>
                  <a:pt x="1888" y="168"/>
                  <a:pt x="2208" y="96"/>
                </a:cubicBezTo>
                <a:cubicBezTo>
                  <a:pt x="2528" y="24"/>
                  <a:pt x="3312" y="592"/>
                  <a:pt x="3744" y="576"/>
                </a:cubicBezTo>
                <a:cubicBezTo>
                  <a:pt x="4176" y="560"/>
                  <a:pt x="4488" y="280"/>
                  <a:pt x="4800" y="0"/>
                </a:cubicBezTo>
              </a:path>
            </a:pathLst>
          </a:custGeom>
          <a:noFill/>
          <a:ln cap="flat" cmpd="sng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0458" name="Oval 740457"/>
          <p:cNvSpPr/>
          <p:nvPr/>
        </p:nvSpPr>
        <p:spPr>
          <a:xfrm>
            <a:off x="10212388" y="2590801"/>
            <a:ext cx="74612" cy="74613"/>
          </a:xfrm>
          <a:prstGeom prst="ellipse">
            <a:avLst/>
          </a:prstGeom>
          <a:solidFill>
            <a:srgbClr val="3399FF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Times New Roman" pitchFamily="18" charset="0"/>
            </a:endParaRPr>
          </a:p>
        </p:txBody>
      </p:sp>
      <p:sp>
        <p:nvSpPr>
          <p:cNvPr id="740459" name="Oval 740458"/>
          <p:cNvSpPr/>
          <p:nvPr/>
        </p:nvSpPr>
        <p:spPr>
          <a:xfrm>
            <a:off x="8612188" y="2592388"/>
            <a:ext cx="74612" cy="74612"/>
          </a:xfrm>
          <a:prstGeom prst="ellipse">
            <a:avLst/>
          </a:prstGeom>
          <a:solidFill>
            <a:srgbClr val="3399FF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Times New Roman" pitchFamily="18" charset="0"/>
            </a:endParaRPr>
          </a:p>
        </p:txBody>
      </p:sp>
      <p:sp>
        <p:nvSpPr>
          <p:cNvPr id="740460" name="Oval 740459"/>
          <p:cNvSpPr/>
          <p:nvPr/>
        </p:nvSpPr>
        <p:spPr>
          <a:xfrm>
            <a:off x="6934201" y="2592388"/>
            <a:ext cx="74613" cy="74612"/>
          </a:xfrm>
          <a:prstGeom prst="ellipse">
            <a:avLst/>
          </a:prstGeom>
          <a:solidFill>
            <a:srgbClr val="3399FF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Times New Roman" pitchFamily="18" charset="0"/>
            </a:endParaRPr>
          </a:p>
        </p:txBody>
      </p:sp>
      <p:sp>
        <p:nvSpPr>
          <p:cNvPr id="740461" name="Oval 740460"/>
          <p:cNvSpPr/>
          <p:nvPr/>
        </p:nvSpPr>
        <p:spPr>
          <a:xfrm>
            <a:off x="8137526" y="3292476"/>
            <a:ext cx="74613" cy="74613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  <a:miter lim="800000"/>
          </a:ln>
        </p:spPr>
        <p:txBody>
          <a:bodyPr wrap="none" anchor="ctr" anchorCtr="0"/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</a:defRPr>
            </a:lvl5pPr>
          </a:lstStyle>
          <a:p>
            <a:pPr lvl="0" algn="ctr" eaLnBrk="0" hangingPunct="0"/>
            <a:endParaRPr sz="2000">
              <a:latin typeface="Times New Roman" pitchFamily="18" charset="0"/>
            </a:endParaRPr>
          </a:p>
        </p:txBody>
      </p:sp>
      <p:pic>
        <p:nvPicPr>
          <p:cNvPr id="740464" name="Picture 740463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8554144" y="3962401"/>
            <a:ext cx="2438400" cy="1984375"/>
          </a:xfrm>
          <a:prstGeom prst="rect">
            <a:avLst/>
          </a:prstGeom>
          <a:noFill/>
          <a:ln>
            <a:miter lim="800000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4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4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40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40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3" presetClass="entr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40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40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0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0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40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40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07 -3.33333E-06 C 0.01424 0.01135 0.02882 0.02292 0.03924 0.0294 C 0.04965 0.03588 0.05608 0.03727 0.06267 0.03889" ptsTypes="">
                                      <p:cBhvr>
                                        <p:cTn id="38" dur="2000" fill="hold"/>
                                        <p:tgtEl>
                                          <p:spTgt spid="7404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06 -1.85185E-06 C -0.00816 0.01019 -0.01614 0.0206 -0.02378 0.02824 C -0.03125 0.03588 -0.03889 0.04283 -0.04531 0.0463 C -0.05173 0.05023 -0.05972 0.04931 -0.06232 0.05" ptsTypes="">
                                      <p:cBhvr>
                                        <p:cTn id="40" dur="2000" fill="hold"/>
                                        <p:tgtEl>
                                          <p:spTgt spid="7404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06 -1.11111E-06 C 0.00955 0.00324 0.01944 0.00671 0.02847 0.01158 C 0.03767 0.0162 0.04496 0.02315 0.05434 0.0287 C 0.06371 0.03403 0.07795 0.0412 0.08489 0.04398 C 0.09184 0.04722 0.09392 0.04583 0.09583 0.0463" ptsTypes="">
                                      <p:cBhvr>
                                        <p:cTn id="42" dur="2000" fill="hold"/>
                                        <p:tgtEl>
                                          <p:spTgt spid="740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40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40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4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40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40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740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740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740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458" grpId="0" animBg="1"/>
      <p:bldP spid="740458" grpId="1" animBg="1"/>
      <p:bldP spid="740459" grpId="0" animBg="1"/>
      <p:bldP spid="740459" grpId="1" animBg="1"/>
      <p:bldP spid="740460" grpId="0" animBg="1"/>
      <p:bldP spid="740460" grpId="1" animBg="1"/>
      <p:bldP spid="7404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5" name="Rectangle 74035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1A1184-D603-B43F-8E23-1E94264249B5}"/>
              </a:ext>
            </a:extLst>
          </p:cNvPr>
          <p:cNvSpPr/>
          <p:nvPr/>
        </p:nvSpPr>
        <p:spPr>
          <a:xfrm>
            <a:off x="1752600" y="692696"/>
            <a:ext cx="8915400" cy="6019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3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lvl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Approaches:</a:t>
            </a:r>
          </a:p>
          <a:p>
            <a:pPr lvl="0"/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Simulated annealing</a:t>
            </a:r>
          </a:p>
          <a:p>
            <a:pPr lvl="0"/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Genetic algorithms</a:t>
            </a:r>
          </a:p>
          <a:p>
            <a:pPr lvl="0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Evolutionary Methods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F46720-C4EF-87DE-C87A-E71223369402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6705600" y="692696"/>
            <a:ext cx="3686175" cy="1943100"/>
          </a:xfrm>
          <a:prstGeom prst="rect">
            <a:avLst/>
          </a:prstGeom>
          <a:noFill/>
          <a:ln>
            <a:miter lim="800000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449668-BF1D-FADB-AFC5-30C3A7EE58E2}"/>
              </a:ext>
            </a:extLst>
          </p:cNvPr>
          <p:cNvPicPr>
            <a:picLocks noChangeAspect="1"/>
          </p:cNvPicPr>
          <p:nvPr/>
        </p:nvPicPr>
        <p:blipFill>
          <a:blip r:embed="rId4" r:link="rId5"/>
          <a:stretch>
            <a:fillRect/>
          </a:stretch>
        </p:blipFill>
        <p:spPr>
          <a:xfrm>
            <a:off x="7315200" y="2750096"/>
            <a:ext cx="2943225" cy="3810000"/>
          </a:xfrm>
          <a:prstGeom prst="rect">
            <a:avLst/>
          </a:prstGeom>
          <a:noFill/>
          <a:ln>
            <a:miter lim="8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1C04CE-2C2B-A6C8-007B-F3754DE9E732}"/>
              </a:ext>
            </a:extLst>
          </p:cNvPr>
          <p:cNvPicPr>
            <a:picLocks noChangeAspect="1"/>
          </p:cNvPicPr>
          <p:nvPr/>
        </p:nvPicPr>
        <p:blipFill>
          <a:blip r:embed="rId6" r:link="rId7"/>
          <a:stretch>
            <a:fillRect/>
          </a:stretch>
        </p:blipFill>
        <p:spPr>
          <a:xfrm>
            <a:off x="1981200" y="3064421"/>
            <a:ext cx="4800600" cy="1133475"/>
          </a:xfrm>
          <a:prstGeom prst="rect">
            <a:avLst/>
          </a:prstGeom>
          <a:noFill/>
          <a:ln>
            <a:miter lim="8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0EB95-17B2-B8ED-EF71-C13B66CA7CA1}"/>
              </a:ext>
            </a:extLst>
          </p:cNvPr>
          <p:cNvPicPr>
            <a:picLocks noChangeAspect="1"/>
          </p:cNvPicPr>
          <p:nvPr/>
        </p:nvPicPr>
        <p:blipFill>
          <a:blip r:embed="rId8" r:link="rId9"/>
          <a:stretch>
            <a:fillRect/>
          </a:stretch>
        </p:blipFill>
        <p:spPr>
          <a:xfrm>
            <a:off x="1981200" y="4578896"/>
            <a:ext cx="4686300" cy="1971675"/>
          </a:xfrm>
          <a:prstGeom prst="rect">
            <a:avLst/>
          </a:prstGeom>
          <a:noFill/>
          <a:ln>
            <a:miter lim="800000"/>
          </a:ln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E7EF9F7A-CCC2-DFFF-0769-7F4A36650F56}"/>
              </a:ext>
            </a:extLst>
          </p:cNvPr>
          <p:cNvSpPr txBox="1">
            <a:spLocks noChangeArrowheads="1"/>
          </p:cNvSpPr>
          <p:nvPr/>
        </p:nvSpPr>
        <p:spPr>
          <a:xfrm>
            <a:off x="1725835" y="0"/>
            <a:ext cx="6912768" cy="536104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kern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Approximation Strategies</a:t>
            </a:r>
            <a:endParaRPr lang="en-GB" kern="0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36021-EC7F-3FDD-DF54-4687A3F474E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235376-A25F-6FE6-20DF-EB89D07E081F}"/>
              </a:ext>
            </a:extLst>
          </p:cNvPr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Right Arrow 7">
            <a:extLst>
              <a:ext uri="{FF2B5EF4-FFF2-40B4-BE49-F238E27FC236}">
                <a16:creationId xmlns:a16="http://schemas.microsoft.com/office/drawing/2014/main" id="{F4E3D7BE-AFFA-D1B6-D877-C7788C75C30A}"/>
              </a:ext>
            </a:extLst>
          </p:cNvPr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ED8DDCE-EB6F-37A4-7651-00B6BC5373D5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F7B14D-817E-05A7-C27C-2FEF143AEC1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11104" y="870648"/>
            <a:ext cx="6912768" cy="536104"/>
          </a:xfrm>
        </p:spPr>
        <p:txBody>
          <a:bodyPr/>
          <a:lstStyle/>
          <a:p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Cormen</a:t>
            </a:r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Leiserson</a:t>
            </a:r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, Ronald, Stein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304" y="1793465"/>
            <a:ext cx="3810000" cy="4495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6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19536" y="334934"/>
            <a:ext cx="6912768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Book by </a:t>
            </a:r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Dorit</a:t>
            </a:r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S.Hochbaum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1196752"/>
            <a:ext cx="3340100" cy="508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9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19536" y="666360"/>
            <a:ext cx="712879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Sequence Comparison - Chao, Zhang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00" y="1628801"/>
            <a:ext cx="3032636" cy="48673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8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Complement of a Graph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836710"/>
            <a:ext cx="9794576" cy="311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a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=(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denoted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en-US" sz="24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="1" baseline="30000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=(</a:t>
            </a:r>
            <a:r>
              <a:rPr lang="en-US" sz="24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="1" baseline="30000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is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exactly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vertices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but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any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vertices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="1" baseline="30000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adjacent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if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if they are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adjacent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Sometimes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 ‘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inverse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’ of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 Sometimes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denoted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obtain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="1" baseline="30000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edges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edges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between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non-adjacent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vertices.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Remember that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if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vertices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adjacent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– i.e.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edge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joining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them.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https://www.gatevidyalay.com/wp-content/uploads/2018/06/Complement-Of-Graph-Example.png">
            <a:extLst>
              <a:ext uri="{FF2B5EF4-FFF2-40B4-BE49-F238E27FC236}">
                <a16:creationId xmlns:a16="http://schemas.microsoft.com/office/drawing/2014/main" id="{1A10EF4C-8F63-43FC-86E7-67AD017AD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609" y="4187527"/>
            <a:ext cx="50673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CD3311-AA1F-490E-A888-80FA71B1464E}"/>
              </a:ext>
            </a:extLst>
          </p:cNvPr>
          <p:cNvCxnSpPr>
            <a:cxnSpLocks/>
          </p:cNvCxnSpPr>
          <p:nvPr/>
        </p:nvCxnSpPr>
        <p:spPr bwMode="auto">
          <a:xfrm>
            <a:off x="9356532" y="2080516"/>
            <a:ext cx="228600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/>
          <p:nvPr/>
        </p:nvCxnSpPr>
        <p:spPr bwMode="auto">
          <a:xfrm flipV="1">
            <a:off x="7032104" y="4509120"/>
            <a:ext cx="504056" cy="504056"/>
          </a:xfrm>
          <a:prstGeom prst="lin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Connector 13"/>
          <p:cNvCxnSpPr/>
          <p:nvPr/>
        </p:nvCxnSpPr>
        <p:spPr bwMode="auto">
          <a:xfrm flipH="1" flipV="1">
            <a:off x="7774129" y="4522608"/>
            <a:ext cx="504056" cy="504056"/>
          </a:xfrm>
          <a:prstGeom prst="lin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H="1">
            <a:off x="7096797" y="5157192"/>
            <a:ext cx="1126327" cy="0"/>
          </a:xfrm>
          <a:prstGeom prst="lin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7096796" y="5920020"/>
            <a:ext cx="1126327" cy="0"/>
          </a:xfrm>
          <a:prstGeom prst="lin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V="1">
            <a:off x="6888088" y="5334769"/>
            <a:ext cx="0" cy="378685"/>
          </a:xfrm>
          <a:prstGeom prst="lin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8422201" y="5342084"/>
            <a:ext cx="0" cy="378685"/>
          </a:xfrm>
          <a:prstGeom prst="lin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9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Examples of Graph Complement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Graph Complement -- from Wolfram MathWorld">
            <a:extLst>
              <a:ext uri="{FF2B5EF4-FFF2-40B4-BE49-F238E27FC236}">
                <a16:creationId xmlns:a16="http://schemas.microsoft.com/office/drawing/2014/main" id="{89D1585F-EAC4-4D11-823B-92CE5F90B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937" y="3795398"/>
            <a:ext cx="8248202" cy="258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omplement of Graph">
            <a:extLst>
              <a:ext uri="{FF2B5EF4-FFF2-40B4-BE49-F238E27FC236}">
                <a16:creationId xmlns:a16="http://schemas.microsoft.com/office/drawing/2014/main" id="{501A9C49-4B65-4010-BCAD-E1D2DDDA1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726" y="826348"/>
            <a:ext cx="7572547" cy="288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8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632816"/>
            <a:ext cx="7128792" cy="424445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799357" y="1630363"/>
            <a:ext cx="712952" cy="34471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 dirty="0"/>
              <a:t>SAT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96053" y="3111500"/>
            <a:ext cx="1698798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DIR-HAM-CYCLE</a:t>
            </a:r>
          </a:p>
        </p:txBody>
      </p:sp>
      <p:cxnSp>
        <p:nvCxnSpPr>
          <p:cNvPr id="6" name="AutoShape 5"/>
          <p:cNvCxnSpPr>
            <a:cxnSpLocks noChangeShapeType="1"/>
            <a:stCxn id="4" idx="2"/>
            <a:endCxn id="5" idx="0"/>
          </p:cNvCxnSpPr>
          <p:nvPr/>
        </p:nvCxnSpPr>
        <p:spPr bwMode="auto">
          <a:xfrm flipH="1">
            <a:off x="4645453" y="1975074"/>
            <a:ext cx="510381" cy="113642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79294" y="3111500"/>
            <a:ext cx="1988942" cy="34471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INDEPENDENT SET</a:t>
            </a:r>
          </a:p>
        </p:txBody>
      </p:sp>
      <p:cxnSp>
        <p:nvCxnSpPr>
          <p:cNvPr id="8" name="AutoShape 7"/>
          <p:cNvCxnSpPr>
            <a:cxnSpLocks noChangeShapeType="1"/>
            <a:stCxn id="4" idx="2"/>
            <a:endCxn id="7" idx="0"/>
          </p:cNvCxnSpPr>
          <p:nvPr/>
        </p:nvCxnSpPr>
        <p:spPr bwMode="auto">
          <a:xfrm flipH="1">
            <a:off x="2573765" y="1975074"/>
            <a:ext cx="2582068" cy="113642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777280" y="4210050"/>
            <a:ext cx="1589794" cy="34471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VERTEX COVER</a:t>
            </a:r>
          </a:p>
        </p:txBody>
      </p:sp>
      <p:cxnSp>
        <p:nvCxnSpPr>
          <p:cNvPr id="10" name="AutoShape 9"/>
          <p:cNvCxnSpPr>
            <a:cxnSpLocks noChangeShapeType="1"/>
            <a:stCxn id="7" idx="2"/>
            <a:endCxn id="9" idx="0"/>
          </p:cNvCxnSpPr>
          <p:nvPr/>
        </p:nvCxnSpPr>
        <p:spPr bwMode="auto">
          <a:xfrm flipH="1">
            <a:off x="2572177" y="3456210"/>
            <a:ext cx="1588" cy="7538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11" name="Picture 10" descr="kar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7" y="1177406"/>
            <a:ext cx="831850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0499227" y="2458519"/>
            <a:ext cx="161607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en-US" dirty="0"/>
              <a:t>Dick Karp (1972)</a:t>
            </a:r>
            <a:br>
              <a:rPr kumimoji="1" lang="en-US" dirty="0"/>
            </a:br>
            <a:r>
              <a:rPr kumimoji="1" lang="en-US" dirty="0"/>
              <a:t>1985 Turing Award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5906736" y="3119438"/>
            <a:ext cx="1677959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GRAPH 3-COLOR</a:t>
            </a:r>
          </a:p>
        </p:txBody>
      </p:sp>
      <p:cxnSp>
        <p:nvCxnSpPr>
          <p:cNvPr id="15" name="AutoShape 14"/>
          <p:cNvCxnSpPr>
            <a:cxnSpLocks noChangeShapeType="1"/>
            <a:stCxn id="4" idx="2"/>
            <a:endCxn id="14" idx="0"/>
          </p:cNvCxnSpPr>
          <p:nvPr/>
        </p:nvCxnSpPr>
        <p:spPr bwMode="auto">
          <a:xfrm>
            <a:off x="5155833" y="1975074"/>
            <a:ext cx="1589882" cy="11443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999674" y="4227513"/>
            <a:ext cx="1283621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HAM-CYCLE</a:t>
            </a:r>
          </a:p>
        </p:txBody>
      </p:sp>
      <p:cxnSp>
        <p:nvCxnSpPr>
          <p:cNvPr id="17" name="AutoShape 16"/>
          <p:cNvCxnSpPr>
            <a:cxnSpLocks noChangeShapeType="1"/>
            <a:stCxn id="5" idx="2"/>
            <a:endCxn id="16" idx="0"/>
          </p:cNvCxnSpPr>
          <p:nvPr/>
        </p:nvCxnSpPr>
        <p:spPr bwMode="auto">
          <a:xfrm flipH="1">
            <a:off x="4641484" y="3456211"/>
            <a:ext cx="3968" cy="7713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4361851" y="5343525"/>
            <a:ext cx="579902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TSP</a:t>
            </a:r>
          </a:p>
        </p:txBody>
      </p:sp>
      <p:cxnSp>
        <p:nvCxnSpPr>
          <p:cNvPr id="19" name="AutoShape 18"/>
          <p:cNvCxnSpPr>
            <a:cxnSpLocks noChangeShapeType="1"/>
            <a:stCxn id="16" idx="2"/>
            <a:endCxn id="18" idx="0"/>
          </p:cNvCxnSpPr>
          <p:nvPr/>
        </p:nvCxnSpPr>
        <p:spPr bwMode="auto">
          <a:xfrm>
            <a:off x="4641484" y="4572223"/>
            <a:ext cx="10318" cy="77130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7939774" y="3125788"/>
            <a:ext cx="1463157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SUBSET-SUM</a:t>
            </a:r>
          </a:p>
        </p:txBody>
      </p:sp>
      <p:cxnSp>
        <p:nvCxnSpPr>
          <p:cNvPr id="21" name="AutoShape 20"/>
          <p:cNvCxnSpPr>
            <a:cxnSpLocks noChangeShapeType="1"/>
            <a:stCxn id="4" idx="2"/>
            <a:endCxn id="20" idx="0"/>
          </p:cNvCxnSpPr>
          <p:nvPr/>
        </p:nvCxnSpPr>
        <p:spPr bwMode="auto">
          <a:xfrm>
            <a:off x="5155834" y="1975074"/>
            <a:ext cx="3515519" cy="11507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7953346" y="4221163"/>
            <a:ext cx="1447127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SCHEDULING</a:t>
            </a:r>
          </a:p>
        </p:txBody>
      </p:sp>
      <p:cxnSp>
        <p:nvCxnSpPr>
          <p:cNvPr id="23" name="AutoShape 22"/>
          <p:cNvCxnSpPr>
            <a:cxnSpLocks noChangeShapeType="1"/>
            <a:stCxn id="20" idx="2"/>
            <a:endCxn id="22" idx="0"/>
          </p:cNvCxnSpPr>
          <p:nvPr/>
        </p:nvCxnSpPr>
        <p:spPr bwMode="auto">
          <a:xfrm>
            <a:off x="8671353" y="3470499"/>
            <a:ext cx="5557" cy="7506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5851417" y="4227513"/>
            <a:ext cx="1791773" cy="3447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PLANAR 3-COLOR</a:t>
            </a:r>
          </a:p>
        </p:txBody>
      </p:sp>
      <p:cxnSp>
        <p:nvCxnSpPr>
          <p:cNvPr id="25" name="AutoShape 24"/>
          <p:cNvCxnSpPr>
            <a:cxnSpLocks noChangeShapeType="1"/>
            <a:stCxn id="14" idx="2"/>
            <a:endCxn id="24" idx="0"/>
          </p:cNvCxnSpPr>
          <p:nvPr/>
        </p:nvCxnSpPr>
        <p:spPr bwMode="auto">
          <a:xfrm>
            <a:off x="6745715" y="3464149"/>
            <a:ext cx="1588" cy="7633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1957548" y="5343525"/>
            <a:ext cx="1243546" cy="34471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lIns="118872" tIns="64008" rIns="118872" bIns="64008">
            <a:spAutoFit/>
          </a:bodyPr>
          <a:lstStyle>
            <a:lvl1pPr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sz="1400" dirty="0"/>
              <a:t>SET COVER</a:t>
            </a:r>
          </a:p>
        </p:txBody>
      </p:sp>
      <p:cxnSp>
        <p:nvCxnSpPr>
          <p:cNvPr id="27" name="AutoShape 26"/>
          <p:cNvCxnSpPr>
            <a:cxnSpLocks noChangeShapeType="1"/>
            <a:stCxn id="9" idx="2"/>
            <a:endCxn id="26" idx="0"/>
          </p:cNvCxnSpPr>
          <p:nvPr/>
        </p:nvCxnSpPr>
        <p:spPr bwMode="auto">
          <a:xfrm>
            <a:off x="2572177" y="4554761"/>
            <a:ext cx="7144" cy="7887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689195" y="6051551"/>
            <a:ext cx="1877117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None/>
            </a:pPr>
            <a:r>
              <a:rPr kumimoji="1" lang="en-US" sz="1400" dirty="0">
                <a:solidFill>
                  <a:srgbClr val="0070C0"/>
                </a:solidFill>
              </a:rPr>
              <a:t>packing and covering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4131102" y="6049964"/>
            <a:ext cx="110126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None/>
            </a:pPr>
            <a:r>
              <a:rPr kumimoji="1" lang="en-US" sz="1400" dirty="0">
                <a:solidFill>
                  <a:srgbClr val="0070C0"/>
                </a:solidFill>
              </a:rPr>
              <a:t>sequencing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113889" y="6049964"/>
            <a:ext cx="1061188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None/>
            </a:pPr>
            <a:r>
              <a:rPr kumimoji="1" lang="en-US" sz="1400" dirty="0">
                <a:solidFill>
                  <a:srgbClr val="0070C0"/>
                </a:solidFill>
              </a:rPr>
              <a:t>partitioning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8250664" y="6049964"/>
            <a:ext cx="96180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None/>
            </a:pPr>
            <a:r>
              <a:rPr kumimoji="1" lang="en-US" sz="1400" dirty="0">
                <a:solidFill>
                  <a:srgbClr val="0070C0"/>
                </a:solidFill>
              </a:rPr>
              <a:t>numerical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621265" y="1620839"/>
            <a:ext cx="1907573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None/>
            </a:pPr>
            <a:r>
              <a:rPr kumimoji="1" lang="en-US" sz="1400" dirty="0">
                <a:solidFill>
                  <a:srgbClr val="0070C0"/>
                </a:solidFill>
              </a:rPr>
              <a:t>constraint satisfaction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4B9FBE16-D233-4394-8888-66E3ADD55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0523" y="47321"/>
            <a:ext cx="4968552" cy="1077423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Dick Karp’s Work</a:t>
            </a:r>
            <a:br>
              <a:rPr lang="en-US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Remember this?</a:t>
            </a:r>
            <a:endParaRPr lang="en-GB" sz="20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6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8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4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2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4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6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8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4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/>
      <p:bldP spid="4" grpId="0" animBg="1"/>
      <p:bldP spid="5" grpId="0" animBg="1"/>
      <p:bldP spid="7" grpId="0" animBg="1"/>
      <p:bldP spid="9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/>
      <p:bldP spid="29" grpId="0"/>
      <p:bldP spid="30" grpId="0"/>
      <p:bldP spid="31" grpId="0"/>
      <p:bldP spid="32" grpId="0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M A.M. Turing Award - Heidelberg Laureate For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116" y="565172"/>
            <a:ext cx="2780884" cy="278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Dick Karp’s Work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988692"/>
            <a:ext cx="8883618" cy="51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After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Stephen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that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Dick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(who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would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many other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thus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(by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transitivity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that these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were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 1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it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that for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can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 2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if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but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NP-Complete?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 3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if I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into a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which is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5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Question 1 Answer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988692"/>
            <a:ext cx="9794576" cy="51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 1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it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that for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can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indent="0" eaLnBrk="1" hangingPunct="1">
              <a:lnSpc>
                <a:spcPct val="90000"/>
              </a:lnSpc>
              <a:buClr>
                <a:srgbClr val="008000"/>
              </a:buClr>
              <a:buSzPct val="125000"/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by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they are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both in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  B</a:t>
            </a:r>
            <a:r>
              <a:rPr lang="en-US" sz="2400" b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and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also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  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b="1" baseline="-25000" dirty="0">
                <a:solidFill>
                  <a:srgbClr val="A4411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QED</a:t>
            </a:r>
          </a:p>
          <a:p>
            <a:pPr marL="0" indent="0" eaLnBrk="1" hangingPunct="1">
              <a:lnSpc>
                <a:spcPct val="90000"/>
              </a:lnSpc>
              <a:buClr>
                <a:srgbClr val="008000"/>
              </a:buClr>
              <a:buSzPct val="125000"/>
              <a:buNone/>
            </a:pPr>
            <a:endParaRPr lang="en-US" sz="2400" b="1" baseline="-25000" dirty="0">
              <a:solidFill>
                <a:srgbClr val="A4411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’ is </a:t>
            </a:r>
            <a:r>
              <a:rPr lang="en-US" sz="24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quod </a:t>
            </a:r>
            <a:r>
              <a:rPr lang="en-US" sz="2400" b="1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erat</a:t>
            </a:r>
            <a:r>
              <a:rPr lang="en-US" sz="24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demonstrandum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Latin for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proved what I was trying to prove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 This is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proof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983432" y="2204864"/>
            <a:ext cx="9649072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5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0A44-4B11-E8D0-8A7D-EA4D1B47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>
            <a:extLst>
              <a:ext uri="{FF2B5EF4-FFF2-40B4-BE49-F238E27FC236}">
                <a16:creationId xmlns:a16="http://schemas.microsoft.com/office/drawing/2014/main" id="{E89ED87B-89A1-CDD1-3116-6F8C09284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Polynomial Time </a:t>
            </a:r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Equilvalence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A88003-97FB-3CEC-250D-E2DE7C2DE67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84790" y="980728"/>
            <a:ext cx="11043858" cy="51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problems.</a:t>
            </a:r>
          </a:p>
          <a:p>
            <a:pPr eaLnBrk="1" hangingPunct="1"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say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 equivalent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This is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  B</a:t>
            </a:r>
            <a:r>
              <a:rPr lang="en-US" sz="2600" b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and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also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  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.</a:t>
            </a:r>
          </a:p>
          <a:p>
            <a:pPr eaLnBrk="1" hangingPunct="1"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Bidirectional Reductions </a:t>
            </a:r>
            <a:r>
              <a:rPr lang="en-GB" sz="26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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We say that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equivalent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if there is a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and a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Implication on Solving the Problems </a:t>
            </a:r>
            <a:r>
              <a:rPr lang="en-GB" sz="26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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equivalence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implies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that if you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solving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, you can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(by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converting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polynomial-time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). The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reverse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is also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. So, both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A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B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essentially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the same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computational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difficulty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(up to the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GB" sz="2600" dirty="0">
                <a:latin typeface="Calibri" panose="020F0502020204030204" pitchFamily="34" charset="0"/>
                <a:cs typeface="Calibri" panose="020F0502020204030204" pitchFamily="34" charset="0"/>
              </a:rPr>
              <a:t> overheads).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8626D-2570-C902-9B82-1F6900AEB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2FD63C-D75F-4F0A-BFC9-2989A78337DC}"/>
              </a:ext>
            </a:extLst>
          </p:cNvPr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EB4288A-1C35-F436-ACDC-389012721C42}"/>
              </a:ext>
            </a:extLst>
          </p:cNvPr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FA87828-6A68-EB2F-9BA3-E6AE86359027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48C224-988D-A4D9-859C-68F5821D2E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7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23392" y="1196378"/>
            <a:ext cx="7416824" cy="4896918"/>
          </a:xfrm>
        </p:spPr>
        <p:txBody>
          <a:bodyPr/>
          <a:lstStyle/>
          <a:p>
            <a:pPr marL="0" indent="0"/>
            <a:endParaRPr lang="en-US" sz="2400" b="1" dirty="0">
              <a:solidFill>
                <a:srgbClr val="002060"/>
              </a:solidFill>
              <a:sym typeface="Symbol" pitchFamily="-64" charset="2"/>
            </a:endParaRPr>
          </a:p>
          <a:p>
            <a:pPr marL="0" indent="0"/>
            <a:r>
              <a:rPr lang="en-GB" sz="2400" b="1" dirty="0">
                <a:solidFill>
                  <a:srgbClr val="002060"/>
                </a:solidFill>
              </a:rPr>
              <a:t>Lemma 4</a:t>
            </a:r>
          </a:p>
          <a:p>
            <a:pPr marL="0" indent="0"/>
            <a:r>
              <a:rPr lang="en-GB" sz="2400" dirty="0"/>
              <a:t>If </a:t>
            </a:r>
            <a:r>
              <a:rPr lang="en-GB" sz="2400" b="1" i="1" dirty="0">
                <a:solidFill>
                  <a:srgbClr val="C00000"/>
                </a:solidFill>
              </a:rPr>
              <a:t>P</a:t>
            </a:r>
            <a:r>
              <a:rPr lang="en-GB" sz="2400" b="1" i="1" baseline="-25000" dirty="0">
                <a:solidFill>
                  <a:srgbClr val="C00000"/>
                </a:solidFill>
              </a:rPr>
              <a:t>1</a:t>
            </a:r>
            <a:r>
              <a:rPr lang="en-GB" sz="2400" dirty="0"/>
              <a:t> and </a:t>
            </a:r>
            <a:r>
              <a:rPr lang="en-GB" sz="2400" b="1" i="1" dirty="0">
                <a:solidFill>
                  <a:srgbClr val="C00000"/>
                </a:solidFill>
              </a:rPr>
              <a:t>P</a:t>
            </a:r>
            <a:r>
              <a:rPr lang="en-GB" sz="2400" b="1" i="1" baseline="-25000" dirty="0">
                <a:solidFill>
                  <a:srgbClr val="C00000"/>
                </a:solidFill>
              </a:rPr>
              <a:t>2 </a:t>
            </a:r>
            <a:r>
              <a:rPr lang="en-GB" sz="2400" b="1" dirty="0">
                <a:solidFill>
                  <a:srgbClr val="0070C0"/>
                </a:solidFill>
              </a:rPr>
              <a:t>belong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NP</a:t>
            </a:r>
            <a:r>
              <a:rPr lang="en-GB" sz="2400" dirty="0"/>
              <a:t> and </a:t>
            </a:r>
            <a:r>
              <a:rPr lang="en-US" sz="2400" b="1" i="1" dirty="0">
                <a:solidFill>
                  <a:srgbClr val="C00000"/>
                </a:solidFill>
                <a:sym typeface="Symbol" pitchFamily="-64" charset="2"/>
              </a:rPr>
              <a:t>P</a:t>
            </a:r>
            <a:r>
              <a:rPr lang="en-US" sz="2400" b="1" i="1" baseline="-25000" dirty="0">
                <a:solidFill>
                  <a:srgbClr val="C00000"/>
                </a:solidFill>
                <a:sym typeface="Symbol" pitchFamily="-64" charset="2"/>
              </a:rPr>
              <a:t>1</a:t>
            </a:r>
            <a:r>
              <a:rPr lang="en-US" sz="2400" b="1" i="1" dirty="0">
                <a:solidFill>
                  <a:srgbClr val="C00000"/>
                </a:solidFill>
                <a:sym typeface="Symbol" pitchFamily="-64" charset="2"/>
              </a:rPr>
              <a:t> </a:t>
            </a:r>
            <a:r>
              <a:rPr lang="en-US" sz="2800" b="1" i="1" dirty="0">
                <a:solidFill>
                  <a:srgbClr val="C00000"/>
                </a:solidFill>
                <a:sym typeface="Symbol" pitchFamily="-64" charset="2"/>
              </a:rPr>
              <a:t></a:t>
            </a:r>
            <a:r>
              <a:rPr lang="en-US" sz="2400" b="1" i="1" dirty="0">
                <a:solidFill>
                  <a:srgbClr val="C00000"/>
                </a:solidFill>
                <a:sym typeface="Symbol" pitchFamily="-64" charset="2"/>
              </a:rPr>
              <a:t> P</a:t>
            </a:r>
            <a:r>
              <a:rPr lang="en-US" sz="2400" b="1" i="1" baseline="-25000" dirty="0">
                <a:solidFill>
                  <a:srgbClr val="C00000"/>
                </a:solidFill>
                <a:sym typeface="Symbol" pitchFamily="-64" charset="2"/>
              </a:rPr>
              <a:t>2 </a:t>
            </a:r>
            <a:r>
              <a:rPr lang="en-GB" sz="2400" b="1" dirty="0">
                <a:solidFill>
                  <a:srgbClr val="0070C0"/>
                </a:solidFill>
                <a:sym typeface="Symbol" pitchFamily="-64" charset="2"/>
              </a:rPr>
              <a:t>then</a:t>
            </a:r>
            <a:r>
              <a:rPr lang="en-GB" sz="2400" dirty="0">
                <a:sym typeface="Symbol" pitchFamily="-64" charset="2"/>
              </a:rPr>
              <a:t> if </a:t>
            </a:r>
            <a:r>
              <a:rPr lang="en-GB" sz="2400" b="1" i="1" dirty="0">
                <a:solidFill>
                  <a:srgbClr val="C00000"/>
                </a:solidFill>
              </a:rPr>
              <a:t>P</a:t>
            </a:r>
            <a:r>
              <a:rPr lang="en-GB" sz="2400" b="1" i="1" baseline="-25000" dirty="0">
                <a:solidFill>
                  <a:srgbClr val="C00000"/>
                </a:solidFill>
              </a:rPr>
              <a:t>1</a:t>
            </a:r>
            <a:r>
              <a:rPr lang="en-GB" sz="2400" i="1" baseline="-25000" dirty="0"/>
              <a:t>  </a:t>
            </a:r>
            <a:r>
              <a:rPr lang="en-GB" sz="2400" dirty="0"/>
              <a:t>is </a:t>
            </a:r>
            <a:r>
              <a:rPr lang="en-GB" sz="2400" b="1" dirty="0">
                <a:solidFill>
                  <a:srgbClr val="0070C0"/>
                </a:solidFill>
              </a:rPr>
              <a:t>NP-Complete</a:t>
            </a:r>
            <a:r>
              <a:rPr lang="en-GB" sz="2400" dirty="0"/>
              <a:t> then </a:t>
            </a:r>
            <a:r>
              <a:rPr lang="en-GB" sz="2400" b="1" dirty="0">
                <a:solidFill>
                  <a:srgbClr val="0070C0"/>
                </a:solidFill>
              </a:rPr>
              <a:t>so</a:t>
            </a:r>
            <a:r>
              <a:rPr lang="en-GB" sz="2400" dirty="0"/>
              <a:t> is </a:t>
            </a:r>
            <a:r>
              <a:rPr lang="en-GB" sz="2400" b="1" i="1" dirty="0">
                <a:solidFill>
                  <a:srgbClr val="C00000"/>
                </a:solidFill>
              </a:rPr>
              <a:t>P</a:t>
            </a:r>
            <a:r>
              <a:rPr lang="en-GB" sz="2400" b="1" i="1" baseline="-25000" dirty="0">
                <a:solidFill>
                  <a:srgbClr val="C00000"/>
                </a:solidFill>
              </a:rPr>
              <a:t>2</a:t>
            </a:r>
            <a:r>
              <a:rPr lang="en-GB" sz="2400" dirty="0"/>
              <a:t>.</a:t>
            </a:r>
          </a:p>
          <a:p>
            <a:pPr marL="0" indent="0"/>
            <a:endParaRPr lang="en-GB" sz="2400" dirty="0"/>
          </a:p>
          <a:p>
            <a:pPr marL="0" indent="0"/>
            <a:r>
              <a:rPr lang="en-GB" sz="2400" dirty="0"/>
              <a:t>This </a:t>
            </a:r>
            <a:r>
              <a:rPr lang="en-GB" sz="2400" b="1" dirty="0">
                <a:solidFill>
                  <a:srgbClr val="0070C0"/>
                </a:solidFill>
              </a:rPr>
              <a:t>follows</a:t>
            </a:r>
            <a:r>
              <a:rPr lang="en-GB" sz="2400" dirty="0"/>
              <a:t> from the </a:t>
            </a:r>
            <a:r>
              <a:rPr lang="en-GB" sz="2400" b="1" dirty="0">
                <a:solidFill>
                  <a:srgbClr val="0070C0"/>
                </a:solidFill>
              </a:rPr>
              <a:t>transitivity</a:t>
            </a:r>
            <a:r>
              <a:rPr lang="en-GB" sz="2400" dirty="0"/>
              <a:t> of </a:t>
            </a:r>
            <a:r>
              <a:rPr lang="en-GB" sz="2400" b="1" dirty="0">
                <a:solidFill>
                  <a:srgbClr val="0070C0"/>
                </a:solidFill>
              </a:rPr>
              <a:t>Turing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Reduction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rgbClr val="0070C0"/>
                </a:solidFill>
              </a:rPr>
              <a:t>serves</a:t>
            </a:r>
            <a:r>
              <a:rPr lang="en-GB" sz="2400" dirty="0"/>
              <a:t> that to </a:t>
            </a:r>
            <a:r>
              <a:rPr lang="en-GB" sz="2400" b="1" dirty="0">
                <a:solidFill>
                  <a:srgbClr val="0070C0"/>
                </a:solidFill>
              </a:rPr>
              <a:t>show</a:t>
            </a:r>
            <a:r>
              <a:rPr lang="en-GB" sz="2400" dirty="0"/>
              <a:t> that a </a:t>
            </a:r>
            <a:r>
              <a:rPr lang="en-GB" sz="2400" b="1" dirty="0">
                <a:solidFill>
                  <a:srgbClr val="0070C0"/>
                </a:solidFill>
              </a:rPr>
              <a:t>given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problem</a:t>
            </a:r>
            <a:r>
              <a:rPr lang="en-GB" sz="2400" dirty="0"/>
              <a:t> </a:t>
            </a:r>
            <a:r>
              <a:rPr lang="en-GB" sz="2400" b="1" i="1" dirty="0">
                <a:solidFill>
                  <a:srgbClr val="7030A0"/>
                </a:solidFill>
              </a:rPr>
              <a:t>X</a:t>
            </a:r>
            <a:r>
              <a:rPr lang="en-GB" sz="2400" dirty="0"/>
              <a:t> is </a:t>
            </a:r>
            <a:r>
              <a:rPr lang="en-GB" sz="2400" b="1" dirty="0">
                <a:solidFill>
                  <a:srgbClr val="0070C0"/>
                </a:solidFill>
              </a:rPr>
              <a:t>NP-Complete</a:t>
            </a:r>
            <a:r>
              <a:rPr lang="en-GB" sz="2400" dirty="0"/>
              <a:t> all we </a:t>
            </a:r>
            <a:r>
              <a:rPr lang="en-GB" sz="2400" b="1" dirty="0">
                <a:solidFill>
                  <a:srgbClr val="0070C0"/>
                </a:solidFill>
              </a:rPr>
              <a:t>need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do</a:t>
            </a:r>
            <a:r>
              <a:rPr lang="en-GB" sz="2400" dirty="0"/>
              <a:t> is to </a:t>
            </a:r>
            <a:r>
              <a:rPr lang="en-GB" sz="2400" b="1" dirty="0">
                <a:solidFill>
                  <a:srgbClr val="0070C0"/>
                </a:solidFill>
              </a:rPr>
              <a:t>reduce</a:t>
            </a:r>
            <a:r>
              <a:rPr lang="en-GB" sz="2400" dirty="0"/>
              <a:t> a </a:t>
            </a:r>
            <a:r>
              <a:rPr lang="en-GB" sz="2400" b="1" dirty="0">
                <a:solidFill>
                  <a:srgbClr val="0070C0"/>
                </a:solidFill>
              </a:rPr>
              <a:t>known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NP-Complete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problem</a:t>
            </a:r>
            <a:r>
              <a:rPr lang="en-GB" sz="2400" dirty="0"/>
              <a:t> to </a:t>
            </a:r>
            <a:r>
              <a:rPr lang="en-GB" sz="2400" b="1" i="1" dirty="0">
                <a:solidFill>
                  <a:srgbClr val="7030A0"/>
                </a:solidFill>
              </a:rPr>
              <a:t>X</a:t>
            </a:r>
            <a:r>
              <a:rPr lang="en-GB" sz="2400" dirty="0"/>
              <a:t>.</a:t>
            </a:r>
          </a:p>
          <a:p>
            <a:pPr marL="0" indent="0"/>
            <a:endParaRPr lang="en-GB" sz="800" dirty="0"/>
          </a:p>
          <a:p>
            <a:pPr marL="0" indent="0"/>
            <a:r>
              <a:rPr lang="en-GB" sz="2400" b="1" dirty="0">
                <a:solidFill>
                  <a:srgbClr val="0070C0"/>
                </a:solidFill>
              </a:rPr>
              <a:t>Note</a:t>
            </a:r>
            <a:r>
              <a:rPr lang="en-GB" sz="2400" dirty="0"/>
              <a:t> that </a:t>
            </a:r>
            <a:r>
              <a:rPr lang="en-GB" sz="2400" b="1" dirty="0">
                <a:solidFill>
                  <a:srgbClr val="7030A0"/>
                </a:solidFill>
              </a:rPr>
              <a:t>Turing reductions </a:t>
            </a:r>
            <a:r>
              <a:rPr lang="en-GB" sz="2400" dirty="0"/>
              <a:t>are </a:t>
            </a:r>
            <a:r>
              <a:rPr lang="en-GB" sz="2400" b="1" dirty="0">
                <a:solidFill>
                  <a:srgbClr val="0070C0"/>
                </a:solidFill>
              </a:rPr>
              <a:t>also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known</a:t>
            </a:r>
            <a:r>
              <a:rPr lang="en-GB" sz="2400" dirty="0"/>
              <a:t> as </a:t>
            </a:r>
            <a:r>
              <a:rPr lang="en-GB" sz="2400" b="1" dirty="0">
                <a:solidFill>
                  <a:srgbClr val="7030A0"/>
                </a:solidFill>
              </a:rPr>
              <a:t>Karp reductions</a:t>
            </a:r>
            <a:r>
              <a:rPr lang="en-GB" sz="2400" dirty="0"/>
              <a:t>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title"/>
          </p:nvPr>
        </p:nvSpPr>
        <p:spPr>
          <a:xfrm>
            <a:off x="623392" y="836712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Equivalence Argument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400256" y="3068960"/>
          <a:ext cx="3455030" cy="1757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9543960" imgH="4857840" progId="Paint.Picture">
                  <p:embed/>
                </p:oleObj>
              </mc:Choice>
              <mc:Fallback>
                <p:oleObj name="Bitmap Image" r:id="rId3" imgW="9543960" imgH="4857840" progId="Paint.Picture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00256" y="3068960"/>
                        <a:ext cx="3455030" cy="1757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19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0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3165B03-FB6C-465F-BCED-183AD95C790F}"/>
              </a:ext>
            </a:extLst>
          </p:cNvPr>
          <p:cNvSpPr/>
          <p:nvPr/>
        </p:nvSpPr>
        <p:spPr bwMode="auto">
          <a:xfrm>
            <a:off x="191344" y="1270930"/>
            <a:ext cx="2880320" cy="4316140"/>
          </a:xfrm>
          <a:prstGeom prst="ellipse">
            <a:avLst/>
          </a:prstGeom>
          <a:noFill/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2150" marR="0" indent="-3476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tabLst/>
            </a:pPr>
            <a:endParaRPr kumimoji="0" lang="en-GB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1F774-82B4-4952-A123-7A15AD86C8CE}"/>
              </a:ext>
            </a:extLst>
          </p:cNvPr>
          <p:cNvSpPr txBox="1"/>
          <p:nvPr/>
        </p:nvSpPr>
        <p:spPr>
          <a:xfrm>
            <a:off x="4452671" y="3182778"/>
            <a:ext cx="3600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GB" i="1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B7837-644C-4545-BDB8-F5A3D54A5B08}"/>
              </a:ext>
            </a:extLst>
          </p:cNvPr>
          <p:cNvSpPr txBox="1"/>
          <p:nvPr/>
        </p:nvSpPr>
        <p:spPr>
          <a:xfrm>
            <a:off x="966296" y="1479679"/>
            <a:ext cx="13304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 NP</a:t>
            </a:r>
            <a:endParaRPr lang="en-GB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1D68F-81B0-41E5-9906-957C095E8970}"/>
              </a:ext>
            </a:extLst>
          </p:cNvPr>
          <p:cNvSpPr txBox="1"/>
          <p:nvPr/>
        </p:nvSpPr>
        <p:spPr>
          <a:xfrm>
            <a:off x="2081012" y="1986228"/>
            <a:ext cx="541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i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GB" i="1" baseline="-25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D6369-C658-49BA-9503-DD46A0EC5A55}"/>
              </a:ext>
            </a:extLst>
          </p:cNvPr>
          <p:cNvSpPr txBox="1"/>
          <p:nvPr/>
        </p:nvSpPr>
        <p:spPr>
          <a:xfrm>
            <a:off x="658312" y="2604103"/>
            <a:ext cx="541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i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GB" i="1" baseline="-25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67ADE-1924-470D-9F6E-9EE9BD13153A}"/>
              </a:ext>
            </a:extLst>
          </p:cNvPr>
          <p:cNvSpPr txBox="1"/>
          <p:nvPr/>
        </p:nvSpPr>
        <p:spPr>
          <a:xfrm>
            <a:off x="1902076" y="3359162"/>
            <a:ext cx="541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i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GB" i="1" baseline="-25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CD2FC-95D4-49EB-A2CF-507EAA15540D}"/>
              </a:ext>
            </a:extLst>
          </p:cNvPr>
          <p:cNvSpPr txBox="1"/>
          <p:nvPr/>
        </p:nvSpPr>
        <p:spPr>
          <a:xfrm>
            <a:off x="790255" y="4151250"/>
            <a:ext cx="541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i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GB" i="1" baseline="-25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431213-AE52-47F6-AE5B-03F1E8B0E504}"/>
              </a:ext>
            </a:extLst>
          </p:cNvPr>
          <p:cNvSpPr txBox="1"/>
          <p:nvPr/>
        </p:nvSpPr>
        <p:spPr>
          <a:xfrm>
            <a:off x="1503976" y="4602186"/>
            <a:ext cx="6686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i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∞</a:t>
            </a:r>
            <a:endParaRPr lang="en-GB" i="1" baseline="-25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F18C65-EEC8-42E0-A13E-DDC4CE1662D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567608" y="2391566"/>
            <a:ext cx="1944216" cy="977141"/>
          </a:xfrm>
          <a:prstGeom prst="straightConnector1">
            <a:avLst/>
          </a:prstGeom>
          <a:noFill/>
          <a:ln w="22225" cap="flat" cmpd="sng" algn="ctr">
            <a:solidFill>
              <a:srgbClr val="0066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54BD5D4-1AB2-4620-82EB-C0654192A3BD}"/>
              </a:ext>
            </a:extLst>
          </p:cNvPr>
          <p:cNvSpPr/>
          <p:nvPr/>
        </p:nvSpPr>
        <p:spPr>
          <a:xfrm>
            <a:off x="3456146" y="2564904"/>
            <a:ext cx="367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</a:t>
            </a:r>
            <a:endParaRPr lang="en-GB" sz="2000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4DAEAA66-00C6-47D4-87D4-359B27F93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829" y="962972"/>
            <a:ext cx="5752811" cy="5562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6600"/>
              </a:buClr>
              <a:buSzPct val="125000"/>
              <a:buFont typeface="Arial" pitchFamily="34" charset="0"/>
              <a:buChar char="•"/>
            </a:pP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Lemma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(previous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slide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), if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GB" sz="2000" b="1" kern="0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itself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, be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to a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then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  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2000" b="1" u="sng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GB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Clr>
                <a:srgbClr val="006600"/>
              </a:buClr>
              <a:buSzPct val="125000"/>
              <a:buFont typeface="Arial" pitchFamily="34" charset="0"/>
              <a:buChar char="•"/>
            </a:pP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These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follow from the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transitivity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Clr>
                <a:srgbClr val="006600"/>
              </a:buClr>
              <a:buSzPct val="125000"/>
              <a:buFont typeface="Arial" pitchFamily="34" charset="0"/>
              <a:buChar char="•"/>
            </a:pP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If we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and we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want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show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that </a:t>
            </a:r>
            <a:r>
              <a:rPr lang="en-US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then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to:</a:t>
            </a:r>
          </a:p>
          <a:p>
            <a:pPr marL="806450" lvl="1" indent="-457200">
              <a:buClr>
                <a:srgbClr val="006600"/>
              </a:buClr>
              <a:buSzPct val="100000"/>
              <a:buFont typeface="+mj-lt"/>
              <a:buAutoNum type="arabicParenR"/>
            </a:pP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First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show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that </a:t>
            </a:r>
            <a:r>
              <a:rPr lang="en-US" sz="17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(very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), and;</a:t>
            </a:r>
          </a:p>
          <a:p>
            <a:pPr marL="806450" lvl="1" indent="-457200">
              <a:buClr>
                <a:srgbClr val="006600"/>
              </a:buClr>
              <a:buSzPct val="100000"/>
              <a:buFont typeface="+mj-lt"/>
              <a:buAutoNum type="arabicParenR"/>
            </a:pP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show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that a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can be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17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. This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involves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constructing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and is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always</a:t>
            </a:r>
            <a:r>
              <a:rPr lang="en-US" sz="1700" kern="0" dirty="0">
                <a:latin typeface="Calibri" panose="020F0502020204030204" pitchFamily="34" charset="0"/>
                <a:cs typeface="Calibri" panose="020F0502020204030204" pitchFamily="34" charset="0"/>
              </a:rPr>
              <a:t> easy.</a:t>
            </a:r>
          </a:p>
          <a:p>
            <a:pPr>
              <a:buClr>
                <a:srgbClr val="006600"/>
              </a:buClr>
              <a:buSzPct val="125000"/>
              <a:buFont typeface="Arial" pitchFamily="34" charset="0"/>
              <a:buChar char="•"/>
            </a:pP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shall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only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look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at some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Clr>
                <a:srgbClr val="006600"/>
              </a:buClr>
              <a:buSzPct val="125000"/>
              <a:buFont typeface="Arial" pitchFamily="34" charset="0"/>
              <a:buChar char="•"/>
            </a:pP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Note that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proving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that a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proving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the</a:t>
            </a:r>
            <a:r>
              <a:rPr lang="en-US" sz="2000" b="1" kern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 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is in </a:t>
            </a:r>
            <a:r>
              <a:rPr lang="en-US" sz="20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0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6600"/>
              </a:buClr>
              <a:buSzPct val="125000"/>
              <a:buFont typeface="Arial" pitchFamily="34" charset="0"/>
              <a:buChar char="•"/>
            </a:pPr>
            <a:endParaRPr lang="en-GB" sz="2000" b="1" kern="0" baseline="-250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b="1" i="1" kern="0" baseline="-250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7681AA-6196-4766-820C-0A48211A607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127588" y="2897541"/>
            <a:ext cx="3352264" cy="509578"/>
          </a:xfrm>
          <a:prstGeom prst="straightConnector1">
            <a:avLst/>
          </a:prstGeom>
          <a:noFill/>
          <a:ln w="22225" cap="flat" cmpd="sng" algn="ctr">
            <a:solidFill>
              <a:srgbClr val="0066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048F1DD-BB55-41AA-A82E-010C0288A812}"/>
              </a:ext>
            </a:extLst>
          </p:cNvPr>
          <p:cNvSpPr/>
          <p:nvPr/>
        </p:nvSpPr>
        <p:spPr>
          <a:xfrm>
            <a:off x="2351584" y="2780928"/>
            <a:ext cx="3674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</a:t>
            </a:r>
            <a:endParaRPr lang="en-GB" sz="2000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38430B-2FA9-4918-8C1E-6A3B7B629214}"/>
              </a:ext>
            </a:extLst>
          </p:cNvPr>
          <p:cNvCxnSpPr>
            <a:cxnSpLocks/>
          </p:cNvCxnSpPr>
          <p:nvPr/>
        </p:nvCxnSpPr>
        <p:spPr bwMode="auto">
          <a:xfrm flipH="1">
            <a:off x="2294316" y="3457514"/>
            <a:ext cx="2185536" cy="181411"/>
          </a:xfrm>
          <a:prstGeom prst="straightConnector1">
            <a:avLst/>
          </a:prstGeom>
          <a:noFill/>
          <a:ln w="22225" cap="flat" cmpd="sng" algn="ctr">
            <a:solidFill>
              <a:srgbClr val="0066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A5D6F42-48D7-4287-8365-0432FA6B80A6}"/>
              </a:ext>
            </a:extLst>
          </p:cNvPr>
          <p:cNvSpPr/>
          <p:nvPr/>
        </p:nvSpPr>
        <p:spPr>
          <a:xfrm>
            <a:off x="2254748" y="3751140"/>
            <a:ext cx="367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</a:t>
            </a:r>
            <a:endParaRPr lang="en-GB" sz="2000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3E8E52-EEFA-427A-8A08-F5A122CAEC5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48010" y="3510897"/>
            <a:ext cx="3238934" cy="890096"/>
          </a:xfrm>
          <a:prstGeom prst="straightConnector1">
            <a:avLst/>
          </a:prstGeom>
          <a:noFill/>
          <a:ln w="22225" cap="flat" cmpd="sng" algn="ctr">
            <a:solidFill>
              <a:srgbClr val="0066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F393B18-D2A4-4D31-B5B3-35D438C35609}"/>
              </a:ext>
            </a:extLst>
          </p:cNvPr>
          <p:cNvSpPr/>
          <p:nvPr/>
        </p:nvSpPr>
        <p:spPr>
          <a:xfrm>
            <a:off x="3095649" y="3234064"/>
            <a:ext cx="367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</a:t>
            </a:r>
            <a:endParaRPr lang="en-GB" sz="2000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DCB7F2-736B-4F1D-8A07-8286EC0CE9CA}"/>
              </a:ext>
            </a:extLst>
          </p:cNvPr>
          <p:cNvCxnSpPr>
            <a:cxnSpLocks/>
          </p:cNvCxnSpPr>
          <p:nvPr/>
        </p:nvCxnSpPr>
        <p:spPr bwMode="auto">
          <a:xfrm flipH="1">
            <a:off x="1895369" y="3549309"/>
            <a:ext cx="2591575" cy="1299099"/>
          </a:xfrm>
          <a:prstGeom prst="straightConnector1">
            <a:avLst/>
          </a:prstGeom>
          <a:noFill/>
          <a:ln w="22225" cap="flat" cmpd="sng" algn="ctr">
            <a:solidFill>
              <a:srgbClr val="0066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6AD8471-3096-4548-803D-B32E75E12640}"/>
              </a:ext>
            </a:extLst>
          </p:cNvPr>
          <p:cNvSpPr/>
          <p:nvPr/>
        </p:nvSpPr>
        <p:spPr>
          <a:xfrm>
            <a:off x="2986241" y="3883624"/>
            <a:ext cx="367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</a:t>
            </a:r>
            <a:endParaRPr lang="en-GB" sz="2000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BFAE32-FB89-4F87-9F2D-451F94ECF184}"/>
              </a:ext>
            </a:extLst>
          </p:cNvPr>
          <p:cNvSpPr txBox="1"/>
          <p:nvPr/>
        </p:nvSpPr>
        <p:spPr>
          <a:xfrm>
            <a:off x="5515992" y="3182778"/>
            <a:ext cx="541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P'</a:t>
            </a:r>
            <a:endParaRPr lang="en-GB" i="1" baseline="-25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9265318-8774-475C-9A31-4B446102853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807954" y="3423854"/>
            <a:ext cx="783990" cy="5146"/>
          </a:xfrm>
          <a:prstGeom prst="straightConnector1">
            <a:avLst/>
          </a:prstGeom>
          <a:noFill/>
          <a:ln w="22225" cap="flat" cmpd="sng" algn="ctr">
            <a:solidFill>
              <a:srgbClr val="0066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4BB222A-B1B4-430A-9309-90395F0841D7}"/>
              </a:ext>
            </a:extLst>
          </p:cNvPr>
          <p:cNvSpPr/>
          <p:nvPr/>
        </p:nvSpPr>
        <p:spPr>
          <a:xfrm>
            <a:off x="4980479" y="3110787"/>
            <a:ext cx="367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-64" charset="2"/>
              </a:rPr>
              <a:t></a:t>
            </a:r>
            <a:endParaRPr lang="en-GB" sz="2000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4"/>
          <p:cNvSpPr txBox="1">
            <a:spLocks noChangeArrowheads="1"/>
          </p:cNvSpPr>
          <p:nvPr/>
        </p:nvSpPr>
        <p:spPr bwMode="auto">
          <a:xfrm>
            <a:off x="646104" y="272093"/>
            <a:ext cx="8064896" cy="5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kern="0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Transitivity Argument</a:t>
            </a:r>
            <a:endParaRPr lang="en-GB" kern="0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2859511" y="5109227"/>
          <a:ext cx="2559670" cy="130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9543960" imgH="4857840" progId="Paint.Picture">
                  <p:embed/>
                </p:oleObj>
              </mc:Choice>
              <mc:Fallback>
                <p:oleObj name="Bitmap Image" r:id="rId3" imgW="9543960" imgH="4857840" progId="Paint.Picture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9511" y="5109227"/>
                        <a:ext cx="2559670" cy="1302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8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1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6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1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6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1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6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1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6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86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/>
      <p:bldP spid="11" grpId="0"/>
      <p:bldP spid="12" grpId="0"/>
      <p:bldP spid="13" grpId="0"/>
      <p:bldP spid="14" grpId="0"/>
      <p:bldP spid="15" grpId="0"/>
      <p:bldP spid="17" grpId="0"/>
      <p:bldP spid="22" grpId="0"/>
      <p:bldP spid="21" grpId="0"/>
      <p:bldP spid="24" grpId="0"/>
      <p:bldP spid="28" grpId="0"/>
      <p:bldP spid="30" grpId="0"/>
      <p:bldP spid="31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Question 2 Answer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1276724"/>
            <a:ext cx="9794576" cy="51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Question 2</a:t>
            </a:r>
            <a:br>
              <a:rPr lang="en-US" sz="2400" dirty="0"/>
            </a:br>
            <a:r>
              <a:rPr lang="en-US" sz="2400" dirty="0"/>
              <a:t>What </a:t>
            </a:r>
            <a:r>
              <a:rPr lang="en-US" sz="2400" b="1" dirty="0">
                <a:solidFill>
                  <a:srgbClr val="0070C0"/>
                </a:solidFill>
              </a:rPr>
              <a:t>about</a:t>
            </a:r>
            <a:r>
              <a:rPr lang="en-US" sz="2400" dirty="0"/>
              <a:t> if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7030A0"/>
                </a:solidFill>
              </a:rPr>
              <a:t>NP-Complete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simply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7030A0"/>
                </a:solidFill>
              </a:rPr>
              <a:t>NP</a:t>
            </a:r>
            <a:r>
              <a:rPr lang="en-US" sz="2400" dirty="0"/>
              <a:t> but </a:t>
            </a:r>
            <a:r>
              <a:rPr lang="en-US" sz="2400" b="1" dirty="0">
                <a:solidFill>
                  <a:srgbClr val="0070C0"/>
                </a:solidFill>
              </a:rPr>
              <a:t>not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known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0070C0"/>
                </a:solidFill>
              </a:rPr>
              <a:t>be</a:t>
            </a:r>
            <a:r>
              <a:rPr lang="en-US" sz="2400" dirty="0"/>
              <a:t> NP-Complete?</a:t>
            </a:r>
          </a:p>
          <a:p>
            <a:pPr marL="0" indent="0" eaLnBrk="1" hangingPunct="1">
              <a:lnSpc>
                <a:spcPct val="90000"/>
              </a:lnSpc>
              <a:buClr>
                <a:srgbClr val="008000"/>
              </a:buClr>
              <a:buSzPct val="125000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can be </a:t>
            </a:r>
            <a:r>
              <a:rPr lang="en-US" sz="2400" b="1" dirty="0">
                <a:solidFill>
                  <a:srgbClr val="0070C0"/>
                </a:solidFill>
              </a:rPr>
              <a:t>Turing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Reduced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then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is also </a:t>
            </a:r>
            <a:r>
              <a:rPr lang="en-US" sz="2400" b="1" dirty="0">
                <a:solidFill>
                  <a:srgbClr val="0070C0"/>
                </a:solidFill>
              </a:rPr>
              <a:t>NP-Complete</a:t>
            </a:r>
            <a:r>
              <a:rPr lang="en-US" sz="2400" dirty="0"/>
              <a:t> by the </a:t>
            </a:r>
            <a:r>
              <a:rPr lang="en-US" sz="2400" b="1" dirty="0">
                <a:solidFill>
                  <a:srgbClr val="0070C0"/>
                </a:solidFill>
              </a:rPr>
              <a:t>transitivity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Turing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Reduction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can be </a:t>
            </a:r>
            <a:r>
              <a:rPr lang="en-US" sz="2400" b="1" dirty="0">
                <a:solidFill>
                  <a:srgbClr val="0070C0"/>
                </a:solidFill>
              </a:rPr>
              <a:t>Turing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Reduced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than this </a:t>
            </a:r>
            <a:r>
              <a:rPr lang="en-US" sz="2400" b="1" dirty="0">
                <a:solidFill>
                  <a:srgbClr val="0070C0"/>
                </a:solidFill>
              </a:rPr>
              <a:t>tells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us</a:t>
            </a:r>
            <a:r>
              <a:rPr lang="en-US" sz="2400" dirty="0"/>
              <a:t> that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at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least</a:t>
            </a:r>
            <a:r>
              <a:rPr lang="en-US" sz="2400" dirty="0"/>
              <a:t> as </a:t>
            </a:r>
            <a:r>
              <a:rPr lang="en-US" sz="2400" b="1" dirty="0">
                <a:solidFill>
                  <a:srgbClr val="0070C0"/>
                </a:solidFill>
              </a:rPr>
              <a:t>hard</a:t>
            </a:r>
            <a:r>
              <a:rPr lang="en-US" sz="2400" dirty="0"/>
              <a:t> as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. This </a:t>
            </a:r>
            <a:r>
              <a:rPr lang="en-US" sz="2400" b="1" dirty="0">
                <a:solidFill>
                  <a:srgbClr val="0070C0"/>
                </a:solidFill>
              </a:rPr>
              <a:t>does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not</a:t>
            </a:r>
            <a:r>
              <a:rPr lang="en-US" sz="2400" dirty="0"/>
              <a:t> tell us </a:t>
            </a:r>
            <a:r>
              <a:rPr lang="en-US" sz="2400" b="1" dirty="0">
                <a:solidFill>
                  <a:srgbClr val="0070C0"/>
                </a:solidFill>
              </a:rPr>
              <a:t>much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about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. In fact,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could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even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be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0070C0"/>
                </a:solidFill>
              </a:rPr>
              <a:t>P</a:t>
            </a:r>
            <a:r>
              <a:rPr lang="en-US" sz="2400" dirty="0"/>
              <a:t> – </a:t>
            </a:r>
            <a:r>
              <a:rPr lang="en-US" sz="2400" b="1" dirty="0">
                <a:solidFill>
                  <a:srgbClr val="0070C0"/>
                </a:solidFill>
              </a:rPr>
              <a:t>think</a:t>
            </a:r>
            <a:r>
              <a:rPr lang="en-US" sz="2400" dirty="0"/>
              <a:t> of an </a:t>
            </a:r>
            <a:r>
              <a:rPr lang="en-US" sz="2400" b="1" dirty="0">
                <a:solidFill>
                  <a:srgbClr val="0070C0"/>
                </a:solidFill>
              </a:rPr>
              <a:t>example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can be </a:t>
            </a:r>
            <a:r>
              <a:rPr lang="en-US" sz="2400" b="1" dirty="0">
                <a:solidFill>
                  <a:srgbClr val="0070C0"/>
                </a:solidFill>
              </a:rPr>
              <a:t>Turing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Reduced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70C0"/>
                </a:solidFill>
              </a:rPr>
              <a:t>vice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versa</a:t>
            </a:r>
            <a:r>
              <a:rPr lang="en-US" sz="2400" dirty="0"/>
              <a:t> (both of the above) then this </a:t>
            </a:r>
            <a:r>
              <a:rPr lang="en-US" sz="2400" b="1" dirty="0">
                <a:solidFill>
                  <a:srgbClr val="0070C0"/>
                </a:solidFill>
              </a:rPr>
              <a:t>means</a:t>
            </a:r>
            <a:r>
              <a:rPr lang="en-US" sz="2400" dirty="0"/>
              <a:t> that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is also </a:t>
            </a:r>
            <a:r>
              <a:rPr lang="en-US" sz="2400" b="1" dirty="0">
                <a:solidFill>
                  <a:srgbClr val="0070C0"/>
                </a:solidFill>
              </a:rPr>
              <a:t>NP-Complete</a:t>
            </a:r>
            <a:r>
              <a:rPr lang="en-US" sz="2400" dirty="0"/>
              <a:t> using the </a:t>
            </a:r>
            <a:r>
              <a:rPr lang="en-US" sz="2400" b="1" dirty="0">
                <a:solidFill>
                  <a:srgbClr val="0070C0"/>
                </a:solidFill>
              </a:rPr>
              <a:t>transitivity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argument</a:t>
            </a:r>
            <a:r>
              <a:rPr lang="en-US" sz="2400" dirty="0"/>
              <a:t> from </a:t>
            </a:r>
            <a:r>
              <a:rPr lang="en-US" sz="2400" b="1" dirty="0">
                <a:solidFill>
                  <a:srgbClr val="0070C0"/>
                </a:solidFill>
              </a:rPr>
              <a:t>Question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1</a:t>
            </a:r>
            <a:r>
              <a:rPr lang="en-US" sz="2400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0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Question 3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988692"/>
            <a:ext cx="9794576" cy="51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Question 3</a:t>
            </a:r>
            <a:br>
              <a:rPr lang="en-US" sz="2400" dirty="0"/>
            </a:br>
            <a:r>
              <a:rPr lang="en-US" sz="2400" dirty="0"/>
              <a:t>What if I </a:t>
            </a:r>
            <a:r>
              <a:rPr lang="en-US" sz="2400" b="1" dirty="0">
                <a:solidFill>
                  <a:srgbClr val="0070C0"/>
                </a:solidFill>
              </a:rPr>
              <a:t>can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Turing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Reduce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0070C0"/>
                </a:solidFill>
              </a:rPr>
              <a:t>known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NP-Complete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problem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A </a:t>
            </a:r>
            <a:r>
              <a:rPr lang="en-US" sz="2400" dirty="0"/>
              <a:t>into a </a:t>
            </a:r>
            <a:r>
              <a:rPr lang="en-US" sz="2400" b="1" dirty="0">
                <a:solidFill>
                  <a:srgbClr val="0070C0"/>
                </a:solidFill>
              </a:rPr>
              <a:t>problem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 which is </a:t>
            </a:r>
            <a:r>
              <a:rPr lang="en-US" sz="2400" b="1" dirty="0">
                <a:solidFill>
                  <a:srgbClr val="0070C0"/>
                </a:solidFill>
              </a:rPr>
              <a:t>known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0070C0"/>
                </a:solidFill>
              </a:rPr>
              <a:t>be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7030A0"/>
                </a:solidFill>
              </a:rPr>
              <a:t>P</a:t>
            </a:r>
            <a:r>
              <a:rPr lang="en-US" sz="2400" dirty="0"/>
              <a:t>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This is </a:t>
            </a:r>
            <a:r>
              <a:rPr lang="en-US" sz="2400" b="1" dirty="0">
                <a:solidFill>
                  <a:srgbClr val="0070C0"/>
                </a:solidFill>
              </a:rPr>
              <a:t>left</a:t>
            </a:r>
            <a:r>
              <a:rPr lang="en-US" sz="2400" dirty="0"/>
              <a:t> as </a:t>
            </a:r>
            <a:r>
              <a:rPr lang="en-US" sz="2400" b="1" dirty="0">
                <a:solidFill>
                  <a:srgbClr val="0070C0"/>
                </a:solidFill>
              </a:rPr>
              <a:t>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exercise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b="1" dirty="0">
                <a:solidFill>
                  <a:srgbClr val="0070C0"/>
                </a:solidFill>
              </a:rPr>
              <a:t>Hint</a:t>
            </a:r>
            <a:r>
              <a:rPr lang="en-US" sz="2400" dirty="0"/>
              <a:t>. You will be </a:t>
            </a:r>
            <a:r>
              <a:rPr lang="en-US" sz="2400" b="1" dirty="0">
                <a:solidFill>
                  <a:srgbClr val="0070C0"/>
                </a:solidFill>
              </a:rPr>
              <a:t>1 million dollars </a:t>
            </a:r>
            <a:r>
              <a:rPr lang="en-US" sz="2400" dirty="0"/>
              <a:t>richer.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pic>
        <p:nvPicPr>
          <p:cNvPr id="4100" name="Picture 4" descr="Make 1 Million Dollars:Amazon.com:Appstore for Androi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043" y="2348880"/>
            <a:ext cx="4192959" cy="419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04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vering a graph with non-overlapping cliques - Computer Science ...">
            <a:extLst>
              <a:ext uri="{FF2B5EF4-FFF2-40B4-BE49-F238E27FC236}">
                <a16:creationId xmlns:a16="http://schemas.microsoft.com/office/drawing/2014/main" id="{F3BEC720-3239-40F3-B338-A7E8249B7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2699792"/>
            <a:ext cx="4158208" cy="415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What is a Clique?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1060700"/>
            <a:ext cx="9794576" cy="229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CLIQUE</a:t>
            </a:r>
            <a:r>
              <a:rPr lang="en-US" sz="2400" dirty="0"/>
              <a:t>: given a graph </a:t>
            </a:r>
            <a:r>
              <a:rPr lang="en-US" sz="2400" dirty="0">
                <a:solidFill>
                  <a:srgbClr val="002060"/>
                </a:solidFill>
              </a:rPr>
              <a:t>G=(V,E)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of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i="1" dirty="0">
                <a:solidFill>
                  <a:srgbClr val="7030A0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parameter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i="1" dirty="0">
                <a:solidFill>
                  <a:srgbClr val="7030A0"/>
                </a:solidFill>
              </a:rPr>
              <a:t>k</a:t>
            </a:r>
            <a:r>
              <a:rPr lang="en-US" sz="2400" dirty="0"/>
              <a:t>, is there a set of </a:t>
            </a:r>
            <a:r>
              <a:rPr lang="en-US" sz="2400" b="1" i="1" dirty="0">
                <a:solidFill>
                  <a:srgbClr val="7030A0"/>
                </a:solidFill>
              </a:rPr>
              <a:t>k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b="1" dirty="0"/>
              <a:t> </a:t>
            </a:r>
            <a:r>
              <a:rPr lang="en-US" sz="2400" dirty="0"/>
              <a:t>such that </a:t>
            </a:r>
            <a:r>
              <a:rPr lang="en-US" sz="2400" b="1" dirty="0">
                <a:solidFill>
                  <a:srgbClr val="0070C0"/>
                </a:solidFill>
              </a:rPr>
              <a:t>every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two</a:t>
            </a:r>
            <a:r>
              <a:rPr lang="en-US" sz="2400" dirty="0"/>
              <a:t> vertices in </a:t>
            </a:r>
            <a:r>
              <a:rPr lang="en-US" sz="2400" b="1" dirty="0">
                <a:solidFill>
                  <a:srgbClr val="0070C0"/>
                </a:solidFill>
              </a:rPr>
              <a:t>V’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rgbClr val="0070C0"/>
                </a:solidFill>
              </a:rPr>
              <a:t>connected</a:t>
            </a:r>
            <a:r>
              <a:rPr lang="en-US" sz="2400" dirty="0"/>
              <a:t>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Clique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therefore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that are </a:t>
            </a:r>
            <a:r>
              <a:rPr lang="en-US" sz="2400" b="1" dirty="0">
                <a:solidFill>
                  <a:srgbClr val="7030A0"/>
                </a:solidFill>
              </a:rPr>
              <a:t>pairwise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adjacent</a:t>
            </a:r>
            <a:r>
              <a:rPr lang="en-US" sz="2400" dirty="0"/>
              <a:t>. A </a:t>
            </a:r>
            <a:r>
              <a:rPr lang="en-US" sz="2400" b="1" dirty="0">
                <a:solidFill>
                  <a:srgbClr val="0070C0"/>
                </a:solidFill>
              </a:rPr>
              <a:t>pair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(</a:t>
            </a:r>
            <a:r>
              <a:rPr lang="en-US" sz="2400" b="1" dirty="0" err="1">
                <a:solidFill>
                  <a:srgbClr val="7030A0"/>
                </a:solidFill>
              </a:rPr>
              <a:t>a</a:t>
            </a:r>
            <a:r>
              <a:rPr lang="en-US" sz="2400" dirty="0" err="1"/>
              <a:t>,</a:t>
            </a:r>
            <a:r>
              <a:rPr lang="en-US" sz="2400" b="1" dirty="0" err="1">
                <a:solidFill>
                  <a:srgbClr val="7030A0"/>
                </a:solidFill>
              </a:rPr>
              <a:t>b</a:t>
            </a:r>
            <a:r>
              <a:rPr lang="en-US" sz="2400" dirty="0"/>
              <a:t>) is </a:t>
            </a:r>
            <a:r>
              <a:rPr lang="en-US" sz="2400" b="1" dirty="0">
                <a:solidFill>
                  <a:srgbClr val="0070C0"/>
                </a:solidFill>
              </a:rPr>
              <a:t>adjacent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0070C0"/>
                </a:solidFill>
              </a:rPr>
              <a:t>connected</a:t>
            </a:r>
            <a:r>
              <a:rPr lang="en-US" sz="2400" dirty="0"/>
              <a:t>) if </a:t>
            </a:r>
            <a:r>
              <a:rPr lang="en-US" sz="2400" b="1" dirty="0">
                <a:solidFill>
                  <a:srgbClr val="0070C0"/>
                </a:solidFill>
              </a:rPr>
              <a:t>there</a:t>
            </a:r>
            <a:r>
              <a:rPr lang="en-US" sz="2400" dirty="0"/>
              <a:t> is an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joining</a:t>
            </a:r>
            <a:r>
              <a:rPr lang="en-US" sz="2400" dirty="0"/>
              <a:t> them.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Existing technique to detect the clique and biclique cover the ...">
            <a:extLst>
              <a:ext uri="{FF2B5EF4-FFF2-40B4-BE49-F238E27FC236}">
                <a16:creationId xmlns:a16="http://schemas.microsoft.com/office/drawing/2014/main" id="{1E2F107D-DE51-4F77-B6F7-C92D3FECF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056" y="3403240"/>
            <a:ext cx="3785220" cy="293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2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What is an Independent Set?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836712"/>
            <a:ext cx="9794576" cy="2872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INDEPENDENT SET</a:t>
            </a:r>
            <a:r>
              <a:rPr lang="en-US" sz="2400" dirty="0"/>
              <a:t>: given a graph </a:t>
            </a:r>
            <a:r>
              <a:rPr lang="en-US" sz="2400" dirty="0">
                <a:solidFill>
                  <a:srgbClr val="002060"/>
                </a:solidFill>
              </a:rPr>
              <a:t>G=(V,E)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of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rgbClr val="002060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parameter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i="1" dirty="0">
                <a:solidFill>
                  <a:srgbClr val="0070C0"/>
                </a:solidFill>
              </a:rPr>
              <a:t>k</a:t>
            </a:r>
            <a:r>
              <a:rPr lang="en-US" sz="2400" dirty="0"/>
              <a:t>, is there a set of </a:t>
            </a:r>
            <a:r>
              <a:rPr lang="en-US" sz="2400" i="1" dirty="0">
                <a:solidFill>
                  <a:srgbClr val="002060"/>
                </a:solidFill>
              </a:rPr>
              <a:t>k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b="1" dirty="0"/>
              <a:t> </a:t>
            </a:r>
            <a:r>
              <a:rPr lang="en-US" sz="2400" dirty="0"/>
              <a:t>such that </a:t>
            </a:r>
            <a:r>
              <a:rPr lang="en-US" sz="2400" b="1" dirty="0">
                <a:solidFill>
                  <a:srgbClr val="0070C0"/>
                </a:solidFill>
              </a:rPr>
              <a:t>no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two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dirty="0"/>
              <a:t> are </a:t>
            </a:r>
            <a:r>
              <a:rPr lang="en-US" sz="2400" b="1" dirty="0">
                <a:solidFill>
                  <a:srgbClr val="0070C0"/>
                </a:solidFill>
              </a:rPr>
              <a:t>connected</a:t>
            </a:r>
            <a:r>
              <a:rPr lang="en-US" sz="2400" dirty="0"/>
              <a:t>? 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0070C0"/>
                </a:solidFill>
              </a:rPr>
              <a:t>independent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therefore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that are </a:t>
            </a:r>
            <a:r>
              <a:rPr lang="en-US" sz="2400" b="1" dirty="0">
                <a:solidFill>
                  <a:srgbClr val="0070C0"/>
                </a:solidFill>
              </a:rPr>
              <a:t>pairwise</a:t>
            </a:r>
            <a:r>
              <a:rPr lang="en-US" sz="2400" dirty="0"/>
              <a:t> </a:t>
            </a:r>
            <a:r>
              <a:rPr lang="en-US" sz="2400" b="1" u="sng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adjacent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connected</a:t>
            </a:r>
            <a:r>
              <a:rPr lang="en-US" sz="2400" dirty="0"/>
              <a:t>). For any </a:t>
            </a:r>
            <a:r>
              <a:rPr lang="en-US" sz="2400" b="1" dirty="0">
                <a:solidFill>
                  <a:srgbClr val="0070C0"/>
                </a:solidFill>
              </a:rPr>
              <a:t>pair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(</a:t>
            </a:r>
            <a:r>
              <a:rPr lang="en-US" sz="2400" b="1" dirty="0" err="1">
                <a:solidFill>
                  <a:srgbClr val="7030A0"/>
                </a:solidFill>
              </a:rPr>
              <a:t>a</a:t>
            </a:r>
            <a:r>
              <a:rPr lang="en-US" sz="2400" dirty="0" err="1"/>
              <a:t>,</a:t>
            </a:r>
            <a:r>
              <a:rPr lang="en-US" sz="2400" b="1" dirty="0" err="1">
                <a:solidFill>
                  <a:srgbClr val="7030A0"/>
                </a:solidFill>
              </a:rPr>
              <a:t>b</a:t>
            </a:r>
            <a:r>
              <a:rPr lang="en-US" sz="2400" dirty="0"/>
              <a:t>) in the </a:t>
            </a:r>
            <a:r>
              <a:rPr lang="en-US" sz="2400" b="1" dirty="0">
                <a:solidFill>
                  <a:srgbClr val="0070C0"/>
                </a:solidFill>
              </a:rPr>
              <a:t>independent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there is </a:t>
            </a:r>
            <a:r>
              <a:rPr lang="en-US" sz="2400" b="1" dirty="0">
                <a:solidFill>
                  <a:srgbClr val="0070C0"/>
                </a:solidFill>
              </a:rPr>
              <a:t>no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between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b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One can </a:t>
            </a:r>
            <a:r>
              <a:rPr lang="en-US" sz="2400" b="1" dirty="0">
                <a:solidFill>
                  <a:srgbClr val="0070C0"/>
                </a:solidFill>
              </a:rPr>
              <a:t>say</a:t>
            </a:r>
            <a:r>
              <a:rPr lang="en-US" sz="2400" dirty="0"/>
              <a:t> that an </a:t>
            </a:r>
            <a:r>
              <a:rPr lang="en-US" sz="2400" b="1" dirty="0">
                <a:solidFill>
                  <a:srgbClr val="0070C0"/>
                </a:solidFill>
              </a:rPr>
              <a:t>independent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is the </a:t>
            </a:r>
            <a:r>
              <a:rPr lang="en-US" sz="2400" b="1" dirty="0">
                <a:solidFill>
                  <a:srgbClr val="0070C0"/>
                </a:solidFill>
              </a:rPr>
              <a:t>converse</a:t>
            </a:r>
            <a:r>
              <a:rPr lang="en-US" sz="2400" dirty="0"/>
              <a:t> of a </a:t>
            </a:r>
            <a:r>
              <a:rPr lang="en-US" sz="2400" b="1" dirty="0">
                <a:solidFill>
                  <a:srgbClr val="0070C0"/>
                </a:solidFill>
              </a:rPr>
              <a:t>Clique</a:t>
            </a:r>
            <a:r>
              <a:rPr lang="en-US" sz="2400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Independent Vertex Set -- from Wolfram MathWorld">
            <a:extLst>
              <a:ext uri="{FF2B5EF4-FFF2-40B4-BE49-F238E27FC236}">
                <a16:creationId xmlns:a16="http://schemas.microsoft.com/office/drawing/2014/main" id="{0626003D-5923-4DB3-BD83-AAFE90BB0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4165301"/>
            <a:ext cx="7691336" cy="185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3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saac Steele - Vertex Cover Optimization">
            <a:extLst>
              <a:ext uri="{FF2B5EF4-FFF2-40B4-BE49-F238E27FC236}">
                <a16:creationId xmlns:a16="http://schemas.microsoft.com/office/drawing/2014/main" id="{10492FA4-5B9F-49B6-84DE-8010B70A0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294" y="2996952"/>
            <a:ext cx="5472608" cy="317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What is a Vertex Cover?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942078"/>
            <a:ext cx="9794576" cy="541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Vertex Cover (VC)</a:t>
            </a:r>
            <a:r>
              <a:rPr lang="en-US" sz="2400" dirty="0"/>
              <a:t>: given a graph </a:t>
            </a:r>
            <a:r>
              <a:rPr lang="en-US" sz="2400" dirty="0">
                <a:solidFill>
                  <a:srgbClr val="002060"/>
                </a:solidFill>
              </a:rPr>
              <a:t>G=(V,E)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of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i="1" dirty="0">
                <a:solidFill>
                  <a:srgbClr val="7030A0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parameter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i="1" dirty="0">
                <a:solidFill>
                  <a:srgbClr val="7030A0"/>
                </a:solidFill>
              </a:rPr>
              <a:t>k</a:t>
            </a:r>
            <a:r>
              <a:rPr lang="en-US" sz="2400" dirty="0"/>
              <a:t>, is there a set of </a:t>
            </a:r>
            <a:r>
              <a:rPr lang="en-US" sz="2400" b="1" i="1" dirty="0">
                <a:solidFill>
                  <a:srgbClr val="7030A0"/>
                </a:solidFill>
              </a:rPr>
              <a:t>k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b="1" dirty="0"/>
              <a:t> </a:t>
            </a:r>
            <a:r>
              <a:rPr lang="en-US" sz="2400" dirty="0"/>
              <a:t>such that </a:t>
            </a:r>
            <a:r>
              <a:rPr lang="en-US" sz="2400" b="1" dirty="0">
                <a:solidFill>
                  <a:srgbClr val="0070C0"/>
                </a:solidFill>
              </a:rPr>
              <a:t>every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has at </a:t>
            </a:r>
            <a:r>
              <a:rPr lang="en-US" sz="2400" b="1" dirty="0">
                <a:solidFill>
                  <a:srgbClr val="0070C0"/>
                </a:solidFill>
              </a:rPr>
              <a:t>least</a:t>
            </a:r>
            <a:r>
              <a:rPr lang="en-US" sz="2400" dirty="0"/>
              <a:t> one end </a:t>
            </a:r>
            <a:r>
              <a:rPr lang="en-US" sz="2400" b="1" dirty="0">
                <a:solidFill>
                  <a:srgbClr val="0070C0"/>
                </a:solidFill>
              </a:rPr>
              <a:t>among</a:t>
            </a:r>
            <a:r>
              <a:rPr lang="en-US" sz="2400" dirty="0"/>
              <a:t> selected </a:t>
            </a:r>
            <a:r>
              <a:rPr lang="en-US" sz="2400" b="1" dirty="0">
                <a:solidFill>
                  <a:srgbClr val="0070C0"/>
                </a:solidFill>
              </a:rPr>
              <a:t>nodes</a:t>
            </a:r>
            <a:r>
              <a:rPr lang="en-US" sz="2400" dirty="0"/>
              <a:t>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vertex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such that </a:t>
            </a:r>
            <a:r>
              <a:rPr lang="en-US" sz="2400" b="1" dirty="0">
                <a:solidFill>
                  <a:srgbClr val="0070C0"/>
                </a:solidFill>
              </a:rPr>
              <a:t>every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in the </a:t>
            </a:r>
            <a:r>
              <a:rPr lang="en-US" sz="2400" b="1" dirty="0">
                <a:solidFill>
                  <a:srgbClr val="0070C0"/>
                </a:solidFill>
              </a:rPr>
              <a:t>graph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adjacent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0070C0"/>
                </a:solidFill>
              </a:rPr>
              <a:t>connected to</a:t>
            </a:r>
            <a:r>
              <a:rPr lang="en-US" sz="2400" dirty="0"/>
              <a:t>) at </a:t>
            </a:r>
            <a:r>
              <a:rPr lang="en-US" sz="2400" b="1" dirty="0">
                <a:solidFill>
                  <a:srgbClr val="0070C0"/>
                </a:solidFill>
              </a:rPr>
              <a:t>least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one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in the </a:t>
            </a:r>
            <a:r>
              <a:rPr lang="en-US" sz="2400" b="1" dirty="0">
                <a:solidFill>
                  <a:srgbClr val="0070C0"/>
                </a:solidFill>
              </a:rPr>
              <a:t>Vertex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dirty="0"/>
              <a:t>Note that, for </a:t>
            </a:r>
            <a:r>
              <a:rPr lang="en-US" sz="2400" b="1" dirty="0">
                <a:solidFill>
                  <a:srgbClr val="0070C0"/>
                </a:solidFill>
              </a:rPr>
              <a:t>every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in the graph,</a:t>
            </a:r>
            <a:br>
              <a:rPr lang="en-US" sz="2400" dirty="0"/>
            </a:br>
            <a:r>
              <a:rPr lang="en-US" sz="2400" dirty="0"/>
              <a:t>at </a:t>
            </a:r>
            <a:r>
              <a:rPr lang="en-US" sz="2400" b="1" dirty="0">
                <a:solidFill>
                  <a:srgbClr val="0070C0"/>
                </a:solidFill>
              </a:rPr>
              <a:t>least</a:t>
            </a:r>
            <a:r>
              <a:rPr lang="en-US" sz="2400" dirty="0"/>
              <a:t> one of the </a:t>
            </a:r>
            <a:r>
              <a:rPr lang="en-US" sz="2400" b="1" dirty="0">
                <a:solidFill>
                  <a:srgbClr val="0070C0"/>
                </a:solidFill>
              </a:rPr>
              <a:t>adjacent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br>
              <a:rPr lang="en-US" sz="2400" dirty="0"/>
            </a:br>
            <a:r>
              <a:rPr lang="en-US" sz="2400" dirty="0"/>
              <a:t>must be in a </a:t>
            </a:r>
            <a:r>
              <a:rPr lang="en-US" sz="2400" b="1" dirty="0">
                <a:solidFill>
                  <a:srgbClr val="0070C0"/>
                </a:solidFill>
              </a:rPr>
              <a:t>Vertex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Can</a:t>
            </a:r>
            <a:r>
              <a:rPr lang="en-US" sz="2400" dirty="0"/>
              <a:t> you </a:t>
            </a:r>
            <a:r>
              <a:rPr lang="en-US" sz="2400" b="1" dirty="0">
                <a:solidFill>
                  <a:srgbClr val="0070C0"/>
                </a:solidFill>
              </a:rPr>
              <a:t>see</a:t>
            </a:r>
            <a:r>
              <a:rPr lang="en-US" sz="2400" dirty="0"/>
              <a:t> that the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that are</a:t>
            </a:r>
            <a:br>
              <a:rPr lang="en-US" sz="2400" dirty="0"/>
            </a:br>
            <a:r>
              <a:rPr lang="en-US" sz="2400" b="1" dirty="0">
                <a:solidFill>
                  <a:srgbClr val="0070C0"/>
                </a:solidFill>
              </a:rPr>
              <a:t>not</a:t>
            </a:r>
            <a:r>
              <a:rPr lang="en-US" sz="2400" dirty="0"/>
              <a:t> in the </a:t>
            </a:r>
            <a:r>
              <a:rPr lang="en-US" sz="2400" b="1" dirty="0">
                <a:solidFill>
                  <a:srgbClr val="0070C0"/>
                </a:solidFill>
              </a:rPr>
              <a:t>Vertex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form</a:t>
            </a:r>
            <a:r>
              <a:rPr lang="en-US" sz="2400" dirty="0"/>
              <a:t> an</a:t>
            </a:r>
            <a:br>
              <a:rPr lang="en-US" sz="2400" dirty="0"/>
            </a:br>
            <a:r>
              <a:rPr lang="en-US" sz="2400" b="1" dirty="0">
                <a:solidFill>
                  <a:srgbClr val="0070C0"/>
                </a:solidFill>
              </a:rPr>
              <a:t>Independent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Why</a:t>
            </a:r>
            <a:r>
              <a:rPr lang="en-US" sz="2400" dirty="0"/>
              <a:t>?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1B9969-4015-47B8-85B3-BCD8A78E64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8D917856-D544-4A2E-9555-3112B19EDCDC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25</a:t>
            </a:fld>
            <a:endParaRPr lang="en-US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69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VC-IS-Clique Problems – Simple but Cool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1060700"/>
            <a:ext cx="9794576" cy="5077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Vertex Cover (VC)</a:t>
            </a:r>
            <a:r>
              <a:rPr lang="en-US" sz="2400" dirty="0"/>
              <a:t>: given a graph </a:t>
            </a:r>
            <a:r>
              <a:rPr lang="en-US" sz="2400" dirty="0">
                <a:solidFill>
                  <a:srgbClr val="002060"/>
                </a:solidFill>
              </a:rPr>
              <a:t>G=(V,E)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of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rgbClr val="002060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parameter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rgbClr val="002060"/>
                </a:solidFill>
              </a:rPr>
              <a:t>k</a:t>
            </a:r>
            <a:r>
              <a:rPr lang="en-US" sz="2400" dirty="0"/>
              <a:t>, is there a set of </a:t>
            </a:r>
            <a:r>
              <a:rPr lang="en-US" sz="2400" i="1" dirty="0">
                <a:solidFill>
                  <a:srgbClr val="002060"/>
                </a:solidFill>
              </a:rPr>
              <a:t>k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b="1" dirty="0"/>
              <a:t> </a:t>
            </a:r>
            <a:r>
              <a:rPr lang="en-US" sz="2400" dirty="0"/>
              <a:t>such that </a:t>
            </a:r>
            <a:r>
              <a:rPr lang="en-US" sz="2400" b="1" dirty="0">
                <a:solidFill>
                  <a:srgbClr val="0070C0"/>
                </a:solidFill>
              </a:rPr>
              <a:t>every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has at </a:t>
            </a:r>
            <a:r>
              <a:rPr lang="en-US" sz="2400" b="1" dirty="0">
                <a:solidFill>
                  <a:srgbClr val="0070C0"/>
                </a:solidFill>
              </a:rPr>
              <a:t>least</a:t>
            </a:r>
            <a:r>
              <a:rPr lang="en-US" sz="2400" dirty="0"/>
              <a:t> one end </a:t>
            </a:r>
            <a:r>
              <a:rPr lang="en-US" sz="2400" b="1" dirty="0">
                <a:solidFill>
                  <a:srgbClr val="0070C0"/>
                </a:solidFill>
              </a:rPr>
              <a:t>among</a:t>
            </a:r>
            <a:r>
              <a:rPr lang="en-US" sz="2400" dirty="0"/>
              <a:t> selected </a:t>
            </a:r>
            <a:r>
              <a:rPr lang="en-US" sz="2400" b="1" dirty="0">
                <a:solidFill>
                  <a:srgbClr val="0070C0"/>
                </a:solidFill>
              </a:rPr>
              <a:t>nodes</a:t>
            </a:r>
            <a:r>
              <a:rPr lang="en-US" sz="2400" dirty="0"/>
              <a:t>?</a:t>
            </a:r>
            <a:br>
              <a:rPr lang="en-US" sz="2400" dirty="0"/>
            </a:br>
            <a:r>
              <a:rPr lang="en-US" sz="2400" dirty="0"/>
              <a:t>NP-Hard Optimization problem: </a:t>
            </a:r>
            <a:r>
              <a:rPr lang="en-US" sz="2400" b="1" dirty="0">
                <a:solidFill>
                  <a:srgbClr val="FF0000"/>
                </a:solidFill>
              </a:rPr>
              <a:t>Minimize</a:t>
            </a:r>
          </a:p>
          <a:p>
            <a:pPr marL="0" indent="0" eaLnBrk="1" hangingPunct="1">
              <a:lnSpc>
                <a:spcPct val="90000"/>
              </a:lnSpc>
              <a:buClr>
                <a:srgbClr val="008000"/>
              </a:buClr>
              <a:buSzPct val="125000"/>
              <a:buNone/>
            </a:pPr>
            <a:endParaRPr lang="en-US" sz="2400" b="1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CLIQUE</a:t>
            </a:r>
            <a:r>
              <a:rPr lang="en-US" sz="2400" dirty="0"/>
              <a:t>: given a graph </a:t>
            </a:r>
            <a:r>
              <a:rPr lang="en-US" sz="2400" dirty="0">
                <a:solidFill>
                  <a:srgbClr val="002060"/>
                </a:solidFill>
              </a:rPr>
              <a:t>G=(V,E)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of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rgbClr val="002060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parameter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rgbClr val="002060"/>
                </a:solidFill>
              </a:rPr>
              <a:t>k</a:t>
            </a:r>
            <a:r>
              <a:rPr lang="en-US" sz="2400" dirty="0"/>
              <a:t>, is there a set of </a:t>
            </a:r>
            <a:r>
              <a:rPr lang="en-US" sz="2400" i="1" dirty="0">
                <a:solidFill>
                  <a:srgbClr val="002060"/>
                </a:solidFill>
              </a:rPr>
              <a:t>k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b="1" dirty="0"/>
              <a:t> </a:t>
            </a:r>
            <a:r>
              <a:rPr lang="en-US" sz="2400" dirty="0"/>
              <a:t>such that </a:t>
            </a:r>
            <a:r>
              <a:rPr lang="en-US" sz="2400" b="1" dirty="0">
                <a:solidFill>
                  <a:srgbClr val="0070C0"/>
                </a:solidFill>
              </a:rPr>
              <a:t>every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two</a:t>
            </a:r>
            <a:r>
              <a:rPr lang="en-US" sz="2400" dirty="0"/>
              <a:t> vertices in V’ are </a:t>
            </a:r>
            <a:r>
              <a:rPr lang="en-US" sz="2400" b="1" dirty="0">
                <a:solidFill>
                  <a:srgbClr val="0070C0"/>
                </a:solidFill>
              </a:rPr>
              <a:t>connected</a:t>
            </a:r>
            <a:r>
              <a:rPr lang="en-US" sz="2400" dirty="0"/>
              <a:t>?</a:t>
            </a:r>
            <a:br>
              <a:rPr lang="en-US" sz="2400" dirty="0"/>
            </a:br>
            <a:r>
              <a:rPr lang="en-US" sz="2400" dirty="0"/>
              <a:t>NP-Hard Optimization problem: </a:t>
            </a:r>
            <a:r>
              <a:rPr lang="en-US" sz="2400" b="1" dirty="0">
                <a:solidFill>
                  <a:srgbClr val="FF0000"/>
                </a:solidFill>
              </a:rPr>
              <a:t>Maximize</a:t>
            </a:r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INDEPENDENT SET</a:t>
            </a:r>
            <a:r>
              <a:rPr lang="en-US" sz="2400" dirty="0"/>
              <a:t>: given a graph </a:t>
            </a:r>
            <a:r>
              <a:rPr lang="en-US" sz="2400" dirty="0">
                <a:solidFill>
                  <a:srgbClr val="002060"/>
                </a:solidFill>
              </a:rPr>
              <a:t>G=(V,E)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of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rgbClr val="002060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parameter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i="1" dirty="0">
                <a:solidFill>
                  <a:srgbClr val="0070C0"/>
                </a:solidFill>
              </a:rPr>
              <a:t>k</a:t>
            </a:r>
            <a:r>
              <a:rPr lang="en-US" sz="2400" dirty="0"/>
              <a:t>, is there a set of </a:t>
            </a:r>
            <a:r>
              <a:rPr lang="en-US" sz="2400" i="1" dirty="0">
                <a:solidFill>
                  <a:srgbClr val="002060"/>
                </a:solidFill>
              </a:rPr>
              <a:t>k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V’</a:t>
            </a:r>
            <a:r>
              <a:rPr lang="en-US" sz="2400" b="1" dirty="0"/>
              <a:t> </a:t>
            </a:r>
            <a:r>
              <a:rPr lang="en-US" sz="2400" dirty="0"/>
              <a:t>such that </a:t>
            </a:r>
            <a:r>
              <a:rPr lang="en-US" sz="2400" b="1" dirty="0">
                <a:solidFill>
                  <a:srgbClr val="0070C0"/>
                </a:solidFill>
              </a:rPr>
              <a:t>no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two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in V’ are </a:t>
            </a:r>
            <a:r>
              <a:rPr lang="en-US" sz="2400" b="1" dirty="0">
                <a:solidFill>
                  <a:srgbClr val="0070C0"/>
                </a:solidFill>
              </a:rPr>
              <a:t>connected</a:t>
            </a:r>
            <a:r>
              <a:rPr lang="en-US" sz="2400" dirty="0"/>
              <a:t>?</a:t>
            </a:r>
            <a:br>
              <a:rPr lang="en-US" sz="2400" dirty="0"/>
            </a:br>
            <a:r>
              <a:rPr lang="en-US" sz="2400" dirty="0"/>
              <a:t>NP-Hard Optimization problem: </a:t>
            </a:r>
            <a:r>
              <a:rPr lang="en-US" sz="2400" b="1" dirty="0">
                <a:solidFill>
                  <a:srgbClr val="FF0000"/>
                </a:solidFill>
              </a:rPr>
              <a:t>Maximize</a:t>
            </a:r>
          </a:p>
          <a:p>
            <a:pPr marL="0" indent="0" eaLnBrk="1" hangingPunct="1">
              <a:lnSpc>
                <a:spcPct val="90000"/>
              </a:lnSpc>
              <a:buClr>
                <a:srgbClr val="008000"/>
              </a:buClr>
              <a:buSzPct val="125000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0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0"/>
            <a:ext cx="12253306" cy="68924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4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09231"/>
            <a:ext cx="11855755" cy="6668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847528" y="188640"/>
            <a:ext cx="734481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Vertex Cover to Clique (homework)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674694"/>
            <a:ext cx="8244408" cy="6183306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29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35F4D7-E804-125C-9538-448139FD3C10}"/>
              </a:ext>
            </a:extLst>
          </p:cNvPr>
          <p:cNvSpPr txBox="1"/>
          <p:nvPr/>
        </p:nvSpPr>
        <p:spPr>
          <a:xfrm>
            <a:off x="5419792" y="1477750"/>
            <a:ext cx="360040" cy="4129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  <a:sym typeface="Symbol" pitchFamily="-64" charset="2"/>
              </a:rPr>
              <a:t>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725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831736"/>
            <a:ext cx="712879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Strategies for Turing Reduction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632816"/>
            <a:ext cx="7128792" cy="4244456"/>
          </a:xfrm>
          <a:prstGeom prst="rect">
            <a:avLst/>
          </a:prstGeom>
        </p:spPr>
        <p:txBody>
          <a:bodyPr/>
          <a:lstStyle/>
          <a:p>
            <a:pPr marL="0" indent="0"/>
            <a:r>
              <a:rPr lang="en-GB" sz="2400" dirty="0"/>
              <a:t>To </a:t>
            </a:r>
            <a:r>
              <a:rPr lang="en-GB" sz="2400" b="1" dirty="0">
                <a:solidFill>
                  <a:srgbClr val="0070C0"/>
                </a:solidFill>
              </a:rPr>
              <a:t>show</a:t>
            </a:r>
            <a:r>
              <a:rPr lang="en-GB" sz="2400" dirty="0"/>
              <a:t> that </a:t>
            </a:r>
            <a:r>
              <a:rPr lang="en-GB" sz="2400" b="1" i="1" dirty="0">
                <a:solidFill>
                  <a:srgbClr val="0070C0"/>
                </a:solidFill>
              </a:rPr>
              <a:t>P</a:t>
            </a:r>
            <a:r>
              <a:rPr lang="en-GB" sz="2400" b="1" i="1" baseline="-25000" dirty="0">
                <a:solidFill>
                  <a:srgbClr val="0070C0"/>
                </a:solidFill>
              </a:rPr>
              <a:t>1</a:t>
            </a:r>
            <a:r>
              <a:rPr lang="en-GB" sz="2400" dirty="0"/>
              <a:t> Turing </a:t>
            </a:r>
            <a:r>
              <a:rPr lang="en-GB" sz="2400" b="1" dirty="0">
                <a:solidFill>
                  <a:srgbClr val="0070C0"/>
                </a:solidFill>
              </a:rPr>
              <a:t>reduces</a:t>
            </a:r>
            <a:r>
              <a:rPr lang="en-GB" sz="2400" dirty="0"/>
              <a:t> to </a:t>
            </a:r>
            <a:r>
              <a:rPr lang="en-GB" sz="2400" b="1" i="1" dirty="0">
                <a:solidFill>
                  <a:srgbClr val="0070C0"/>
                </a:solidFill>
              </a:rPr>
              <a:t>P</a:t>
            </a:r>
            <a:r>
              <a:rPr lang="en-GB" sz="2400" b="1" i="1" baseline="-25000" dirty="0">
                <a:solidFill>
                  <a:srgbClr val="0070C0"/>
                </a:solidFill>
              </a:rPr>
              <a:t>2</a:t>
            </a:r>
          </a:p>
          <a:p>
            <a:pPr marL="0" indent="0"/>
            <a:r>
              <a:rPr lang="en-GB" sz="2400" b="1" i="1" dirty="0">
                <a:solidFill>
                  <a:srgbClr val="7030A0"/>
                </a:solidFill>
              </a:rPr>
              <a:t>Restriction</a:t>
            </a:r>
          </a:p>
          <a:p>
            <a:pPr marL="0" indent="0"/>
            <a:r>
              <a:rPr lang="en-GB" sz="2400" dirty="0"/>
              <a:t>This is the </a:t>
            </a:r>
            <a:r>
              <a:rPr lang="en-GB" sz="2400" b="1" dirty="0">
                <a:solidFill>
                  <a:srgbClr val="0070C0"/>
                </a:solidFill>
              </a:rPr>
              <a:t>easiest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reduction</a:t>
            </a:r>
            <a:r>
              <a:rPr lang="en-GB" sz="2400" dirty="0"/>
              <a:t>. </a:t>
            </a:r>
            <a:r>
              <a:rPr lang="en-GB" sz="2400" b="1" dirty="0">
                <a:solidFill>
                  <a:srgbClr val="0070C0"/>
                </a:solidFill>
              </a:rPr>
              <a:t>Show</a:t>
            </a:r>
            <a:r>
              <a:rPr lang="en-GB" sz="2400" dirty="0"/>
              <a:t> that </a:t>
            </a:r>
            <a:r>
              <a:rPr lang="en-GB" sz="2400" b="1" i="1" dirty="0">
                <a:solidFill>
                  <a:srgbClr val="0070C0"/>
                </a:solidFill>
              </a:rPr>
              <a:t>P</a:t>
            </a:r>
            <a:r>
              <a:rPr lang="en-GB" sz="2400" b="1" i="1" baseline="-25000" dirty="0">
                <a:solidFill>
                  <a:srgbClr val="0070C0"/>
                </a:solidFill>
              </a:rPr>
              <a:t>2</a:t>
            </a:r>
            <a:r>
              <a:rPr lang="en-GB" sz="2400" dirty="0"/>
              <a:t> is a </a:t>
            </a:r>
            <a:r>
              <a:rPr lang="en-GB" sz="2400" b="1" dirty="0">
                <a:solidFill>
                  <a:srgbClr val="0070C0"/>
                </a:solidFill>
              </a:rPr>
              <a:t>special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case</a:t>
            </a:r>
            <a:r>
              <a:rPr lang="en-GB" sz="2400" dirty="0"/>
              <a:t> of </a:t>
            </a:r>
            <a:r>
              <a:rPr lang="en-GB" sz="2400" b="1" i="1" dirty="0">
                <a:solidFill>
                  <a:srgbClr val="0070C0"/>
                </a:solidFill>
              </a:rPr>
              <a:t>P</a:t>
            </a:r>
            <a:r>
              <a:rPr lang="en-GB" sz="2400" b="1" i="1" baseline="-25000" dirty="0">
                <a:solidFill>
                  <a:srgbClr val="0070C0"/>
                </a:solidFill>
              </a:rPr>
              <a:t>1</a:t>
            </a:r>
            <a:r>
              <a:rPr lang="en-GB" sz="2400" dirty="0"/>
              <a:t>.</a:t>
            </a:r>
          </a:p>
          <a:p>
            <a:pPr marL="0" indent="0"/>
            <a:r>
              <a:rPr lang="en-GB" sz="2400" b="1" i="1" dirty="0">
                <a:solidFill>
                  <a:srgbClr val="7030A0"/>
                </a:solidFill>
              </a:rPr>
              <a:t>Local Replacement</a:t>
            </a:r>
          </a:p>
          <a:p>
            <a:pPr marL="0" indent="0"/>
            <a:r>
              <a:rPr lang="en-GB" sz="2400" dirty="0"/>
              <a:t>More </a:t>
            </a:r>
            <a:r>
              <a:rPr lang="en-GB" sz="2400" b="1" dirty="0">
                <a:solidFill>
                  <a:srgbClr val="0070C0"/>
                </a:solidFill>
              </a:rPr>
              <a:t>difficult</a:t>
            </a:r>
            <a:r>
              <a:rPr lang="en-GB" sz="2400" dirty="0"/>
              <a:t> but </a:t>
            </a:r>
            <a:r>
              <a:rPr lang="en-GB" sz="2400" b="1" dirty="0">
                <a:solidFill>
                  <a:srgbClr val="0070C0"/>
                </a:solidFill>
              </a:rPr>
              <a:t>relatively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uncomplicated</a:t>
            </a:r>
            <a:r>
              <a:rPr lang="en-GB" sz="2400" dirty="0"/>
              <a:t>. Ex. see </a:t>
            </a:r>
            <a:r>
              <a:rPr lang="en-GB" sz="2400" b="1" dirty="0">
                <a:solidFill>
                  <a:srgbClr val="0070C0"/>
                </a:solidFill>
              </a:rPr>
              <a:t>proof</a:t>
            </a:r>
            <a:r>
              <a:rPr lang="en-GB" sz="2400" dirty="0"/>
              <a:t> of </a:t>
            </a:r>
            <a:r>
              <a:rPr lang="en-GB" sz="2400" b="1" dirty="0">
                <a:solidFill>
                  <a:srgbClr val="0070C0"/>
                </a:solidFill>
              </a:rPr>
              <a:t>reduction</a:t>
            </a:r>
            <a:r>
              <a:rPr lang="en-GB" sz="2400" dirty="0"/>
              <a:t> of </a:t>
            </a:r>
            <a:r>
              <a:rPr lang="en-GB" sz="2400" b="1" dirty="0">
                <a:solidFill>
                  <a:srgbClr val="0070C0"/>
                </a:solidFill>
              </a:rPr>
              <a:t>SAT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3-SAT</a:t>
            </a:r>
            <a:r>
              <a:rPr lang="en-GB" sz="2400" dirty="0"/>
              <a:t>.</a:t>
            </a:r>
          </a:p>
          <a:p>
            <a:pPr marL="0" indent="0"/>
            <a:r>
              <a:rPr lang="en-GB" sz="2400" b="1" i="1" dirty="0">
                <a:solidFill>
                  <a:srgbClr val="7030A0"/>
                </a:solidFill>
              </a:rPr>
              <a:t>Component Design</a:t>
            </a:r>
          </a:p>
          <a:p>
            <a:pPr marL="0" indent="0"/>
            <a:r>
              <a:rPr lang="en-GB" sz="2400" dirty="0"/>
              <a:t>The </a:t>
            </a:r>
            <a:r>
              <a:rPr lang="en-GB" sz="2400" b="1" dirty="0">
                <a:solidFill>
                  <a:srgbClr val="0070C0"/>
                </a:solidFill>
              </a:rPr>
              <a:t>most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difficult</a:t>
            </a:r>
            <a:r>
              <a:rPr lang="en-GB" sz="2400" dirty="0"/>
              <a:t> type of </a:t>
            </a:r>
            <a:r>
              <a:rPr lang="en-GB" sz="2400" b="1" dirty="0">
                <a:solidFill>
                  <a:srgbClr val="0070C0"/>
                </a:solidFill>
              </a:rPr>
              <a:t>reduction</a:t>
            </a:r>
            <a:r>
              <a:rPr lang="en-GB" sz="2400" dirty="0"/>
              <a:t>. Ex. </a:t>
            </a:r>
            <a:r>
              <a:rPr lang="en-GB" sz="2400" b="1" dirty="0">
                <a:solidFill>
                  <a:srgbClr val="0070C0"/>
                </a:solidFill>
              </a:rPr>
              <a:t>3-SAT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VC</a:t>
            </a:r>
            <a:r>
              <a:rPr lang="en-GB" sz="2400" dirty="0"/>
              <a:t> or </a:t>
            </a:r>
            <a:r>
              <a:rPr lang="en-GB" sz="2400" b="1" dirty="0">
                <a:solidFill>
                  <a:srgbClr val="0070C0"/>
                </a:solidFill>
              </a:rPr>
              <a:t>VC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Hamiltonian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Circuit</a:t>
            </a:r>
            <a:r>
              <a:rPr lang="en-GB" sz="2400" dirty="0"/>
              <a:t>.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5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831736"/>
            <a:ext cx="712879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Approximation Algorithms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632816"/>
            <a:ext cx="7128792" cy="4244456"/>
          </a:xfrm>
          <a:prstGeom prst="rect">
            <a:avLst/>
          </a:prstGeom>
        </p:spPr>
        <p:txBody>
          <a:bodyPr/>
          <a:lstStyle/>
          <a:p>
            <a:pPr marL="0" indent="0"/>
            <a:r>
              <a:rPr lang="en-GB" sz="2400" dirty="0"/>
              <a:t>The area of </a:t>
            </a:r>
            <a:r>
              <a:rPr lang="en-GB" sz="2400" b="1" dirty="0">
                <a:solidFill>
                  <a:srgbClr val="7030A0"/>
                </a:solidFill>
              </a:rPr>
              <a:t>Approximation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7030A0"/>
                </a:solidFill>
              </a:rPr>
              <a:t>Theory</a:t>
            </a:r>
            <a:r>
              <a:rPr lang="en-GB" sz="2400" dirty="0"/>
              <a:t> is a </a:t>
            </a:r>
            <a:r>
              <a:rPr lang="en-GB" sz="2400" b="1" dirty="0">
                <a:solidFill>
                  <a:srgbClr val="0070C0"/>
                </a:solidFill>
              </a:rPr>
              <a:t>very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large</a:t>
            </a:r>
            <a:r>
              <a:rPr lang="en-GB" sz="2400" dirty="0"/>
              <a:t> area so we will </a:t>
            </a:r>
            <a:r>
              <a:rPr lang="en-GB" sz="2400" b="1" dirty="0">
                <a:solidFill>
                  <a:srgbClr val="0070C0"/>
                </a:solidFill>
              </a:rPr>
              <a:t>introduce</a:t>
            </a:r>
            <a:r>
              <a:rPr lang="en-GB" sz="2400" dirty="0"/>
              <a:t> the </a:t>
            </a:r>
            <a:r>
              <a:rPr lang="en-GB" sz="2400" b="1" dirty="0">
                <a:solidFill>
                  <a:srgbClr val="0070C0"/>
                </a:solidFill>
              </a:rPr>
              <a:t>basic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theory</a:t>
            </a:r>
            <a:r>
              <a:rPr lang="en-GB" sz="2400" dirty="0"/>
              <a:t> and then </a:t>
            </a:r>
            <a:r>
              <a:rPr lang="en-GB" sz="2400" b="1" dirty="0">
                <a:solidFill>
                  <a:srgbClr val="0070C0"/>
                </a:solidFill>
              </a:rPr>
              <a:t>proceed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discuss</a:t>
            </a:r>
            <a:r>
              <a:rPr lang="en-GB" sz="2400" dirty="0"/>
              <a:t> a </a:t>
            </a:r>
            <a:r>
              <a:rPr lang="en-GB" sz="2400" b="1" dirty="0">
                <a:solidFill>
                  <a:srgbClr val="0070C0"/>
                </a:solidFill>
              </a:rPr>
              <a:t>number</a:t>
            </a:r>
            <a:r>
              <a:rPr lang="en-GB" sz="2400" dirty="0"/>
              <a:t> of </a:t>
            </a:r>
            <a:r>
              <a:rPr lang="en-GB" sz="2400" b="1" dirty="0">
                <a:solidFill>
                  <a:srgbClr val="0070C0"/>
                </a:solidFill>
              </a:rPr>
              <a:t>approximation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techniques</a:t>
            </a:r>
            <a:r>
              <a:rPr lang="en-GB" sz="2400" dirty="0"/>
              <a:t>. </a:t>
            </a:r>
          </a:p>
          <a:p>
            <a:pPr marL="0" indent="0"/>
            <a:endParaRPr lang="en-GB" sz="2400" dirty="0"/>
          </a:p>
          <a:p>
            <a:pPr marL="0" indent="0"/>
            <a:r>
              <a:rPr lang="en-GB" sz="2400" dirty="0"/>
              <a:t>One </a:t>
            </a:r>
            <a:r>
              <a:rPr lang="en-GB" sz="2400" b="1" dirty="0">
                <a:solidFill>
                  <a:srgbClr val="0070C0"/>
                </a:solidFill>
              </a:rPr>
              <a:t>technique</a:t>
            </a:r>
            <a:r>
              <a:rPr lang="en-GB" sz="2400" dirty="0"/>
              <a:t> with </a:t>
            </a:r>
            <a:r>
              <a:rPr lang="en-GB" sz="2400" b="1" dirty="0">
                <a:solidFill>
                  <a:srgbClr val="0070C0"/>
                </a:solidFill>
              </a:rPr>
              <a:t>no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provable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bounds</a:t>
            </a:r>
            <a:r>
              <a:rPr lang="en-GB" sz="2400" dirty="0"/>
              <a:t> will be </a:t>
            </a:r>
            <a:r>
              <a:rPr lang="en-GB" sz="2400" b="1" dirty="0">
                <a:solidFill>
                  <a:srgbClr val="7030A0"/>
                </a:solidFill>
              </a:rPr>
              <a:t>Genetic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b="1" dirty="0">
                <a:solidFill>
                  <a:srgbClr val="7030A0"/>
                </a:solidFill>
              </a:rPr>
              <a:t>Algorithms</a:t>
            </a:r>
            <a:r>
              <a:rPr lang="en-GB" sz="2400" dirty="0"/>
              <a:t>.</a:t>
            </a:r>
          </a:p>
          <a:p>
            <a:pPr marL="0" indent="0"/>
            <a:endParaRPr lang="en-GB" sz="2400" dirty="0"/>
          </a:p>
          <a:p>
            <a:pPr marL="0" indent="0"/>
            <a:endParaRPr lang="en-GB" sz="2400" dirty="0"/>
          </a:p>
          <a:p>
            <a:pPr marL="0" indent="0"/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831736"/>
            <a:ext cx="712879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Approximation Algorithms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632816"/>
            <a:ext cx="7128792" cy="4244456"/>
          </a:xfrm>
          <a:prstGeom prst="rect">
            <a:avLst/>
          </a:prstGeom>
        </p:spPr>
        <p:txBody>
          <a:bodyPr/>
          <a:lstStyle/>
          <a:p>
            <a:pPr marL="0" indent="0"/>
            <a:r>
              <a:rPr lang="en-GB" sz="2400" b="1" dirty="0">
                <a:solidFill>
                  <a:srgbClr val="0070C0"/>
                </a:solidFill>
              </a:rPr>
              <a:t>We</a:t>
            </a:r>
            <a:r>
              <a:rPr lang="en-GB" sz="2400" dirty="0"/>
              <a:t> are </a:t>
            </a:r>
            <a:r>
              <a:rPr lang="en-GB" sz="2400" b="1" dirty="0">
                <a:solidFill>
                  <a:srgbClr val="0070C0"/>
                </a:solidFill>
              </a:rPr>
              <a:t>going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see</a:t>
            </a:r>
            <a:r>
              <a:rPr lang="en-GB" sz="2400" dirty="0"/>
              <a:t> that there are </a:t>
            </a:r>
            <a:r>
              <a:rPr lang="en-GB" sz="2400" b="1" dirty="0">
                <a:solidFill>
                  <a:srgbClr val="0070C0"/>
                </a:solidFill>
              </a:rPr>
              <a:t>many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different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ways</a:t>
            </a:r>
            <a:r>
              <a:rPr lang="en-GB" sz="2400" dirty="0"/>
              <a:t> to </a:t>
            </a:r>
            <a:r>
              <a:rPr lang="en-GB" sz="2400" b="1" dirty="0">
                <a:solidFill>
                  <a:srgbClr val="0070C0"/>
                </a:solidFill>
              </a:rPr>
              <a:t>deal</a:t>
            </a:r>
            <a:r>
              <a:rPr lang="en-GB" sz="2400" dirty="0"/>
              <a:t> with </a:t>
            </a:r>
            <a:r>
              <a:rPr lang="en-GB" sz="2400" b="1" dirty="0">
                <a:solidFill>
                  <a:srgbClr val="0070C0"/>
                </a:solidFill>
              </a:rPr>
              <a:t>NP-Complete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rgbClr val="0070C0"/>
                </a:solidFill>
              </a:rPr>
              <a:t>NP-Hard</a:t>
            </a:r>
            <a:r>
              <a:rPr lang="en-GB" sz="2400" dirty="0"/>
              <a:t> problems.</a:t>
            </a:r>
          </a:p>
          <a:p>
            <a:pPr marL="0" indent="0"/>
            <a:endParaRPr lang="en-GB" sz="2400" dirty="0"/>
          </a:p>
          <a:p>
            <a:pPr marL="0" indent="0"/>
            <a:r>
              <a:rPr lang="en-GB" sz="2400" b="1" dirty="0">
                <a:solidFill>
                  <a:srgbClr val="0070C0"/>
                </a:solidFill>
              </a:rPr>
              <a:t>We</a:t>
            </a:r>
            <a:r>
              <a:rPr lang="en-GB" sz="2400" dirty="0"/>
              <a:t> will </a:t>
            </a:r>
            <a:r>
              <a:rPr lang="en-GB" sz="2400" b="1" dirty="0">
                <a:solidFill>
                  <a:srgbClr val="0070C0"/>
                </a:solidFill>
              </a:rPr>
              <a:t>also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see</a:t>
            </a:r>
            <a:r>
              <a:rPr lang="en-GB" sz="2400" dirty="0"/>
              <a:t> that some </a:t>
            </a:r>
            <a:r>
              <a:rPr lang="en-GB" sz="2400" b="1" dirty="0">
                <a:solidFill>
                  <a:srgbClr val="0070C0"/>
                </a:solidFill>
              </a:rPr>
              <a:t>NP-Hard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rgbClr val="0070C0"/>
                </a:solidFill>
              </a:rPr>
              <a:t>NP-Complete</a:t>
            </a:r>
            <a:r>
              <a:rPr lang="en-GB" sz="2400" dirty="0"/>
              <a:t> problems can be </a:t>
            </a:r>
            <a:r>
              <a:rPr lang="en-GB" sz="2400" b="1" dirty="0">
                <a:solidFill>
                  <a:srgbClr val="0070C0"/>
                </a:solidFill>
              </a:rPr>
              <a:t>approximated</a:t>
            </a:r>
            <a:r>
              <a:rPr lang="en-GB" sz="2400" dirty="0"/>
              <a:t> but others </a:t>
            </a:r>
            <a:r>
              <a:rPr lang="en-GB" sz="2400" b="1" dirty="0">
                <a:solidFill>
                  <a:srgbClr val="0070C0"/>
                </a:solidFill>
              </a:rPr>
              <a:t>cannot</a:t>
            </a:r>
            <a:r>
              <a:rPr lang="en-GB" sz="2400" dirty="0"/>
              <a:t> be </a:t>
            </a:r>
            <a:r>
              <a:rPr lang="en-GB" sz="2400" b="1" dirty="0">
                <a:solidFill>
                  <a:srgbClr val="0070C0"/>
                </a:solidFill>
              </a:rPr>
              <a:t>approximated</a:t>
            </a:r>
            <a:r>
              <a:rPr lang="en-GB" sz="2400" dirty="0"/>
              <a:t>.</a:t>
            </a:r>
          </a:p>
          <a:p>
            <a:pPr marL="0" indent="0"/>
            <a:endParaRPr lang="en-GB" sz="2400" dirty="0"/>
          </a:p>
          <a:p>
            <a:pPr marL="0" indent="0"/>
            <a:r>
              <a:rPr lang="en-GB" sz="2400" b="1" dirty="0">
                <a:solidFill>
                  <a:srgbClr val="7030A0"/>
                </a:solidFill>
              </a:rPr>
              <a:t>If fact for some problems finding a </a:t>
            </a:r>
            <a:r>
              <a:rPr lang="en-GB" sz="2400" b="1" i="1" u="sng" dirty="0">
                <a:solidFill>
                  <a:srgbClr val="7030A0"/>
                </a:solidFill>
              </a:rPr>
              <a:t>bounded </a:t>
            </a:r>
            <a:r>
              <a:rPr lang="en-GB" sz="2400" b="1" dirty="0">
                <a:solidFill>
                  <a:srgbClr val="7030A0"/>
                </a:solidFill>
              </a:rPr>
              <a:t>polynomial-time approximation is NP-Hard!</a:t>
            </a:r>
          </a:p>
          <a:p>
            <a:pPr marL="0" indent="0"/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 NOT leave your baby to cry – Babywearingbg">
            <a:extLst>
              <a:ext uri="{FF2B5EF4-FFF2-40B4-BE49-F238E27FC236}">
                <a16:creationId xmlns:a16="http://schemas.microsoft.com/office/drawing/2014/main" id="{4CC4649B-E564-48D4-B033-E726F636E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3385611"/>
            <a:ext cx="3488498" cy="3488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767408" y="260648"/>
            <a:ext cx="8424936" cy="720080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Dealing with NP-Hard/Complete Problems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911424" y="1124744"/>
            <a:ext cx="9542650" cy="3672408"/>
          </a:xfrm>
          <a:prstGeom prst="rect">
            <a:avLst/>
          </a:prstGeom>
        </p:spPr>
        <p:txBody>
          <a:bodyPr/>
          <a:lstStyle/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dirty="0"/>
              <a:t>Sit </a:t>
            </a:r>
            <a:r>
              <a:rPr lang="en-GB" sz="2400" b="1" dirty="0">
                <a:solidFill>
                  <a:srgbClr val="0070C0"/>
                </a:solidFill>
              </a:rPr>
              <a:t>down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rgbClr val="0070C0"/>
                </a:solidFill>
              </a:rPr>
              <a:t>Cry </a:t>
            </a:r>
            <a:r>
              <a:rPr lang="en-GB" sz="2400" dirty="0"/>
              <a:t>like a </a:t>
            </a:r>
            <a:r>
              <a:rPr lang="en-GB" sz="2400" b="1" dirty="0">
                <a:solidFill>
                  <a:srgbClr val="0070C0"/>
                </a:solidFill>
              </a:rPr>
              <a:t>baby</a:t>
            </a:r>
            <a:r>
              <a:rPr lang="en-GB" sz="2400" dirty="0"/>
              <a:t>! 				</a:t>
            </a:r>
            <a:r>
              <a:rPr lang="en-GB" sz="2800" dirty="0">
                <a:solidFill>
                  <a:srgbClr val="FF0000"/>
                </a:solidFill>
                <a:sym typeface="Wingdings"/>
              </a:rPr>
              <a:t></a:t>
            </a:r>
            <a:r>
              <a:rPr lang="en-GB" sz="2400" dirty="0"/>
              <a:t>                                        </a:t>
            </a: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dirty="0"/>
              <a:t>If </a:t>
            </a:r>
            <a:r>
              <a:rPr lang="en-GB" sz="2400" b="1" dirty="0">
                <a:solidFill>
                  <a:srgbClr val="0070C0"/>
                </a:solidFill>
              </a:rPr>
              <a:t>instance</a:t>
            </a:r>
            <a:r>
              <a:rPr lang="en-GB" sz="2400" dirty="0"/>
              <a:t> is </a:t>
            </a:r>
            <a:r>
              <a:rPr lang="en-GB" sz="2400" b="1" dirty="0">
                <a:solidFill>
                  <a:srgbClr val="0070C0"/>
                </a:solidFill>
              </a:rPr>
              <a:t>small</a:t>
            </a:r>
            <a:r>
              <a:rPr lang="en-GB" sz="2400" dirty="0"/>
              <a:t> then use </a:t>
            </a:r>
            <a:r>
              <a:rPr lang="en-GB" sz="2400" b="1" dirty="0">
                <a:solidFill>
                  <a:srgbClr val="0070C0"/>
                </a:solidFill>
              </a:rPr>
              <a:t>brute-force</a:t>
            </a:r>
            <a:r>
              <a:rPr lang="en-GB" sz="2400" dirty="0"/>
              <a:t>.             		</a:t>
            </a:r>
            <a:r>
              <a:rPr lang="en-GB" sz="2800" dirty="0">
                <a:solidFill>
                  <a:srgbClr val="008000"/>
                </a:solidFill>
                <a:sym typeface="Wingdings"/>
              </a:rPr>
              <a:t></a:t>
            </a:r>
            <a:endParaRPr lang="en-GB" sz="2800" dirty="0">
              <a:solidFill>
                <a:srgbClr val="008000"/>
              </a:solidFill>
            </a:endParaRP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dirty="0"/>
              <a:t>Find </a:t>
            </a:r>
            <a:r>
              <a:rPr lang="en-GB" sz="2400" b="1" dirty="0">
                <a:solidFill>
                  <a:srgbClr val="0070C0"/>
                </a:solidFill>
              </a:rPr>
              <a:t>certain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conditions</a:t>
            </a:r>
            <a:r>
              <a:rPr lang="en-GB" sz="2400" dirty="0"/>
              <a:t> under which </a:t>
            </a:r>
            <a:r>
              <a:rPr lang="en-GB" sz="2400" b="1" dirty="0">
                <a:solidFill>
                  <a:srgbClr val="0070C0"/>
                </a:solidFill>
              </a:rPr>
              <a:t>problem</a:t>
            </a:r>
            <a:r>
              <a:rPr lang="en-GB" sz="2400" dirty="0"/>
              <a:t> becomes </a:t>
            </a:r>
            <a:r>
              <a:rPr lang="en-GB" sz="2400" b="1" dirty="0">
                <a:solidFill>
                  <a:srgbClr val="0070C0"/>
                </a:solidFill>
              </a:rPr>
              <a:t>tractable</a:t>
            </a:r>
            <a:r>
              <a:rPr lang="en-GB" sz="2400" dirty="0"/>
              <a:t> (</a:t>
            </a:r>
            <a:r>
              <a:rPr lang="en-GB" sz="2400" b="1" dirty="0">
                <a:solidFill>
                  <a:srgbClr val="0070C0"/>
                </a:solidFill>
              </a:rPr>
              <a:t>feasible</a:t>
            </a:r>
            <a:r>
              <a:rPr lang="en-GB" sz="2400" dirty="0"/>
              <a:t>).                                			</a:t>
            </a:r>
            <a:r>
              <a:rPr lang="en-GB" sz="2800" dirty="0">
                <a:solidFill>
                  <a:srgbClr val="008000"/>
                </a:solidFill>
                <a:sym typeface="Wingdings"/>
              </a:rPr>
              <a:t></a:t>
            </a:r>
            <a:endParaRPr lang="en-GB" sz="2800" dirty="0">
              <a:solidFill>
                <a:srgbClr val="008000"/>
              </a:solidFill>
            </a:endParaRP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dirty="0"/>
              <a:t>Try to </a:t>
            </a:r>
            <a:r>
              <a:rPr lang="en-GB" sz="2400" b="1" dirty="0">
                <a:solidFill>
                  <a:srgbClr val="0070C0"/>
                </a:solidFill>
              </a:rPr>
              <a:t>find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near-optimal</a:t>
            </a:r>
            <a:r>
              <a:rPr lang="en-GB" sz="2400" dirty="0"/>
              <a:t> solutions in </a:t>
            </a:r>
            <a:r>
              <a:rPr lang="en-GB" sz="2400" b="1" dirty="0">
                <a:solidFill>
                  <a:srgbClr val="0070C0"/>
                </a:solidFill>
              </a:rPr>
              <a:t>polynomial</a:t>
            </a:r>
            <a:r>
              <a:rPr lang="en-GB" sz="2400" dirty="0"/>
              <a:t> time.     </a:t>
            </a:r>
            <a:r>
              <a:rPr lang="en-GB" sz="2800" dirty="0">
                <a:solidFill>
                  <a:srgbClr val="008000"/>
                </a:solidFill>
                <a:sym typeface="Wingdings"/>
              </a:rPr>
              <a:t></a:t>
            </a:r>
            <a:endParaRPr lang="en-GB" sz="2400" dirty="0"/>
          </a:p>
          <a:p>
            <a:pPr marL="0" indent="0"/>
            <a:endParaRPr lang="en-GB" sz="2400" i="1" dirty="0">
              <a:solidFill>
                <a:srgbClr val="002060"/>
              </a:solidFill>
            </a:endParaRPr>
          </a:p>
          <a:p>
            <a:pPr marL="0" indent="0"/>
            <a:r>
              <a:rPr lang="en-GB" sz="2400" dirty="0"/>
              <a:t>The </a:t>
            </a:r>
            <a:r>
              <a:rPr lang="en-GB" sz="2400" b="1" dirty="0">
                <a:solidFill>
                  <a:srgbClr val="0070C0"/>
                </a:solidFill>
              </a:rPr>
              <a:t>last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approach</a:t>
            </a:r>
            <a:r>
              <a:rPr lang="en-GB" sz="2400" dirty="0"/>
              <a:t> uses an </a:t>
            </a:r>
            <a:r>
              <a:rPr lang="en-GB" sz="2400" b="1" dirty="0">
                <a:solidFill>
                  <a:srgbClr val="7030A0"/>
                </a:solidFill>
              </a:rPr>
              <a:t>approximation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7030A0"/>
                </a:solidFill>
              </a:rPr>
              <a:t>algorithm</a:t>
            </a:r>
            <a:r>
              <a:rPr lang="en-GB" sz="24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6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309392"/>
            <a:ext cx="7128792" cy="1152128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Some Approximation Techniques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775520" y="1632816"/>
            <a:ext cx="7416824" cy="4244456"/>
          </a:xfrm>
          <a:prstGeom prst="rect">
            <a:avLst/>
          </a:prstGeom>
        </p:spPr>
        <p:txBody>
          <a:bodyPr/>
          <a:lstStyle/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b="1" dirty="0">
                <a:solidFill>
                  <a:srgbClr val="0070C0"/>
                </a:solidFill>
              </a:rPr>
              <a:t>Greedy</a:t>
            </a:r>
            <a:r>
              <a:rPr lang="en-GB" sz="2400" dirty="0"/>
              <a:t> Algorithms.</a:t>
            </a:r>
            <a:endParaRPr lang="en-GB" sz="2400" dirty="0">
              <a:solidFill>
                <a:srgbClr val="FF0000"/>
              </a:solidFill>
            </a:endParaRP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b="1" dirty="0">
                <a:solidFill>
                  <a:srgbClr val="0070C0"/>
                </a:solidFill>
              </a:rPr>
              <a:t>Dynamic</a:t>
            </a:r>
            <a:r>
              <a:rPr lang="en-GB" sz="2400" dirty="0"/>
              <a:t> Programming.</a:t>
            </a:r>
            <a:endParaRPr lang="en-GB" sz="2400" dirty="0">
              <a:solidFill>
                <a:srgbClr val="0070C0"/>
              </a:solidFill>
            </a:endParaRP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b="1" dirty="0">
                <a:solidFill>
                  <a:srgbClr val="0070C0"/>
                </a:solidFill>
              </a:rPr>
              <a:t>Evolutionary</a:t>
            </a:r>
            <a:r>
              <a:rPr lang="en-GB" sz="2400" dirty="0"/>
              <a:t> Computation.</a:t>
            </a: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dirty="0"/>
              <a:t>Other </a:t>
            </a:r>
            <a:r>
              <a:rPr lang="en-GB" sz="2400" b="1" dirty="0">
                <a:solidFill>
                  <a:srgbClr val="0070C0"/>
                </a:solidFill>
              </a:rPr>
              <a:t>meta-heuristics</a:t>
            </a:r>
            <a:r>
              <a:rPr lang="en-GB" sz="2400" dirty="0"/>
              <a:t> used for </a:t>
            </a:r>
            <a:r>
              <a:rPr lang="en-GB" sz="2400" b="1" dirty="0">
                <a:solidFill>
                  <a:srgbClr val="0070C0"/>
                </a:solidFill>
              </a:rPr>
              <a:t>approximation</a:t>
            </a:r>
            <a:r>
              <a:rPr lang="en-GB" sz="2400" dirty="0"/>
              <a:t>.</a:t>
            </a: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b="1" dirty="0">
                <a:solidFill>
                  <a:srgbClr val="0070C0"/>
                </a:solidFill>
              </a:rPr>
              <a:t>Polynomial Algorithms </a:t>
            </a:r>
            <a:r>
              <a:rPr lang="en-GB" sz="2400" dirty="0"/>
              <a:t>with </a:t>
            </a:r>
            <a:r>
              <a:rPr lang="en-GB" sz="2400" b="1" dirty="0">
                <a:solidFill>
                  <a:srgbClr val="7030A0"/>
                </a:solidFill>
              </a:rPr>
              <a:t>approximation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7030A0"/>
                </a:solidFill>
              </a:rPr>
              <a:t>bounds</a:t>
            </a:r>
            <a:r>
              <a:rPr lang="en-GB" sz="2400" dirty="0"/>
              <a:t>.                                                           </a:t>
            </a:r>
            <a:endParaRPr lang="en-GB" sz="2400" dirty="0">
              <a:solidFill>
                <a:srgbClr val="0070C0"/>
              </a:solidFill>
            </a:endParaRPr>
          </a:p>
          <a:p>
            <a:pPr marL="457200" indent="-457200">
              <a:buClr>
                <a:srgbClr val="008000"/>
              </a:buClr>
              <a:buSzPct val="100000"/>
              <a:buFont typeface="+mj-lt"/>
              <a:buAutoNum type="arabicPeriod"/>
            </a:pPr>
            <a:r>
              <a:rPr lang="en-GB" sz="2400" b="1" dirty="0">
                <a:solidFill>
                  <a:srgbClr val="0070C0"/>
                </a:solidFill>
              </a:rPr>
              <a:t>Neural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Networks</a:t>
            </a:r>
            <a:r>
              <a:rPr lang="en-GB" sz="2400" dirty="0"/>
              <a:t> and other </a:t>
            </a:r>
            <a:r>
              <a:rPr lang="en-GB" sz="2400" b="1" dirty="0">
                <a:solidFill>
                  <a:srgbClr val="0070C0"/>
                </a:solidFill>
              </a:rPr>
              <a:t>Vector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Space</a:t>
            </a:r>
            <a:r>
              <a:rPr lang="en-GB" sz="2400" dirty="0"/>
              <a:t> methods such as </a:t>
            </a:r>
            <a:r>
              <a:rPr lang="en-GB" sz="2400" b="1" dirty="0">
                <a:solidFill>
                  <a:srgbClr val="0070C0"/>
                </a:solidFill>
              </a:rPr>
              <a:t>SVMs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0" indent="0"/>
            <a:r>
              <a:rPr lang="en-GB" sz="2400" dirty="0"/>
              <a:t>The </a:t>
            </a:r>
            <a:r>
              <a:rPr lang="en-GB" sz="2400" b="1" dirty="0">
                <a:solidFill>
                  <a:srgbClr val="0070C0"/>
                </a:solidFill>
              </a:rPr>
              <a:t>last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approach</a:t>
            </a:r>
            <a:r>
              <a:rPr lang="en-GB" sz="2400" dirty="0"/>
              <a:t> includes a ‘</a:t>
            </a:r>
            <a:r>
              <a:rPr lang="en-GB" sz="2400" b="1" dirty="0">
                <a:solidFill>
                  <a:srgbClr val="0070C0"/>
                </a:solidFill>
              </a:rPr>
              <a:t>learning</a:t>
            </a:r>
            <a:r>
              <a:rPr lang="en-GB" sz="2400" dirty="0"/>
              <a:t>’ component.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1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306424"/>
            <a:ext cx="496855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Some Definitions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196752"/>
            <a:ext cx="7128792" cy="5256584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7030A0"/>
                </a:solidFill>
              </a:rPr>
              <a:t>Approximation algorithm</a:t>
            </a:r>
            <a:r>
              <a:rPr lang="en-US" sz="2400" dirty="0">
                <a:solidFill>
                  <a:srgbClr val="002060"/>
                </a:solidFill>
              </a:rPr>
              <a:t>:  </a:t>
            </a:r>
            <a:r>
              <a:rPr lang="en-US" sz="2400" dirty="0"/>
              <a:t>An algorithm that returns </a:t>
            </a:r>
            <a:r>
              <a:rPr lang="en-US" sz="2400" i="1" dirty="0"/>
              <a:t>near-optimal</a:t>
            </a:r>
            <a:r>
              <a:rPr lang="en-US" sz="2400" dirty="0"/>
              <a:t> solutions (in polynomial time), i.e. is "provably good“ is called an </a:t>
            </a:r>
            <a:r>
              <a:rPr lang="en-US" sz="2400" b="1" i="1" dirty="0">
                <a:solidFill>
                  <a:srgbClr val="0070C0"/>
                </a:solidFill>
              </a:rPr>
              <a:t>approximation</a:t>
            </a:r>
            <a:r>
              <a:rPr lang="en-US" sz="2400" b="1" i="1" dirty="0"/>
              <a:t> </a:t>
            </a:r>
            <a:r>
              <a:rPr lang="en-US" sz="2400" b="1" i="1" dirty="0">
                <a:solidFill>
                  <a:srgbClr val="0070C0"/>
                </a:solidFill>
              </a:rPr>
              <a:t>algorithm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rgbClr val="7030A0"/>
                </a:solidFill>
              </a:rPr>
              <a:t>Performance Ratio (Ratio Bound)</a:t>
            </a:r>
            <a:r>
              <a:rPr lang="en-US" sz="2400" dirty="0">
                <a:solidFill>
                  <a:srgbClr val="002060"/>
                </a:solidFill>
              </a:rPr>
              <a:t>: </a:t>
            </a:r>
            <a:r>
              <a:rPr lang="en-US" sz="2400" dirty="0"/>
              <a:t>We say that an approximation algorithm for a problem </a:t>
            </a:r>
            <a:r>
              <a:rPr lang="en-US" sz="2400" i="1" dirty="0"/>
              <a:t>P</a:t>
            </a:r>
            <a:r>
              <a:rPr lang="en-US" sz="2400" dirty="0"/>
              <a:t> has a </a:t>
            </a:r>
            <a:r>
              <a:rPr lang="en-US" sz="2400" b="1" dirty="0">
                <a:solidFill>
                  <a:srgbClr val="0070C0"/>
                </a:solidFill>
              </a:rPr>
              <a:t>ratio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bound</a:t>
            </a:r>
            <a:r>
              <a:rPr lang="en-US" sz="2400" dirty="0"/>
              <a:t> of </a:t>
            </a:r>
            <a:r>
              <a:rPr lang="en-US" sz="2400" i="1" dirty="0">
                <a:sym typeface="Symbol" pitchFamily="18" charset="2"/>
              </a:rPr>
              <a:t>(n)</a:t>
            </a:r>
            <a:r>
              <a:rPr lang="en-US" sz="2400" dirty="0">
                <a:sym typeface="Symbol" pitchFamily="18" charset="2"/>
              </a:rPr>
              <a:t> if for any instance of size </a:t>
            </a:r>
            <a:r>
              <a:rPr lang="en-US" sz="2400" i="1" dirty="0">
                <a:sym typeface="Symbol" pitchFamily="18" charset="2"/>
              </a:rPr>
              <a:t>n</a:t>
            </a:r>
            <a:r>
              <a:rPr lang="en-US" sz="2400" dirty="0">
                <a:sym typeface="Symbol" pitchFamily="18" charset="2"/>
              </a:rPr>
              <a:t>, the cost </a:t>
            </a:r>
            <a:r>
              <a:rPr lang="en-US" sz="2400" i="1" dirty="0">
                <a:sym typeface="Symbol" pitchFamily="18" charset="2"/>
              </a:rPr>
              <a:t>C</a:t>
            </a:r>
            <a:r>
              <a:rPr lang="en-US" sz="2400" dirty="0">
                <a:sym typeface="Symbol" pitchFamily="18" charset="2"/>
              </a:rPr>
              <a:t> of the solution produced by the approximation algorithm is within a factor of </a:t>
            </a:r>
            <a:r>
              <a:rPr lang="en-US" sz="2400" i="1" dirty="0">
                <a:sym typeface="Symbol" pitchFamily="18" charset="2"/>
              </a:rPr>
              <a:t>(n) </a:t>
            </a:r>
            <a:r>
              <a:rPr lang="en-US" sz="2400" dirty="0">
                <a:sym typeface="Symbol" pitchFamily="18" charset="2"/>
              </a:rPr>
              <a:t>of the cost </a:t>
            </a:r>
            <a:r>
              <a:rPr lang="en-US" sz="2400" i="1" dirty="0">
                <a:sym typeface="Symbol" pitchFamily="18" charset="2"/>
              </a:rPr>
              <a:t>C</a:t>
            </a:r>
            <a:r>
              <a:rPr lang="en-US" sz="2400" i="1" baseline="30000" dirty="0">
                <a:sym typeface="Symbol" pitchFamily="18" charset="2"/>
              </a:rPr>
              <a:t>*</a:t>
            </a:r>
            <a:r>
              <a:rPr lang="en-US" sz="2400" dirty="0">
                <a:sym typeface="Symbol" pitchFamily="18" charset="2"/>
              </a:rPr>
              <a:t> of an optimal solution:</a:t>
            </a:r>
          </a:p>
          <a:p>
            <a:endParaRPr lang="en-US" sz="8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sz="3600" i="1" dirty="0">
                <a:solidFill>
                  <a:srgbClr val="C00000"/>
                </a:solidFill>
                <a:sym typeface="Symbol" pitchFamily="18" charset="2"/>
              </a:rPr>
              <a:t>	max(C/C</a:t>
            </a:r>
            <a:r>
              <a:rPr lang="en-US" sz="3600" i="1" baseline="30000" dirty="0">
                <a:solidFill>
                  <a:srgbClr val="C00000"/>
                </a:solidFill>
                <a:sym typeface="Symbol" pitchFamily="18" charset="2"/>
              </a:rPr>
              <a:t>*</a:t>
            </a:r>
            <a:r>
              <a:rPr lang="en-US" sz="3600" i="1" dirty="0">
                <a:solidFill>
                  <a:srgbClr val="C00000"/>
                </a:solidFill>
                <a:sym typeface="Symbol" pitchFamily="18" charset="2"/>
              </a:rPr>
              <a:t>,C</a:t>
            </a:r>
            <a:r>
              <a:rPr lang="en-US" sz="3600" i="1" baseline="30000" dirty="0">
                <a:solidFill>
                  <a:srgbClr val="C00000"/>
                </a:solidFill>
                <a:sym typeface="Symbol" pitchFamily="18" charset="2"/>
              </a:rPr>
              <a:t>*</a:t>
            </a:r>
            <a:r>
              <a:rPr lang="en-US" sz="3600" i="1" dirty="0">
                <a:solidFill>
                  <a:srgbClr val="C00000"/>
                </a:solidFill>
                <a:sym typeface="Symbol" pitchFamily="18" charset="2"/>
              </a:rPr>
              <a:t>/C) (n)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9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63552" y="831736"/>
            <a:ext cx="496855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Performance Ratios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628800"/>
            <a:ext cx="7128792" cy="424445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10000"/>
                  </a:schemeClr>
                </a:solidFill>
              </a:rPr>
              <a:t>In </a:t>
            </a:r>
            <a:r>
              <a:rPr lang="en-US" sz="2800" b="1" dirty="0">
                <a:solidFill>
                  <a:srgbClr val="0070C0"/>
                </a:solidFill>
              </a:rPr>
              <a:t>Maximization</a:t>
            </a:r>
            <a:r>
              <a:rPr lang="en-US" sz="2800" dirty="0">
                <a:solidFill>
                  <a:schemeClr val="tx1">
                    <a:lumMod val="10000"/>
                  </a:schemeClr>
                </a:solidFill>
              </a:rPr>
              <a:t> problems: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10000"/>
                  </a:schemeClr>
                </a:solidFill>
              </a:rPr>
              <a:t>		</a:t>
            </a:r>
            <a:r>
              <a:rPr lang="en-US" sz="2800" i="1" dirty="0">
                <a:solidFill>
                  <a:srgbClr val="C00000"/>
                </a:solidFill>
              </a:rPr>
              <a:t>0&lt;C≤C* , ρ(n) = C*/C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10000"/>
                  </a:schemeClr>
                </a:solidFill>
              </a:rPr>
              <a:t>In </a:t>
            </a:r>
            <a:r>
              <a:rPr lang="en-US" sz="2800" b="1" dirty="0">
                <a:solidFill>
                  <a:srgbClr val="0070C0"/>
                </a:solidFill>
              </a:rPr>
              <a:t>Minimization</a:t>
            </a:r>
            <a:r>
              <a:rPr lang="en-US" sz="2800" dirty="0">
                <a:solidFill>
                  <a:schemeClr val="tx1">
                    <a:lumMod val="10000"/>
                  </a:schemeClr>
                </a:solidFill>
              </a:rPr>
              <a:t> Problems: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10000"/>
                  </a:schemeClr>
                </a:solidFill>
              </a:rPr>
              <a:t>		</a:t>
            </a:r>
            <a:r>
              <a:rPr lang="en-US" sz="2800" i="1" dirty="0">
                <a:solidFill>
                  <a:srgbClr val="C00000"/>
                </a:solidFill>
              </a:rPr>
              <a:t>0&lt;C*≤C , ρ(n) = C/C*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ρ(n)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is never less than 1. 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A </a:t>
            </a:r>
            <a:r>
              <a:rPr lang="en-US" b="1" dirty="0">
                <a:solidFill>
                  <a:srgbClr val="0070C0"/>
                </a:solidFill>
              </a:rPr>
              <a:t>1-approximation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algorithm is the </a:t>
            </a:r>
            <a:r>
              <a:rPr lang="en-US" b="1" dirty="0">
                <a:solidFill>
                  <a:srgbClr val="0070C0"/>
                </a:solidFill>
              </a:rPr>
              <a:t>optimal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solution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.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The </a:t>
            </a:r>
            <a:r>
              <a:rPr lang="en-US" b="1" dirty="0">
                <a:solidFill>
                  <a:srgbClr val="0070C0"/>
                </a:solidFill>
              </a:rPr>
              <a:t>goal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is to find a </a:t>
            </a:r>
            <a:r>
              <a:rPr lang="en-US" b="1" dirty="0">
                <a:solidFill>
                  <a:srgbClr val="0070C0"/>
                </a:solidFill>
              </a:rPr>
              <a:t>polynomial-time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approximation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algorithm with </a:t>
            </a:r>
            <a:r>
              <a:rPr lang="en-US" b="1" dirty="0">
                <a:solidFill>
                  <a:srgbClr val="0070C0"/>
                </a:solidFill>
              </a:rPr>
              <a:t>small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constant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approximation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 ratios.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8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911424" y="334934"/>
            <a:ext cx="4968552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Performance Ratios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CC6ED5-F30C-4592-A399-7382FD675802}"/>
              </a:ext>
            </a:extLst>
          </p:cNvPr>
          <p:cNvGraphicFramePr>
            <a:graphicFrameLocks noGrp="1"/>
          </p:cNvGraphicFramePr>
          <p:nvPr/>
        </p:nvGraphicFramePr>
        <p:xfrm>
          <a:off x="2016125" y="1211785"/>
          <a:ext cx="8128000" cy="4668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271234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95182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Minimization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Maximization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21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Travelling Salesman Problem </a:t>
                      </a:r>
                      <a:r>
                        <a:rPr lang="en-US" dirty="0"/>
                        <a:t>(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TSP</a:t>
                      </a:r>
                      <a:r>
                        <a:rPr lang="en-US" dirty="0"/>
                        <a:t>)</a:t>
                      </a:r>
                      <a:br>
                        <a:rPr lang="en-US" dirty="0"/>
                      </a:br>
                      <a:r>
                        <a:rPr lang="en-US" dirty="0"/>
                        <a:t>Find shortest Hamiltonian Tour.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Vertex Cover </a:t>
                      </a:r>
                      <a:r>
                        <a:rPr lang="en-US" dirty="0"/>
                        <a:t>(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VC</a:t>
                      </a:r>
                      <a:r>
                        <a:rPr lang="en-US" dirty="0"/>
                        <a:t>)</a:t>
                      </a:r>
                      <a:br>
                        <a:rPr lang="en-US" dirty="0"/>
                      </a:br>
                      <a:r>
                        <a:rPr lang="en-US" dirty="0"/>
                        <a:t>Least number of vertices that cover all the edges.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Set Cover </a:t>
                      </a:r>
                      <a:r>
                        <a:rPr lang="en-US" dirty="0"/>
                        <a:t>(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SC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Least number of subsets whose union is the set T.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Bin Packing </a:t>
                      </a:r>
                      <a:r>
                        <a:rPr lang="en-US" dirty="0"/>
                        <a:t>(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BP</a:t>
                      </a:r>
                      <a:r>
                        <a:rPr lang="en-US" dirty="0"/>
                        <a:t>)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Clique</a:t>
                      </a:r>
                    </a:p>
                    <a:p>
                      <a:r>
                        <a:rPr lang="en-US" dirty="0"/>
                        <a:t>Largest number of pair-wise connected vertices.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Independent Set </a:t>
                      </a:r>
                      <a:r>
                        <a:rPr lang="en-US" dirty="0"/>
                        <a:t>(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IS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Largest number of pair-wise non-adjacent vertices.</a:t>
                      </a:r>
                    </a:p>
                    <a:p>
                      <a:endParaRPr lang="en-US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95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estimate</a:t>
                      </a:r>
                      <a:r>
                        <a:rPr lang="en-US" dirty="0"/>
                        <a:t> C will be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larger</a:t>
                      </a:r>
                      <a:r>
                        <a:rPr lang="en-US" dirty="0"/>
                        <a:t> than the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optimum</a:t>
                      </a:r>
                      <a:r>
                        <a:rPr lang="en-US" dirty="0"/>
                        <a:t> C*.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estimate</a:t>
                      </a:r>
                      <a:r>
                        <a:rPr lang="en-US" dirty="0"/>
                        <a:t> C will be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smaller</a:t>
                      </a:r>
                      <a:r>
                        <a:rPr lang="en-US" dirty="0"/>
                        <a:t> than the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optimum</a:t>
                      </a:r>
                      <a:r>
                        <a:rPr lang="en-US" dirty="0"/>
                        <a:t> C*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90289"/>
                  </a:ext>
                </a:extLst>
              </a:tr>
            </a:tbl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7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306424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Approximation Schemes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052736"/>
            <a:ext cx="7128792" cy="4824536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02060"/>
                </a:solidFill>
              </a:rPr>
              <a:t>Approximation scheme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/>
              <a:t>is an approximation algorithm that takes </a:t>
            </a:r>
            <a:r>
              <a:rPr lang="en-US" sz="2800" i="1" dirty="0"/>
              <a:t>Є&gt;0</a:t>
            </a:r>
            <a:r>
              <a:rPr lang="en-US" sz="2800" dirty="0"/>
              <a:t> as an input such that for any fixed </a:t>
            </a:r>
            <a:r>
              <a:rPr lang="en-US" sz="2800" i="1" dirty="0"/>
              <a:t>Є&gt;0 </a:t>
            </a:r>
            <a:r>
              <a:rPr lang="en-US" sz="2800" dirty="0"/>
              <a:t>the scheme is a </a:t>
            </a:r>
            <a:r>
              <a:rPr lang="en-US" sz="2800" i="1" dirty="0"/>
              <a:t>(1+Є)-</a:t>
            </a:r>
            <a:r>
              <a:rPr lang="en-US" sz="2800" dirty="0"/>
              <a:t>approximation algorithm.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Polynomial-Time Approximation Scheme </a:t>
            </a:r>
            <a:r>
              <a:rPr lang="en-US" sz="2800" dirty="0"/>
              <a:t>is an approximation algorithm that runs in time polynomial in the size of the input and also in Є .</a:t>
            </a:r>
          </a:p>
          <a:p>
            <a:pPr lvl="1"/>
            <a:r>
              <a:rPr lang="en-US" dirty="0"/>
              <a:t>As the Є decreases the running time of the algorithm may increase rapidly:</a:t>
            </a:r>
          </a:p>
          <a:p>
            <a:pPr marL="693737" lvl="2" indent="0">
              <a:buNone/>
            </a:pPr>
            <a:r>
              <a:rPr lang="en-US" sz="2400" dirty="0"/>
              <a:t>For example, it might be </a:t>
            </a:r>
            <a:r>
              <a:rPr lang="en-US" sz="2400" b="1" i="1" dirty="0">
                <a:solidFill>
                  <a:srgbClr val="C00000"/>
                </a:solidFill>
              </a:rPr>
              <a:t>O(n</a:t>
            </a:r>
            <a:r>
              <a:rPr lang="en-US" sz="2400" b="1" i="1" baseline="30000" dirty="0">
                <a:solidFill>
                  <a:srgbClr val="C00000"/>
                </a:solidFill>
              </a:rPr>
              <a:t>2/Є</a:t>
            </a:r>
            <a:r>
              <a:rPr lang="en-US" sz="2400" b="1" i="1" dirty="0">
                <a:solidFill>
                  <a:srgbClr val="C00000"/>
                </a:solidFill>
              </a:rPr>
              <a:t>)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C70874-CE91-26A5-73C4-5159A0B0EF18}"/>
              </a:ext>
            </a:extLst>
          </p:cNvPr>
          <p:cNvSpPr txBox="1"/>
          <p:nvPr/>
        </p:nvSpPr>
        <p:spPr>
          <a:xfrm>
            <a:off x="9984432" y="1412776"/>
            <a:ext cx="1837208" cy="461665"/>
          </a:xfrm>
          <a:prstGeom prst="rect">
            <a:avLst/>
          </a:prstGeom>
          <a:solidFill>
            <a:srgbClr val="FFFF00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400" i="1" dirty="0">
                <a:solidFill>
                  <a:srgbClr val="7030A0"/>
                </a:solidFill>
              </a:rPr>
              <a:t>Є = epsilon</a:t>
            </a:r>
            <a:endParaRPr lang="en-GB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65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126949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Approximation Schemes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56544" y="1988840"/>
            <a:ext cx="8675960" cy="424847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sz="2800" dirty="0"/>
              <a:t>We have a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Fully Polynomial-Time Approximation Scheme</a:t>
            </a:r>
            <a:r>
              <a:rPr lang="en-US" sz="2800" b="1" dirty="0"/>
              <a:t> </a:t>
            </a:r>
            <a:r>
              <a:rPr lang="en-US" sz="2800" dirty="0"/>
              <a:t>when the running time is polynomial not only in </a:t>
            </a:r>
            <a:r>
              <a:rPr lang="en-US" sz="2800" b="1" i="1" dirty="0">
                <a:solidFill>
                  <a:srgbClr val="002060"/>
                </a:solidFill>
              </a:rPr>
              <a:t>n</a:t>
            </a:r>
            <a:r>
              <a:rPr lang="en-US" sz="2800" dirty="0"/>
              <a:t> but also in </a:t>
            </a:r>
            <a:r>
              <a:rPr lang="en-US" sz="2800" b="1" i="1" baseline="30000" dirty="0">
                <a:solidFill>
                  <a:srgbClr val="002060"/>
                </a:solidFill>
              </a:rPr>
              <a:t>1</a:t>
            </a:r>
            <a:r>
              <a:rPr lang="en-US" sz="2800" b="1" i="1" dirty="0">
                <a:solidFill>
                  <a:srgbClr val="002060"/>
                </a:solidFill>
              </a:rPr>
              <a:t>/</a:t>
            </a:r>
            <a:r>
              <a:rPr lang="en-US" sz="2800" b="1" i="1" baseline="-25000" dirty="0">
                <a:solidFill>
                  <a:srgbClr val="002060"/>
                </a:solidFill>
              </a:rPr>
              <a:t>Є</a:t>
            </a:r>
            <a:r>
              <a:rPr lang="en-US" sz="2800" dirty="0"/>
              <a:t> </a:t>
            </a:r>
          </a:p>
          <a:p>
            <a:pPr marL="0" indent="0">
              <a:spcBef>
                <a:spcPts val="0"/>
              </a:spcBef>
            </a:pPr>
            <a:endParaRPr lang="en-US" sz="2800" dirty="0"/>
          </a:p>
          <a:p>
            <a:pPr marL="0" indent="0">
              <a:spcBef>
                <a:spcPts val="0"/>
              </a:spcBef>
            </a:pPr>
            <a:r>
              <a:rPr lang="en-US" sz="2800" dirty="0"/>
              <a:t>For example, it could be </a:t>
            </a:r>
            <a:r>
              <a:rPr lang="en-US" sz="2800" b="1" dirty="0">
                <a:solidFill>
                  <a:srgbClr val="002060"/>
                </a:solidFill>
              </a:rPr>
              <a:t>O((</a:t>
            </a:r>
            <a:r>
              <a:rPr lang="en-US" sz="2800" b="1" baseline="30000" dirty="0">
                <a:solidFill>
                  <a:srgbClr val="002060"/>
                </a:solidFill>
              </a:rPr>
              <a:t>1</a:t>
            </a:r>
            <a:r>
              <a:rPr lang="en-US" sz="2800" b="1" dirty="0">
                <a:solidFill>
                  <a:srgbClr val="002060"/>
                </a:solidFill>
              </a:rPr>
              <a:t>/</a:t>
            </a:r>
            <a:r>
              <a:rPr lang="en-US" sz="2800" b="1" baseline="-25000" dirty="0">
                <a:solidFill>
                  <a:srgbClr val="002060"/>
                </a:solidFill>
              </a:rPr>
              <a:t>Є</a:t>
            </a:r>
            <a:r>
              <a:rPr lang="en-US" sz="2800" b="1" dirty="0">
                <a:solidFill>
                  <a:srgbClr val="002060"/>
                </a:solidFill>
              </a:rPr>
              <a:t>)</a:t>
            </a:r>
            <a:r>
              <a:rPr lang="en-US" sz="2800" b="1" baseline="30000" dirty="0">
                <a:solidFill>
                  <a:srgbClr val="002060"/>
                </a:solidFill>
              </a:rPr>
              <a:t>3</a:t>
            </a:r>
            <a:r>
              <a:rPr lang="en-US" sz="2800" b="1" dirty="0">
                <a:solidFill>
                  <a:srgbClr val="002060"/>
                </a:solidFill>
              </a:rPr>
              <a:t>n</a:t>
            </a:r>
            <a:r>
              <a:rPr lang="en-US" sz="2800" b="1" baseline="30000" dirty="0">
                <a:solidFill>
                  <a:srgbClr val="002060"/>
                </a:solidFill>
              </a:rPr>
              <a:t>2</a:t>
            </a:r>
            <a:r>
              <a:rPr lang="en-US" sz="2800" b="1" dirty="0">
                <a:solidFill>
                  <a:srgbClr val="002060"/>
                </a:solidFill>
              </a:rPr>
              <a:t>)</a:t>
            </a:r>
          </a:p>
          <a:p>
            <a:pPr marL="0" indent="0">
              <a:spcBef>
                <a:spcPts val="0"/>
              </a:spcBef>
            </a:pPr>
            <a:endParaRPr lang="en-US" sz="2800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800" dirty="0"/>
              <a:t>This means the smaller</a:t>
            </a:r>
            <a:r>
              <a:rPr lang="en-US" sz="2800" b="1" dirty="0"/>
              <a:t> </a:t>
            </a:r>
            <a:r>
              <a:rPr lang="en-US" sz="2800" b="1" i="1" dirty="0">
                <a:solidFill>
                  <a:srgbClr val="002060"/>
                </a:solidFill>
              </a:rPr>
              <a:t>Є </a:t>
            </a:r>
            <a:r>
              <a:rPr lang="en-US" sz="2800" dirty="0"/>
              <a:t>becomes, the longer the algorithm takes to run. The reciprocal of </a:t>
            </a:r>
            <a:r>
              <a:rPr lang="en-US" sz="2800" b="1" i="1" dirty="0">
                <a:solidFill>
                  <a:srgbClr val="002060"/>
                </a:solidFill>
              </a:rPr>
              <a:t>Є </a:t>
            </a:r>
            <a:r>
              <a:rPr lang="en-US" sz="2800" dirty="0"/>
              <a:t>is used in the time complexity function.</a:t>
            </a: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39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452344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Approximation Schemes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124744"/>
            <a:ext cx="7344816" cy="496855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sz="2800" dirty="0"/>
              <a:t>We </a:t>
            </a:r>
            <a:r>
              <a:rPr lang="en-US" sz="2800" b="1" dirty="0">
                <a:solidFill>
                  <a:srgbClr val="0070C0"/>
                </a:solidFill>
              </a:rPr>
              <a:t>shall</a:t>
            </a:r>
            <a:r>
              <a:rPr lang="en-US" sz="2800" dirty="0"/>
              <a:t> later </a:t>
            </a:r>
            <a:r>
              <a:rPr lang="en-US" sz="2800" b="1" dirty="0">
                <a:solidFill>
                  <a:srgbClr val="0070C0"/>
                </a:solidFill>
              </a:rPr>
              <a:t>look</a:t>
            </a:r>
            <a:r>
              <a:rPr lang="en-US" sz="2800" dirty="0"/>
              <a:t> at </a:t>
            </a:r>
            <a:r>
              <a:rPr lang="en-US" sz="2800" b="1" dirty="0">
                <a:solidFill>
                  <a:srgbClr val="0070C0"/>
                </a:solidFill>
              </a:rPr>
              <a:t>algorithms</a:t>
            </a:r>
            <a:r>
              <a:rPr lang="en-US" sz="2800" dirty="0"/>
              <a:t> that find </a:t>
            </a:r>
            <a:r>
              <a:rPr lang="en-US" sz="2800" b="1" dirty="0">
                <a:solidFill>
                  <a:srgbClr val="0070C0"/>
                </a:solidFill>
              </a:rPr>
              <a:t>approximate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solutions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0070C0"/>
                </a:solidFill>
              </a:rPr>
              <a:t>polynomial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time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using</a:t>
            </a:r>
            <a:r>
              <a:rPr lang="en-US" sz="2800" dirty="0"/>
              <a:t> a </a:t>
            </a:r>
            <a:r>
              <a:rPr lang="en-US" sz="2800" b="1" dirty="0">
                <a:solidFill>
                  <a:srgbClr val="0070C0"/>
                </a:solidFill>
              </a:rPr>
              <a:t>Fully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Polynomial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Time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Approximation</a:t>
            </a:r>
            <a:r>
              <a:rPr lang="en-US" sz="2800" dirty="0"/>
              <a:t> Algorithm</a:t>
            </a:r>
          </a:p>
          <a:p>
            <a:pPr marL="0" indent="0">
              <a:spcBef>
                <a:spcPts val="0"/>
              </a:spcBef>
            </a:pPr>
            <a:endParaRPr lang="en-US" sz="2800" dirty="0"/>
          </a:p>
          <a:p>
            <a:pPr marL="0" indent="0">
              <a:spcBef>
                <a:spcPts val="0"/>
              </a:spcBef>
            </a:pPr>
            <a:r>
              <a:rPr lang="en-US" sz="2800" dirty="0"/>
              <a:t>We shall </a:t>
            </a:r>
            <a:r>
              <a:rPr lang="en-US" sz="2800" b="1" dirty="0">
                <a:solidFill>
                  <a:srgbClr val="0070C0"/>
                </a:solidFill>
              </a:rPr>
              <a:t>discuss</a:t>
            </a:r>
            <a:r>
              <a:rPr lang="en-US" sz="2800" dirty="0"/>
              <a:t> one </a:t>
            </a:r>
            <a:r>
              <a:rPr lang="en-US" sz="2800" b="1" dirty="0">
                <a:solidFill>
                  <a:srgbClr val="0070C0"/>
                </a:solidFill>
              </a:rPr>
              <a:t>NP-Hard</a:t>
            </a:r>
            <a:r>
              <a:rPr lang="en-US" sz="2800" dirty="0"/>
              <a:t> problem for which </a:t>
            </a:r>
            <a:r>
              <a:rPr lang="en-US" sz="2800" b="1" dirty="0">
                <a:solidFill>
                  <a:srgbClr val="0070C0"/>
                </a:solidFill>
              </a:rPr>
              <a:t>even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approximation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0070C0"/>
                </a:solidFill>
              </a:rPr>
              <a:t>NP-Hard</a:t>
            </a:r>
            <a:r>
              <a:rPr lang="en-US" sz="2800" dirty="0"/>
              <a:t>.</a:t>
            </a:r>
          </a:p>
          <a:p>
            <a:pPr marL="0" indent="0">
              <a:spcBef>
                <a:spcPts val="0"/>
              </a:spcBef>
            </a:pPr>
            <a:endParaRPr lang="en-US" sz="2800" dirty="0"/>
          </a:p>
          <a:p>
            <a:pPr marL="0" indent="0">
              <a:spcBef>
                <a:spcPts val="0"/>
              </a:spcBef>
            </a:pPr>
            <a:r>
              <a:rPr lang="en-US" sz="2800" dirty="0"/>
              <a:t>Finally, we will </a:t>
            </a:r>
            <a:r>
              <a:rPr lang="en-US" sz="2800" b="1" dirty="0">
                <a:solidFill>
                  <a:srgbClr val="0070C0"/>
                </a:solidFill>
              </a:rPr>
              <a:t>look</a:t>
            </a:r>
            <a:r>
              <a:rPr lang="en-US" sz="2800" dirty="0"/>
              <a:t> at a </a:t>
            </a:r>
            <a:r>
              <a:rPr lang="en-US" sz="2800" b="1" dirty="0">
                <a:solidFill>
                  <a:srgbClr val="0070C0"/>
                </a:solidFill>
              </a:rPr>
              <a:t>problem</a:t>
            </a:r>
            <a:r>
              <a:rPr lang="en-US" sz="2800" dirty="0"/>
              <a:t> where the </a:t>
            </a:r>
            <a:r>
              <a:rPr lang="en-US" sz="2800" b="1" dirty="0">
                <a:solidFill>
                  <a:srgbClr val="0070C0"/>
                </a:solidFill>
              </a:rPr>
              <a:t>running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time</a:t>
            </a:r>
            <a:r>
              <a:rPr lang="en-US" sz="2800" dirty="0"/>
              <a:t> of its </a:t>
            </a:r>
            <a:r>
              <a:rPr lang="en-US" sz="2800" b="1" dirty="0">
                <a:solidFill>
                  <a:srgbClr val="0070C0"/>
                </a:solidFill>
              </a:rPr>
              <a:t>approximation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algorithms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increases</a:t>
            </a:r>
            <a:r>
              <a:rPr lang="en-US" sz="2800" dirty="0"/>
              <a:t> as </a:t>
            </a:r>
            <a:r>
              <a:rPr lang="en-US" sz="2800" b="1" i="1" dirty="0">
                <a:solidFill>
                  <a:srgbClr val="002060"/>
                </a:solidFill>
              </a:rPr>
              <a:t>Є </a:t>
            </a:r>
            <a:r>
              <a:rPr lang="en-US" sz="2800" b="1" dirty="0">
                <a:solidFill>
                  <a:srgbClr val="0070C0"/>
                </a:solidFill>
              </a:rPr>
              <a:t>decreases</a:t>
            </a:r>
            <a:r>
              <a:rPr lang="en-US" sz="2800" dirty="0"/>
              <a:t>. </a:t>
            </a:r>
          </a:p>
          <a:p>
            <a:pPr marL="0" indent="0">
              <a:spcBef>
                <a:spcPts val="0"/>
              </a:spcBef>
            </a:pPr>
            <a:endParaRPr lang="en-US" sz="28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7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Some Algorithmic Paradigms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988840"/>
            <a:ext cx="7344816" cy="3888432"/>
          </a:xfrm>
          <a:prstGeom prst="rect">
            <a:avLst/>
          </a:prstGeom>
        </p:spPr>
        <p:txBody>
          <a:bodyPr/>
          <a:lstStyle/>
          <a:p>
            <a:pPr marL="457200" indent="-457200">
              <a:buClr>
                <a:srgbClr val="008000"/>
              </a:buClr>
              <a:buSzPct val="100000"/>
              <a:buFont typeface="Arial" pitchFamily="34" charset="0"/>
              <a:buChar char="•"/>
            </a:pPr>
            <a:r>
              <a:rPr lang="en-US" sz="3200" dirty="0"/>
              <a:t>Greedy algorithms</a:t>
            </a:r>
          </a:p>
          <a:p>
            <a:pPr marL="457200" indent="-457200">
              <a:buClr>
                <a:srgbClr val="008000"/>
              </a:buClr>
              <a:buSzPct val="100000"/>
              <a:buFont typeface="Arial" pitchFamily="34" charset="0"/>
              <a:buChar char="•"/>
            </a:pPr>
            <a:r>
              <a:rPr lang="en-US" sz="3200" dirty="0"/>
              <a:t>Dynamic programming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0" indent="0"/>
            <a:endParaRPr lang="en-US" sz="3200" dirty="0"/>
          </a:p>
          <a:p>
            <a:pPr marL="0" indent="0"/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9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What is a Greedy Algorithm?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460851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</a:pPr>
            <a:r>
              <a:rPr lang="en-US" sz="2400" dirty="0"/>
              <a:t>Constructs a solution to an </a:t>
            </a:r>
            <a:r>
              <a:rPr lang="en-US" sz="2400" i="1" dirty="0"/>
              <a:t>optimization problem</a:t>
            </a:r>
            <a:r>
              <a:rPr lang="en-US" sz="2400" dirty="0"/>
              <a:t> step by step through a sequence of choices that are: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8000"/>
              </a:buClr>
              <a:buSzPct val="100000"/>
              <a:buFont typeface="Arial" pitchFamily="34" charset="0"/>
              <a:buChar char="•"/>
            </a:pPr>
            <a:r>
              <a:rPr lang="en-US" sz="2400" b="1" i="1" dirty="0">
                <a:solidFill>
                  <a:srgbClr val="002060"/>
                </a:solidFill>
              </a:rPr>
              <a:t>Feasible</a:t>
            </a:r>
            <a:r>
              <a:rPr lang="en-US" sz="2400" i="1" dirty="0"/>
              <a:t>, i.e. satisfying the constraints.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8000"/>
              </a:buClr>
              <a:buSzPct val="100000"/>
              <a:buFont typeface="Arial" pitchFamily="34" charset="0"/>
              <a:buChar char="•"/>
            </a:pPr>
            <a:r>
              <a:rPr lang="en-US" sz="2400" b="1" i="1" dirty="0">
                <a:solidFill>
                  <a:srgbClr val="002060"/>
                </a:solidFill>
              </a:rPr>
              <a:t>Locally Optimal </a:t>
            </a:r>
            <a:r>
              <a:rPr lang="en-US" sz="2400" i="1" dirty="0"/>
              <a:t>(with respect to some neighborhood definition).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8000"/>
              </a:buClr>
              <a:buSzPct val="100000"/>
              <a:buFont typeface="Arial" pitchFamily="34" charset="0"/>
              <a:buChar char="•"/>
            </a:pPr>
            <a:r>
              <a:rPr lang="en-US" sz="2400" b="1" i="1" dirty="0">
                <a:solidFill>
                  <a:srgbClr val="002060"/>
                </a:solidFill>
              </a:rPr>
              <a:t>Greedy </a:t>
            </a:r>
            <a:r>
              <a:rPr lang="en-US" sz="2400" i="1" dirty="0"/>
              <a:t>(in terms of some measure), and irrevocable.</a:t>
            </a:r>
            <a:endParaRPr lang="en-US" sz="2800" i="1" dirty="0"/>
          </a:p>
          <a:p>
            <a:pPr marL="0" indent="0">
              <a:lnSpc>
                <a:spcPct val="90000"/>
              </a:lnSpc>
              <a:spcBef>
                <a:spcPts val="0"/>
              </a:spcBef>
            </a:pPr>
            <a:endParaRPr lang="en-US" sz="2400" dirty="0"/>
          </a:p>
          <a:p>
            <a:pPr marL="0" indent="0">
              <a:lnSpc>
                <a:spcPct val="90000"/>
              </a:lnSpc>
              <a:spcBef>
                <a:spcPts val="0"/>
              </a:spcBef>
            </a:pPr>
            <a:r>
              <a:rPr lang="en-US" sz="2400" dirty="0"/>
              <a:t>For some problems, it yields a </a:t>
            </a:r>
            <a:r>
              <a:rPr lang="en-US" sz="2400" b="1" i="1" dirty="0">
                <a:solidFill>
                  <a:srgbClr val="002060"/>
                </a:solidFill>
              </a:rPr>
              <a:t>globally optimal </a:t>
            </a:r>
            <a:r>
              <a:rPr lang="en-US" sz="2400" dirty="0"/>
              <a:t>solution for every instance. For most, it does not but it can be useful for fast and efficient approximations. </a:t>
            </a: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6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Greedy Technique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Optimal solutions</a:t>
            </a:r>
          </a:p>
          <a:p>
            <a:pPr lvl="1"/>
            <a:r>
              <a:rPr lang="en-US" dirty="0"/>
              <a:t>Giving change “normal” coin denominations</a:t>
            </a:r>
          </a:p>
          <a:p>
            <a:pPr lvl="1"/>
            <a:r>
              <a:rPr lang="en-US" dirty="0"/>
              <a:t>Minimum Spanning Tree (MST)</a:t>
            </a:r>
          </a:p>
          <a:p>
            <a:pPr lvl="1"/>
            <a:r>
              <a:rPr lang="en-US" dirty="0"/>
              <a:t>Single-source shortest paths in graphs</a:t>
            </a:r>
          </a:p>
          <a:p>
            <a:pPr lvl="1"/>
            <a:r>
              <a:rPr lang="en-US" dirty="0"/>
              <a:t>Simple scheduling problems</a:t>
            </a:r>
          </a:p>
          <a:p>
            <a:pPr lvl="1"/>
            <a:r>
              <a:rPr lang="en-US" dirty="0"/>
              <a:t>Huffman Codes</a:t>
            </a:r>
          </a:p>
          <a:p>
            <a:r>
              <a:rPr lang="en-US" b="1" dirty="0">
                <a:solidFill>
                  <a:srgbClr val="002060"/>
                </a:solidFill>
              </a:rPr>
              <a:t>Approximations &amp; Heuristics</a:t>
            </a:r>
          </a:p>
          <a:p>
            <a:pPr lvl="1"/>
            <a:r>
              <a:rPr lang="en-US" dirty="0"/>
              <a:t>Traveling Salesman Problem (TSP)</a:t>
            </a:r>
          </a:p>
          <a:p>
            <a:pPr lvl="1"/>
            <a:r>
              <a:rPr lang="en-US" dirty="0"/>
              <a:t>Bin-packing &amp; Knapsack problems</a:t>
            </a:r>
          </a:p>
          <a:p>
            <a:pPr lvl="1"/>
            <a:r>
              <a:rPr lang="en-US" dirty="0"/>
              <a:t>Many other combinatorial optimization problems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7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Giving Change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19536" y="1274628"/>
            <a:ext cx="9001000" cy="49053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Given unlimited amounts of coins of denominations.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d</a:t>
            </a:r>
            <a:r>
              <a:rPr lang="en-US" sz="2400" b="1" i="1" baseline="-25000" dirty="0">
                <a:solidFill>
                  <a:srgbClr val="C00000"/>
                </a:solidFill>
              </a:rPr>
              <a:t>1 </a:t>
            </a:r>
            <a:r>
              <a:rPr lang="en-US" sz="2400" b="1" i="1" dirty="0">
                <a:solidFill>
                  <a:srgbClr val="C00000"/>
                </a:solidFill>
              </a:rPr>
              <a:t>&gt; … &gt; </a:t>
            </a:r>
            <a:r>
              <a:rPr lang="en-US" sz="2400" b="1" i="1" dirty="0" err="1">
                <a:solidFill>
                  <a:srgbClr val="C00000"/>
                </a:solidFill>
              </a:rPr>
              <a:t>d</a:t>
            </a:r>
            <a:r>
              <a:rPr lang="en-US" sz="2400" b="1" i="1" baseline="-25000" dirty="0" err="1">
                <a:solidFill>
                  <a:srgbClr val="C00000"/>
                </a:solidFill>
              </a:rPr>
              <a:t>m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/>
              <a:t>give change for an amount </a:t>
            </a:r>
            <a:r>
              <a:rPr lang="en-US" sz="2400" b="1" i="1" dirty="0">
                <a:solidFill>
                  <a:srgbClr val="C00000"/>
                </a:solidFill>
              </a:rPr>
              <a:t>n</a:t>
            </a:r>
            <a:r>
              <a:rPr lang="en-US" sz="2400" i="1" dirty="0"/>
              <a:t> </a:t>
            </a:r>
            <a:r>
              <a:rPr lang="en-US" sz="2400" dirty="0"/>
              <a:t>with the least number of coins:</a:t>
            </a:r>
          </a:p>
          <a:p>
            <a:r>
              <a:rPr lang="en-US" sz="2400" dirty="0"/>
              <a:t>Example:  </a:t>
            </a:r>
            <a:r>
              <a:rPr lang="en-US" sz="2400" b="1" i="1" dirty="0">
                <a:solidFill>
                  <a:srgbClr val="C00000"/>
                </a:solidFill>
              </a:rPr>
              <a:t>d</a:t>
            </a:r>
            <a:r>
              <a:rPr lang="en-US" sz="2400" b="1" i="1" baseline="-25000" dirty="0">
                <a:solidFill>
                  <a:srgbClr val="7030A0"/>
                </a:solidFill>
              </a:rPr>
              <a:t>1</a:t>
            </a:r>
            <a:r>
              <a:rPr lang="en-US" sz="2400" b="1" i="1" dirty="0">
                <a:solidFill>
                  <a:srgbClr val="C00000"/>
                </a:solidFill>
              </a:rPr>
              <a:t> = 25c,  d</a:t>
            </a:r>
            <a:r>
              <a:rPr lang="en-US" sz="2400" b="1" i="1" baseline="-25000" dirty="0">
                <a:solidFill>
                  <a:srgbClr val="7030A0"/>
                </a:solidFill>
              </a:rPr>
              <a:t>2</a:t>
            </a:r>
            <a:r>
              <a:rPr lang="en-US" sz="2400" b="1" i="1" dirty="0">
                <a:solidFill>
                  <a:srgbClr val="C00000"/>
                </a:solidFill>
              </a:rPr>
              <a:t> =10c,  d</a:t>
            </a:r>
            <a:r>
              <a:rPr lang="en-US" sz="2400" b="1" i="1" baseline="-25000" dirty="0">
                <a:solidFill>
                  <a:srgbClr val="7030A0"/>
                </a:solidFill>
              </a:rPr>
              <a:t>3</a:t>
            </a:r>
            <a:r>
              <a:rPr lang="en-US" sz="2400" b="1" i="1" dirty="0">
                <a:solidFill>
                  <a:srgbClr val="C00000"/>
                </a:solidFill>
              </a:rPr>
              <a:t> = 5c,  d</a:t>
            </a:r>
            <a:r>
              <a:rPr lang="en-US" sz="2400" b="1" i="1" baseline="-25000" dirty="0">
                <a:solidFill>
                  <a:srgbClr val="7030A0"/>
                </a:solidFill>
              </a:rPr>
              <a:t>4</a:t>
            </a:r>
            <a:r>
              <a:rPr lang="en-US" sz="2400" b="1" i="1" dirty="0">
                <a:solidFill>
                  <a:srgbClr val="C00000"/>
                </a:solidFill>
              </a:rPr>
              <a:t> = 1c  </a:t>
            </a:r>
            <a:r>
              <a:rPr lang="en-US" sz="2400" dirty="0"/>
              <a:t>and </a:t>
            </a:r>
            <a:r>
              <a:rPr lang="en-US" sz="2400" b="1" i="1" dirty="0">
                <a:solidFill>
                  <a:srgbClr val="C00000"/>
                </a:solidFill>
              </a:rPr>
              <a:t>n = 48c</a:t>
            </a:r>
          </a:p>
          <a:p>
            <a:pPr>
              <a:buFont typeface="Monotype Sorts" pitchFamily="2" charset="2"/>
              <a:buNone/>
            </a:pPr>
            <a:r>
              <a:rPr lang="en-US" sz="2400" dirty="0"/>
              <a:t>Greedy solution is </a:t>
            </a:r>
            <a:r>
              <a:rPr lang="en-US" sz="2400" b="1" i="1" dirty="0">
                <a:solidFill>
                  <a:srgbClr val="C00000"/>
                </a:solidFill>
              </a:rPr>
              <a:t>&lt;1,2,0,3&gt;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Greedy solution is optimal for any amount and “normal’’ set of denominations.</a:t>
            </a:r>
          </a:p>
          <a:p>
            <a:pPr marL="0" indent="0">
              <a:buNone/>
            </a:pPr>
            <a:r>
              <a:rPr lang="en-US" sz="2400" dirty="0"/>
              <a:t>It, however, may not be optimal for arbitrary coin denominations.</a:t>
            </a:r>
          </a:p>
          <a:p>
            <a:r>
              <a:rPr lang="en-US" sz="2400" dirty="0"/>
              <a:t>Example: </a:t>
            </a:r>
            <a:r>
              <a:rPr lang="en-US" sz="2400" b="1" i="1" dirty="0">
                <a:solidFill>
                  <a:srgbClr val="C00000"/>
                </a:solidFill>
              </a:rPr>
              <a:t>d</a:t>
            </a:r>
            <a:r>
              <a:rPr lang="en-US" sz="2400" b="1" i="1" baseline="-25000" dirty="0">
                <a:solidFill>
                  <a:srgbClr val="7030A0"/>
                </a:solidFill>
              </a:rPr>
              <a:t>1</a:t>
            </a:r>
            <a:r>
              <a:rPr lang="en-US" sz="2400" b="1" i="1" dirty="0">
                <a:solidFill>
                  <a:srgbClr val="C00000"/>
                </a:solidFill>
              </a:rPr>
              <a:t> = 25c, d</a:t>
            </a:r>
            <a:r>
              <a:rPr lang="en-US" sz="2400" b="1" i="1" baseline="-25000" dirty="0">
                <a:solidFill>
                  <a:srgbClr val="7030A0"/>
                </a:solidFill>
              </a:rPr>
              <a:t>2</a:t>
            </a:r>
            <a:r>
              <a:rPr lang="en-US" sz="2400" b="1" i="1" dirty="0">
                <a:solidFill>
                  <a:srgbClr val="C00000"/>
                </a:solidFill>
              </a:rPr>
              <a:t> = 10c, d</a:t>
            </a:r>
            <a:r>
              <a:rPr lang="en-US" sz="2400" b="1" i="1" baseline="-25000" dirty="0">
                <a:solidFill>
                  <a:srgbClr val="7030A0"/>
                </a:solidFill>
              </a:rPr>
              <a:t>3</a:t>
            </a:r>
            <a:r>
              <a:rPr lang="en-US" sz="2400" b="1" i="1" dirty="0">
                <a:solidFill>
                  <a:srgbClr val="C00000"/>
                </a:solidFill>
              </a:rPr>
              <a:t> = 1c</a:t>
            </a:r>
            <a:r>
              <a:rPr lang="en-US" sz="2400" dirty="0"/>
              <a:t>, and </a:t>
            </a:r>
            <a:r>
              <a:rPr lang="en-US" sz="2400" b="1" i="1" dirty="0">
                <a:solidFill>
                  <a:srgbClr val="C00000"/>
                </a:solidFill>
              </a:rPr>
              <a:t>n = 30c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6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62360" y="173200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Minimum Spanning Trees (MSTs)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15392" y="877889"/>
            <a:ext cx="7271327" cy="49053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i="1" dirty="0">
                <a:solidFill>
                  <a:srgbClr val="002060"/>
                </a:solidFill>
              </a:rPr>
              <a:t>Spanning tree </a:t>
            </a:r>
            <a:r>
              <a:rPr lang="en-US" dirty="0"/>
              <a:t>of a connected graph </a:t>
            </a:r>
            <a:r>
              <a:rPr lang="en-US" i="1" dirty="0"/>
              <a:t>G</a:t>
            </a:r>
            <a:r>
              <a:rPr lang="en-US" dirty="0"/>
              <a:t>: a connected acyclic </a:t>
            </a:r>
            <a:r>
              <a:rPr lang="en-US" dirty="0" err="1"/>
              <a:t>subgraph</a:t>
            </a:r>
            <a:r>
              <a:rPr lang="en-US" dirty="0"/>
              <a:t> of </a:t>
            </a:r>
            <a:r>
              <a:rPr lang="en-US" i="1" dirty="0"/>
              <a:t>G </a:t>
            </a:r>
            <a:r>
              <a:rPr lang="en-US" dirty="0"/>
              <a:t>that includes all of </a:t>
            </a:r>
            <a:r>
              <a:rPr lang="en-US" i="1" dirty="0"/>
              <a:t>G</a:t>
            </a:r>
            <a:r>
              <a:rPr lang="en-US" dirty="0"/>
              <a:t>’s vertices</a:t>
            </a:r>
          </a:p>
          <a:p>
            <a:endParaRPr lang="en-US" dirty="0"/>
          </a:p>
          <a:p>
            <a:r>
              <a:rPr lang="en-US" b="1" i="1" dirty="0">
                <a:solidFill>
                  <a:srgbClr val="002060"/>
                </a:solidFill>
              </a:rPr>
              <a:t>Minimum spanning tree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/>
              <a:t>of a weighted, connected graph </a:t>
            </a:r>
            <a:r>
              <a:rPr lang="en-US" i="1" dirty="0"/>
              <a:t>G</a:t>
            </a:r>
            <a:r>
              <a:rPr lang="en-US" dirty="0"/>
              <a:t>: a spanning tree of </a:t>
            </a:r>
            <a:r>
              <a:rPr lang="en-US" i="1" dirty="0"/>
              <a:t>G</a:t>
            </a:r>
            <a:r>
              <a:rPr lang="en-US" dirty="0"/>
              <a:t> of the minimum total weight</a:t>
            </a:r>
          </a:p>
          <a:p>
            <a:endParaRPr lang="en-US" u="sng" dirty="0"/>
          </a:p>
          <a:p>
            <a:pPr>
              <a:buFont typeface="Monotype Sorts" pitchFamily="2" charset="2"/>
              <a:buNone/>
            </a:pPr>
            <a:endParaRPr lang="en-US" u="sng" dirty="0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762445" y="4262033"/>
            <a:ext cx="2078182" cy="2211387"/>
            <a:chOff x="624" y="2697"/>
            <a:chExt cx="1440" cy="1393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488" y="273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872" y="373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816" y="383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676" y="296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864" y="288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 flipV="1">
              <a:off x="768" y="3168"/>
              <a:ext cx="9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912" y="2928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1046" y="2697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624" y="3393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104" y="3153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1344" y="3408"/>
              <a:ext cx="2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344" y="3840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1008" y="3864"/>
              <a:ext cx="86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 flipV="1">
              <a:off x="1632" y="2928"/>
              <a:ext cx="33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1776" y="3105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</p:grpSp>
      <p:grpSp>
        <p:nvGrpSpPr>
          <p:cNvPr id="21" name="Group 235"/>
          <p:cNvGrpSpPr>
            <a:grpSpLocks/>
          </p:cNvGrpSpPr>
          <p:nvPr/>
        </p:nvGrpSpPr>
        <p:grpSpPr bwMode="auto">
          <a:xfrm>
            <a:off x="6887475" y="4309658"/>
            <a:ext cx="2210955" cy="2149475"/>
            <a:chOff x="3844" y="2727"/>
            <a:chExt cx="1532" cy="1354"/>
          </a:xfrm>
        </p:grpSpPr>
        <p:sp>
          <p:nvSpPr>
            <p:cNvPr id="22" name="Oval 218"/>
            <p:cNvSpPr>
              <a:spLocks noChangeArrowheads="1"/>
            </p:cNvSpPr>
            <p:nvPr/>
          </p:nvSpPr>
          <p:spPr bwMode="auto">
            <a:xfrm>
              <a:off x="4800" y="2727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23" name="Oval 219"/>
            <p:cNvSpPr>
              <a:spLocks noChangeArrowheads="1"/>
            </p:cNvSpPr>
            <p:nvPr/>
          </p:nvSpPr>
          <p:spPr bwMode="auto">
            <a:xfrm>
              <a:off x="5184" y="3735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24" name="Oval 220"/>
            <p:cNvSpPr>
              <a:spLocks noChangeArrowheads="1"/>
            </p:cNvSpPr>
            <p:nvPr/>
          </p:nvSpPr>
          <p:spPr bwMode="auto">
            <a:xfrm>
              <a:off x="4128" y="3831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25" name="Oval 221"/>
            <p:cNvSpPr>
              <a:spLocks noChangeArrowheads="1"/>
            </p:cNvSpPr>
            <p:nvPr/>
          </p:nvSpPr>
          <p:spPr bwMode="auto">
            <a:xfrm>
              <a:off x="3984" y="2967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26" name="Line 223"/>
            <p:cNvSpPr>
              <a:spLocks noChangeShapeType="1"/>
            </p:cNvSpPr>
            <p:nvPr/>
          </p:nvSpPr>
          <p:spPr bwMode="auto">
            <a:xfrm flipH="1" flipV="1">
              <a:off x="4080" y="3159"/>
              <a:ext cx="9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226"/>
            <p:cNvSpPr txBox="1">
              <a:spLocks noChangeArrowheads="1"/>
            </p:cNvSpPr>
            <p:nvPr/>
          </p:nvSpPr>
          <p:spPr bwMode="auto">
            <a:xfrm>
              <a:off x="3844" y="3384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8" name="Text Box 228"/>
            <p:cNvSpPr txBox="1">
              <a:spLocks noChangeArrowheads="1"/>
            </p:cNvSpPr>
            <p:nvPr/>
          </p:nvSpPr>
          <p:spPr bwMode="auto">
            <a:xfrm>
              <a:off x="4656" y="3399"/>
              <a:ext cx="2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29" name="Text Box 229"/>
            <p:cNvSpPr txBox="1">
              <a:spLocks noChangeArrowheads="1"/>
            </p:cNvSpPr>
            <p:nvPr/>
          </p:nvSpPr>
          <p:spPr bwMode="auto">
            <a:xfrm>
              <a:off x="4693" y="3831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30" name="Line 230"/>
            <p:cNvSpPr>
              <a:spLocks noChangeShapeType="1"/>
            </p:cNvSpPr>
            <p:nvPr/>
          </p:nvSpPr>
          <p:spPr bwMode="auto">
            <a:xfrm flipV="1">
              <a:off x="4320" y="3848"/>
              <a:ext cx="86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31"/>
            <p:cNvSpPr>
              <a:spLocks noChangeShapeType="1"/>
            </p:cNvSpPr>
            <p:nvPr/>
          </p:nvSpPr>
          <p:spPr bwMode="auto">
            <a:xfrm flipH="1" flipV="1">
              <a:off x="4944" y="2919"/>
              <a:ext cx="33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Text Box 232"/>
            <p:cNvSpPr txBox="1">
              <a:spLocks noChangeArrowheads="1"/>
            </p:cNvSpPr>
            <p:nvPr/>
          </p:nvSpPr>
          <p:spPr bwMode="auto">
            <a:xfrm>
              <a:off x="5088" y="3096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</p:grpSp>
      <p:grpSp>
        <p:nvGrpSpPr>
          <p:cNvPr id="33" name="Group 238"/>
          <p:cNvGrpSpPr>
            <a:grpSpLocks/>
          </p:cNvGrpSpPr>
          <p:nvPr/>
        </p:nvGrpSpPr>
        <p:grpSpPr bwMode="auto">
          <a:xfrm>
            <a:off x="4349783" y="4247745"/>
            <a:ext cx="2008909" cy="2119313"/>
            <a:chOff x="2256" y="2688"/>
            <a:chExt cx="1392" cy="1335"/>
          </a:xfrm>
        </p:grpSpPr>
        <p:sp>
          <p:nvSpPr>
            <p:cNvPr id="34" name="Oval 202"/>
            <p:cNvSpPr>
              <a:spLocks noChangeArrowheads="1"/>
            </p:cNvSpPr>
            <p:nvPr/>
          </p:nvSpPr>
          <p:spPr bwMode="auto">
            <a:xfrm>
              <a:off x="3072" y="2727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35" name="Oval 203"/>
            <p:cNvSpPr>
              <a:spLocks noChangeArrowheads="1"/>
            </p:cNvSpPr>
            <p:nvPr/>
          </p:nvSpPr>
          <p:spPr bwMode="auto">
            <a:xfrm>
              <a:off x="3456" y="3735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36" name="Oval 204"/>
            <p:cNvSpPr>
              <a:spLocks noChangeArrowheads="1"/>
            </p:cNvSpPr>
            <p:nvPr/>
          </p:nvSpPr>
          <p:spPr bwMode="auto">
            <a:xfrm>
              <a:off x="2400" y="3831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37" name="Oval 205"/>
            <p:cNvSpPr>
              <a:spLocks noChangeArrowheads="1"/>
            </p:cNvSpPr>
            <p:nvPr/>
          </p:nvSpPr>
          <p:spPr bwMode="auto">
            <a:xfrm>
              <a:off x="2256" y="2967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38" name="Line 206"/>
            <p:cNvSpPr>
              <a:spLocks noChangeShapeType="1"/>
            </p:cNvSpPr>
            <p:nvPr/>
          </p:nvSpPr>
          <p:spPr bwMode="auto">
            <a:xfrm flipV="1">
              <a:off x="2448" y="2871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209"/>
            <p:cNvSpPr txBox="1">
              <a:spLocks noChangeArrowheads="1"/>
            </p:cNvSpPr>
            <p:nvPr/>
          </p:nvSpPr>
          <p:spPr bwMode="auto">
            <a:xfrm>
              <a:off x="2568" y="2688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0" name="Text Box 210"/>
            <p:cNvSpPr txBox="1">
              <a:spLocks noChangeArrowheads="1"/>
            </p:cNvSpPr>
            <p:nvPr/>
          </p:nvSpPr>
          <p:spPr bwMode="auto">
            <a:xfrm>
              <a:off x="2684" y="3158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41" name="Text Box 212"/>
            <p:cNvSpPr txBox="1">
              <a:spLocks noChangeArrowheads="1"/>
            </p:cNvSpPr>
            <p:nvPr/>
          </p:nvSpPr>
          <p:spPr bwMode="auto">
            <a:xfrm>
              <a:off x="2928" y="3399"/>
              <a:ext cx="2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42" name="Line 215"/>
            <p:cNvSpPr>
              <a:spLocks noChangeShapeType="1"/>
            </p:cNvSpPr>
            <p:nvPr/>
          </p:nvSpPr>
          <p:spPr bwMode="auto">
            <a:xfrm flipH="1" flipV="1">
              <a:off x="3216" y="2919"/>
              <a:ext cx="33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Text Box 216"/>
            <p:cNvSpPr txBox="1">
              <a:spLocks noChangeArrowheads="1"/>
            </p:cNvSpPr>
            <p:nvPr/>
          </p:nvSpPr>
          <p:spPr bwMode="auto">
            <a:xfrm>
              <a:off x="3360" y="3096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  <p:cxnSp>
          <p:nvCxnSpPr>
            <p:cNvPr id="44" name="AutoShape 236"/>
            <p:cNvCxnSpPr>
              <a:cxnSpLocks noChangeShapeType="1"/>
              <a:stCxn id="34" idx="3"/>
              <a:endCxn id="36" idx="7"/>
            </p:cNvCxnSpPr>
            <p:nvPr/>
          </p:nvCxnSpPr>
          <p:spPr bwMode="auto">
            <a:xfrm flipH="1">
              <a:off x="2564" y="2891"/>
              <a:ext cx="536" cy="96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3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Prim’s Greedy Algorithm for MST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Start with tree </a:t>
            </a:r>
            <a:r>
              <a:rPr lang="en-US" b="1" i="1" dirty="0">
                <a:solidFill>
                  <a:srgbClr val="002060"/>
                </a:solidFill>
              </a:rPr>
              <a:t>T</a:t>
            </a:r>
            <a:r>
              <a:rPr lang="en-US" b="1" i="1" baseline="-25000" dirty="0">
                <a:solidFill>
                  <a:srgbClr val="002060"/>
                </a:solidFill>
              </a:rPr>
              <a:t>1</a:t>
            </a:r>
            <a:r>
              <a:rPr lang="en-US" dirty="0"/>
              <a:t> consisting of one (any) vertex and “grow” the tree one vertex at a time to produce MST through </a:t>
            </a:r>
            <a:r>
              <a:rPr lang="en-US" b="1" i="1" dirty="0">
                <a:solidFill>
                  <a:srgbClr val="002060"/>
                </a:solidFill>
              </a:rPr>
              <a:t>a series of expanding </a:t>
            </a:r>
            <a:r>
              <a:rPr lang="en-US" b="1" i="1" dirty="0" err="1">
                <a:solidFill>
                  <a:srgbClr val="002060"/>
                </a:solidFill>
              </a:rPr>
              <a:t>subtrees</a:t>
            </a:r>
            <a:r>
              <a:rPr lang="en-US" b="1" i="1" dirty="0">
                <a:solidFill>
                  <a:srgbClr val="002060"/>
                </a:solidFill>
              </a:rPr>
              <a:t> T1, T2, …, </a:t>
            </a:r>
            <a:r>
              <a:rPr lang="en-US" b="1" i="1" dirty="0" err="1">
                <a:solidFill>
                  <a:srgbClr val="002060"/>
                </a:solidFill>
              </a:rPr>
              <a:t>T</a:t>
            </a:r>
            <a:r>
              <a:rPr lang="en-US" i="1" baseline="-25000" dirty="0" err="1">
                <a:solidFill>
                  <a:schemeClr val="hlink"/>
                </a:solidFill>
              </a:rPr>
              <a:t>n</a:t>
            </a:r>
            <a:endParaRPr lang="en-US" i="1" baseline="-25000" dirty="0">
              <a:solidFill>
                <a:schemeClr val="hlink"/>
              </a:solidFill>
            </a:endParaRPr>
          </a:p>
          <a:p>
            <a:pPr marL="0" indent="0"/>
            <a:endParaRPr lang="en-US" dirty="0">
              <a:solidFill>
                <a:schemeClr val="hlink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On each iteration, </a:t>
            </a:r>
            <a:r>
              <a:rPr lang="en-US" b="1" i="1" dirty="0">
                <a:solidFill>
                  <a:srgbClr val="002060"/>
                </a:solidFill>
              </a:rPr>
              <a:t>construct Ti+1 from Ti  </a:t>
            </a:r>
            <a:r>
              <a:rPr lang="en-US" dirty="0"/>
              <a:t>by adding vertex not in </a:t>
            </a:r>
            <a:r>
              <a:rPr lang="en-US" b="1" i="1" dirty="0">
                <a:solidFill>
                  <a:srgbClr val="002060"/>
                </a:solidFill>
              </a:rPr>
              <a:t>Ti  that is </a:t>
            </a:r>
            <a:r>
              <a:rPr lang="en-US" dirty="0"/>
              <a:t>closest to those already in </a:t>
            </a:r>
            <a:r>
              <a:rPr lang="en-US" b="1" i="1" dirty="0">
                <a:solidFill>
                  <a:srgbClr val="002060"/>
                </a:solidFill>
              </a:rPr>
              <a:t>Ti </a:t>
            </a:r>
            <a:r>
              <a:rPr lang="en-US" dirty="0"/>
              <a:t>(this is a </a:t>
            </a:r>
            <a:r>
              <a:rPr lang="en-US" b="1" i="1" dirty="0">
                <a:solidFill>
                  <a:srgbClr val="C00000"/>
                </a:solidFill>
              </a:rPr>
              <a:t>greedy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step!)</a:t>
            </a:r>
          </a:p>
          <a:p>
            <a:pPr marL="0" indent="0"/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Stop when all vertices of the tree are included.</a:t>
            </a:r>
          </a:p>
          <a:p>
            <a:pPr marL="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5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426128"/>
            <a:ext cx="7056784" cy="53610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Prim’s Greedy Algorithm for MST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133600" y="1266826"/>
            <a:ext cx="8305800" cy="49053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/>
              <a:t> 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828784" y="1436448"/>
            <a:ext cx="2286000" cy="2211388"/>
            <a:chOff x="1440" y="2337"/>
            <a:chExt cx="1440" cy="1393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2304" y="237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688" y="33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b="1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632" y="348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1488" y="261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1680" y="252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1584" y="2808"/>
              <a:ext cx="9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1728" y="2568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 flipV="1">
              <a:off x="2400" y="2568"/>
              <a:ext cx="38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862" y="2337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440" y="303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1902" y="2829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544" y="274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2160" y="3048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160" y="3480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1824" y="3504"/>
              <a:ext cx="86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219888" y="4054808"/>
            <a:ext cx="2286000" cy="2211388"/>
            <a:chOff x="1440" y="2337"/>
            <a:chExt cx="1440" cy="1393"/>
          </a:xfrm>
        </p:grpSpPr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2304" y="237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2688" y="3384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1632" y="3480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1488" y="2616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1680" y="252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 flipV="1">
              <a:off x="1584" y="2808"/>
              <a:ext cx="96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V="1">
              <a:off x="1728" y="2568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 flipH="1" flipV="1">
              <a:off x="2400" y="2568"/>
              <a:ext cx="38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1862" y="2337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1440" y="303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1902" y="283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2544" y="274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2160" y="3048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2160" y="3480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V="1">
              <a:off x="1824" y="3504"/>
              <a:ext cx="864" cy="48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6096000" y="4038600"/>
            <a:ext cx="2286000" cy="2211388"/>
            <a:chOff x="1440" y="2337"/>
            <a:chExt cx="1440" cy="1393"/>
          </a:xfrm>
        </p:grpSpPr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2302" y="2376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8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2688" y="3384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1632" y="3480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1488" y="2616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 flipV="1">
              <a:off x="1680" y="252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 flipH="1" flipV="1">
              <a:off x="1584" y="2808"/>
              <a:ext cx="96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 flipV="1">
              <a:off x="1728" y="2568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 flipH="1" flipV="1">
              <a:off x="2400" y="2568"/>
              <a:ext cx="384" cy="8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1862" y="2337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47" name="Text Box 46"/>
            <p:cNvSpPr txBox="1">
              <a:spLocks noChangeArrowheads="1"/>
            </p:cNvSpPr>
            <p:nvPr/>
          </p:nvSpPr>
          <p:spPr bwMode="auto">
            <a:xfrm>
              <a:off x="1440" y="303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1908" y="283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9" name="Text Box 48"/>
            <p:cNvSpPr txBox="1">
              <a:spLocks noChangeArrowheads="1"/>
            </p:cNvSpPr>
            <p:nvPr/>
          </p:nvSpPr>
          <p:spPr bwMode="auto">
            <a:xfrm>
              <a:off x="2544" y="274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50" name="Text Box 49"/>
            <p:cNvSpPr txBox="1">
              <a:spLocks noChangeArrowheads="1"/>
            </p:cNvSpPr>
            <p:nvPr/>
          </p:nvSpPr>
          <p:spPr bwMode="auto">
            <a:xfrm>
              <a:off x="2160" y="3048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51" name="Text Box 50"/>
            <p:cNvSpPr txBox="1">
              <a:spLocks noChangeArrowheads="1"/>
            </p:cNvSpPr>
            <p:nvPr/>
          </p:nvSpPr>
          <p:spPr bwMode="auto">
            <a:xfrm>
              <a:off x="2160" y="3480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 flipV="1">
              <a:off x="1824" y="3504"/>
              <a:ext cx="864" cy="48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" name="Group 52"/>
          <p:cNvGrpSpPr>
            <a:grpSpLocks/>
          </p:cNvGrpSpPr>
          <p:nvPr/>
        </p:nvGrpSpPr>
        <p:grpSpPr bwMode="auto">
          <a:xfrm>
            <a:off x="4440648" y="1473774"/>
            <a:ext cx="2286000" cy="2211387"/>
            <a:chOff x="1440" y="2337"/>
            <a:chExt cx="1440" cy="1393"/>
          </a:xfrm>
        </p:grpSpPr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2304" y="237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2688" y="33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56" name="Oval 55"/>
            <p:cNvSpPr>
              <a:spLocks noChangeArrowheads="1"/>
            </p:cNvSpPr>
            <p:nvPr/>
          </p:nvSpPr>
          <p:spPr bwMode="auto">
            <a:xfrm>
              <a:off x="1632" y="348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57" name="Oval 56"/>
            <p:cNvSpPr>
              <a:spLocks noChangeArrowheads="1"/>
            </p:cNvSpPr>
            <p:nvPr/>
          </p:nvSpPr>
          <p:spPr bwMode="auto">
            <a:xfrm>
              <a:off x="1488" y="2616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V="1">
              <a:off x="1680" y="252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 flipH="1" flipV="1">
              <a:off x="1584" y="2808"/>
              <a:ext cx="9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V="1">
              <a:off x="1728" y="2568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 flipV="1">
              <a:off x="2400" y="2568"/>
              <a:ext cx="38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Text Box 61"/>
            <p:cNvSpPr txBox="1">
              <a:spLocks noChangeArrowheads="1"/>
            </p:cNvSpPr>
            <p:nvPr/>
          </p:nvSpPr>
          <p:spPr bwMode="auto">
            <a:xfrm>
              <a:off x="1862" y="2337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63" name="Text Box 62"/>
            <p:cNvSpPr txBox="1">
              <a:spLocks noChangeArrowheads="1"/>
            </p:cNvSpPr>
            <p:nvPr/>
          </p:nvSpPr>
          <p:spPr bwMode="auto">
            <a:xfrm>
              <a:off x="1440" y="303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64" name="Text Box 63"/>
            <p:cNvSpPr txBox="1">
              <a:spLocks noChangeArrowheads="1"/>
            </p:cNvSpPr>
            <p:nvPr/>
          </p:nvSpPr>
          <p:spPr bwMode="auto">
            <a:xfrm>
              <a:off x="1914" y="283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65" name="Text Box 64"/>
            <p:cNvSpPr txBox="1">
              <a:spLocks noChangeArrowheads="1"/>
            </p:cNvSpPr>
            <p:nvPr/>
          </p:nvSpPr>
          <p:spPr bwMode="auto">
            <a:xfrm>
              <a:off x="2544" y="274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2160" y="3048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67" name="Text Box 66"/>
            <p:cNvSpPr txBox="1">
              <a:spLocks noChangeArrowheads="1"/>
            </p:cNvSpPr>
            <p:nvPr/>
          </p:nvSpPr>
          <p:spPr bwMode="auto">
            <a:xfrm>
              <a:off x="2160" y="3480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 flipV="1">
              <a:off x="1824" y="3504"/>
              <a:ext cx="86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9" name="Group 68"/>
          <p:cNvGrpSpPr>
            <a:grpSpLocks/>
          </p:cNvGrpSpPr>
          <p:nvPr/>
        </p:nvGrpSpPr>
        <p:grpSpPr bwMode="auto">
          <a:xfrm>
            <a:off x="6966585" y="1475360"/>
            <a:ext cx="2243138" cy="2211388"/>
            <a:chOff x="1440" y="2337"/>
            <a:chExt cx="1413" cy="1393"/>
          </a:xfrm>
        </p:grpSpPr>
        <p:sp>
          <p:nvSpPr>
            <p:cNvPr id="70" name="Oval 69"/>
            <p:cNvSpPr>
              <a:spLocks noChangeArrowheads="1"/>
            </p:cNvSpPr>
            <p:nvPr/>
          </p:nvSpPr>
          <p:spPr bwMode="auto">
            <a:xfrm>
              <a:off x="2304" y="237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71" name="Oval 70"/>
            <p:cNvSpPr>
              <a:spLocks noChangeArrowheads="1"/>
            </p:cNvSpPr>
            <p:nvPr/>
          </p:nvSpPr>
          <p:spPr bwMode="auto">
            <a:xfrm>
              <a:off x="2661" y="33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d</a:t>
              </a:r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1617" y="3480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73" name="Oval 72"/>
            <p:cNvSpPr>
              <a:spLocks noChangeArrowheads="1"/>
            </p:cNvSpPr>
            <p:nvPr/>
          </p:nvSpPr>
          <p:spPr bwMode="auto">
            <a:xfrm>
              <a:off x="1488" y="2616"/>
              <a:ext cx="192" cy="192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None/>
              </a:pPr>
              <a:r>
                <a:rPr lang="en-US" sz="16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74" name="Line 73"/>
            <p:cNvSpPr>
              <a:spLocks noChangeShapeType="1"/>
            </p:cNvSpPr>
            <p:nvPr/>
          </p:nvSpPr>
          <p:spPr bwMode="auto">
            <a:xfrm flipV="1">
              <a:off x="1680" y="2520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74"/>
            <p:cNvSpPr>
              <a:spLocks noChangeShapeType="1"/>
            </p:cNvSpPr>
            <p:nvPr/>
          </p:nvSpPr>
          <p:spPr bwMode="auto">
            <a:xfrm flipH="1" flipV="1">
              <a:off x="1584" y="2808"/>
              <a:ext cx="96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V="1">
              <a:off x="1728" y="2568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76"/>
            <p:cNvSpPr>
              <a:spLocks noChangeShapeType="1"/>
            </p:cNvSpPr>
            <p:nvPr/>
          </p:nvSpPr>
          <p:spPr bwMode="auto">
            <a:xfrm flipH="1" flipV="1">
              <a:off x="2400" y="2568"/>
              <a:ext cx="38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Text Box 77"/>
            <p:cNvSpPr txBox="1">
              <a:spLocks noChangeArrowheads="1"/>
            </p:cNvSpPr>
            <p:nvPr/>
          </p:nvSpPr>
          <p:spPr bwMode="auto">
            <a:xfrm>
              <a:off x="1862" y="2337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79" name="Text Box 78"/>
            <p:cNvSpPr txBox="1">
              <a:spLocks noChangeArrowheads="1"/>
            </p:cNvSpPr>
            <p:nvPr/>
          </p:nvSpPr>
          <p:spPr bwMode="auto">
            <a:xfrm>
              <a:off x="1440" y="303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80" name="Text Box 79"/>
            <p:cNvSpPr txBox="1">
              <a:spLocks noChangeArrowheads="1"/>
            </p:cNvSpPr>
            <p:nvPr/>
          </p:nvSpPr>
          <p:spPr bwMode="auto">
            <a:xfrm>
              <a:off x="1908" y="282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81" name="Text Box 80"/>
            <p:cNvSpPr txBox="1">
              <a:spLocks noChangeArrowheads="1"/>
            </p:cNvSpPr>
            <p:nvPr/>
          </p:nvSpPr>
          <p:spPr bwMode="auto">
            <a:xfrm>
              <a:off x="2544" y="2745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82" name="Text Box 81"/>
            <p:cNvSpPr txBox="1">
              <a:spLocks noChangeArrowheads="1"/>
            </p:cNvSpPr>
            <p:nvPr/>
          </p:nvSpPr>
          <p:spPr bwMode="auto">
            <a:xfrm>
              <a:off x="2160" y="3048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800">
                <a:solidFill>
                  <a:schemeClr val="bg2"/>
                </a:solidFill>
              </a:endParaRPr>
            </a:p>
          </p:txBody>
        </p:sp>
        <p:sp>
          <p:nvSpPr>
            <p:cNvPr id="83" name="Text Box 82"/>
            <p:cNvSpPr txBox="1">
              <a:spLocks noChangeArrowheads="1"/>
            </p:cNvSpPr>
            <p:nvPr/>
          </p:nvSpPr>
          <p:spPr bwMode="auto">
            <a:xfrm>
              <a:off x="2160" y="3480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None/>
              </a:pPr>
              <a:r>
                <a:rPr lang="en-US" sz="2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84" name="Line 83"/>
            <p:cNvSpPr>
              <a:spLocks noChangeShapeType="1"/>
            </p:cNvSpPr>
            <p:nvPr/>
          </p:nvSpPr>
          <p:spPr bwMode="auto">
            <a:xfrm flipV="1">
              <a:off x="1824" y="3504"/>
              <a:ext cx="86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85" name="Picture 8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6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Remarks on Prim’s Algorithm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90000"/>
              </a:lnSpc>
              <a:buSzPct val="100000"/>
              <a:buFont typeface="Arial" pitchFamily="34" charset="0"/>
              <a:buChar char="•"/>
            </a:pPr>
            <a:r>
              <a:rPr lang="en-US" dirty="0"/>
              <a:t>There is a proof by induction that this construction actually yields an MST (CLRS, Ch. 23.1). This proof relies on the </a:t>
            </a:r>
            <a:r>
              <a:rPr lang="en-US" b="1" i="1" dirty="0">
                <a:solidFill>
                  <a:srgbClr val="C00000"/>
                </a:solidFill>
              </a:rPr>
              <a:t>Cut Theorem</a:t>
            </a:r>
            <a:r>
              <a:rPr lang="en-US" dirty="0"/>
              <a:t>.</a:t>
            </a:r>
          </a:p>
          <a:p>
            <a:pPr marL="457200" indent="-457200">
              <a:lnSpc>
                <a:spcPct val="90000"/>
              </a:lnSpc>
              <a:buSzPct val="100000"/>
              <a:buFont typeface="Arial" pitchFamily="34" charset="0"/>
              <a:buChar char="•"/>
            </a:pPr>
            <a:r>
              <a:rPr lang="en-US" dirty="0"/>
              <a:t>Needs a </a:t>
            </a:r>
            <a:r>
              <a:rPr lang="en-US" b="1" i="1" dirty="0">
                <a:solidFill>
                  <a:srgbClr val="C00000"/>
                </a:solidFill>
              </a:rPr>
              <a:t>priority queue</a:t>
            </a:r>
            <a:r>
              <a:rPr lang="en-US" dirty="0"/>
              <a:t> for locating closest fringe vertex. </a:t>
            </a:r>
          </a:p>
          <a:p>
            <a:pPr marL="457200" indent="-457200">
              <a:lnSpc>
                <a:spcPct val="90000"/>
              </a:lnSpc>
              <a:buSzPct val="100000"/>
              <a:buFont typeface="Arial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Efficiency</a:t>
            </a:r>
          </a:p>
          <a:p>
            <a:pPr lvl="1">
              <a:lnSpc>
                <a:spcPct val="90000"/>
              </a:lnSpc>
              <a:buClr>
                <a:srgbClr val="002060"/>
              </a:buClr>
            </a:pPr>
            <a:r>
              <a:rPr lang="en-US" b="1" i="1" dirty="0">
                <a:solidFill>
                  <a:srgbClr val="C00000"/>
                </a:solidFill>
              </a:rPr>
              <a:t>O(n</a:t>
            </a:r>
            <a:r>
              <a:rPr lang="en-US" b="1" i="1" baseline="30000" dirty="0">
                <a:solidFill>
                  <a:srgbClr val="C00000"/>
                </a:solidFill>
              </a:rPr>
              <a:t>2</a:t>
            </a:r>
            <a:r>
              <a:rPr lang="en-US" b="1" i="1" dirty="0">
                <a:solidFill>
                  <a:srgbClr val="C00000"/>
                </a:solidFill>
              </a:rPr>
              <a:t>)</a:t>
            </a:r>
            <a:r>
              <a:rPr lang="en-US" i="1" dirty="0"/>
              <a:t> </a:t>
            </a:r>
            <a:r>
              <a:rPr lang="en-US" dirty="0"/>
              <a:t>for weight matrix representation of graph and array implementation of priority queue. </a:t>
            </a:r>
          </a:p>
          <a:p>
            <a:pPr lvl="1">
              <a:lnSpc>
                <a:spcPct val="90000"/>
              </a:lnSpc>
              <a:buClr>
                <a:srgbClr val="002060"/>
              </a:buClr>
            </a:pPr>
            <a:r>
              <a:rPr lang="en-US" b="1" i="1" dirty="0">
                <a:solidFill>
                  <a:srgbClr val="C00000"/>
                </a:solidFill>
              </a:rPr>
              <a:t>O</a:t>
            </a:r>
            <a:r>
              <a:rPr lang="en-US" b="1" i="1" dirty="0">
                <a:solidFill>
                  <a:srgbClr val="C00000"/>
                </a:solidFill>
                <a:cs typeface="Times New Roman" pitchFamily="18" charset="0"/>
              </a:rPr>
              <a:t>(</a:t>
            </a:r>
            <a:r>
              <a:rPr lang="en-US" b="1" i="1" dirty="0">
                <a:solidFill>
                  <a:srgbClr val="C00000"/>
                </a:solidFill>
              </a:rPr>
              <a:t>m log</a:t>
            </a:r>
            <a:r>
              <a:rPr lang="en-US" b="1" i="1" baseline="-25000" dirty="0">
                <a:solidFill>
                  <a:srgbClr val="C00000"/>
                </a:solidFill>
              </a:rPr>
              <a:t>2</a:t>
            </a:r>
            <a:r>
              <a:rPr lang="en-US" b="1" i="1" dirty="0">
                <a:solidFill>
                  <a:srgbClr val="C00000"/>
                </a:solidFill>
              </a:rPr>
              <a:t> n) </a:t>
            </a:r>
            <a:r>
              <a:rPr lang="en-US" dirty="0"/>
              <a:t>for adjacency lists representation of graph with </a:t>
            </a:r>
            <a:r>
              <a:rPr lang="en-US" b="1" i="1" dirty="0">
                <a:solidFill>
                  <a:srgbClr val="C00000"/>
                </a:solidFill>
              </a:rPr>
              <a:t>n</a:t>
            </a:r>
            <a:r>
              <a:rPr lang="en-US" i="1" dirty="0"/>
              <a:t> </a:t>
            </a:r>
            <a:r>
              <a:rPr lang="en-US" dirty="0"/>
              <a:t>vertices and </a:t>
            </a:r>
            <a:r>
              <a:rPr lang="en-US" b="1" i="1" dirty="0">
                <a:solidFill>
                  <a:srgbClr val="C00000"/>
                </a:solidFill>
              </a:rPr>
              <a:t>m</a:t>
            </a:r>
            <a:r>
              <a:rPr lang="en-US" i="1" dirty="0"/>
              <a:t> </a:t>
            </a:r>
            <a:r>
              <a:rPr lang="en-US" dirty="0"/>
              <a:t>edges and Min-Heap implementation of the priority queue.</a:t>
            </a:r>
            <a:endParaRPr lang="en-US" i="1" dirty="0"/>
          </a:p>
          <a:p>
            <a:pPr marL="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5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865080" y="260752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US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Cut</a:t>
            </a:r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 Theorem for MSTs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608288" y="807093"/>
            <a:ext cx="7584056" cy="305395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None/>
              <a:defRPr/>
            </a:pPr>
            <a:r>
              <a:rPr lang="en-US" dirty="0">
                <a:solidFill>
                  <a:srgbClr val="FF6600"/>
                </a:solidFill>
              </a:rPr>
              <a:t>Claim</a:t>
            </a:r>
            <a:r>
              <a:rPr lang="en-US" dirty="0"/>
              <a:t>: Let </a:t>
            </a:r>
            <a:r>
              <a:rPr lang="en-US" i="1" dirty="0"/>
              <a:t>G = (V,E)</a:t>
            </a:r>
            <a:r>
              <a:rPr lang="en-US" dirty="0"/>
              <a:t> be a weighted graph and </a:t>
            </a:r>
            <a:r>
              <a:rPr lang="en-US" i="1" dirty="0"/>
              <a:t>(X,Y)</a:t>
            </a:r>
            <a:r>
              <a:rPr lang="en-US" dirty="0"/>
              <a:t> be a partition of V (called a </a:t>
            </a:r>
            <a:r>
              <a:rPr lang="en-US" i="1" dirty="0">
                <a:solidFill>
                  <a:srgbClr val="FF6600"/>
                </a:solidFill>
              </a:rPr>
              <a:t>cut</a:t>
            </a:r>
            <a:r>
              <a:rPr lang="en-US" dirty="0"/>
              <a:t>). Suppose that </a:t>
            </a:r>
            <a:r>
              <a:rPr lang="en-US" i="1" dirty="0"/>
              <a:t>e = (</a:t>
            </a:r>
            <a:r>
              <a:rPr lang="en-US" i="1" dirty="0" err="1"/>
              <a:t>x,y</a:t>
            </a:r>
            <a:r>
              <a:rPr lang="en-US" i="1" dirty="0"/>
              <a:t>)</a:t>
            </a:r>
            <a:r>
              <a:rPr lang="en-US" dirty="0"/>
              <a:t> is an edge of </a:t>
            </a:r>
            <a:r>
              <a:rPr lang="en-US" i="1" dirty="0"/>
              <a:t>E</a:t>
            </a:r>
            <a:r>
              <a:rPr lang="en-US" dirty="0"/>
              <a:t> across the cut, where </a:t>
            </a:r>
            <a:r>
              <a:rPr lang="en-US" i="1" dirty="0"/>
              <a:t>x</a:t>
            </a:r>
            <a:r>
              <a:rPr lang="en-US" dirty="0"/>
              <a:t> is in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is in </a:t>
            </a:r>
            <a:r>
              <a:rPr lang="en-US" i="1" dirty="0"/>
              <a:t>Y</a:t>
            </a:r>
            <a:r>
              <a:rPr lang="en-US" dirty="0"/>
              <a:t>, and </a:t>
            </a:r>
            <a:r>
              <a:rPr lang="en-US" i="1" dirty="0"/>
              <a:t>e</a:t>
            </a:r>
            <a:r>
              <a:rPr lang="en-US" dirty="0"/>
              <a:t> has the minimum weight among all such crossing edges (called a </a:t>
            </a:r>
            <a:r>
              <a:rPr lang="en-US" dirty="0">
                <a:solidFill>
                  <a:srgbClr val="FF6600"/>
                </a:solidFill>
              </a:rPr>
              <a:t>light</a:t>
            </a:r>
            <a:r>
              <a:rPr lang="en-US" dirty="0"/>
              <a:t> edge). Then there is an MST containing </a:t>
            </a:r>
            <a:r>
              <a:rPr lang="en-US" i="1" dirty="0"/>
              <a:t>e</a:t>
            </a:r>
            <a:r>
              <a:rPr lang="en-US" dirty="0"/>
              <a:t>.</a:t>
            </a:r>
          </a:p>
          <a:p>
            <a:pPr marL="457200" indent="-457200">
              <a:buNone/>
              <a:defRPr/>
            </a:pPr>
            <a:endParaRPr lang="en-US" dirty="0"/>
          </a:p>
          <a:p>
            <a:pPr marL="457200" indent="-457200">
              <a:defRPr/>
            </a:pPr>
            <a:endParaRPr lang="en-US" dirty="0"/>
          </a:p>
          <a:p>
            <a:pPr marL="457200" indent="-457200">
              <a:buNone/>
              <a:defRPr/>
            </a:pPr>
            <a:endParaRPr lang="en-US" dirty="0"/>
          </a:p>
          <a:p>
            <a:pPr marL="457200" indent="-457200">
              <a:buNone/>
              <a:defRPr/>
            </a:pPr>
            <a:endParaRPr lang="en-US" dirty="0"/>
          </a:p>
          <a:p>
            <a:pPr marL="457200" indent="-457200">
              <a:buNone/>
              <a:defRPr/>
            </a:pPr>
            <a:endParaRPr lang="en-US" dirty="0"/>
          </a:p>
          <a:p>
            <a:pPr marL="457200" indent="-457200">
              <a:buNone/>
              <a:defRPr/>
            </a:pPr>
            <a:endParaRPr lang="en-US" dirty="0"/>
          </a:p>
          <a:p>
            <a:pPr marL="457200" indent="-457200">
              <a:defRPr/>
            </a:pPr>
            <a:endParaRPr lang="en-US" dirty="0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4800600" y="49740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6705600" y="61170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3733800" y="58884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657600" y="46692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181600" y="3740609"/>
            <a:ext cx="3048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239000" y="47454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r>
              <a:rPr lang="en-US" sz="1600" dirty="0">
                <a:solidFill>
                  <a:srgbClr val="002060"/>
                </a:solidFill>
              </a:rPr>
              <a:t>y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5257800" y="62694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6096000" y="52788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r>
              <a:rPr lang="en-US" sz="1600" dirty="0">
                <a:solidFill>
                  <a:srgbClr val="002060"/>
                </a:solidFill>
              </a:rPr>
              <a:t>x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5486400" y="39834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6781800" y="39072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7924800" y="565989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4114800" y="3831096"/>
            <a:ext cx="4508500" cy="2819400"/>
          </a:xfrm>
          <a:custGeom>
            <a:avLst/>
            <a:gdLst>
              <a:gd name="T0" fmla="*/ 0 w 2840"/>
              <a:gd name="T1" fmla="*/ 0 h 1776"/>
              <a:gd name="T2" fmla="*/ 1295400 w 2840"/>
              <a:gd name="T3" fmla="*/ 838200 h 1776"/>
              <a:gd name="T4" fmla="*/ 2362200 w 2840"/>
              <a:gd name="T5" fmla="*/ 838200 h 1776"/>
              <a:gd name="T6" fmla="*/ 2895600 w 2840"/>
              <a:gd name="T7" fmla="*/ 1295400 h 1776"/>
              <a:gd name="T8" fmla="*/ 3200400 w 2840"/>
              <a:gd name="T9" fmla="*/ 1828800 h 1776"/>
              <a:gd name="T10" fmla="*/ 3429000 w 2840"/>
              <a:gd name="T11" fmla="*/ 2438400 h 1776"/>
              <a:gd name="T12" fmla="*/ 4343400 w 2840"/>
              <a:gd name="T13" fmla="*/ 2743200 h 1776"/>
              <a:gd name="T14" fmla="*/ 4419600 w 2840"/>
              <a:gd name="T15" fmla="*/ 2819400 h 177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840" h="1776">
                <a:moveTo>
                  <a:pt x="0" y="0"/>
                </a:moveTo>
                <a:cubicBezTo>
                  <a:pt x="284" y="220"/>
                  <a:pt x="568" y="440"/>
                  <a:pt x="816" y="528"/>
                </a:cubicBezTo>
                <a:cubicBezTo>
                  <a:pt x="1064" y="616"/>
                  <a:pt x="1320" y="480"/>
                  <a:pt x="1488" y="528"/>
                </a:cubicBezTo>
                <a:cubicBezTo>
                  <a:pt x="1656" y="576"/>
                  <a:pt x="1736" y="712"/>
                  <a:pt x="1824" y="816"/>
                </a:cubicBezTo>
                <a:cubicBezTo>
                  <a:pt x="1912" y="920"/>
                  <a:pt x="1960" y="1032"/>
                  <a:pt x="2016" y="1152"/>
                </a:cubicBezTo>
                <a:cubicBezTo>
                  <a:pt x="2072" y="1272"/>
                  <a:pt x="2040" y="1440"/>
                  <a:pt x="2160" y="1536"/>
                </a:cubicBezTo>
                <a:cubicBezTo>
                  <a:pt x="2280" y="1632"/>
                  <a:pt x="2632" y="1688"/>
                  <a:pt x="2736" y="1728"/>
                </a:cubicBezTo>
                <a:cubicBezTo>
                  <a:pt x="2840" y="1768"/>
                  <a:pt x="2776" y="1768"/>
                  <a:pt x="2784" y="1776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" name="AutoShape 19"/>
          <p:cNvCxnSpPr>
            <a:cxnSpLocks noChangeShapeType="1"/>
            <a:stCxn id="16" idx="1"/>
            <a:endCxn id="16" idx="1"/>
          </p:cNvCxnSpPr>
          <p:nvPr/>
        </p:nvCxnSpPr>
        <p:spPr bwMode="auto">
          <a:xfrm>
            <a:off x="5410200" y="4669296"/>
            <a:ext cx="0" cy="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22"/>
          <p:cNvCxnSpPr>
            <a:cxnSpLocks noChangeShapeType="1"/>
            <a:stCxn id="16" idx="1"/>
            <a:endCxn id="16" idx="1"/>
          </p:cNvCxnSpPr>
          <p:nvPr/>
        </p:nvCxnSpPr>
        <p:spPr bwMode="auto">
          <a:xfrm>
            <a:off x="5410200" y="4669296"/>
            <a:ext cx="0" cy="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27"/>
          <p:cNvCxnSpPr>
            <a:cxnSpLocks noChangeShapeType="1"/>
            <a:stCxn id="13" idx="3"/>
            <a:endCxn id="5" idx="7"/>
          </p:cNvCxnSpPr>
          <p:nvPr/>
        </p:nvCxnSpPr>
        <p:spPr bwMode="auto">
          <a:xfrm flipH="1">
            <a:off x="5060950" y="4243846"/>
            <a:ext cx="469900" cy="7747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28"/>
          <p:cNvCxnSpPr>
            <a:cxnSpLocks noChangeShapeType="1"/>
            <a:stCxn id="13" idx="4"/>
            <a:endCxn id="12" idx="1"/>
          </p:cNvCxnSpPr>
          <p:nvPr/>
        </p:nvCxnSpPr>
        <p:spPr bwMode="auto">
          <a:xfrm>
            <a:off x="5638800" y="4288296"/>
            <a:ext cx="501650" cy="10350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29"/>
          <p:cNvCxnSpPr>
            <a:cxnSpLocks noChangeShapeType="1"/>
            <a:stCxn id="14" idx="3"/>
            <a:endCxn id="12" idx="0"/>
          </p:cNvCxnSpPr>
          <p:nvPr/>
        </p:nvCxnSpPr>
        <p:spPr bwMode="auto">
          <a:xfrm flipH="1">
            <a:off x="6248400" y="4167646"/>
            <a:ext cx="577850" cy="11112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30"/>
          <p:cNvCxnSpPr>
            <a:cxnSpLocks noChangeShapeType="1"/>
            <a:stCxn id="10" idx="3"/>
            <a:endCxn id="12" idx="6"/>
          </p:cNvCxnSpPr>
          <p:nvPr/>
        </p:nvCxnSpPr>
        <p:spPr bwMode="auto">
          <a:xfrm flipH="1">
            <a:off x="6400800" y="5005846"/>
            <a:ext cx="882650" cy="425450"/>
          </a:xfrm>
          <a:prstGeom prst="straightConnector1">
            <a:avLst/>
          </a:prstGeom>
          <a:noFill/>
          <a:ln w="12700">
            <a:solidFill>
              <a:srgbClr val="00CC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31"/>
          <p:cNvCxnSpPr>
            <a:cxnSpLocks noChangeShapeType="1"/>
            <a:stCxn id="10" idx="4"/>
            <a:endCxn id="6" idx="7"/>
          </p:cNvCxnSpPr>
          <p:nvPr/>
        </p:nvCxnSpPr>
        <p:spPr bwMode="auto">
          <a:xfrm flipH="1">
            <a:off x="6965950" y="5050296"/>
            <a:ext cx="425450" cy="11112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32"/>
          <p:cNvCxnSpPr>
            <a:cxnSpLocks noChangeShapeType="1"/>
            <a:stCxn id="15" idx="3"/>
            <a:endCxn id="6" idx="7"/>
          </p:cNvCxnSpPr>
          <p:nvPr/>
        </p:nvCxnSpPr>
        <p:spPr bwMode="auto">
          <a:xfrm flipH="1">
            <a:off x="6965950" y="5920246"/>
            <a:ext cx="100330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33"/>
          <p:cNvCxnSpPr>
            <a:cxnSpLocks noChangeShapeType="1"/>
            <a:stCxn id="8" idx="7"/>
            <a:endCxn id="13" idx="2"/>
          </p:cNvCxnSpPr>
          <p:nvPr/>
        </p:nvCxnSpPr>
        <p:spPr bwMode="auto">
          <a:xfrm flipV="1">
            <a:off x="3917950" y="4135896"/>
            <a:ext cx="156845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34"/>
          <p:cNvCxnSpPr>
            <a:cxnSpLocks noChangeShapeType="1"/>
            <a:stCxn id="5" idx="3"/>
            <a:endCxn id="7" idx="7"/>
          </p:cNvCxnSpPr>
          <p:nvPr/>
        </p:nvCxnSpPr>
        <p:spPr bwMode="auto">
          <a:xfrm flipH="1">
            <a:off x="3994150" y="5234446"/>
            <a:ext cx="850900" cy="698500"/>
          </a:xfrm>
          <a:prstGeom prst="straightConnector1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35"/>
          <p:cNvCxnSpPr>
            <a:cxnSpLocks noChangeShapeType="1"/>
            <a:stCxn id="5" idx="4"/>
            <a:endCxn id="11" idx="1"/>
          </p:cNvCxnSpPr>
          <p:nvPr/>
        </p:nvCxnSpPr>
        <p:spPr bwMode="auto">
          <a:xfrm>
            <a:off x="4953000" y="5278896"/>
            <a:ext cx="349250" cy="1035050"/>
          </a:xfrm>
          <a:prstGeom prst="straightConnector1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36"/>
          <p:cNvCxnSpPr>
            <a:cxnSpLocks noChangeShapeType="1"/>
            <a:stCxn id="14" idx="5"/>
            <a:endCxn id="10" idx="0"/>
          </p:cNvCxnSpPr>
          <p:nvPr/>
        </p:nvCxnSpPr>
        <p:spPr bwMode="auto">
          <a:xfrm>
            <a:off x="7042150" y="4167646"/>
            <a:ext cx="349250" cy="577850"/>
          </a:xfrm>
          <a:prstGeom prst="straightConnector1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37"/>
          <p:cNvCxnSpPr>
            <a:cxnSpLocks noChangeShapeType="1"/>
            <a:stCxn id="12" idx="3"/>
            <a:endCxn id="11" idx="7"/>
          </p:cNvCxnSpPr>
          <p:nvPr/>
        </p:nvCxnSpPr>
        <p:spPr bwMode="auto">
          <a:xfrm flipH="1">
            <a:off x="5518150" y="5539246"/>
            <a:ext cx="622300" cy="774700"/>
          </a:xfrm>
          <a:prstGeom prst="straightConnector1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Box 39"/>
          <p:cNvSpPr txBox="1">
            <a:spLocks noChangeArrowheads="1"/>
          </p:cNvSpPr>
          <p:nvPr/>
        </p:nvSpPr>
        <p:spPr bwMode="auto">
          <a:xfrm>
            <a:off x="2514600" y="5583696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sz="3200" i="1" dirty="0">
                <a:solidFill>
                  <a:srgbClr val="002060"/>
                </a:solidFill>
              </a:rPr>
              <a:t>X</a:t>
            </a:r>
          </a:p>
        </p:txBody>
      </p:sp>
      <p:sp>
        <p:nvSpPr>
          <p:cNvPr id="31" name="Text Box 40"/>
          <p:cNvSpPr txBox="1">
            <a:spLocks noChangeArrowheads="1"/>
          </p:cNvSpPr>
          <p:nvPr/>
        </p:nvSpPr>
        <p:spPr bwMode="auto">
          <a:xfrm>
            <a:off x="7620000" y="4059696"/>
            <a:ext cx="106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sz="3200" i="1" dirty="0">
                <a:solidFill>
                  <a:srgbClr val="002060"/>
                </a:solidFill>
              </a:rPr>
              <a:t>Y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49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221840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Coding Problem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764704"/>
            <a:ext cx="7206952" cy="576064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Monotype Sorts" pitchFamily="2" charset="2"/>
              <a:buNone/>
              <a:defRPr/>
            </a:pPr>
            <a:r>
              <a:rPr lang="en-US" sz="2000" b="1" i="1" dirty="0">
                <a:solidFill>
                  <a:srgbClr val="002060"/>
                </a:solidFill>
              </a:rPr>
              <a:t>Coding</a:t>
            </a:r>
            <a:r>
              <a:rPr lang="en-US" sz="2000" b="1" dirty="0">
                <a:solidFill>
                  <a:srgbClr val="002060"/>
                </a:solidFill>
              </a:rPr>
              <a:t>: </a:t>
            </a:r>
            <a:r>
              <a:rPr lang="en-US" sz="2000" dirty="0"/>
              <a:t>the assignment of bit strings to alphabet characters.</a:t>
            </a:r>
            <a:endParaRPr lang="en-US" sz="2000" i="1" u="sng" dirty="0"/>
          </a:p>
          <a:p>
            <a:pPr>
              <a:buNone/>
              <a:defRPr/>
            </a:pPr>
            <a:r>
              <a:rPr lang="en-US" sz="2000" dirty="0"/>
              <a:t>E.g.  We can code {</a:t>
            </a:r>
            <a:r>
              <a:rPr lang="en-US" sz="2000" dirty="0" err="1"/>
              <a:t>a,b,c,d</a:t>
            </a:r>
            <a:r>
              <a:rPr lang="en-US" sz="2000" dirty="0"/>
              <a:t>} as </a:t>
            </a:r>
            <a:r>
              <a:rPr lang="en-US" sz="2000" dirty="0">
                <a:solidFill>
                  <a:srgbClr val="00B050"/>
                </a:solidFill>
              </a:rPr>
              <a:t>{00,01,10,11}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FF6600"/>
                </a:solidFill>
              </a:rPr>
              <a:t>{0,10,110,111}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7030A0"/>
                </a:solidFill>
              </a:rPr>
              <a:t>{0,01,10,101}.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000" b="1" i="1" dirty="0" err="1">
                <a:solidFill>
                  <a:srgbClr val="002060"/>
                </a:solidFill>
              </a:rPr>
              <a:t>Codewords</a:t>
            </a:r>
            <a:r>
              <a:rPr lang="en-US" sz="2000" b="1" i="1" dirty="0">
                <a:solidFill>
                  <a:srgbClr val="002060"/>
                </a:solidFill>
              </a:rPr>
              <a:t>:</a:t>
            </a:r>
            <a:r>
              <a:rPr lang="en-US" sz="2000" dirty="0"/>
              <a:t> bit strings assigned for characters of alphabet</a:t>
            </a:r>
          </a:p>
          <a:p>
            <a:pPr>
              <a:buFont typeface="Monotype Sorts" pitchFamily="2" charset="2"/>
              <a:buNone/>
              <a:defRPr/>
            </a:pPr>
            <a:endParaRPr lang="en-US" sz="800" dirty="0"/>
          </a:p>
          <a:p>
            <a:pPr>
              <a:buFont typeface="Monotype Sorts" pitchFamily="2" charset="2"/>
              <a:buNone/>
              <a:defRPr/>
            </a:pPr>
            <a:r>
              <a:rPr lang="en-US" sz="2000" b="1" i="1" dirty="0">
                <a:solidFill>
                  <a:srgbClr val="002060"/>
                </a:solidFill>
              </a:rPr>
              <a:t>Two types of codes</a:t>
            </a:r>
          </a:p>
          <a:p>
            <a:pPr>
              <a:defRPr/>
            </a:pPr>
            <a:r>
              <a:rPr lang="en-US" sz="2000" i="1" u="sng" dirty="0"/>
              <a:t>fixed-length encoding</a:t>
            </a:r>
            <a:r>
              <a:rPr lang="en-US" sz="2000" dirty="0"/>
              <a:t> (e.g., ASCII)</a:t>
            </a:r>
          </a:p>
          <a:p>
            <a:pPr>
              <a:defRPr/>
            </a:pPr>
            <a:r>
              <a:rPr lang="en-US" sz="2000" i="1" u="sng" dirty="0"/>
              <a:t>variable-length encoding</a:t>
            </a:r>
            <a:r>
              <a:rPr lang="en-US" sz="2000" dirty="0"/>
              <a:t> (</a:t>
            </a:r>
            <a:r>
              <a:rPr lang="en-US" sz="2000" dirty="0" err="1"/>
              <a:t>e,g</a:t>
            </a:r>
            <a:r>
              <a:rPr lang="en-US" sz="2000" dirty="0"/>
              <a:t>., Morse code)</a:t>
            </a:r>
          </a:p>
          <a:p>
            <a:pPr marL="0" indent="0">
              <a:buNone/>
              <a:defRPr/>
            </a:pPr>
            <a:endParaRPr lang="en-US" sz="800" dirty="0"/>
          </a:p>
          <a:p>
            <a:pPr>
              <a:buFont typeface="Monotype Sorts" pitchFamily="2" charset="2"/>
              <a:buNone/>
              <a:defRPr/>
            </a:pPr>
            <a:r>
              <a:rPr lang="en-US" sz="2000" b="1" i="1" dirty="0">
                <a:solidFill>
                  <a:srgbClr val="002060"/>
                </a:solidFill>
              </a:rPr>
              <a:t>Prefix-free codes (or prefix-codes)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dirty="0"/>
              <a:t>- no </a:t>
            </a:r>
            <a:r>
              <a:rPr lang="en-US" sz="2000" dirty="0" err="1"/>
              <a:t>codeword</a:t>
            </a:r>
            <a:r>
              <a:rPr lang="en-US" sz="2000" dirty="0"/>
              <a:t> is a prefix of another </a:t>
            </a:r>
            <a:r>
              <a:rPr lang="en-US" sz="2000" dirty="0" err="1"/>
              <a:t>codeword</a:t>
            </a:r>
            <a:r>
              <a:rPr lang="en-US" sz="2000" dirty="0"/>
              <a:t> since otherwise the receiver will not be able to decode the message. For above we can use the following </a:t>
            </a:r>
            <a:r>
              <a:rPr lang="en-US" sz="2000" dirty="0">
                <a:solidFill>
                  <a:srgbClr val="FF6600"/>
                </a:solidFill>
              </a:rPr>
              <a:t>{0,10,110,111}</a:t>
            </a:r>
            <a:r>
              <a:rPr lang="en-US" sz="2000" dirty="0"/>
              <a:t>.</a:t>
            </a:r>
          </a:p>
          <a:p>
            <a:pPr>
              <a:lnSpc>
                <a:spcPct val="70000"/>
              </a:lnSpc>
              <a:buFont typeface="Monotype Sorts" pitchFamily="2" charset="2"/>
              <a:buNone/>
              <a:defRPr/>
            </a:pPr>
            <a:endParaRPr lang="en-US" sz="2000" b="1" i="1" dirty="0">
              <a:solidFill>
                <a:srgbClr val="002060"/>
              </a:solidFill>
            </a:endParaRPr>
          </a:p>
          <a:p>
            <a:pPr>
              <a:lnSpc>
                <a:spcPct val="70000"/>
              </a:lnSpc>
              <a:buFont typeface="Monotype Sorts" pitchFamily="2" charset="2"/>
              <a:buNone/>
              <a:defRPr/>
            </a:pPr>
            <a:r>
              <a:rPr lang="en-US" sz="2000" b="1" i="1" dirty="0">
                <a:solidFill>
                  <a:srgbClr val="002060"/>
                </a:solidFill>
              </a:rPr>
              <a:t>Problem: </a:t>
            </a:r>
            <a:r>
              <a:rPr lang="en-US" sz="2000" dirty="0"/>
              <a:t>If frequencies of the character occurrences are</a:t>
            </a:r>
          </a:p>
          <a:p>
            <a:pPr>
              <a:lnSpc>
                <a:spcPct val="70000"/>
              </a:lnSpc>
              <a:buFont typeface="Monotype Sorts" pitchFamily="2" charset="2"/>
              <a:buNone/>
              <a:defRPr/>
            </a:pPr>
            <a:r>
              <a:rPr lang="en-US" sz="2000" dirty="0"/>
              <a:t>                known, what is the best binary prefix-free code?</a:t>
            </a:r>
          </a:p>
          <a:p>
            <a:pPr>
              <a:lnSpc>
                <a:spcPct val="70000"/>
              </a:lnSpc>
              <a:buFont typeface="Monotype Sorts" pitchFamily="2" charset="2"/>
              <a:buNone/>
              <a:defRPr/>
            </a:pPr>
            <a:endParaRPr lang="en-US" sz="800" dirty="0"/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srgbClr val="002060"/>
                </a:solidFill>
              </a:rPr>
              <a:t>The one with the shortest average code length. The average code length represents on the average how many bits are required to transmit or store a character. </a:t>
            </a:r>
          </a:p>
          <a:p>
            <a:pPr>
              <a:lnSpc>
                <a:spcPct val="70000"/>
              </a:lnSpc>
              <a:buFont typeface="Monotype Sorts" pitchFamily="2" charset="2"/>
              <a:buNone/>
              <a:defRPr/>
            </a:pPr>
            <a:endParaRPr lang="en-US" sz="2000" dirty="0"/>
          </a:p>
          <a:p>
            <a:pPr>
              <a:buFont typeface="Monotype Sorts" pitchFamily="2" charset="2"/>
              <a:buNone/>
              <a:defRPr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7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Building a Huffman Code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0" lvl="1" indent="0">
              <a:buNone/>
            </a:pPr>
            <a:r>
              <a:rPr lang="en-US" dirty="0"/>
              <a:t>Building a Huffman Code to solve the coding problem can be done using a very simple polynomial-time greedy algorithm.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An example is here </a:t>
            </a:r>
            <a:r>
              <a:rPr lang="en-US" dirty="0">
                <a:hlinkClick r:id="rId2" action="ppaction://hlinkpres?slideindex=1&amp;slidetitle="/>
              </a:rPr>
              <a:t>HuffmanSample.ppt</a:t>
            </a:r>
            <a:endParaRPr lang="en-US" dirty="0"/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Try at home and then we </a:t>
            </a:r>
            <a:r>
              <a:rPr lang="en-US"/>
              <a:t>can discuss.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4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Dynamic Programming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19536" y="1268760"/>
            <a:ext cx="7344816" cy="388843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</a:pPr>
            <a:r>
              <a:rPr lang="en-US" sz="2400" dirty="0"/>
              <a:t>Dynamic Programming  is  a general algorithm design technique for solving problems defined by or formulated as recurrences with overlapping sub-instances.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</a:pPr>
            <a:endParaRPr lang="en-US" sz="2400" dirty="0"/>
          </a:p>
          <a:p>
            <a:pPr marL="0" indent="0">
              <a:lnSpc>
                <a:spcPct val="90000"/>
              </a:lnSpc>
            </a:pPr>
            <a:r>
              <a:rPr lang="en-US" sz="2400" dirty="0"/>
              <a:t>Invented by American mathematician Richard Bellman in the  1950s to solve optimization problems.</a:t>
            </a:r>
          </a:p>
          <a:p>
            <a:pPr marL="0" indent="0">
              <a:lnSpc>
                <a:spcPct val="90000"/>
              </a:lnSpc>
            </a:pPr>
            <a:endParaRPr lang="en-US" sz="2400" dirty="0"/>
          </a:p>
          <a:p>
            <a:pPr marL="0" indent="0">
              <a:lnSpc>
                <a:spcPct val="90000"/>
              </a:lnSpc>
            </a:pPr>
            <a:r>
              <a:rPr lang="en-US" sz="2400" dirty="0"/>
              <a:t>“</a:t>
            </a:r>
            <a:r>
              <a:rPr lang="en-US" sz="2400" b="1" i="1" dirty="0">
                <a:solidFill>
                  <a:srgbClr val="C00000"/>
                </a:solidFill>
              </a:rPr>
              <a:t>Programming</a:t>
            </a:r>
            <a:r>
              <a:rPr lang="en-US" sz="2400" dirty="0"/>
              <a:t>” here means “</a:t>
            </a:r>
            <a:r>
              <a:rPr lang="en-US" sz="2400" b="1" i="1" dirty="0">
                <a:solidFill>
                  <a:srgbClr val="C00000"/>
                </a:solidFill>
              </a:rPr>
              <a:t>planning</a:t>
            </a:r>
            <a:r>
              <a:rPr lang="en-US" sz="2400" dirty="0"/>
              <a:t>”</a:t>
            </a:r>
          </a:p>
          <a:p>
            <a:pPr marL="0" indent="0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Dynamic Programming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sz="2800" b="1" i="1" dirty="0">
                <a:solidFill>
                  <a:srgbClr val="002060"/>
                </a:solidFill>
              </a:rPr>
              <a:t>Main Idea</a:t>
            </a:r>
          </a:p>
          <a:p>
            <a:pPr marL="0" indent="0">
              <a:lnSpc>
                <a:spcPct val="90000"/>
              </a:lnSpc>
            </a:pP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400" dirty="0"/>
              <a:t>set up a recurrence relating a solution to a larger instance  to solutions of some smaller instances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solve smaller instances once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record solutions in a table 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extract solution to the initial instance from that table</a:t>
            </a:r>
          </a:p>
          <a:p>
            <a:pPr lvl="2">
              <a:lnSpc>
                <a:spcPct val="90000"/>
              </a:lnSpc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Dynamic Programming Examples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Computing a binomial coefficient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Longest Common Subsequence (LCS)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/>
              <a:t>Warshall’s</a:t>
            </a:r>
            <a:r>
              <a:rPr lang="en-US" sz="2400" dirty="0"/>
              <a:t> algorithm for transitive closure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Floyd’s algorithm for all-pairs shortest paths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Constructing an optimal Binary Search Tree BST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Some instances of difficult discrete optimization problems such as TSP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Computing Fibonacci Numbers</a:t>
            </a:r>
          </a:p>
          <a:p>
            <a:pPr>
              <a:buFont typeface="Arial" pitchFamily="34" charset="0"/>
              <a:buChar char="•"/>
            </a:pPr>
            <a:r>
              <a:rPr lang="en-US" sz="2400" b="1" i="1" dirty="0" err="1">
                <a:solidFill>
                  <a:srgbClr val="002060"/>
                </a:solidFill>
              </a:rPr>
              <a:t>Levenshtein</a:t>
            </a:r>
            <a:r>
              <a:rPr lang="en-US" sz="2400" b="1" i="1" dirty="0">
                <a:solidFill>
                  <a:srgbClr val="002060"/>
                </a:solidFill>
              </a:rPr>
              <a:t> String-Edit Distance (using Wagner-Fischer Algorithm)</a:t>
            </a:r>
            <a:endParaRPr lang="en-GB" b="1" i="1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570" y="167443"/>
            <a:ext cx="853136" cy="947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04784" y="2616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2118302" y="67675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5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Main Loop of Wagner-Fischer Alg.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for i=2:Len(S1)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for j=2:Len(S2)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if S1[i] = S2[j] then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M[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]=M[i-1,j-1]+2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M[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]=min(M[i-1,j]+1,</a:t>
            </a:r>
          </a:p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		   M[i,j-1]+1,</a:t>
            </a:r>
          </a:p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		   M[i-1,j-1]+2)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end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end</a:t>
            </a:r>
          </a:p>
          <a:p>
            <a:pPr marL="0" indent="0"/>
            <a:r>
              <a:rPr lang="en-GB" sz="2000" dirty="0"/>
              <a:t>The above code segment requires </a:t>
            </a:r>
            <a:r>
              <a:rPr lang="en-GB" sz="2000" b="1" i="1" dirty="0">
                <a:solidFill>
                  <a:srgbClr val="C00000"/>
                </a:solidFill>
              </a:rPr>
              <a:t>n</a:t>
            </a:r>
            <a:r>
              <a:rPr lang="en-GB" sz="2000" b="1" i="1" baseline="30000" dirty="0">
                <a:solidFill>
                  <a:srgbClr val="C00000"/>
                </a:solidFill>
              </a:rPr>
              <a:t>2</a:t>
            </a:r>
            <a:r>
              <a:rPr lang="en-GB" sz="2000" dirty="0"/>
              <a:t> steps.</a:t>
            </a:r>
          </a:p>
          <a:p>
            <a:pPr marL="0" indent="0"/>
            <a:endParaRPr lang="en-GB" b="1" i="1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0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351584" y="220955"/>
            <a:ext cx="7056784" cy="536104"/>
          </a:xfrm>
        </p:spPr>
        <p:txBody>
          <a:bodyPr/>
          <a:lstStyle/>
          <a:p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Levensthein</a:t>
            </a:r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 Distance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Edit Distance... in Tableau! |Tableau Community Forums">
            <a:extLst>
              <a:ext uri="{FF2B5EF4-FFF2-40B4-BE49-F238E27FC236}">
                <a16:creationId xmlns:a16="http://schemas.microsoft.com/office/drawing/2014/main" id="{078BA4E9-67A2-4056-B160-89FBDB3D3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757059"/>
            <a:ext cx="8353425" cy="5962650"/>
          </a:xfrm>
          <a:prstGeom prst="rect">
            <a:avLst/>
          </a:prstGeom>
          <a:noFill/>
          <a:ln w="22225">
            <a:solidFill>
              <a:srgbClr val="FF66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2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725056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Some Examples of Approximation Algorithms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628800"/>
            <a:ext cx="7344816" cy="4464496"/>
          </a:xfrm>
          <a:prstGeom prst="rect">
            <a:avLst/>
          </a:prstGeom>
        </p:spPr>
        <p:txBody>
          <a:bodyPr/>
          <a:lstStyle/>
          <a:p>
            <a:pPr marL="457200" indent="0">
              <a:spcBef>
                <a:spcPts val="0"/>
              </a:spcBef>
              <a:buFont typeface="Arial" pitchFamily="34" charset="0"/>
              <a:buChar char="•"/>
            </a:pPr>
            <a:r>
              <a:rPr lang="en-US" sz="3200" dirty="0"/>
              <a:t>Vertex Cover (VC)</a:t>
            </a:r>
          </a:p>
          <a:p>
            <a:pPr marL="0" indent="0">
              <a:spcBef>
                <a:spcPts val="0"/>
              </a:spcBef>
            </a:pPr>
            <a:r>
              <a:rPr lang="en-US" sz="3200" dirty="0"/>
              <a:t>    </a:t>
            </a:r>
            <a:r>
              <a:rPr lang="en-US" sz="2400" i="1" dirty="0">
                <a:solidFill>
                  <a:srgbClr val="002060"/>
                </a:solidFill>
              </a:rPr>
              <a:t>2-approximation algorithm</a:t>
            </a:r>
          </a:p>
          <a:p>
            <a:pPr marL="0" indent="0"/>
            <a:endParaRPr lang="en-US" sz="800" dirty="0"/>
          </a:p>
          <a:p>
            <a:pPr marL="457200" indent="0">
              <a:spcBef>
                <a:spcPts val="0"/>
              </a:spcBef>
              <a:buFont typeface="Arial" pitchFamily="34" charset="0"/>
              <a:buChar char="•"/>
            </a:pPr>
            <a:r>
              <a:rPr lang="en-US" sz="3200" dirty="0"/>
              <a:t>Traveling Salesman Problem (TSP)</a:t>
            </a:r>
          </a:p>
          <a:p>
            <a:pPr marL="0" indent="0">
              <a:spcBef>
                <a:spcPts val="0"/>
              </a:spcBef>
            </a:pPr>
            <a:r>
              <a:rPr lang="en-US" sz="3200" dirty="0"/>
              <a:t>    </a:t>
            </a:r>
            <a:r>
              <a:rPr lang="en-US" sz="2400" i="1" dirty="0">
                <a:solidFill>
                  <a:srgbClr val="002060"/>
                </a:solidFill>
              </a:rPr>
              <a:t>2-Approximation for Euclidean TSP only. 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Set Cover (SC)</a:t>
            </a:r>
          </a:p>
          <a:p>
            <a:pPr marL="0" indent="0"/>
            <a:r>
              <a:rPr lang="en-US" sz="2400" dirty="0"/>
              <a:t>      </a:t>
            </a:r>
            <a:r>
              <a:rPr lang="en-US" sz="2400" i="1" dirty="0">
                <a:solidFill>
                  <a:srgbClr val="002060"/>
                </a:solidFill>
              </a:rPr>
              <a:t>Time complexity increases with instance size.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5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Vertex Cover Problem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988840"/>
            <a:ext cx="7344816" cy="388843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C00000"/>
                </a:solidFill>
              </a:rPr>
              <a:t>vertex-cover</a:t>
            </a:r>
            <a:r>
              <a:rPr lang="en-US" sz="2400" dirty="0"/>
              <a:t> of an undirected graph G is a subset of its vertices such that it includes at least one vertex from each edge.</a:t>
            </a:r>
          </a:p>
          <a:p>
            <a:pPr marL="0" indent="0">
              <a:spcBef>
                <a:spcPts val="0"/>
              </a:spcBef>
            </a:pPr>
            <a:endParaRPr lang="en-US" sz="2400" dirty="0"/>
          </a:p>
          <a:p>
            <a:pPr marL="0" indent="0">
              <a:spcBef>
                <a:spcPts val="0"/>
              </a:spcBef>
            </a:pPr>
            <a:r>
              <a:rPr lang="en-US" sz="2400" dirty="0"/>
              <a:t>The problem is to find </a:t>
            </a:r>
            <a:r>
              <a:rPr lang="en-US" sz="2400" b="1" i="1" dirty="0">
                <a:solidFill>
                  <a:srgbClr val="C00000"/>
                </a:solidFill>
              </a:rPr>
              <a:t>minimum size</a:t>
            </a:r>
            <a:r>
              <a:rPr lang="en-US" sz="2400" dirty="0"/>
              <a:t> of vertex-cover of the given graph.</a:t>
            </a:r>
          </a:p>
          <a:p>
            <a:pPr marL="0" indent="0">
              <a:spcBef>
                <a:spcPts val="0"/>
              </a:spcBef>
            </a:pPr>
            <a:endParaRPr lang="en-US" sz="2400" dirty="0"/>
          </a:p>
          <a:p>
            <a:pPr marL="0" indent="0">
              <a:spcBef>
                <a:spcPts val="0"/>
              </a:spcBef>
            </a:pPr>
            <a:r>
              <a:rPr lang="en-US" sz="2400" dirty="0"/>
              <a:t>As explained before this problem is an NP-Hard optimization problem.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2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Vertex Cover Problem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988840"/>
            <a:ext cx="7344816" cy="3888432"/>
          </a:xfrm>
          <a:prstGeom prst="rect">
            <a:avLst/>
          </a:prstGeom>
        </p:spPr>
        <p:txBody>
          <a:bodyPr/>
          <a:lstStyle/>
          <a:p>
            <a:pPr marL="0" indent="0"/>
            <a:r>
              <a:rPr lang="en-US" b="1" dirty="0">
                <a:solidFill>
                  <a:srgbClr val="0070C0"/>
                </a:solidFill>
              </a:rPr>
              <a:t>Finding</a:t>
            </a:r>
            <a:r>
              <a:rPr lang="en-US" dirty="0"/>
              <a:t> the </a:t>
            </a:r>
            <a:r>
              <a:rPr lang="en-US" b="1" dirty="0">
                <a:solidFill>
                  <a:srgbClr val="0070C0"/>
                </a:solidFill>
              </a:rPr>
              <a:t>optimal</a:t>
            </a:r>
            <a:r>
              <a:rPr lang="en-US" dirty="0"/>
              <a:t> solution is </a:t>
            </a:r>
            <a:r>
              <a:rPr lang="en-US" b="1" dirty="0">
                <a:solidFill>
                  <a:srgbClr val="0070C0"/>
                </a:solidFill>
              </a:rPr>
              <a:t>hard</a:t>
            </a:r>
            <a:r>
              <a:rPr lang="en-US" dirty="0"/>
              <a:t> (its </a:t>
            </a:r>
            <a:r>
              <a:rPr lang="en-US" b="1" dirty="0">
                <a:solidFill>
                  <a:srgbClr val="0070C0"/>
                </a:solidFill>
              </a:rPr>
              <a:t>NP-Hard</a:t>
            </a:r>
            <a:r>
              <a:rPr lang="en-US" dirty="0"/>
              <a:t>!) but finding a </a:t>
            </a:r>
            <a:r>
              <a:rPr lang="en-US" b="1" dirty="0">
                <a:solidFill>
                  <a:srgbClr val="0070C0"/>
                </a:solidFill>
              </a:rPr>
              <a:t>near-optimal</a:t>
            </a:r>
            <a:r>
              <a:rPr lang="en-US" dirty="0"/>
              <a:t> solution is </a:t>
            </a:r>
            <a:r>
              <a:rPr lang="en-US" b="1" dirty="0">
                <a:solidFill>
                  <a:srgbClr val="0070C0"/>
                </a:solidFill>
              </a:rPr>
              <a:t>easy</a:t>
            </a:r>
            <a:r>
              <a:rPr lang="en-US" dirty="0"/>
              <a:t>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There is a </a:t>
            </a:r>
            <a:r>
              <a:rPr lang="en-US" b="1" dirty="0">
                <a:solidFill>
                  <a:srgbClr val="0070C0"/>
                </a:solidFill>
              </a:rPr>
              <a:t>very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simple</a:t>
            </a:r>
            <a:r>
              <a:rPr lang="en-US" dirty="0"/>
              <a:t> greedy </a:t>
            </a:r>
            <a:r>
              <a:rPr lang="en-US" b="1" dirty="0">
                <a:solidFill>
                  <a:srgbClr val="0070C0"/>
                </a:solidFill>
              </a:rPr>
              <a:t>2-approximation</a:t>
            </a:r>
            <a:r>
              <a:rPr lang="en-US" dirty="0"/>
              <a:t> algorithm that returns a vertex-cover that is </a:t>
            </a:r>
            <a:r>
              <a:rPr lang="en-US" b="1" dirty="0">
                <a:solidFill>
                  <a:srgbClr val="0070C0"/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more</a:t>
            </a:r>
            <a:r>
              <a:rPr lang="en-US" dirty="0"/>
              <a:t> than </a:t>
            </a:r>
            <a:r>
              <a:rPr lang="en-US" b="1" dirty="0">
                <a:solidFill>
                  <a:srgbClr val="0070C0"/>
                </a:solidFill>
              </a:rPr>
              <a:t>twice</a:t>
            </a:r>
            <a:r>
              <a:rPr lang="en-US" dirty="0"/>
              <a:t> of the </a:t>
            </a:r>
            <a:r>
              <a:rPr lang="en-US" b="1" dirty="0">
                <a:solidFill>
                  <a:srgbClr val="0070C0"/>
                </a:solidFill>
              </a:rPr>
              <a:t>size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optimal</a:t>
            </a:r>
            <a:r>
              <a:rPr lang="en-US" dirty="0"/>
              <a:t> solution.</a:t>
            </a:r>
          </a:p>
          <a:p>
            <a:pPr marL="0" indent="0">
              <a:spcBef>
                <a:spcPts val="0"/>
              </a:spcBef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59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7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Vertex Cover Problem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75520" y="1676400"/>
            <a:ext cx="7488832" cy="4419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endParaRPr lang="en-US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 dirty="0">
                <a:solidFill>
                  <a:srgbClr val="002060"/>
                </a:solidFill>
              </a:rPr>
              <a:t>APPROX-VERTEX-COVER(G)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1 	C ← Ø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2 	E′ ← E[G]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3 	</a:t>
            </a:r>
            <a:r>
              <a:rPr lang="en-US" sz="2000" b="1" dirty="0"/>
              <a:t>while </a:t>
            </a:r>
            <a:r>
              <a:rPr lang="en-US" sz="2000" dirty="0"/>
              <a:t>E′ ≠ Ø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4 		</a:t>
            </a:r>
            <a:r>
              <a:rPr lang="en-US" sz="2000" b="1" dirty="0"/>
              <a:t>do </a:t>
            </a:r>
            <a:r>
              <a:rPr lang="en-US" sz="2000" dirty="0"/>
              <a:t>let (u, v) be an arbitrary edge of E′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5 	 	     C ← C U {u, v}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6 		     remove every edge in E′ incident on u or v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7 </a:t>
            </a:r>
            <a:r>
              <a:rPr lang="en-US" sz="2000" b="1" dirty="0"/>
              <a:t>return </a:t>
            </a:r>
            <a:r>
              <a:rPr lang="en-US" sz="2000" dirty="0"/>
              <a:t>C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6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306424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Vertex Cover Problem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760688" y="1647200"/>
            <a:ext cx="2286000" cy="1066800"/>
            <a:chOff x="768" y="1344"/>
            <a:chExt cx="1440" cy="672"/>
          </a:xfrm>
        </p:grpSpPr>
        <p:sp>
          <p:nvSpPr>
            <p:cNvPr id="6" name="AutoShape 17"/>
            <p:cNvSpPr>
              <a:spLocks noChangeArrowheads="1"/>
            </p:cNvSpPr>
            <p:nvPr/>
          </p:nvSpPr>
          <p:spPr bwMode="auto">
            <a:xfrm>
              <a:off x="768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AutoShape 23"/>
            <p:cNvSpPr>
              <a:spLocks noChangeArrowheads="1"/>
            </p:cNvSpPr>
            <p:nvPr/>
          </p:nvSpPr>
          <p:spPr bwMode="auto">
            <a:xfrm>
              <a:off x="1200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" name="AutoShape 27"/>
            <p:cNvSpPr>
              <a:spLocks noChangeArrowheads="1"/>
            </p:cNvSpPr>
            <p:nvPr/>
          </p:nvSpPr>
          <p:spPr bwMode="auto">
            <a:xfrm>
              <a:off x="1632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AutoShape 28"/>
            <p:cNvSpPr>
              <a:spLocks noChangeArrowheads="1"/>
            </p:cNvSpPr>
            <p:nvPr/>
          </p:nvSpPr>
          <p:spPr bwMode="auto">
            <a:xfrm>
              <a:off x="2016" y="158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AutoShape 29"/>
            <p:cNvSpPr>
              <a:spLocks noChangeArrowheads="1"/>
            </p:cNvSpPr>
            <p:nvPr/>
          </p:nvSpPr>
          <p:spPr bwMode="auto">
            <a:xfrm>
              <a:off x="768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AutoShape 30"/>
            <p:cNvSpPr>
              <a:spLocks noChangeArrowheads="1"/>
            </p:cNvSpPr>
            <p:nvPr/>
          </p:nvSpPr>
          <p:spPr bwMode="auto">
            <a:xfrm>
              <a:off x="1200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AutoShape 31"/>
            <p:cNvSpPr>
              <a:spLocks noChangeArrowheads="1"/>
            </p:cNvSpPr>
            <p:nvPr/>
          </p:nvSpPr>
          <p:spPr bwMode="auto">
            <a:xfrm>
              <a:off x="1632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" name="Line 32"/>
            <p:cNvSpPr>
              <a:spLocks noChangeShapeType="1"/>
            </p:cNvSpPr>
            <p:nvPr/>
          </p:nvSpPr>
          <p:spPr bwMode="auto">
            <a:xfrm>
              <a:off x="960" y="14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33"/>
            <p:cNvSpPr>
              <a:spLocks noChangeShapeType="1"/>
            </p:cNvSpPr>
            <p:nvPr/>
          </p:nvSpPr>
          <p:spPr bwMode="auto">
            <a:xfrm>
              <a:off x="1392" y="14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34"/>
            <p:cNvSpPr>
              <a:spLocks noChangeShapeType="1"/>
            </p:cNvSpPr>
            <p:nvPr/>
          </p:nvSpPr>
          <p:spPr bwMode="auto">
            <a:xfrm>
              <a:off x="1392" y="19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5"/>
            <p:cNvSpPr>
              <a:spLocks noChangeShapeType="1"/>
            </p:cNvSpPr>
            <p:nvPr/>
          </p:nvSpPr>
          <p:spPr bwMode="auto">
            <a:xfrm>
              <a:off x="864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6"/>
            <p:cNvSpPr>
              <a:spLocks noChangeShapeType="1"/>
            </p:cNvSpPr>
            <p:nvPr/>
          </p:nvSpPr>
          <p:spPr bwMode="auto">
            <a:xfrm>
              <a:off x="1296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37"/>
            <p:cNvSpPr>
              <a:spLocks noChangeShapeType="1"/>
            </p:cNvSpPr>
            <p:nvPr/>
          </p:nvSpPr>
          <p:spPr bwMode="auto">
            <a:xfrm>
              <a:off x="1728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38"/>
            <p:cNvSpPr>
              <a:spLocks noChangeShapeType="1"/>
            </p:cNvSpPr>
            <p:nvPr/>
          </p:nvSpPr>
          <p:spPr bwMode="auto">
            <a:xfrm flipH="1">
              <a:off x="1344" y="14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9"/>
            <p:cNvSpPr>
              <a:spLocks noChangeShapeType="1"/>
            </p:cNvSpPr>
            <p:nvPr/>
          </p:nvSpPr>
          <p:spPr bwMode="auto">
            <a:xfrm>
              <a:off x="1824" y="14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121"/>
          <p:cNvGrpSpPr>
            <a:grpSpLocks/>
          </p:cNvGrpSpPr>
          <p:nvPr/>
        </p:nvGrpSpPr>
        <p:grpSpPr bwMode="auto">
          <a:xfrm>
            <a:off x="4434168" y="1725024"/>
            <a:ext cx="2286000" cy="1066800"/>
            <a:chOff x="2256" y="1344"/>
            <a:chExt cx="1440" cy="672"/>
          </a:xfrm>
        </p:grpSpPr>
        <p:sp>
          <p:nvSpPr>
            <p:cNvPr id="22" name="AutoShape 42"/>
            <p:cNvSpPr>
              <a:spLocks noChangeArrowheads="1"/>
            </p:cNvSpPr>
            <p:nvPr/>
          </p:nvSpPr>
          <p:spPr bwMode="auto">
            <a:xfrm>
              <a:off x="2256" y="13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3" name="AutoShape 43"/>
            <p:cNvSpPr>
              <a:spLocks noChangeArrowheads="1"/>
            </p:cNvSpPr>
            <p:nvPr/>
          </p:nvSpPr>
          <p:spPr bwMode="auto">
            <a:xfrm>
              <a:off x="2688" y="13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4" name="AutoShape 44"/>
            <p:cNvSpPr>
              <a:spLocks noChangeArrowheads="1"/>
            </p:cNvSpPr>
            <p:nvPr/>
          </p:nvSpPr>
          <p:spPr bwMode="auto">
            <a:xfrm>
              <a:off x="3120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5" name="AutoShape 45"/>
            <p:cNvSpPr>
              <a:spLocks noChangeArrowheads="1"/>
            </p:cNvSpPr>
            <p:nvPr/>
          </p:nvSpPr>
          <p:spPr bwMode="auto">
            <a:xfrm>
              <a:off x="3504" y="158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6" name="AutoShape 46"/>
            <p:cNvSpPr>
              <a:spLocks noChangeArrowheads="1"/>
            </p:cNvSpPr>
            <p:nvPr/>
          </p:nvSpPr>
          <p:spPr bwMode="auto">
            <a:xfrm>
              <a:off x="2256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7" name="AutoShape 47"/>
            <p:cNvSpPr>
              <a:spLocks noChangeArrowheads="1"/>
            </p:cNvSpPr>
            <p:nvPr/>
          </p:nvSpPr>
          <p:spPr bwMode="auto">
            <a:xfrm>
              <a:off x="2688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8" name="AutoShape 48"/>
            <p:cNvSpPr>
              <a:spLocks noChangeArrowheads="1"/>
            </p:cNvSpPr>
            <p:nvPr/>
          </p:nvSpPr>
          <p:spPr bwMode="auto">
            <a:xfrm>
              <a:off x="3120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>
              <a:off x="2448" y="1440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50"/>
            <p:cNvSpPr>
              <a:spLocks noChangeShapeType="1"/>
            </p:cNvSpPr>
            <p:nvPr/>
          </p:nvSpPr>
          <p:spPr bwMode="auto">
            <a:xfrm>
              <a:off x="2880" y="14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>
              <a:off x="2880" y="19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2352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53"/>
            <p:cNvSpPr>
              <a:spLocks noChangeShapeType="1"/>
            </p:cNvSpPr>
            <p:nvPr/>
          </p:nvSpPr>
          <p:spPr bwMode="auto">
            <a:xfrm>
              <a:off x="2784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54"/>
            <p:cNvSpPr>
              <a:spLocks noChangeShapeType="1"/>
            </p:cNvSpPr>
            <p:nvPr/>
          </p:nvSpPr>
          <p:spPr bwMode="auto">
            <a:xfrm>
              <a:off x="3216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 flipH="1">
              <a:off x="2832" y="14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56"/>
            <p:cNvSpPr>
              <a:spLocks noChangeShapeType="1"/>
            </p:cNvSpPr>
            <p:nvPr/>
          </p:nvSpPr>
          <p:spPr bwMode="auto">
            <a:xfrm>
              <a:off x="3312" y="14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126"/>
          <p:cNvGrpSpPr>
            <a:grpSpLocks/>
          </p:cNvGrpSpPr>
          <p:nvPr/>
        </p:nvGrpSpPr>
        <p:grpSpPr bwMode="auto">
          <a:xfrm>
            <a:off x="1697458" y="3962400"/>
            <a:ext cx="2286000" cy="1066800"/>
            <a:chOff x="480" y="2544"/>
            <a:chExt cx="1440" cy="672"/>
          </a:xfrm>
        </p:grpSpPr>
        <p:sp>
          <p:nvSpPr>
            <p:cNvPr id="38" name="AutoShape 58"/>
            <p:cNvSpPr>
              <a:spLocks noChangeArrowheads="1"/>
            </p:cNvSpPr>
            <p:nvPr/>
          </p:nvSpPr>
          <p:spPr bwMode="auto">
            <a:xfrm>
              <a:off x="480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39" name="AutoShape 59"/>
            <p:cNvSpPr>
              <a:spLocks noChangeArrowheads="1"/>
            </p:cNvSpPr>
            <p:nvPr/>
          </p:nvSpPr>
          <p:spPr bwMode="auto">
            <a:xfrm>
              <a:off x="912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0" name="AutoShape 60"/>
            <p:cNvSpPr>
              <a:spLocks noChangeArrowheads="1"/>
            </p:cNvSpPr>
            <p:nvPr/>
          </p:nvSpPr>
          <p:spPr bwMode="auto">
            <a:xfrm>
              <a:off x="1344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1" name="AutoShape 61"/>
            <p:cNvSpPr>
              <a:spLocks noChangeArrowheads="1"/>
            </p:cNvSpPr>
            <p:nvPr/>
          </p:nvSpPr>
          <p:spPr bwMode="auto">
            <a:xfrm>
              <a:off x="1728" y="278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2" name="AutoShape 62"/>
            <p:cNvSpPr>
              <a:spLocks noChangeArrowheads="1"/>
            </p:cNvSpPr>
            <p:nvPr/>
          </p:nvSpPr>
          <p:spPr bwMode="auto">
            <a:xfrm>
              <a:off x="480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3" name="AutoShape 63"/>
            <p:cNvSpPr>
              <a:spLocks noChangeArrowheads="1"/>
            </p:cNvSpPr>
            <p:nvPr/>
          </p:nvSpPr>
          <p:spPr bwMode="auto">
            <a:xfrm>
              <a:off x="912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4" name="AutoShape 64"/>
            <p:cNvSpPr>
              <a:spLocks noChangeArrowheads="1"/>
            </p:cNvSpPr>
            <p:nvPr/>
          </p:nvSpPr>
          <p:spPr bwMode="auto">
            <a:xfrm>
              <a:off x="1344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5" name="Line 65"/>
            <p:cNvSpPr>
              <a:spLocks noChangeShapeType="1"/>
            </p:cNvSpPr>
            <p:nvPr/>
          </p:nvSpPr>
          <p:spPr bwMode="auto">
            <a:xfrm>
              <a:off x="672" y="2640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66"/>
            <p:cNvSpPr>
              <a:spLocks noChangeShapeType="1"/>
            </p:cNvSpPr>
            <p:nvPr/>
          </p:nvSpPr>
          <p:spPr bwMode="auto">
            <a:xfrm>
              <a:off x="1104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67"/>
            <p:cNvSpPr>
              <a:spLocks noChangeShapeType="1"/>
            </p:cNvSpPr>
            <p:nvPr/>
          </p:nvSpPr>
          <p:spPr bwMode="auto">
            <a:xfrm>
              <a:off x="1104" y="3120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68"/>
            <p:cNvSpPr>
              <a:spLocks noChangeShapeType="1"/>
            </p:cNvSpPr>
            <p:nvPr/>
          </p:nvSpPr>
          <p:spPr bwMode="auto">
            <a:xfrm>
              <a:off x="576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69"/>
            <p:cNvSpPr>
              <a:spLocks noChangeShapeType="1"/>
            </p:cNvSpPr>
            <p:nvPr/>
          </p:nvSpPr>
          <p:spPr bwMode="auto">
            <a:xfrm>
              <a:off x="1008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70"/>
            <p:cNvSpPr>
              <a:spLocks noChangeShapeType="1"/>
            </p:cNvSpPr>
            <p:nvPr/>
          </p:nvSpPr>
          <p:spPr bwMode="auto">
            <a:xfrm>
              <a:off x="1440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71"/>
            <p:cNvSpPr>
              <a:spLocks noChangeShapeType="1"/>
            </p:cNvSpPr>
            <p:nvPr/>
          </p:nvSpPr>
          <p:spPr bwMode="auto">
            <a:xfrm flipH="1">
              <a:off x="1056" y="26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72"/>
            <p:cNvSpPr>
              <a:spLocks noChangeShapeType="1"/>
            </p:cNvSpPr>
            <p:nvPr/>
          </p:nvSpPr>
          <p:spPr bwMode="auto">
            <a:xfrm>
              <a:off x="1536" y="2688"/>
              <a:ext cx="192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125"/>
          <p:cNvGrpSpPr>
            <a:grpSpLocks/>
          </p:cNvGrpSpPr>
          <p:nvPr/>
        </p:nvGrpSpPr>
        <p:grpSpPr bwMode="auto">
          <a:xfrm>
            <a:off x="7107648" y="1723400"/>
            <a:ext cx="2286000" cy="1066800"/>
            <a:chOff x="4032" y="1392"/>
            <a:chExt cx="1440" cy="672"/>
          </a:xfrm>
        </p:grpSpPr>
        <p:sp>
          <p:nvSpPr>
            <p:cNvPr id="54" name="AutoShape 74"/>
            <p:cNvSpPr>
              <a:spLocks noChangeArrowheads="1"/>
            </p:cNvSpPr>
            <p:nvPr/>
          </p:nvSpPr>
          <p:spPr bwMode="auto">
            <a:xfrm>
              <a:off x="4032" y="139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5" name="AutoShape 75"/>
            <p:cNvSpPr>
              <a:spLocks noChangeArrowheads="1"/>
            </p:cNvSpPr>
            <p:nvPr/>
          </p:nvSpPr>
          <p:spPr bwMode="auto">
            <a:xfrm>
              <a:off x="4464" y="139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6" name="AutoShape 76"/>
            <p:cNvSpPr>
              <a:spLocks noChangeArrowheads="1"/>
            </p:cNvSpPr>
            <p:nvPr/>
          </p:nvSpPr>
          <p:spPr bwMode="auto">
            <a:xfrm>
              <a:off x="4896" y="1392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7" name="AutoShape 77"/>
            <p:cNvSpPr>
              <a:spLocks noChangeArrowheads="1"/>
            </p:cNvSpPr>
            <p:nvPr/>
          </p:nvSpPr>
          <p:spPr bwMode="auto">
            <a:xfrm>
              <a:off x="5280" y="1632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8" name="AutoShape 78"/>
            <p:cNvSpPr>
              <a:spLocks noChangeArrowheads="1"/>
            </p:cNvSpPr>
            <p:nvPr/>
          </p:nvSpPr>
          <p:spPr bwMode="auto">
            <a:xfrm>
              <a:off x="4032" y="1872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9" name="AutoShape 79"/>
            <p:cNvSpPr>
              <a:spLocks noChangeArrowheads="1"/>
            </p:cNvSpPr>
            <p:nvPr/>
          </p:nvSpPr>
          <p:spPr bwMode="auto">
            <a:xfrm>
              <a:off x="4464" y="187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0" name="AutoShape 80"/>
            <p:cNvSpPr>
              <a:spLocks noChangeArrowheads="1"/>
            </p:cNvSpPr>
            <p:nvPr/>
          </p:nvSpPr>
          <p:spPr bwMode="auto">
            <a:xfrm>
              <a:off x="4896" y="187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1" name="Line 81"/>
            <p:cNvSpPr>
              <a:spLocks noChangeShapeType="1"/>
            </p:cNvSpPr>
            <p:nvPr/>
          </p:nvSpPr>
          <p:spPr bwMode="auto">
            <a:xfrm>
              <a:off x="4224" y="1488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82"/>
            <p:cNvSpPr>
              <a:spLocks noChangeShapeType="1"/>
            </p:cNvSpPr>
            <p:nvPr/>
          </p:nvSpPr>
          <p:spPr bwMode="auto">
            <a:xfrm>
              <a:off x="4656" y="1488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83"/>
            <p:cNvSpPr>
              <a:spLocks noChangeShapeType="1"/>
            </p:cNvSpPr>
            <p:nvPr/>
          </p:nvSpPr>
          <p:spPr bwMode="auto">
            <a:xfrm>
              <a:off x="4656" y="1968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84"/>
            <p:cNvSpPr>
              <a:spLocks noChangeShapeType="1"/>
            </p:cNvSpPr>
            <p:nvPr/>
          </p:nvSpPr>
          <p:spPr bwMode="auto">
            <a:xfrm>
              <a:off x="4128" y="1584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85"/>
            <p:cNvSpPr>
              <a:spLocks noChangeShapeType="1"/>
            </p:cNvSpPr>
            <p:nvPr/>
          </p:nvSpPr>
          <p:spPr bwMode="auto">
            <a:xfrm>
              <a:off x="4560" y="1584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86"/>
            <p:cNvSpPr>
              <a:spLocks noChangeShapeType="1"/>
            </p:cNvSpPr>
            <p:nvPr/>
          </p:nvSpPr>
          <p:spPr bwMode="auto">
            <a:xfrm>
              <a:off x="4992" y="1584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87"/>
            <p:cNvSpPr>
              <a:spLocks noChangeShapeType="1"/>
            </p:cNvSpPr>
            <p:nvPr/>
          </p:nvSpPr>
          <p:spPr bwMode="auto">
            <a:xfrm flipH="1">
              <a:off x="4608" y="1536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88"/>
            <p:cNvSpPr>
              <a:spLocks noChangeShapeType="1"/>
            </p:cNvSpPr>
            <p:nvPr/>
          </p:nvSpPr>
          <p:spPr bwMode="auto">
            <a:xfrm>
              <a:off x="5088" y="1536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124"/>
          <p:cNvGrpSpPr>
            <a:grpSpLocks/>
          </p:cNvGrpSpPr>
          <p:nvPr/>
        </p:nvGrpSpPr>
        <p:grpSpPr bwMode="auto">
          <a:xfrm>
            <a:off x="6498048" y="3999690"/>
            <a:ext cx="2895600" cy="1877219"/>
            <a:chOff x="3648" y="2544"/>
            <a:chExt cx="1824" cy="1161"/>
          </a:xfrm>
        </p:grpSpPr>
        <p:sp>
          <p:nvSpPr>
            <p:cNvPr id="70" name="Line 119"/>
            <p:cNvSpPr>
              <a:spLocks noChangeShapeType="1"/>
            </p:cNvSpPr>
            <p:nvPr/>
          </p:nvSpPr>
          <p:spPr bwMode="auto">
            <a:xfrm flipH="1">
              <a:off x="4608" y="26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AutoShape 106"/>
            <p:cNvSpPr>
              <a:spLocks noChangeArrowheads="1"/>
            </p:cNvSpPr>
            <p:nvPr/>
          </p:nvSpPr>
          <p:spPr bwMode="auto">
            <a:xfrm>
              <a:off x="4032" y="2544"/>
              <a:ext cx="192" cy="192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2" name="AutoShape 107"/>
            <p:cNvSpPr>
              <a:spLocks noChangeArrowheads="1"/>
            </p:cNvSpPr>
            <p:nvPr/>
          </p:nvSpPr>
          <p:spPr bwMode="auto">
            <a:xfrm>
              <a:off x="4464" y="25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3" name="AutoShape 108"/>
            <p:cNvSpPr>
              <a:spLocks noChangeArrowheads="1"/>
            </p:cNvSpPr>
            <p:nvPr/>
          </p:nvSpPr>
          <p:spPr bwMode="auto">
            <a:xfrm>
              <a:off x="4896" y="2544"/>
              <a:ext cx="192" cy="192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4" name="AutoShape 109"/>
            <p:cNvSpPr>
              <a:spLocks noChangeArrowheads="1"/>
            </p:cNvSpPr>
            <p:nvPr/>
          </p:nvSpPr>
          <p:spPr bwMode="auto">
            <a:xfrm>
              <a:off x="5280" y="278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5" name="AutoShape 110"/>
            <p:cNvSpPr>
              <a:spLocks noChangeArrowheads="1"/>
            </p:cNvSpPr>
            <p:nvPr/>
          </p:nvSpPr>
          <p:spPr bwMode="auto">
            <a:xfrm>
              <a:off x="4032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6" name="AutoShape 111"/>
            <p:cNvSpPr>
              <a:spLocks noChangeArrowheads="1"/>
            </p:cNvSpPr>
            <p:nvPr/>
          </p:nvSpPr>
          <p:spPr bwMode="auto">
            <a:xfrm>
              <a:off x="4464" y="3024"/>
              <a:ext cx="192" cy="192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7" name="AutoShape 112"/>
            <p:cNvSpPr>
              <a:spLocks noChangeArrowheads="1"/>
            </p:cNvSpPr>
            <p:nvPr/>
          </p:nvSpPr>
          <p:spPr bwMode="auto">
            <a:xfrm>
              <a:off x="4896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8" name="Line 113"/>
            <p:cNvSpPr>
              <a:spLocks noChangeShapeType="1"/>
            </p:cNvSpPr>
            <p:nvPr/>
          </p:nvSpPr>
          <p:spPr bwMode="auto">
            <a:xfrm>
              <a:off x="4224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114"/>
            <p:cNvSpPr>
              <a:spLocks noChangeShapeType="1"/>
            </p:cNvSpPr>
            <p:nvPr/>
          </p:nvSpPr>
          <p:spPr bwMode="auto">
            <a:xfrm>
              <a:off x="4656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115"/>
            <p:cNvSpPr>
              <a:spLocks noChangeShapeType="1"/>
            </p:cNvSpPr>
            <p:nvPr/>
          </p:nvSpPr>
          <p:spPr bwMode="auto">
            <a:xfrm>
              <a:off x="4656" y="31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116"/>
            <p:cNvSpPr>
              <a:spLocks noChangeShapeType="1"/>
            </p:cNvSpPr>
            <p:nvPr/>
          </p:nvSpPr>
          <p:spPr bwMode="auto">
            <a:xfrm>
              <a:off x="4128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117"/>
            <p:cNvSpPr>
              <a:spLocks noChangeShapeType="1"/>
            </p:cNvSpPr>
            <p:nvPr/>
          </p:nvSpPr>
          <p:spPr bwMode="auto">
            <a:xfrm>
              <a:off x="4560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118"/>
            <p:cNvSpPr>
              <a:spLocks noChangeShapeType="1"/>
            </p:cNvSpPr>
            <p:nvPr/>
          </p:nvSpPr>
          <p:spPr bwMode="auto">
            <a:xfrm>
              <a:off x="4992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120"/>
            <p:cNvSpPr>
              <a:spLocks noChangeShapeType="1"/>
            </p:cNvSpPr>
            <p:nvPr/>
          </p:nvSpPr>
          <p:spPr bwMode="auto">
            <a:xfrm>
              <a:off x="5088" y="26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AutoShape 122"/>
            <p:cNvSpPr>
              <a:spLocks noChangeArrowheads="1"/>
            </p:cNvSpPr>
            <p:nvPr/>
          </p:nvSpPr>
          <p:spPr bwMode="auto">
            <a:xfrm>
              <a:off x="3648" y="3360"/>
              <a:ext cx="960" cy="345"/>
            </a:xfrm>
            <a:prstGeom prst="wedgeRectCallout">
              <a:avLst>
                <a:gd name="adj1" fmla="val 49264"/>
                <a:gd name="adj2" fmla="val -7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Optimal</a:t>
              </a:r>
            </a:p>
          </p:txBody>
        </p:sp>
      </p:grpSp>
      <p:grpSp>
        <p:nvGrpSpPr>
          <p:cNvPr id="86" name="Group 127"/>
          <p:cNvGrpSpPr>
            <a:grpSpLocks/>
          </p:cNvGrpSpPr>
          <p:nvPr/>
        </p:nvGrpSpPr>
        <p:grpSpPr bwMode="auto">
          <a:xfrm>
            <a:off x="3252668" y="3993203"/>
            <a:ext cx="3524250" cy="2532063"/>
            <a:chOff x="1476" y="2544"/>
            <a:chExt cx="2220" cy="1595"/>
          </a:xfrm>
        </p:grpSpPr>
        <p:sp>
          <p:nvSpPr>
            <p:cNvPr id="87" name="Line 103"/>
            <p:cNvSpPr>
              <a:spLocks noChangeShapeType="1"/>
            </p:cNvSpPr>
            <p:nvPr/>
          </p:nvSpPr>
          <p:spPr bwMode="auto">
            <a:xfrm flipH="1">
              <a:off x="2832" y="26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AutoShape 90"/>
            <p:cNvSpPr>
              <a:spLocks noChangeArrowheads="1"/>
            </p:cNvSpPr>
            <p:nvPr/>
          </p:nvSpPr>
          <p:spPr bwMode="auto">
            <a:xfrm>
              <a:off x="2256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9" name="AutoShape 91"/>
            <p:cNvSpPr>
              <a:spLocks noChangeArrowheads="1"/>
            </p:cNvSpPr>
            <p:nvPr/>
          </p:nvSpPr>
          <p:spPr bwMode="auto">
            <a:xfrm>
              <a:off x="2688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0" name="AutoShape 92"/>
            <p:cNvSpPr>
              <a:spLocks noChangeArrowheads="1"/>
            </p:cNvSpPr>
            <p:nvPr/>
          </p:nvSpPr>
          <p:spPr bwMode="auto">
            <a:xfrm>
              <a:off x="3120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1" name="AutoShape 93"/>
            <p:cNvSpPr>
              <a:spLocks noChangeArrowheads="1"/>
            </p:cNvSpPr>
            <p:nvPr/>
          </p:nvSpPr>
          <p:spPr bwMode="auto">
            <a:xfrm>
              <a:off x="3504" y="278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2" name="AutoShape 94"/>
            <p:cNvSpPr>
              <a:spLocks noChangeArrowheads="1"/>
            </p:cNvSpPr>
            <p:nvPr/>
          </p:nvSpPr>
          <p:spPr bwMode="auto">
            <a:xfrm>
              <a:off x="2256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3" name="AutoShape 95"/>
            <p:cNvSpPr>
              <a:spLocks noChangeArrowheads="1"/>
            </p:cNvSpPr>
            <p:nvPr/>
          </p:nvSpPr>
          <p:spPr bwMode="auto">
            <a:xfrm>
              <a:off x="2688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4" name="AutoShape 96"/>
            <p:cNvSpPr>
              <a:spLocks noChangeArrowheads="1"/>
            </p:cNvSpPr>
            <p:nvPr/>
          </p:nvSpPr>
          <p:spPr bwMode="auto">
            <a:xfrm>
              <a:off x="3120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5" name="Line 97"/>
            <p:cNvSpPr>
              <a:spLocks noChangeShapeType="1"/>
            </p:cNvSpPr>
            <p:nvPr/>
          </p:nvSpPr>
          <p:spPr bwMode="auto">
            <a:xfrm>
              <a:off x="2448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98"/>
            <p:cNvSpPr>
              <a:spLocks noChangeShapeType="1"/>
            </p:cNvSpPr>
            <p:nvPr/>
          </p:nvSpPr>
          <p:spPr bwMode="auto">
            <a:xfrm>
              <a:off x="2880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99"/>
            <p:cNvSpPr>
              <a:spLocks noChangeShapeType="1"/>
            </p:cNvSpPr>
            <p:nvPr/>
          </p:nvSpPr>
          <p:spPr bwMode="auto">
            <a:xfrm>
              <a:off x="2880" y="31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100"/>
            <p:cNvSpPr>
              <a:spLocks noChangeShapeType="1"/>
            </p:cNvSpPr>
            <p:nvPr/>
          </p:nvSpPr>
          <p:spPr bwMode="auto">
            <a:xfrm>
              <a:off x="2352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101"/>
            <p:cNvSpPr>
              <a:spLocks noChangeShapeType="1"/>
            </p:cNvSpPr>
            <p:nvPr/>
          </p:nvSpPr>
          <p:spPr bwMode="auto">
            <a:xfrm>
              <a:off x="2784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102"/>
            <p:cNvSpPr>
              <a:spLocks noChangeShapeType="1"/>
            </p:cNvSpPr>
            <p:nvPr/>
          </p:nvSpPr>
          <p:spPr bwMode="auto">
            <a:xfrm>
              <a:off x="3216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104"/>
            <p:cNvSpPr>
              <a:spLocks noChangeShapeType="1"/>
            </p:cNvSpPr>
            <p:nvPr/>
          </p:nvSpPr>
          <p:spPr bwMode="auto">
            <a:xfrm>
              <a:off x="3312" y="26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AutoShape 123"/>
            <p:cNvSpPr>
              <a:spLocks noChangeArrowheads="1"/>
            </p:cNvSpPr>
            <p:nvPr/>
          </p:nvSpPr>
          <p:spPr bwMode="auto">
            <a:xfrm>
              <a:off x="1476" y="3504"/>
              <a:ext cx="1536" cy="635"/>
            </a:xfrm>
            <a:prstGeom prst="wedgeRectCallout">
              <a:avLst>
                <a:gd name="adj1" fmla="val 29315"/>
                <a:gd name="adj2" fmla="val -94907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Near Optimal</a:t>
              </a:r>
            </a:p>
            <a:p>
              <a:pPr algn="ctr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size=6</a:t>
              </a:r>
            </a:p>
          </p:txBody>
        </p:sp>
      </p:grpSp>
      <p:pic>
        <p:nvPicPr>
          <p:cNvPr id="103" name="Picture 10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5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990912" y="1988840"/>
            <a:ext cx="7772400" cy="392232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/>
              <a:t>This is a polynomial-time 2-approximation algorithm. (</a:t>
            </a:r>
            <a:r>
              <a:rPr lang="en-US" b="1" dirty="0">
                <a:solidFill>
                  <a:srgbClr val="0070C0"/>
                </a:solidFill>
              </a:rPr>
              <a:t>Why</a:t>
            </a:r>
            <a:r>
              <a:rPr lang="en-US" dirty="0"/>
              <a:t>?)</a:t>
            </a:r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r>
              <a:rPr lang="en-US" dirty="0"/>
              <a:t>Because:</a:t>
            </a:r>
          </a:p>
          <a:p>
            <a:pPr marL="693737" lvl="2" indent="0">
              <a:buNone/>
            </a:pPr>
            <a:r>
              <a:rPr lang="en-US" sz="1800" b="1" dirty="0"/>
              <a:t>  		APPROX-VERTEX-COVER is O(V+E)</a:t>
            </a:r>
          </a:p>
          <a:p>
            <a:pPr marL="693737" lvl="2" indent="0">
              <a:buNone/>
            </a:pPr>
            <a:r>
              <a:rPr lang="en-US" sz="1800" b="1" dirty="0"/>
              <a:t>		|C*| ≥ |A|</a:t>
            </a:r>
          </a:p>
          <a:p>
            <a:pPr lvl="2">
              <a:buFont typeface="Wingdings" pitchFamily="2" charset="2"/>
              <a:buNone/>
            </a:pPr>
            <a:r>
              <a:rPr lang="en-US" sz="1800" b="1" dirty="0"/>
              <a:t>		|C| = 2|A|</a:t>
            </a:r>
          </a:p>
          <a:p>
            <a:pPr lvl="2">
              <a:buFont typeface="Wingdings" pitchFamily="2" charset="2"/>
              <a:buNone/>
            </a:pPr>
            <a:r>
              <a:rPr lang="en-US" sz="1800" b="1" dirty="0"/>
              <a:t>		|C| ≤ 2|C*|</a:t>
            </a:r>
            <a:endParaRPr lang="en-US" b="1" dirty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The Vertex Cover Problem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800792" y="4398520"/>
            <a:ext cx="1420688" cy="517376"/>
          </a:xfrm>
          <a:prstGeom prst="wedgeRectCallout">
            <a:avLst>
              <a:gd name="adj1" fmla="val 96222"/>
              <a:gd name="adj2" fmla="val -7208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Optimal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663952" y="4248216"/>
            <a:ext cx="2057400" cy="817984"/>
          </a:xfrm>
          <a:prstGeom prst="wedgeRectCallout">
            <a:avLst>
              <a:gd name="adj1" fmla="val -87986"/>
              <a:gd name="adj2" fmla="val -47366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Selected Edges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813734" y="5589240"/>
            <a:ext cx="2209800" cy="822920"/>
          </a:xfrm>
          <a:prstGeom prst="wedgeRectCallout">
            <a:avLst>
              <a:gd name="adj1" fmla="val 43377"/>
              <a:gd name="adj2" fmla="val -12613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Selected Vertices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5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306424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All Edges must be covered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80" y="1969459"/>
            <a:ext cx="12192000" cy="2919081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8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98095" y="476672"/>
            <a:ext cx="7772400" cy="392232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4487" lvl="1" indent="0">
              <a:buNone/>
            </a:pPr>
            <a:r>
              <a:rPr lang="en-US" dirty="0"/>
              <a:t> </a:t>
            </a:r>
          </a:p>
          <a:p>
            <a:pPr marL="344487" lvl="1" indent="0">
              <a:buNone/>
            </a:pPr>
            <a:r>
              <a:rPr lang="en-US" sz="1800" b="1" dirty="0"/>
              <a:t>  		APPROX-VERTEX-COVER is O(V+E)</a:t>
            </a:r>
          </a:p>
          <a:p>
            <a:pPr marL="693737" lvl="2" indent="0">
              <a:buNone/>
            </a:pPr>
            <a:r>
              <a:rPr lang="en-US" sz="1800" b="1" dirty="0"/>
              <a:t>		|</a:t>
            </a:r>
            <a:r>
              <a:rPr lang="en-US" sz="1800" b="1" dirty="0">
                <a:solidFill>
                  <a:srgbClr val="0070C0"/>
                </a:solidFill>
              </a:rPr>
              <a:t>C*</a:t>
            </a:r>
            <a:r>
              <a:rPr lang="en-US" sz="1800" b="1" dirty="0"/>
              <a:t>| ≥ |</a:t>
            </a:r>
            <a:r>
              <a:rPr lang="en-US" sz="1800" b="1" dirty="0">
                <a:solidFill>
                  <a:srgbClr val="0070C0"/>
                </a:solidFill>
              </a:rPr>
              <a:t>A</a:t>
            </a:r>
            <a:r>
              <a:rPr lang="en-US" sz="1800" b="1" dirty="0"/>
              <a:t>|</a:t>
            </a:r>
          </a:p>
          <a:p>
            <a:pPr lvl="2">
              <a:buFont typeface="Wingdings" pitchFamily="2" charset="2"/>
              <a:buNone/>
            </a:pPr>
            <a:r>
              <a:rPr lang="en-US" sz="1800" b="1" dirty="0"/>
              <a:t>		|C| = 2|A|</a:t>
            </a:r>
          </a:p>
          <a:p>
            <a:pPr lvl="2">
              <a:buFont typeface="Wingdings" pitchFamily="2" charset="2"/>
              <a:buNone/>
            </a:pPr>
            <a:r>
              <a:rPr lang="en-US" sz="1800" b="1" dirty="0"/>
              <a:t>		|</a:t>
            </a:r>
            <a:r>
              <a:rPr lang="en-US" sz="1800" b="1" dirty="0">
                <a:solidFill>
                  <a:srgbClr val="0070C0"/>
                </a:solidFill>
              </a:rPr>
              <a:t>C</a:t>
            </a:r>
            <a:r>
              <a:rPr lang="en-US" sz="1800" b="1" dirty="0"/>
              <a:t>| ≤ 2|C*|</a:t>
            </a:r>
            <a:endParaRPr lang="en-US" b="1" dirty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343472" y="258679"/>
            <a:ext cx="7955880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Explaining the 2-Approximation Bound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394263" y="1597150"/>
            <a:ext cx="1420688" cy="517376"/>
          </a:xfrm>
          <a:prstGeom prst="wedgeRectCallout">
            <a:avLst>
              <a:gd name="adj1" fmla="val 96222"/>
              <a:gd name="adj2" fmla="val -7208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Optimal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64023" y="1317266"/>
            <a:ext cx="2057400" cy="817984"/>
          </a:xfrm>
          <a:prstGeom prst="wedgeRectCallout">
            <a:avLst>
              <a:gd name="adj1" fmla="val -78009"/>
              <a:gd name="adj2" fmla="val -3291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Selected Edges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378051" y="2783276"/>
            <a:ext cx="2209800" cy="822920"/>
          </a:xfrm>
          <a:prstGeom prst="wedgeRectCallout">
            <a:avLst>
              <a:gd name="adj1" fmla="val 43377"/>
              <a:gd name="adj2" fmla="val -12613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Selected Vertices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780D1AD8-5279-BD9D-C42D-E192407E5B93}"/>
              </a:ext>
            </a:extLst>
          </p:cNvPr>
          <p:cNvSpPr txBox="1">
            <a:spLocks noChangeArrowheads="1"/>
          </p:cNvSpPr>
          <p:nvPr/>
        </p:nvSpPr>
        <p:spPr>
          <a:xfrm>
            <a:off x="1343472" y="3861048"/>
            <a:ext cx="10585176" cy="237626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Note </a:t>
            </a:r>
            <a:r>
              <a:rPr lang="en-US" sz="2400" b="1" dirty="0">
                <a:solidFill>
                  <a:srgbClr val="0070C0"/>
                </a:solidFill>
              </a:rPr>
              <a:t>that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nodes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selected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 forms a </a:t>
            </a:r>
            <a:r>
              <a:rPr lang="en-US" sz="2400" b="1" dirty="0">
                <a:solidFill>
                  <a:srgbClr val="0070C0"/>
                </a:solidFill>
              </a:rPr>
              <a:t>vertex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.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optimal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C*</a:t>
            </a:r>
            <a:r>
              <a:rPr lang="en-US" sz="2400" dirty="0"/>
              <a:t> must </a:t>
            </a:r>
            <a:r>
              <a:rPr lang="en-US" sz="2400" b="1" dirty="0">
                <a:solidFill>
                  <a:srgbClr val="0070C0"/>
                </a:solidFill>
              </a:rPr>
              <a:t>therefore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include</a:t>
            </a:r>
            <a:r>
              <a:rPr lang="en-US" sz="2400" dirty="0"/>
              <a:t> at </a:t>
            </a:r>
            <a:r>
              <a:rPr lang="en-US" sz="2400" b="1" dirty="0">
                <a:solidFill>
                  <a:srgbClr val="0070C0"/>
                </a:solidFill>
              </a:rPr>
              <a:t>least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one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node</a:t>
            </a:r>
            <a:r>
              <a:rPr lang="en-US" sz="2400" dirty="0"/>
              <a:t> from </a:t>
            </a:r>
            <a:r>
              <a:rPr lang="en-US" sz="2400" b="1" dirty="0">
                <a:solidFill>
                  <a:srgbClr val="0070C0"/>
                </a:solidFill>
              </a:rPr>
              <a:t>each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.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cover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C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exactly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union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0070C0"/>
                </a:solidFill>
              </a:rPr>
              <a:t>nodes</a:t>
            </a:r>
            <a:r>
              <a:rPr lang="en-US" sz="2400" dirty="0"/>
              <a:t> of each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7030A0"/>
                </a:solidFill>
              </a:rPr>
              <a:t>A</a:t>
            </a:r>
            <a:r>
              <a:rPr lang="en-US" sz="2400" dirty="0"/>
              <a:t>.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result</a:t>
            </a:r>
            <a:r>
              <a:rPr lang="en-US" sz="2400" dirty="0"/>
              <a:t> then </a:t>
            </a:r>
            <a:r>
              <a:rPr lang="en-US" sz="2400" b="1" dirty="0">
                <a:solidFill>
                  <a:srgbClr val="0070C0"/>
                </a:solidFill>
              </a:rPr>
              <a:t>follows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374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962694" y="1412775"/>
            <a:ext cx="9649072" cy="533599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dirty="0"/>
              <a:t>Given a </a:t>
            </a:r>
            <a:r>
              <a:rPr lang="en-US" sz="2400" b="1" dirty="0">
                <a:solidFill>
                  <a:srgbClr val="0070C0"/>
                </a:solidFill>
              </a:rPr>
              <a:t>complete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undirected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weighted</a:t>
            </a:r>
            <a:r>
              <a:rPr lang="en-US" sz="2400" dirty="0"/>
              <a:t> Graph </a:t>
            </a:r>
            <a:r>
              <a:rPr lang="en-US" sz="2400" b="1" i="1" dirty="0">
                <a:solidFill>
                  <a:srgbClr val="002060"/>
                </a:solidFill>
              </a:rPr>
              <a:t>G</a:t>
            </a:r>
            <a:r>
              <a:rPr lang="en-US" sz="2400" dirty="0"/>
              <a:t> we are to </a:t>
            </a:r>
            <a:r>
              <a:rPr lang="en-US" sz="2400" b="1" dirty="0">
                <a:solidFill>
                  <a:srgbClr val="0070C0"/>
                </a:solidFill>
              </a:rPr>
              <a:t>find</a:t>
            </a:r>
            <a:r>
              <a:rPr lang="en-US" sz="2400" dirty="0"/>
              <a:t> a </a:t>
            </a:r>
            <a:r>
              <a:rPr lang="en-US" sz="2400" b="1" i="1" dirty="0">
                <a:solidFill>
                  <a:srgbClr val="002060"/>
                </a:solidFill>
              </a:rPr>
              <a:t>minimum cost Hamiltonian cycle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Satisfying the </a:t>
            </a:r>
            <a:r>
              <a:rPr lang="en-US" sz="2400" b="1" dirty="0">
                <a:solidFill>
                  <a:srgbClr val="0070C0"/>
                </a:solidFill>
              </a:rPr>
              <a:t>triangle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inequality</a:t>
            </a:r>
            <a:r>
              <a:rPr lang="en-US" sz="2400" dirty="0"/>
              <a:t> or not this </a:t>
            </a:r>
            <a:r>
              <a:rPr lang="en-US" sz="2400" b="1" dirty="0">
                <a:solidFill>
                  <a:srgbClr val="0070C0"/>
                </a:solidFill>
              </a:rPr>
              <a:t>problem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NP-Hard</a:t>
            </a:r>
            <a:r>
              <a:rPr lang="en-US" sz="2400" dirty="0"/>
              <a:t>. If the graph </a:t>
            </a:r>
            <a:r>
              <a:rPr lang="en-US" sz="2400" b="1" dirty="0">
                <a:solidFill>
                  <a:srgbClr val="0070C0"/>
                </a:solidFill>
              </a:rPr>
              <a:t>satisfies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triangle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inequality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problem</a:t>
            </a:r>
            <a:r>
              <a:rPr lang="en-US" sz="2400" dirty="0"/>
              <a:t> is called </a:t>
            </a:r>
            <a:r>
              <a:rPr lang="en-US" sz="2400" b="1" i="1" dirty="0">
                <a:solidFill>
                  <a:srgbClr val="002060"/>
                </a:solidFill>
              </a:rPr>
              <a:t>Euclidean TSP.</a:t>
            </a:r>
          </a:p>
          <a:p>
            <a:pPr marL="0" indent="0">
              <a:buNone/>
            </a:pPr>
            <a:endParaRPr lang="en-US" sz="2400" b="1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</a:rPr>
              <a:t>We now present a simple greedy polynomial-time 2-approximation algorithm for Euclidean TSP based on Prim’s MST algorithm.</a:t>
            </a:r>
          </a:p>
          <a:p>
            <a:pPr marL="0" indent="0">
              <a:buNone/>
            </a:pPr>
            <a:endParaRPr lang="en-US" sz="2400" b="1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</a:rPr>
              <a:t>Note that this algorithm will not work on general TSP.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83173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TSP Approximation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67408" y="908720"/>
            <a:ext cx="8136904" cy="345638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en-US" sz="2400" b="1" dirty="0"/>
              <a:t>APPROX-TSP-TOUR(G, c)</a:t>
            </a:r>
          </a:p>
          <a:p>
            <a:pPr>
              <a:buClr>
                <a:srgbClr val="008000"/>
              </a:buClr>
            </a:pPr>
            <a:r>
              <a:rPr lang="en-US" sz="2400" dirty="0"/>
              <a:t>Select a </a:t>
            </a:r>
            <a:r>
              <a:rPr lang="en-US" sz="2400" b="1" dirty="0">
                <a:solidFill>
                  <a:srgbClr val="0070C0"/>
                </a:solidFill>
              </a:rPr>
              <a:t>vertex</a:t>
            </a:r>
            <a:r>
              <a:rPr lang="en-US" sz="2400" dirty="0"/>
              <a:t> </a:t>
            </a:r>
            <a:r>
              <a:rPr lang="en-US" sz="2400" b="1" i="1" dirty="0"/>
              <a:t>r</a:t>
            </a:r>
            <a:r>
              <a:rPr lang="en-US" sz="2400" dirty="0"/>
              <a:t> </a:t>
            </a:r>
            <a:r>
              <a:rPr lang="el-GR" sz="2400" dirty="0"/>
              <a:t>ϵ</a:t>
            </a:r>
            <a:r>
              <a:rPr lang="en-US" sz="2800" dirty="0"/>
              <a:t> </a:t>
            </a:r>
            <a:r>
              <a:rPr lang="en-US" sz="2400" i="1" dirty="0"/>
              <a:t>V[</a:t>
            </a:r>
            <a:r>
              <a:rPr lang="en-US" sz="2400" b="1" i="1" dirty="0"/>
              <a:t>G</a:t>
            </a:r>
            <a:r>
              <a:rPr lang="en-US" sz="2400" i="1" dirty="0"/>
              <a:t>]</a:t>
            </a:r>
            <a:r>
              <a:rPr lang="en-US" sz="2400" dirty="0"/>
              <a:t> to be </a:t>
            </a:r>
            <a:r>
              <a:rPr lang="en-US" sz="2400" b="1" dirty="0">
                <a:solidFill>
                  <a:srgbClr val="0070C0"/>
                </a:solidFill>
              </a:rPr>
              <a:t>root</a:t>
            </a:r>
            <a:r>
              <a:rPr lang="en-US" sz="2400" dirty="0"/>
              <a:t>.</a:t>
            </a:r>
          </a:p>
          <a:p>
            <a:pPr>
              <a:buClr>
                <a:srgbClr val="008000"/>
              </a:buClr>
            </a:pPr>
            <a:r>
              <a:rPr lang="en-US" sz="2400" b="1" dirty="0">
                <a:solidFill>
                  <a:srgbClr val="0070C0"/>
                </a:solidFill>
              </a:rPr>
              <a:t>Compute</a:t>
            </a:r>
            <a:r>
              <a:rPr lang="en-US" sz="2400" dirty="0"/>
              <a:t> an </a:t>
            </a:r>
            <a:r>
              <a:rPr lang="en-US" sz="2400" b="1" dirty="0"/>
              <a:t>MST</a:t>
            </a:r>
            <a:r>
              <a:rPr lang="en-US" sz="2400" dirty="0"/>
              <a:t> for </a:t>
            </a:r>
            <a:r>
              <a:rPr lang="en-US" sz="2400" b="1" i="1" dirty="0"/>
              <a:t>G</a:t>
            </a:r>
            <a:r>
              <a:rPr lang="en-US" sz="2400" dirty="0"/>
              <a:t> from </a:t>
            </a:r>
            <a:r>
              <a:rPr lang="en-US" sz="2400" b="1" dirty="0">
                <a:solidFill>
                  <a:srgbClr val="0070C0"/>
                </a:solidFill>
              </a:rPr>
              <a:t>root</a:t>
            </a:r>
            <a:r>
              <a:rPr lang="en-US" sz="2400" dirty="0"/>
              <a:t> r using </a:t>
            </a:r>
            <a:r>
              <a:rPr lang="en-US" sz="2400" b="1" i="1" dirty="0">
                <a:solidFill>
                  <a:srgbClr val="002060"/>
                </a:solidFill>
              </a:rPr>
              <a:t>Prim’s Alg</a:t>
            </a:r>
            <a:r>
              <a:rPr lang="en-US" sz="2400" dirty="0"/>
              <a:t>.</a:t>
            </a:r>
          </a:p>
          <a:p>
            <a:pPr>
              <a:buClr>
                <a:srgbClr val="008000"/>
              </a:buClr>
            </a:pPr>
            <a:r>
              <a:rPr lang="en-US" sz="2400" b="1" i="1" dirty="0"/>
              <a:t>L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0070C0"/>
                </a:solidFill>
              </a:rPr>
              <a:t>list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in </a:t>
            </a:r>
            <a:r>
              <a:rPr lang="en-US" sz="2400" b="1" i="1" dirty="0">
                <a:solidFill>
                  <a:srgbClr val="FF0000"/>
                </a:solidFill>
              </a:rPr>
              <a:t>preorder</a:t>
            </a:r>
            <a:r>
              <a:rPr lang="en-US" sz="2400" b="1" i="1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walk</a:t>
            </a:r>
            <a:r>
              <a:rPr lang="en-US" sz="2400" dirty="0"/>
              <a:t> of that </a:t>
            </a:r>
            <a:r>
              <a:rPr lang="en-US" sz="2400" b="1" dirty="0"/>
              <a:t>MST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000" b="1" dirty="0">
                <a:solidFill>
                  <a:srgbClr val="0070C0"/>
                </a:solidFill>
              </a:rPr>
              <a:t>Preorder</a:t>
            </a:r>
            <a:r>
              <a:rPr lang="en-US" sz="2000" dirty="0"/>
              <a:t> means you </a:t>
            </a:r>
            <a:r>
              <a:rPr lang="en-US" sz="2000" b="1" dirty="0">
                <a:solidFill>
                  <a:srgbClr val="0070C0"/>
                </a:solidFill>
              </a:rPr>
              <a:t>visit</a:t>
            </a:r>
            <a:r>
              <a:rPr lang="en-US" sz="2000" dirty="0"/>
              <a:t> the </a:t>
            </a:r>
            <a:r>
              <a:rPr lang="en-US" sz="2000" b="1" dirty="0">
                <a:solidFill>
                  <a:srgbClr val="0070C0"/>
                </a:solidFill>
              </a:rPr>
              <a:t>root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first</a:t>
            </a:r>
            <a:r>
              <a:rPr lang="en-US" sz="2000" dirty="0"/>
              <a:t> and then the </a:t>
            </a:r>
            <a:r>
              <a:rPr lang="en-US" sz="2000" b="1" dirty="0">
                <a:solidFill>
                  <a:srgbClr val="0070C0"/>
                </a:solidFill>
              </a:rPr>
              <a:t>children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left</a:t>
            </a:r>
            <a:r>
              <a:rPr lang="en-US" sz="2000" dirty="0"/>
              <a:t> to </a:t>
            </a:r>
            <a:r>
              <a:rPr lang="en-US" sz="2000" b="1" dirty="0">
                <a:solidFill>
                  <a:srgbClr val="0070C0"/>
                </a:solidFill>
              </a:rPr>
              <a:t>right</a:t>
            </a:r>
            <a:r>
              <a:rPr lang="en-US" sz="2000" dirty="0"/>
              <a:t>.</a:t>
            </a:r>
          </a:p>
          <a:p>
            <a:pPr>
              <a:buClr>
                <a:srgbClr val="008000"/>
              </a:buClr>
            </a:pPr>
            <a:r>
              <a:rPr lang="en-US" sz="2400" dirty="0"/>
              <a:t>Return the </a:t>
            </a:r>
            <a:r>
              <a:rPr lang="en-US" sz="2400" b="1" dirty="0">
                <a:solidFill>
                  <a:srgbClr val="0070C0"/>
                </a:solidFill>
              </a:rPr>
              <a:t>Hamiltonian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cycle</a:t>
            </a:r>
            <a:r>
              <a:rPr lang="en-US" sz="2400" dirty="0"/>
              <a:t> </a:t>
            </a:r>
            <a:r>
              <a:rPr lang="en-US" sz="2400" b="1" i="1" dirty="0"/>
              <a:t>H</a:t>
            </a:r>
            <a:r>
              <a:rPr lang="en-US" sz="2400" dirty="0"/>
              <a:t> in the </a:t>
            </a:r>
            <a:r>
              <a:rPr lang="en-US" sz="2400" b="1" dirty="0">
                <a:solidFill>
                  <a:srgbClr val="0070C0"/>
                </a:solidFill>
              </a:rPr>
              <a:t>order</a:t>
            </a:r>
            <a:r>
              <a:rPr lang="en-US" sz="2400" dirty="0"/>
              <a:t> </a:t>
            </a:r>
            <a:r>
              <a:rPr lang="en-US" sz="2400" b="1" i="1" dirty="0"/>
              <a:t>L</a:t>
            </a:r>
            <a:r>
              <a:rPr lang="en-US" sz="2400" dirty="0"/>
              <a:t>.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767408" y="292585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Euclidean TSP Approximation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Preorder Tree Traversal | Iterative &amp; Recursive - Techie Delight">
            <a:extLst>
              <a:ext uri="{FF2B5EF4-FFF2-40B4-BE49-F238E27FC236}">
                <a16:creationId xmlns:a16="http://schemas.microsoft.com/office/drawing/2014/main" id="{A47FFB82-AE3E-4341-BB0C-95DBBD67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821" y="1057160"/>
            <a:ext cx="3120859" cy="400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nking in Minimum Spanning Trees – sixhat.net">
            <a:extLst>
              <a:ext uri="{FF2B5EF4-FFF2-40B4-BE49-F238E27FC236}">
                <a16:creationId xmlns:a16="http://schemas.microsoft.com/office/drawing/2014/main" id="{03EA7BDB-7935-47C0-BA5C-511B4BE1A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4009268"/>
            <a:ext cx="3312368" cy="269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062A83-DD55-4ADD-B99C-77AE8C98B16D}"/>
              </a:ext>
            </a:extLst>
          </p:cNvPr>
          <p:cNvSpPr txBox="1"/>
          <p:nvPr/>
        </p:nvSpPr>
        <p:spPr>
          <a:xfrm>
            <a:off x="4216030" y="5755947"/>
            <a:ext cx="501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that a spanning tree is not necessarily binary.</a:t>
            </a:r>
            <a:endParaRPr lang="en-GB" sz="18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2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56544" y="296696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Euclidean TSP Approximation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" name="Group 178"/>
          <p:cNvGrpSpPr>
            <a:grpSpLocks/>
          </p:cNvGrpSpPr>
          <p:nvPr/>
        </p:nvGrpSpPr>
        <p:grpSpPr bwMode="auto">
          <a:xfrm>
            <a:off x="1620563" y="1371600"/>
            <a:ext cx="3243263" cy="2514600"/>
            <a:chOff x="165" y="864"/>
            <a:chExt cx="2043" cy="1584"/>
          </a:xfrm>
        </p:grpSpPr>
        <p:grpSp>
          <p:nvGrpSpPr>
            <p:cNvPr id="5" name="Group 53"/>
            <p:cNvGrpSpPr>
              <a:grpSpLocks/>
            </p:cNvGrpSpPr>
            <p:nvPr/>
          </p:nvGrpSpPr>
          <p:grpSpPr bwMode="auto">
            <a:xfrm>
              <a:off x="336" y="1200"/>
              <a:ext cx="1872" cy="1248"/>
              <a:chOff x="336" y="1200"/>
              <a:chExt cx="1872" cy="1248"/>
            </a:xfrm>
          </p:grpSpPr>
          <p:grpSp>
            <p:nvGrpSpPr>
              <p:cNvPr id="7" name="Group 23"/>
              <p:cNvGrpSpPr>
                <a:grpSpLocks/>
              </p:cNvGrpSpPr>
              <p:nvPr/>
            </p:nvGrpSpPr>
            <p:grpSpPr bwMode="auto">
              <a:xfrm>
                <a:off x="528" y="1344"/>
                <a:ext cx="1536" cy="912"/>
                <a:chOff x="576" y="1680"/>
                <a:chExt cx="1824" cy="1200"/>
              </a:xfrm>
            </p:grpSpPr>
            <p:sp>
              <p:nvSpPr>
                <p:cNvPr id="10" name="AutoShape 7"/>
                <p:cNvSpPr>
                  <a:spLocks noChangeArrowheads="1"/>
                </p:cNvSpPr>
                <p:nvPr/>
              </p:nvSpPr>
              <p:spPr bwMode="auto">
                <a:xfrm>
                  <a:off x="912" y="1680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just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1" name="AutoShape 8"/>
                <p:cNvSpPr>
                  <a:spLocks noChangeArrowheads="1"/>
                </p:cNvSpPr>
                <p:nvPr/>
              </p:nvSpPr>
              <p:spPr bwMode="auto">
                <a:xfrm>
                  <a:off x="1536" y="1680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just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2" name="AutoShape 9"/>
                <p:cNvSpPr>
                  <a:spLocks noChangeArrowheads="1"/>
                </p:cNvSpPr>
                <p:nvPr/>
              </p:nvSpPr>
              <p:spPr bwMode="auto">
                <a:xfrm>
                  <a:off x="576" y="2688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just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3" name="AutoShape 10"/>
                <p:cNvSpPr>
                  <a:spLocks noChangeArrowheads="1"/>
                </p:cNvSpPr>
                <p:nvPr/>
              </p:nvSpPr>
              <p:spPr bwMode="auto">
                <a:xfrm>
                  <a:off x="1872" y="1968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4" name="AutoShape 11"/>
                <p:cNvSpPr>
                  <a:spLocks noChangeArrowheads="1"/>
                </p:cNvSpPr>
                <p:nvPr/>
              </p:nvSpPr>
              <p:spPr bwMode="auto">
                <a:xfrm>
                  <a:off x="912" y="2256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just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" name="AutoShape 12"/>
                <p:cNvSpPr>
                  <a:spLocks noChangeArrowheads="1"/>
                </p:cNvSpPr>
                <p:nvPr/>
              </p:nvSpPr>
              <p:spPr bwMode="auto">
                <a:xfrm>
                  <a:off x="1536" y="2256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just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6" name="AutoShape 13"/>
                <p:cNvSpPr>
                  <a:spLocks noChangeArrowheads="1"/>
                </p:cNvSpPr>
                <p:nvPr/>
              </p:nvSpPr>
              <p:spPr bwMode="auto">
                <a:xfrm>
                  <a:off x="1200" y="2688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just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7" name="AutoShape 22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192" cy="192"/>
                </a:xfrm>
                <a:prstGeom prst="flowChartConnector">
                  <a:avLst/>
                </a:prstGeom>
                <a:solidFill>
                  <a:srgbClr val="2ED479"/>
                </a:solidFill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</p:grpSp>
          <p:sp>
            <p:nvSpPr>
              <p:cNvPr id="9" name="AutoShape 52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872" cy="124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" name="AutoShape 171"/>
            <p:cNvSpPr>
              <a:spLocks noChangeArrowheads="1"/>
            </p:cNvSpPr>
            <p:nvPr/>
          </p:nvSpPr>
          <p:spPr bwMode="auto">
            <a:xfrm>
              <a:off x="165" y="864"/>
              <a:ext cx="603" cy="240"/>
            </a:xfrm>
            <a:prstGeom prst="wedgeRectCallout">
              <a:avLst>
                <a:gd name="adj1" fmla="val 60255"/>
                <a:gd name="adj2" fmla="val 166135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0000"/>
                  </a:solidFill>
                </a:rPr>
                <a:t>root</a:t>
              </a:r>
            </a:p>
          </p:txBody>
        </p:sp>
      </p:grpSp>
      <p:grpSp>
        <p:nvGrpSpPr>
          <p:cNvPr id="18" name="Group 175"/>
          <p:cNvGrpSpPr>
            <a:grpSpLocks/>
          </p:cNvGrpSpPr>
          <p:nvPr/>
        </p:nvGrpSpPr>
        <p:grpSpPr bwMode="auto">
          <a:xfrm>
            <a:off x="6110584" y="1371600"/>
            <a:ext cx="2971800" cy="2514600"/>
            <a:chOff x="3024" y="864"/>
            <a:chExt cx="1872" cy="1584"/>
          </a:xfrm>
        </p:grpSpPr>
        <p:grpSp>
          <p:nvGrpSpPr>
            <p:cNvPr id="19" name="Group 130"/>
            <p:cNvGrpSpPr>
              <a:grpSpLocks/>
            </p:cNvGrpSpPr>
            <p:nvPr/>
          </p:nvGrpSpPr>
          <p:grpSpPr bwMode="auto">
            <a:xfrm>
              <a:off x="3024" y="1200"/>
              <a:ext cx="1872" cy="1248"/>
              <a:chOff x="3024" y="1248"/>
              <a:chExt cx="1872" cy="1248"/>
            </a:xfrm>
          </p:grpSpPr>
          <p:grpSp>
            <p:nvGrpSpPr>
              <p:cNvPr id="21" name="Group 54"/>
              <p:cNvGrpSpPr>
                <a:grpSpLocks/>
              </p:cNvGrpSpPr>
              <p:nvPr/>
            </p:nvGrpSpPr>
            <p:grpSpPr bwMode="auto">
              <a:xfrm>
                <a:off x="3024" y="1248"/>
                <a:ext cx="1872" cy="1248"/>
                <a:chOff x="336" y="1200"/>
                <a:chExt cx="1872" cy="1248"/>
              </a:xfrm>
            </p:grpSpPr>
            <p:grpSp>
              <p:nvGrpSpPr>
                <p:cNvPr id="29" name="Group 55"/>
                <p:cNvGrpSpPr>
                  <a:grpSpLocks/>
                </p:cNvGrpSpPr>
                <p:nvPr/>
              </p:nvGrpSpPr>
              <p:grpSpPr bwMode="auto">
                <a:xfrm>
                  <a:off x="528" y="1344"/>
                  <a:ext cx="1536" cy="912"/>
                  <a:chOff x="576" y="1680"/>
                  <a:chExt cx="1824" cy="1200"/>
                </a:xfrm>
              </p:grpSpPr>
              <p:sp>
                <p:nvSpPr>
                  <p:cNvPr id="31" name="AutoShape 56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1680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2" name="AutoShape 5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80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3" name="AutoShape 58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688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4" name="AutoShape 59"/>
                  <p:cNvSpPr>
                    <a:spLocks noChangeArrowheads="1"/>
                  </p:cNvSpPr>
                  <p:nvPr/>
                </p:nvSpPr>
                <p:spPr bwMode="auto">
                  <a:xfrm>
                    <a:off x="1872" y="1968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5" name="AutoShape 60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2256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6" name="AutoShape 61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56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7" name="AutoShape 62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88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8" name="AutoShape 63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</p:grpSp>
            <p:sp>
              <p:nvSpPr>
                <p:cNvPr id="30" name="AutoShape 64"/>
                <p:cNvSpPr>
                  <a:spLocks noChangeArrowheads="1"/>
                </p:cNvSpPr>
                <p:nvPr/>
              </p:nvSpPr>
              <p:spPr bwMode="auto">
                <a:xfrm>
                  <a:off x="336" y="1200"/>
                  <a:ext cx="1872" cy="124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2" name="Line 89"/>
              <p:cNvSpPr>
                <a:spLocks noChangeShapeType="1"/>
              </p:cNvSpPr>
              <p:nvPr/>
            </p:nvSpPr>
            <p:spPr bwMode="auto">
              <a:xfrm flipV="1">
                <a:off x="3600" y="1536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90"/>
              <p:cNvSpPr>
                <a:spLocks noChangeShapeType="1"/>
              </p:cNvSpPr>
              <p:nvPr/>
            </p:nvSpPr>
            <p:spPr bwMode="auto">
              <a:xfrm flipV="1">
                <a:off x="3360" y="1968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91"/>
              <p:cNvSpPr>
                <a:spLocks noChangeShapeType="1"/>
              </p:cNvSpPr>
              <p:nvPr/>
            </p:nvSpPr>
            <p:spPr bwMode="auto">
              <a:xfrm flipH="1" flipV="1">
                <a:off x="3648" y="1968"/>
                <a:ext cx="96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92"/>
              <p:cNvSpPr>
                <a:spLocks noChangeShapeType="1"/>
              </p:cNvSpPr>
              <p:nvPr/>
            </p:nvSpPr>
            <p:spPr bwMode="auto">
              <a:xfrm flipH="1" flipV="1">
                <a:off x="3648" y="1488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93"/>
              <p:cNvSpPr>
                <a:spLocks noChangeShapeType="1"/>
              </p:cNvSpPr>
              <p:nvPr/>
            </p:nvSpPr>
            <p:spPr bwMode="auto">
              <a:xfrm flipH="1" flipV="1">
                <a:off x="4176" y="1488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94"/>
              <p:cNvSpPr>
                <a:spLocks noChangeShapeType="1"/>
              </p:cNvSpPr>
              <p:nvPr/>
            </p:nvSpPr>
            <p:spPr bwMode="auto">
              <a:xfrm flipV="1">
                <a:off x="4176" y="1728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95"/>
              <p:cNvSpPr>
                <a:spLocks noChangeShapeType="1"/>
              </p:cNvSpPr>
              <p:nvPr/>
            </p:nvSpPr>
            <p:spPr bwMode="auto">
              <a:xfrm flipH="1" flipV="1">
                <a:off x="4464" y="1728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AutoShape 172"/>
            <p:cNvSpPr>
              <a:spLocks noChangeArrowheads="1"/>
            </p:cNvSpPr>
            <p:nvPr/>
          </p:nvSpPr>
          <p:spPr bwMode="auto">
            <a:xfrm>
              <a:off x="3932" y="864"/>
              <a:ext cx="913" cy="240"/>
            </a:xfrm>
            <a:prstGeom prst="wedgeRectCallout">
              <a:avLst>
                <a:gd name="adj1" fmla="val -76043"/>
                <a:gd name="adj2" fmla="val 161135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0000"/>
                  </a:solidFill>
                </a:rPr>
                <a:t>MST</a:t>
              </a:r>
            </a:p>
          </p:txBody>
        </p:sp>
      </p:grpSp>
      <p:grpSp>
        <p:nvGrpSpPr>
          <p:cNvPr id="39" name="Group 177"/>
          <p:cNvGrpSpPr>
            <a:grpSpLocks/>
          </p:cNvGrpSpPr>
          <p:nvPr/>
        </p:nvGrpSpPr>
        <p:grpSpPr bwMode="auto">
          <a:xfrm>
            <a:off x="1892024" y="3962400"/>
            <a:ext cx="4114800" cy="2133600"/>
            <a:chOff x="336" y="2496"/>
            <a:chExt cx="2592" cy="1344"/>
          </a:xfrm>
        </p:grpSpPr>
        <p:grpSp>
          <p:nvGrpSpPr>
            <p:cNvPr id="40" name="Group 166"/>
            <p:cNvGrpSpPr>
              <a:grpSpLocks/>
            </p:cNvGrpSpPr>
            <p:nvPr/>
          </p:nvGrpSpPr>
          <p:grpSpPr bwMode="auto">
            <a:xfrm>
              <a:off x="336" y="2592"/>
              <a:ext cx="1872" cy="1248"/>
              <a:chOff x="336" y="2592"/>
              <a:chExt cx="1872" cy="1248"/>
            </a:xfrm>
          </p:grpSpPr>
          <p:grpSp>
            <p:nvGrpSpPr>
              <p:cNvPr id="42" name="Group 152"/>
              <p:cNvGrpSpPr>
                <a:grpSpLocks/>
              </p:cNvGrpSpPr>
              <p:nvPr/>
            </p:nvGrpSpPr>
            <p:grpSpPr bwMode="auto">
              <a:xfrm>
                <a:off x="336" y="2592"/>
                <a:ext cx="1872" cy="1248"/>
                <a:chOff x="336" y="2592"/>
                <a:chExt cx="1872" cy="1248"/>
              </a:xfrm>
            </p:grpSpPr>
            <p:grpSp>
              <p:nvGrpSpPr>
                <p:cNvPr id="45" name="Group 131"/>
                <p:cNvGrpSpPr>
                  <a:grpSpLocks/>
                </p:cNvGrpSpPr>
                <p:nvPr/>
              </p:nvGrpSpPr>
              <p:grpSpPr bwMode="auto">
                <a:xfrm>
                  <a:off x="336" y="2592"/>
                  <a:ext cx="1872" cy="1248"/>
                  <a:chOff x="3024" y="1248"/>
                  <a:chExt cx="1872" cy="1248"/>
                </a:xfrm>
              </p:grpSpPr>
              <p:grpSp>
                <p:nvGrpSpPr>
                  <p:cNvPr id="47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3024" y="1248"/>
                    <a:ext cx="1872" cy="1248"/>
                    <a:chOff x="336" y="1200"/>
                    <a:chExt cx="1872" cy="1248"/>
                  </a:xfrm>
                </p:grpSpPr>
                <p:grpSp>
                  <p:nvGrpSpPr>
                    <p:cNvPr id="55" name="Group 1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1344"/>
                      <a:ext cx="1536" cy="912"/>
                      <a:chOff x="576" y="1680"/>
                      <a:chExt cx="1824" cy="1200"/>
                    </a:xfrm>
                  </p:grpSpPr>
                  <p:sp>
                    <p:nvSpPr>
                      <p:cNvPr id="57" name="AutoShape 1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12" y="1680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just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58" name="AutoShap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680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just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59" name="AutoShape 1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2688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just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60" name="AutoShape 1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1968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61" name="AutoShap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12" y="2256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just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62" name="AutoShap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2256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just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63" name="AutoShape 1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200" y="2688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just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  <p:sp>
                    <p:nvSpPr>
                      <p:cNvPr id="64" name="AutoShape 1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08" y="2256"/>
                        <a:ext cx="192" cy="192"/>
                      </a:xfrm>
                      <a:prstGeom prst="flowChartConnector">
                        <a:avLst/>
                      </a:prstGeom>
                      <a:solidFill>
                        <a:srgbClr val="2ED479"/>
                      </a:solidFill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/>
                        <a:endParaRPr lang="en-US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56" name="AutoShape 1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" y="1200"/>
                      <a:ext cx="1872" cy="1248"/>
                    </a:xfrm>
                    <a:prstGeom prst="flowChartProcess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8" name="Line 1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00" y="1536"/>
                    <a:ext cx="0" cy="28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" name="Line 1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60" y="1968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0" name="Line 14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648" y="1968"/>
                    <a:ext cx="96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1" name="Line 14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648" y="1488"/>
                    <a:ext cx="384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" name="Line 14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176" y="1488"/>
                    <a:ext cx="144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3" name="Line 1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76" y="1728"/>
                    <a:ext cx="144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4" name="Line 14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64" y="1728"/>
                    <a:ext cx="144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6" name="Freeform 150"/>
                <p:cNvSpPr>
                  <a:spLocks/>
                </p:cNvSpPr>
                <p:nvPr/>
              </p:nvSpPr>
              <p:spPr bwMode="auto">
                <a:xfrm>
                  <a:off x="432" y="2688"/>
                  <a:ext cx="1720" cy="1104"/>
                </a:xfrm>
                <a:custGeom>
                  <a:avLst/>
                  <a:gdLst>
                    <a:gd name="T0" fmla="*/ 312 w 1720"/>
                    <a:gd name="T1" fmla="*/ 104 h 1104"/>
                    <a:gd name="T2" fmla="*/ 312 w 1720"/>
                    <a:gd name="T3" fmla="*/ 488 h 1104"/>
                    <a:gd name="T4" fmla="*/ 120 w 1720"/>
                    <a:gd name="T5" fmla="*/ 728 h 1104"/>
                    <a:gd name="T6" fmla="*/ 24 w 1720"/>
                    <a:gd name="T7" fmla="*/ 824 h 1104"/>
                    <a:gd name="T8" fmla="*/ 24 w 1720"/>
                    <a:gd name="T9" fmla="*/ 968 h 1104"/>
                    <a:gd name="T10" fmla="*/ 168 w 1720"/>
                    <a:gd name="T11" fmla="*/ 1064 h 1104"/>
                    <a:gd name="T12" fmla="*/ 312 w 1720"/>
                    <a:gd name="T13" fmla="*/ 968 h 1104"/>
                    <a:gd name="T14" fmla="*/ 408 w 1720"/>
                    <a:gd name="T15" fmla="*/ 776 h 1104"/>
                    <a:gd name="T16" fmla="*/ 552 w 1720"/>
                    <a:gd name="T17" fmla="*/ 1064 h 1104"/>
                    <a:gd name="T18" fmla="*/ 792 w 1720"/>
                    <a:gd name="T19" fmla="*/ 1016 h 1104"/>
                    <a:gd name="T20" fmla="*/ 840 w 1720"/>
                    <a:gd name="T21" fmla="*/ 776 h 1104"/>
                    <a:gd name="T22" fmla="*/ 648 w 1720"/>
                    <a:gd name="T23" fmla="*/ 584 h 1104"/>
                    <a:gd name="T24" fmla="*/ 600 w 1720"/>
                    <a:gd name="T25" fmla="*/ 296 h 1104"/>
                    <a:gd name="T26" fmla="*/ 888 w 1720"/>
                    <a:gd name="T27" fmla="*/ 296 h 1104"/>
                    <a:gd name="T28" fmla="*/ 984 w 1720"/>
                    <a:gd name="T29" fmla="*/ 344 h 1104"/>
                    <a:gd name="T30" fmla="*/ 792 w 1720"/>
                    <a:gd name="T31" fmla="*/ 488 h 1104"/>
                    <a:gd name="T32" fmla="*/ 840 w 1720"/>
                    <a:gd name="T33" fmla="*/ 680 h 1104"/>
                    <a:gd name="T34" fmla="*/ 1032 w 1720"/>
                    <a:gd name="T35" fmla="*/ 728 h 1104"/>
                    <a:gd name="T36" fmla="*/ 1176 w 1720"/>
                    <a:gd name="T37" fmla="*/ 584 h 1104"/>
                    <a:gd name="T38" fmla="*/ 1272 w 1720"/>
                    <a:gd name="T39" fmla="*/ 536 h 1104"/>
                    <a:gd name="T40" fmla="*/ 1416 w 1720"/>
                    <a:gd name="T41" fmla="*/ 680 h 1104"/>
                    <a:gd name="T42" fmla="*/ 1512 w 1720"/>
                    <a:gd name="T43" fmla="*/ 728 h 1104"/>
                    <a:gd name="T44" fmla="*/ 1656 w 1720"/>
                    <a:gd name="T45" fmla="*/ 680 h 1104"/>
                    <a:gd name="T46" fmla="*/ 1704 w 1720"/>
                    <a:gd name="T47" fmla="*/ 488 h 1104"/>
                    <a:gd name="T48" fmla="*/ 1560 w 1720"/>
                    <a:gd name="T49" fmla="*/ 392 h 1104"/>
                    <a:gd name="T50" fmla="*/ 1416 w 1720"/>
                    <a:gd name="T51" fmla="*/ 296 h 1104"/>
                    <a:gd name="T52" fmla="*/ 1224 w 1720"/>
                    <a:gd name="T53" fmla="*/ 56 h 1104"/>
                    <a:gd name="T54" fmla="*/ 1032 w 1720"/>
                    <a:gd name="T55" fmla="*/ 8 h 1104"/>
                    <a:gd name="T56" fmla="*/ 648 w 1720"/>
                    <a:gd name="T57" fmla="*/ 8 h 1104"/>
                    <a:gd name="T58" fmla="*/ 456 w 1720"/>
                    <a:gd name="T59" fmla="*/ 8 h 1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720" h="1104">
                      <a:moveTo>
                        <a:pt x="312" y="104"/>
                      </a:moveTo>
                      <a:cubicBezTo>
                        <a:pt x="328" y="244"/>
                        <a:pt x="344" y="384"/>
                        <a:pt x="312" y="488"/>
                      </a:cubicBezTo>
                      <a:cubicBezTo>
                        <a:pt x="280" y="592"/>
                        <a:pt x="168" y="672"/>
                        <a:pt x="120" y="728"/>
                      </a:cubicBezTo>
                      <a:cubicBezTo>
                        <a:pt x="72" y="784"/>
                        <a:pt x="40" y="784"/>
                        <a:pt x="24" y="824"/>
                      </a:cubicBezTo>
                      <a:cubicBezTo>
                        <a:pt x="8" y="864"/>
                        <a:pt x="0" y="928"/>
                        <a:pt x="24" y="968"/>
                      </a:cubicBezTo>
                      <a:cubicBezTo>
                        <a:pt x="48" y="1008"/>
                        <a:pt x="120" y="1064"/>
                        <a:pt x="168" y="1064"/>
                      </a:cubicBezTo>
                      <a:cubicBezTo>
                        <a:pt x="216" y="1064"/>
                        <a:pt x="272" y="1016"/>
                        <a:pt x="312" y="968"/>
                      </a:cubicBezTo>
                      <a:cubicBezTo>
                        <a:pt x="352" y="920"/>
                        <a:pt x="368" y="760"/>
                        <a:pt x="408" y="776"/>
                      </a:cubicBezTo>
                      <a:cubicBezTo>
                        <a:pt x="448" y="792"/>
                        <a:pt x="488" y="1024"/>
                        <a:pt x="552" y="1064"/>
                      </a:cubicBezTo>
                      <a:cubicBezTo>
                        <a:pt x="616" y="1104"/>
                        <a:pt x="744" y="1064"/>
                        <a:pt x="792" y="1016"/>
                      </a:cubicBezTo>
                      <a:cubicBezTo>
                        <a:pt x="840" y="968"/>
                        <a:pt x="864" y="848"/>
                        <a:pt x="840" y="776"/>
                      </a:cubicBezTo>
                      <a:cubicBezTo>
                        <a:pt x="816" y="704"/>
                        <a:pt x="688" y="664"/>
                        <a:pt x="648" y="584"/>
                      </a:cubicBezTo>
                      <a:cubicBezTo>
                        <a:pt x="608" y="504"/>
                        <a:pt x="560" y="344"/>
                        <a:pt x="600" y="296"/>
                      </a:cubicBezTo>
                      <a:cubicBezTo>
                        <a:pt x="640" y="248"/>
                        <a:pt x="824" y="288"/>
                        <a:pt x="888" y="296"/>
                      </a:cubicBezTo>
                      <a:cubicBezTo>
                        <a:pt x="952" y="304"/>
                        <a:pt x="1000" y="312"/>
                        <a:pt x="984" y="344"/>
                      </a:cubicBezTo>
                      <a:cubicBezTo>
                        <a:pt x="968" y="376"/>
                        <a:pt x="816" y="432"/>
                        <a:pt x="792" y="488"/>
                      </a:cubicBezTo>
                      <a:cubicBezTo>
                        <a:pt x="768" y="544"/>
                        <a:pt x="800" y="640"/>
                        <a:pt x="840" y="680"/>
                      </a:cubicBezTo>
                      <a:cubicBezTo>
                        <a:pt x="880" y="720"/>
                        <a:pt x="976" y="744"/>
                        <a:pt x="1032" y="728"/>
                      </a:cubicBezTo>
                      <a:cubicBezTo>
                        <a:pt x="1088" y="712"/>
                        <a:pt x="1136" y="616"/>
                        <a:pt x="1176" y="584"/>
                      </a:cubicBezTo>
                      <a:cubicBezTo>
                        <a:pt x="1216" y="552"/>
                        <a:pt x="1232" y="520"/>
                        <a:pt x="1272" y="536"/>
                      </a:cubicBezTo>
                      <a:cubicBezTo>
                        <a:pt x="1312" y="552"/>
                        <a:pt x="1376" y="648"/>
                        <a:pt x="1416" y="680"/>
                      </a:cubicBezTo>
                      <a:cubicBezTo>
                        <a:pt x="1456" y="712"/>
                        <a:pt x="1472" y="728"/>
                        <a:pt x="1512" y="728"/>
                      </a:cubicBezTo>
                      <a:cubicBezTo>
                        <a:pt x="1552" y="728"/>
                        <a:pt x="1624" y="720"/>
                        <a:pt x="1656" y="680"/>
                      </a:cubicBezTo>
                      <a:cubicBezTo>
                        <a:pt x="1688" y="640"/>
                        <a:pt x="1720" y="536"/>
                        <a:pt x="1704" y="488"/>
                      </a:cubicBezTo>
                      <a:cubicBezTo>
                        <a:pt x="1688" y="440"/>
                        <a:pt x="1608" y="424"/>
                        <a:pt x="1560" y="392"/>
                      </a:cubicBezTo>
                      <a:cubicBezTo>
                        <a:pt x="1512" y="360"/>
                        <a:pt x="1472" y="352"/>
                        <a:pt x="1416" y="296"/>
                      </a:cubicBezTo>
                      <a:cubicBezTo>
                        <a:pt x="1360" y="240"/>
                        <a:pt x="1288" y="104"/>
                        <a:pt x="1224" y="56"/>
                      </a:cubicBezTo>
                      <a:cubicBezTo>
                        <a:pt x="1160" y="8"/>
                        <a:pt x="1128" y="16"/>
                        <a:pt x="1032" y="8"/>
                      </a:cubicBezTo>
                      <a:cubicBezTo>
                        <a:pt x="936" y="0"/>
                        <a:pt x="744" y="8"/>
                        <a:pt x="648" y="8"/>
                      </a:cubicBezTo>
                      <a:cubicBezTo>
                        <a:pt x="552" y="8"/>
                        <a:pt x="504" y="8"/>
                        <a:pt x="456" y="8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3" name="AutoShape 151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96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AutoShape 164"/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96" cy="192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" name="AutoShape 173"/>
            <p:cNvSpPr>
              <a:spLocks noChangeArrowheads="1"/>
            </p:cNvSpPr>
            <p:nvPr/>
          </p:nvSpPr>
          <p:spPr bwMode="auto">
            <a:xfrm>
              <a:off x="1776" y="2496"/>
              <a:ext cx="1152" cy="240"/>
            </a:xfrm>
            <a:prstGeom prst="wedgeRectCallout">
              <a:avLst>
                <a:gd name="adj1" fmla="val -47829"/>
                <a:gd name="adj2" fmla="val 109583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FF0000"/>
                  </a:solidFill>
                </a:rPr>
                <a:t>Pre-Order walk</a:t>
              </a:r>
            </a:p>
          </p:txBody>
        </p:sp>
      </p:grpSp>
      <p:grpSp>
        <p:nvGrpSpPr>
          <p:cNvPr id="65" name="Group 176"/>
          <p:cNvGrpSpPr>
            <a:grpSpLocks/>
          </p:cNvGrpSpPr>
          <p:nvPr/>
        </p:nvGrpSpPr>
        <p:grpSpPr bwMode="auto">
          <a:xfrm>
            <a:off x="6110586" y="4114802"/>
            <a:ext cx="3122613" cy="2170113"/>
            <a:chOff x="3024" y="2592"/>
            <a:chExt cx="1967" cy="1367"/>
          </a:xfrm>
        </p:grpSpPr>
        <p:grpSp>
          <p:nvGrpSpPr>
            <p:cNvPr id="66" name="Group 163"/>
            <p:cNvGrpSpPr>
              <a:grpSpLocks/>
            </p:cNvGrpSpPr>
            <p:nvPr/>
          </p:nvGrpSpPr>
          <p:grpSpPr bwMode="auto">
            <a:xfrm>
              <a:off x="3024" y="2592"/>
              <a:ext cx="1872" cy="1248"/>
              <a:chOff x="3024" y="2592"/>
              <a:chExt cx="1872" cy="1248"/>
            </a:xfrm>
          </p:grpSpPr>
          <p:sp>
            <p:nvSpPr>
              <p:cNvPr id="68" name="Line 158"/>
              <p:cNvSpPr>
                <a:spLocks noChangeShapeType="1"/>
              </p:cNvSpPr>
              <p:nvPr/>
            </p:nvSpPr>
            <p:spPr bwMode="auto">
              <a:xfrm flipV="1">
                <a:off x="3840" y="2880"/>
                <a:ext cx="240" cy="67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9" name="Group 76"/>
              <p:cNvGrpSpPr>
                <a:grpSpLocks/>
              </p:cNvGrpSpPr>
              <p:nvPr/>
            </p:nvGrpSpPr>
            <p:grpSpPr bwMode="auto">
              <a:xfrm>
                <a:off x="3024" y="2592"/>
                <a:ext cx="1872" cy="1248"/>
                <a:chOff x="336" y="1200"/>
                <a:chExt cx="1872" cy="1248"/>
              </a:xfrm>
            </p:grpSpPr>
            <p:grpSp>
              <p:nvGrpSpPr>
                <p:cNvPr id="77" name="Group 77"/>
                <p:cNvGrpSpPr>
                  <a:grpSpLocks/>
                </p:cNvGrpSpPr>
                <p:nvPr/>
              </p:nvGrpSpPr>
              <p:grpSpPr bwMode="auto">
                <a:xfrm>
                  <a:off x="528" y="1344"/>
                  <a:ext cx="1536" cy="912"/>
                  <a:chOff x="576" y="1680"/>
                  <a:chExt cx="1824" cy="1200"/>
                </a:xfrm>
              </p:grpSpPr>
              <p:sp>
                <p:nvSpPr>
                  <p:cNvPr id="79" name="AutoShape 78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1680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0" name="AutoShape 79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80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1" name="AutoShape 80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688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2" name="AutoShape 81"/>
                  <p:cNvSpPr>
                    <a:spLocks noChangeArrowheads="1"/>
                  </p:cNvSpPr>
                  <p:nvPr/>
                </p:nvSpPr>
                <p:spPr bwMode="auto">
                  <a:xfrm>
                    <a:off x="1872" y="1968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3" name="AutoShape 82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2256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4" name="AutoShape 83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56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5" name="AutoShape 84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88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just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86" name="AutoShape 85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192" cy="192"/>
                  </a:xfrm>
                  <a:prstGeom prst="flowChartConnector">
                    <a:avLst/>
                  </a:prstGeom>
                  <a:solidFill>
                    <a:srgbClr val="2ED479"/>
                  </a:solidFill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en-US">
                      <a:solidFill>
                        <a:schemeClr val="accent2"/>
                      </a:solidFill>
                    </a:endParaRPr>
                  </a:p>
                </p:txBody>
              </p:sp>
            </p:grpSp>
            <p:sp>
              <p:nvSpPr>
                <p:cNvPr id="78" name="AutoShape 86"/>
                <p:cNvSpPr>
                  <a:spLocks noChangeArrowheads="1"/>
                </p:cNvSpPr>
                <p:nvPr/>
              </p:nvSpPr>
              <p:spPr bwMode="auto">
                <a:xfrm>
                  <a:off x="336" y="1200"/>
                  <a:ext cx="1872" cy="124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0" name="Line 154"/>
              <p:cNvSpPr>
                <a:spLocks noChangeShapeType="1"/>
              </p:cNvSpPr>
              <p:nvPr/>
            </p:nvSpPr>
            <p:spPr bwMode="auto">
              <a:xfrm>
                <a:off x="3552" y="288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155"/>
              <p:cNvSpPr>
                <a:spLocks noChangeShapeType="1"/>
              </p:cNvSpPr>
              <p:nvPr/>
            </p:nvSpPr>
            <p:spPr bwMode="auto">
              <a:xfrm flipH="1">
                <a:off x="3360" y="33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157"/>
              <p:cNvSpPr>
                <a:spLocks noChangeShapeType="1"/>
              </p:cNvSpPr>
              <p:nvPr/>
            </p:nvSpPr>
            <p:spPr bwMode="auto">
              <a:xfrm>
                <a:off x="3360" y="360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159"/>
              <p:cNvSpPr>
                <a:spLocks noChangeShapeType="1"/>
              </p:cNvSpPr>
              <p:nvPr/>
            </p:nvSpPr>
            <p:spPr bwMode="auto">
              <a:xfrm>
                <a:off x="4128" y="288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160"/>
              <p:cNvSpPr>
                <a:spLocks noChangeShapeType="1"/>
              </p:cNvSpPr>
              <p:nvPr/>
            </p:nvSpPr>
            <p:spPr bwMode="auto">
              <a:xfrm flipV="1">
                <a:off x="4176" y="3072"/>
                <a:ext cx="144" cy="19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161"/>
              <p:cNvSpPr>
                <a:spLocks noChangeShapeType="1"/>
              </p:cNvSpPr>
              <p:nvPr/>
            </p:nvSpPr>
            <p:spPr bwMode="auto">
              <a:xfrm>
                <a:off x="4464" y="3072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162"/>
              <p:cNvSpPr>
                <a:spLocks noChangeShapeType="1"/>
              </p:cNvSpPr>
              <p:nvPr/>
            </p:nvSpPr>
            <p:spPr bwMode="auto">
              <a:xfrm flipH="1" flipV="1">
                <a:off x="3648" y="2832"/>
                <a:ext cx="960" cy="43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7" name="AutoShape 174"/>
            <p:cNvSpPr>
              <a:spLocks noChangeArrowheads="1"/>
            </p:cNvSpPr>
            <p:nvPr/>
          </p:nvSpPr>
          <p:spPr bwMode="auto">
            <a:xfrm>
              <a:off x="4031" y="3575"/>
              <a:ext cx="960" cy="384"/>
            </a:xfrm>
            <a:prstGeom prst="wedgeRectCallout">
              <a:avLst>
                <a:gd name="adj1" fmla="val -54082"/>
                <a:gd name="adj2" fmla="val -109695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FF0000"/>
                  </a:solidFill>
                </a:rPr>
                <a:t>Hamiltonian Cycle</a:t>
              </a:r>
            </a:p>
          </p:txBody>
        </p:sp>
      </p:grpSp>
      <p:pic>
        <p:nvPicPr>
          <p:cNvPr id="87" name="Picture 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67408" y="908720"/>
            <a:ext cx="11198494" cy="545879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en-US" sz="2400" b="1" dirty="0"/>
              <a:t>Exercise</a:t>
            </a:r>
          </a:p>
          <a:p>
            <a:pPr>
              <a:buClr>
                <a:srgbClr val="008000"/>
              </a:buClr>
            </a:pPr>
            <a:r>
              <a:rPr lang="en-US" sz="2400" b="1" dirty="0">
                <a:solidFill>
                  <a:srgbClr val="0070C0"/>
                </a:solidFill>
              </a:rPr>
              <a:t>Can</a:t>
            </a:r>
            <a:r>
              <a:rPr lang="en-US" sz="2400" dirty="0"/>
              <a:t> you show why the 2-approximation bound applies for this algorithm?</a:t>
            </a:r>
          </a:p>
          <a:p>
            <a:pPr marL="0" indent="0">
              <a:buClr>
                <a:srgbClr val="008000"/>
              </a:buClr>
              <a:buNone/>
            </a:pPr>
            <a:endParaRPr lang="en-US" sz="2400" dirty="0"/>
          </a:p>
          <a:p>
            <a:pPr marL="0" indent="0">
              <a:buClr>
                <a:srgbClr val="008000"/>
              </a:buClr>
              <a:buNone/>
            </a:pPr>
            <a:r>
              <a:rPr lang="en-US" sz="2400" dirty="0"/>
              <a:t>Hints</a:t>
            </a:r>
          </a:p>
          <a:p>
            <a:pPr>
              <a:buClr>
                <a:srgbClr val="008000"/>
              </a:buClr>
            </a:pPr>
            <a:r>
              <a:rPr lang="en-US" sz="2400" dirty="0"/>
              <a:t>Let </a:t>
            </a:r>
            <a:r>
              <a:rPr lang="en-US" sz="2400" b="1" dirty="0">
                <a:solidFill>
                  <a:srgbClr val="7030A0"/>
                </a:solidFill>
              </a:rPr>
              <a:t>H</a:t>
            </a:r>
            <a:r>
              <a:rPr lang="en-US" sz="2400" dirty="0"/>
              <a:t> be the </a:t>
            </a:r>
            <a:r>
              <a:rPr lang="en-US" sz="2400" b="1" dirty="0">
                <a:solidFill>
                  <a:srgbClr val="0070C0"/>
                </a:solidFill>
              </a:rPr>
              <a:t>Hamiltonian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Cycle</a:t>
            </a:r>
            <a:r>
              <a:rPr lang="en-US" sz="2400" dirty="0"/>
              <a:t> returned by the </a:t>
            </a:r>
            <a:r>
              <a:rPr lang="en-US" sz="2400" b="1" dirty="0">
                <a:solidFill>
                  <a:srgbClr val="0070C0"/>
                </a:solidFill>
              </a:rPr>
              <a:t>algorithm</a:t>
            </a:r>
            <a:r>
              <a:rPr lang="en-US" sz="2400" dirty="0"/>
              <a:t>.</a:t>
            </a:r>
          </a:p>
          <a:p>
            <a:pPr>
              <a:buClr>
                <a:srgbClr val="008000"/>
              </a:buClr>
            </a:pPr>
            <a:r>
              <a:rPr lang="en-US" sz="2400" dirty="0"/>
              <a:t>Let </a:t>
            </a:r>
            <a:r>
              <a:rPr lang="en-US" sz="2400" b="1" dirty="0">
                <a:solidFill>
                  <a:srgbClr val="7030A0"/>
                </a:solidFill>
              </a:rPr>
              <a:t>H*</a:t>
            </a:r>
            <a:r>
              <a:rPr lang="en-US" sz="2400" dirty="0"/>
              <a:t> be the </a:t>
            </a:r>
            <a:r>
              <a:rPr lang="en-US" sz="2400" b="1" dirty="0">
                <a:solidFill>
                  <a:srgbClr val="0070C0"/>
                </a:solidFill>
              </a:rPr>
              <a:t>optimal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0070C0"/>
                </a:solidFill>
              </a:rPr>
              <a:t>shortest</a:t>
            </a:r>
            <a:r>
              <a:rPr lang="en-US" sz="2400" dirty="0"/>
              <a:t>) </a:t>
            </a:r>
            <a:r>
              <a:rPr lang="en-US" sz="2400" b="1" dirty="0">
                <a:solidFill>
                  <a:srgbClr val="0070C0"/>
                </a:solidFill>
              </a:rPr>
              <a:t>Hamiltonian</a:t>
            </a:r>
            <a:r>
              <a:rPr lang="en-US" sz="2400" dirty="0"/>
              <a:t> Cycle.</a:t>
            </a:r>
          </a:p>
          <a:p>
            <a:pPr>
              <a:buClr>
                <a:srgbClr val="008000"/>
              </a:buClr>
            </a:pPr>
            <a:r>
              <a:rPr lang="en-US" sz="2400" b="1" dirty="0">
                <a:solidFill>
                  <a:srgbClr val="0070C0"/>
                </a:solidFill>
              </a:rPr>
              <a:t>Remove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longest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edge</a:t>
            </a:r>
            <a:r>
              <a:rPr lang="en-US" sz="2400" dirty="0"/>
              <a:t> from </a:t>
            </a:r>
            <a:r>
              <a:rPr lang="en-US" sz="2400" b="1" dirty="0">
                <a:solidFill>
                  <a:srgbClr val="7030A0"/>
                </a:solidFill>
              </a:rPr>
              <a:t>H*</a:t>
            </a:r>
            <a:r>
              <a:rPr lang="en-US" sz="2400" dirty="0"/>
              <a:t>. This </a:t>
            </a:r>
            <a:r>
              <a:rPr lang="en-US" sz="2400" b="1" dirty="0">
                <a:solidFill>
                  <a:srgbClr val="0070C0"/>
                </a:solidFill>
              </a:rPr>
              <a:t>creates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0070C0"/>
                </a:solidFill>
              </a:rPr>
              <a:t>spanning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tree</a:t>
            </a:r>
            <a:r>
              <a:rPr lang="en-US" sz="2400" dirty="0"/>
              <a:t> which is </a:t>
            </a:r>
            <a:r>
              <a:rPr lang="en-US" sz="2400" b="1" dirty="0">
                <a:solidFill>
                  <a:srgbClr val="0070C0"/>
                </a:solidFill>
              </a:rPr>
              <a:t>not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necessarily</a:t>
            </a:r>
            <a:r>
              <a:rPr lang="en-US" sz="2400" dirty="0"/>
              <a:t> an </a:t>
            </a:r>
            <a:r>
              <a:rPr lang="en-US" sz="2400" b="1" dirty="0">
                <a:solidFill>
                  <a:srgbClr val="7030A0"/>
                </a:solidFill>
              </a:rPr>
              <a:t>MST</a:t>
            </a:r>
            <a:r>
              <a:rPr lang="en-US" sz="2400" dirty="0"/>
              <a:t>.</a:t>
            </a:r>
          </a:p>
          <a:p>
            <a:pPr>
              <a:buClr>
                <a:srgbClr val="008000"/>
              </a:buClr>
            </a:pPr>
            <a:r>
              <a:rPr lang="en-US" sz="2400" dirty="0"/>
              <a:t>Can you </a:t>
            </a:r>
            <a:r>
              <a:rPr lang="en-US" sz="2400" b="1" dirty="0">
                <a:solidFill>
                  <a:srgbClr val="0070C0"/>
                </a:solidFill>
              </a:rPr>
              <a:t>proceed</a:t>
            </a:r>
            <a:r>
              <a:rPr lang="en-US" sz="2400" dirty="0"/>
              <a:t> from </a:t>
            </a:r>
            <a:r>
              <a:rPr lang="en-US" sz="2400" b="1" dirty="0">
                <a:solidFill>
                  <a:srgbClr val="0070C0"/>
                </a:solidFill>
              </a:rPr>
              <a:t>here</a:t>
            </a:r>
            <a:r>
              <a:rPr lang="en-US" sz="2400" dirty="0"/>
              <a:t>?</a:t>
            </a:r>
          </a:p>
          <a:p>
            <a:pPr>
              <a:buClr>
                <a:srgbClr val="008000"/>
              </a:buClr>
            </a:pPr>
            <a:r>
              <a:rPr lang="en-US" sz="2400" dirty="0"/>
              <a:t>Use the </a:t>
            </a:r>
            <a:r>
              <a:rPr lang="en-US" sz="2400" b="1" dirty="0">
                <a:solidFill>
                  <a:srgbClr val="0070C0"/>
                </a:solidFill>
              </a:rPr>
              <a:t>previous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slide</a:t>
            </a:r>
            <a:r>
              <a:rPr lang="en-US" sz="2400" dirty="0"/>
              <a:t>.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767408" y="292585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Euclidean TSP Approximation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919536" y="1700808"/>
            <a:ext cx="7344816" cy="421036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endParaRPr lang="en-US" sz="2400" dirty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05184" y="1250040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TSP Approximation in General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63552" y="2342549"/>
            <a:ext cx="71287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b="1" i="1" dirty="0">
                <a:solidFill>
                  <a:srgbClr val="002060"/>
                </a:solidFill>
              </a:rPr>
              <a:t>Theorem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If P ≠ NP, then for any constant ρ≥1, there is no polynomial-time ρ-approximation algorithm for TSP. </a:t>
            </a:r>
          </a:p>
          <a:p>
            <a:pPr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  <a:buNone/>
            </a:pPr>
            <a:r>
              <a:rPr lang="en-US" dirty="0"/>
              <a:t>The proof is by contradiction. If this was true for general TSP then such an algorithm could be used to find a Hamiltonian Cycle which itself is NP-Complete and then P = NP!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69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6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 err="1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Approximaton</a:t>
            </a:r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 for Set Cover (SC)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556792"/>
            <a:ext cx="7344816" cy="475252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We have given </a:t>
            </a:r>
            <a:r>
              <a:rPr lang="en-US" b="1" i="1" dirty="0">
                <a:solidFill>
                  <a:srgbClr val="002060"/>
                </a:solidFill>
              </a:rPr>
              <a:t>(X,F) </a:t>
            </a:r>
            <a:r>
              <a:rPr lang="en-US" dirty="0"/>
              <a:t>:</a:t>
            </a:r>
          </a:p>
          <a:p>
            <a:pPr lvl="1"/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X</a:t>
            </a:r>
            <a:r>
              <a:rPr lang="en-US" dirty="0"/>
              <a:t> : a finite set of elements.</a:t>
            </a:r>
          </a:p>
          <a:p>
            <a:pPr lvl="1"/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F</a:t>
            </a:r>
            <a:r>
              <a:rPr lang="en-US" dirty="0"/>
              <a:t> : family of subsets of </a:t>
            </a:r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X </a:t>
            </a:r>
            <a:r>
              <a:rPr lang="en-US" dirty="0"/>
              <a:t>such that every element of </a:t>
            </a:r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X</a:t>
            </a:r>
            <a:r>
              <a:rPr lang="en-US" dirty="0"/>
              <a:t> belongs to at least one subset in </a:t>
            </a:r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F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Solution </a:t>
            </a:r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C</a:t>
            </a:r>
            <a:r>
              <a:rPr lang="en-US" dirty="0"/>
              <a:t> : subset of </a:t>
            </a:r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F</a:t>
            </a:r>
            <a:r>
              <a:rPr lang="en-US" dirty="0"/>
              <a:t> that Includes all the members of </a:t>
            </a:r>
            <a:r>
              <a:rPr lang="en-US" sz="2700" b="1" i="1" dirty="0">
                <a:solidFill>
                  <a:srgbClr val="002060"/>
                </a:solidFill>
                <a:ea typeface="+mn-ea"/>
                <a:cs typeface="+mn-cs"/>
              </a:rPr>
              <a:t>X</a:t>
            </a:r>
            <a:r>
              <a:rPr lang="en-US" dirty="0"/>
              <a:t>.</a:t>
            </a:r>
          </a:p>
          <a:p>
            <a:pPr marL="344487" lvl="1" indent="0">
              <a:buNone/>
            </a:pPr>
            <a:r>
              <a:rPr lang="en-US" dirty="0"/>
              <a:t>The </a:t>
            </a:r>
            <a:r>
              <a:rPr lang="en-US" b="1" i="1" dirty="0">
                <a:solidFill>
                  <a:srgbClr val="002060"/>
                </a:solidFill>
              </a:rPr>
              <a:t>greedy approximation algorithm</a:t>
            </a:r>
            <a:r>
              <a:rPr lang="en-US" dirty="0"/>
              <a:t> we shall present has a time complexity that increases with the size of the instance.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0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An Instance of Set Cover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0" lvl="1" indent="0">
              <a:buNone/>
            </a:pPr>
            <a:endParaRPr lang="en-GB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4051576" y="1494816"/>
            <a:ext cx="4724400" cy="4724400"/>
            <a:chOff x="1104" y="1056"/>
            <a:chExt cx="2976" cy="2976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344" y="124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1344" y="268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1344" y="196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>
              <a:off x="2448" y="124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2448" y="268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>
              <a:off x="2448" y="196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AutoShape 11"/>
            <p:cNvSpPr>
              <a:spLocks noChangeArrowheads="1"/>
            </p:cNvSpPr>
            <p:nvPr/>
          </p:nvSpPr>
          <p:spPr bwMode="auto">
            <a:xfrm>
              <a:off x="3504" y="124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3504" y="268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3504" y="196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1248" y="1056"/>
              <a:ext cx="480" cy="2928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3408" y="1056"/>
              <a:ext cx="480" cy="2976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 rot="5400000">
              <a:off x="1896" y="312"/>
              <a:ext cx="1392" cy="2976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2256" y="1776"/>
              <a:ext cx="1824" cy="1344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AutoShape 18"/>
            <p:cNvSpPr>
              <a:spLocks noChangeArrowheads="1"/>
            </p:cNvSpPr>
            <p:nvPr/>
          </p:nvSpPr>
          <p:spPr bwMode="auto">
            <a:xfrm>
              <a:off x="1344" y="3504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AutoShape 19"/>
            <p:cNvSpPr>
              <a:spLocks noChangeArrowheads="1"/>
            </p:cNvSpPr>
            <p:nvPr/>
          </p:nvSpPr>
          <p:spPr bwMode="auto">
            <a:xfrm>
              <a:off x="2448" y="3504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" name="AutoShape 20"/>
            <p:cNvSpPr>
              <a:spLocks noChangeArrowheads="1"/>
            </p:cNvSpPr>
            <p:nvPr/>
          </p:nvSpPr>
          <p:spPr bwMode="auto">
            <a:xfrm>
              <a:off x="3504" y="3504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 rot="5400000">
              <a:off x="1800" y="2760"/>
              <a:ext cx="480" cy="1776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1200" y="1056"/>
              <a:ext cx="1680" cy="2832"/>
            </a:xfrm>
            <a:custGeom>
              <a:avLst/>
              <a:gdLst>
                <a:gd name="T0" fmla="*/ 1056 w 1672"/>
                <a:gd name="T1" fmla="*/ 328 h 2832"/>
                <a:gd name="T2" fmla="*/ 1104 w 1672"/>
                <a:gd name="T3" fmla="*/ 1528 h 2832"/>
                <a:gd name="T4" fmla="*/ 240 w 1672"/>
                <a:gd name="T5" fmla="*/ 1528 h 2832"/>
                <a:gd name="T6" fmla="*/ 0 w 1672"/>
                <a:gd name="T7" fmla="*/ 1768 h 2832"/>
                <a:gd name="T8" fmla="*/ 240 w 1672"/>
                <a:gd name="T9" fmla="*/ 1960 h 2832"/>
                <a:gd name="T10" fmla="*/ 1104 w 1672"/>
                <a:gd name="T11" fmla="*/ 1912 h 2832"/>
                <a:gd name="T12" fmla="*/ 1152 w 1672"/>
                <a:gd name="T13" fmla="*/ 2584 h 2832"/>
                <a:gd name="T14" fmla="*/ 1392 w 1672"/>
                <a:gd name="T15" fmla="*/ 2824 h 2832"/>
                <a:gd name="T16" fmla="*/ 1632 w 1672"/>
                <a:gd name="T17" fmla="*/ 2536 h 2832"/>
                <a:gd name="T18" fmla="*/ 1584 w 1672"/>
                <a:gd name="T19" fmla="*/ 1720 h 2832"/>
                <a:gd name="T20" fmla="*/ 1632 w 1672"/>
                <a:gd name="T21" fmla="*/ 280 h 2832"/>
                <a:gd name="T22" fmla="*/ 1344 w 1672"/>
                <a:gd name="T23" fmla="*/ 40 h 2832"/>
                <a:gd name="T24" fmla="*/ 1056 w 1672"/>
                <a:gd name="T25" fmla="*/ 328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72" h="2832">
                  <a:moveTo>
                    <a:pt x="1056" y="328"/>
                  </a:moveTo>
                  <a:cubicBezTo>
                    <a:pt x="1016" y="576"/>
                    <a:pt x="1240" y="1328"/>
                    <a:pt x="1104" y="1528"/>
                  </a:cubicBezTo>
                  <a:cubicBezTo>
                    <a:pt x="968" y="1728"/>
                    <a:pt x="424" y="1488"/>
                    <a:pt x="240" y="1528"/>
                  </a:cubicBezTo>
                  <a:cubicBezTo>
                    <a:pt x="56" y="1568"/>
                    <a:pt x="0" y="1696"/>
                    <a:pt x="0" y="1768"/>
                  </a:cubicBezTo>
                  <a:cubicBezTo>
                    <a:pt x="0" y="1840"/>
                    <a:pt x="56" y="1936"/>
                    <a:pt x="240" y="1960"/>
                  </a:cubicBezTo>
                  <a:cubicBezTo>
                    <a:pt x="424" y="1984"/>
                    <a:pt x="952" y="1808"/>
                    <a:pt x="1104" y="1912"/>
                  </a:cubicBezTo>
                  <a:cubicBezTo>
                    <a:pt x="1256" y="2016"/>
                    <a:pt x="1104" y="2432"/>
                    <a:pt x="1152" y="2584"/>
                  </a:cubicBezTo>
                  <a:cubicBezTo>
                    <a:pt x="1200" y="2736"/>
                    <a:pt x="1312" y="2832"/>
                    <a:pt x="1392" y="2824"/>
                  </a:cubicBezTo>
                  <a:cubicBezTo>
                    <a:pt x="1472" y="2816"/>
                    <a:pt x="1600" y="2720"/>
                    <a:pt x="1632" y="2536"/>
                  </a:cubicBezTo>
                  <a:cubicBezTo>
                    <a:pt x="1664" y="2352"/>
                    <a:pt x="1584" y="2096"/>
                    <a:pt x="1584" y="1720"/>
                  </a:cubicBezTo>
                  <a:cubicBezTo>
                    <a:pt x="1584" y="1344"/>
                    <a:pt x="1672" y="560"/>
                    <a:pt x="1632" y="280"/>
                  </a:cubicBezTo>
                  <a:cubicBezTo>
                    <a:pt x="1592" y="0"/>
                    <a:pt x="1440" y="32"/>
                    <a:pt x="1344" y="40"/>
                  </a:cubicBezTo>
                  <a:cubicBezTo>
                    <a:pt x="1248" y="48"/>
                    <a:pt x="1096" y="80"/>
                    <a:pt x="1056" y="328"/>
                  </a:cubicBezTo>
                  <a:close/>
                </a:path>
              </a:pathLst>
            </a:custGeom>
            <a:noFill/>
            <a:ln w="158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AutoShape 23"/>
          <p:cNvSpPr>
            <a:spLocks noChangeArrowheads="1"/>
          </p:cNvSpPr>
          <p:nvPr/>
        </p:nvSpPr>
        <p:spPr bwMode="auto">
          <a:xfrm>
            <a:off x="1917976" y="3323616"/>
            <a:ext cx="1676400" cy="1761568"/>
          </a:xfrm>
          <a:prstGeom prst="wedgeRectCallout">
            <a:avLst>
              <a:gd name="adj1" fmla="val 89054"/>
              <a:gd name="adj2" fmla="val 840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Minimal Covering set</a:t>
            </a:r>
          </a:p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size=3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 Greedy Set Cover Algorithm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815808" y="1433200"/>
            <a:ext cx="7772400" cy="4419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2"/>
              </a:buClr>
              <a:buSzPct val="5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1" fontAlgn="base" hangingPunct="1">
              <a:spcBef>
                <a:spcPct val="0"/>
              </a:spcBef>
              <a:spcAft>
                <a:spcPct val="25000"/>
              </a:spcAft>
              <a:buClr>
                <a:schemeClr val="accent1"/>
              </a:buClr>
              <a:buSzPct val="5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solidFill>
                  <a:srgbClr val="002060"/>
                </a:solidFill>
              </a:rPr>
              <a:t>GREEDY-SET-COVER(X,F)</a:t>
            </a:r>
          </a:p>
          <a:p>
            <a:pPr marL="0" indent="0">
              <a:buNone/>
            </a:pPr>
            <a:r>
              <a:rPr lang="en-US" sz="2800" dirty="0"/>
              <a:t>1 M ← X</a:t>
            </a:r>
          </a:p>
          <a:p>
            <a:pPr marL="0" indent="0">
              <a:buNone/>
            </a:pPr>
            <a:r>
              <a:rPr lang="en-US" sz="2800" dirty="0"/>
              <a:t>2 C ← Ø</a:t>
            </a:r>
          </a:p>
          <a:p>
            <a:pPr marL="0" indent="0">
              <a:buNone/>
            </a:pPr>
            <a:r>
              <a:rPr lang="en-US" sz="2800" dirty="0"/>
              <a:t>3 </a:t>
            </a:r>
            <a:r>
              <a:rPr lang="en-US" sz="2800" b="1" dirty="0">
                <a:solidFill>
                  <a:srgbClr val="0070C0"/>
                </a:solidFill>
              </a:rPr>
              <a:t>while</a:t>
            </a:r>
            <a:r>
              <a:rPr lang="en-US" sz="2800" b="1" dirty="0"/>
              <a:t> </a:t>
            </a:r>
            <a:r>
              <a:rPr lang="en-US" sz="2800" dirty="0"/>
              <a:t>M ≠ Ø </a:t>
            </a:r>
            <a:r>
              <a:rPr lang="en-US" sz="2800" b="1" dirty="0">
                <a:solidFill>
                  <a:srgbClr val="0070C0"/>
                </a:solidFill>
              </a:rPr>
              <a:t>do</a:t>
            </a:r>
          </a:p>
          <a:p>
            <a:pPr marL="0" indent="0">
              <a:buNone/>
            </a:pPr>
            <a:r>
              <a:rPr lang="en-US" sz="2800" dirty="0"/>
              <a:t>4</a:t>
            </a:r>
            <a:r>
              <a:rPr lang="en-US" sz="2800" b="1" dirty="0"/>
              <a:t>	 </a:t>
            </a:r>
            <a:r>
              <a:rPr lang="en-US" sz="2800" b="1" dirty="0">
                <a:solidFill>
                  <a:srgbClr val="0070C0"/>
                </a:solidFill>
              </a:rPr>
              <a:t>select</a:t>
            </a:r>
            <a:r>
              <a:rPr lang="en-US" sz="2800" dirty="0"/>
              <a:t> an S </a:t>
            </a:r>
            <a:r>
              <a:rPr lang="el-GR" sz="2800" dirty="0"/>
              <a:t>ϵ</a:t>
            </a:r>
            <a:r>
              <a:rPr lang="en-US" sz="2800" dirty="0"/>
              <a:t> F that maximizes |S ∩ M|</a:t>
            </a:r>
          </a:p>
          <a:p>
            <a:pPr marL="0" indent="0">
              <a:buNone/>
            </a:pPr>
            <a:r>
              <a:rPr lang="en-US" sz="2800" dirty="0"/>
              <a:t>5	 M ← M – S</a:t>
            </a:r>
          </a:p>
          <a:p>
            <a:pPr marL="0" indent="0">
              <a:buNone/>
            </a:pPr>
            <a:r>
              <a:rPr lang="en-US" sz="2800" dirty="0"/>
              <a:t>6	 C ← C U {S}</a:t>
            </a:r>
          </a:p>
          <a:p>
            <a:pPr marL="0" indent="0">
              <a:buNone/>
            </a:pPr>
            <a:r>
              <a:rPr lang="en-US" sz="2800" dirty="0"/>
              <a:t>7 </a:t>
            </a:r>
            <a:r>
              <a:rPr lang="en-US" sz="2800" b="1" dirty="0">
                <a:solidFill>
                  <a:srgbClr val="0070C0"/>
                </a:solidFill>
              </a:rPr>
              <a:t>return</a:t>
            </a:r>
            <a:r>
              <a:rPr lang="en-US" sz="2800" b="1" dirty="0"/>
              <a:t> </a:t>
            </a:r>
            <a:r>
              <a:rPr lang="en-US" sz="2800" dirty="0"/>
              <a:t>C</a:t>
            </a:r>
          </a:p>
          <a:p>
            <a:pPr marL="533400" indent="-533400"/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4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Greedy (Non-Optimal) Set Cover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369008" y="1524000"/>
            <a:ext cx="4724400" cy="4724400"/>
            <a:chOff x="1248" y="960"/>
            <a:chExt cx="2976" cy="2976"/>
          </a:xfrm>
        </p:grpSpPr>
        <p:sp>
          <p:nvSpPr>
            <p:cNvPr id="5" name="AutoShape 8"/>
            <p:cNvSpPr>
              <a:spLocks noChangeArrowheads="1"/>
            </p:cNvSpPr>
            <p:nvPr/>
          </p:nvSpPr>
          <p:spPr bwMode="auto">
            <a:xfrm>
              <a:off x="1488" y="115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AutoShape 10"/>
            <p:cNvSpPr>
              <a:spLocks noChangeArrowheads="1"/>
            </p:cNvSpPr>
            <p:nvPr/>
          </p:nvSpPr>
          <p:spPr bwMode="auto">
            <a:xfrm>
              <a:off x="1488" y="259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AutoShape 12"/>
            <p:cNvSpPr>
              <a:spLocks noChangeArrowheads="1"/>
            </p:cNvSpPr>
            <p:nvPr/>
          </p:nvSpPr>
          <p:spPr bwMode="auto">
            <a:xfrm>
              <a:off x="1488" y="187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" name="AutoShape 17"/>
            <p:cNvSpPr>
              <a:spLocks noChangeArrowheads="1"/>
            </p:cNvSpPr>
            <p:nvPr/>
          </p:nvSpPr>
          <p:spPr bwMode="auto">
            <a:xfrm>
              <a:off x="2592" y="115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AutoShape 18"/>
            <p:cNvSpPr>
              <a:spLocks noChangeArrowheads="1"/>
            </p:cNvSpPr>
            <p:nvPr/>
          </p:nvSpPr>
          <p:spPr bwMode="auto">
            <a:xfrm>
              <a:off x="2592" y="259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AutoShape 19"/>
            <p:cNvSpPr>
              <a:spLocks noChangeArrowheads="1"/>
            </p:cNvSpPr>
            <p:nvPr/>
          </p:nvSpPr>
          <p:spPr bwMode="auto">
            <a:xfrm>
              <a:off x="2592" y="187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AutoShape 20"/>
            <p:cNvSpPr>
              <a:spLocks noChangeArrowheads="1"/>
            </p:cNvSpPr>
            <p:nvPr/>
          </p:nvSpPr>
          <p:spPr bwMode="auto">
            <a:xfrm>
              <a:off x="3648" y="115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AutoShape 21"/>
            <p:cNvSpPr>
              <a:spLocks noChangeArrowheads="1"/>
            </p:cNvSpPr>
            <p:nvPr/>
          </p:nvSpPr>
          <p:spPr bwMode="auto">
            <a:xfrm>
              <a:off x="3648" y="259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" name="AutoShape 22"/>
            <p:cNvSpPr>
              <a:spLocks noChangeArrowheads="1"/>
            </p:cNvSpPr>
            <p:nvPr/>
          </p:nvSpPr>
          <p:spPr bwMode="auto">
            <a:xfrm>
              <a:off x="3648" y="1872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auto">
            <a:xfrm>
              <a:off x="1392" y="960"/>
              <a:ext cx="480" cy="2928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auto">
            <a:xfrm>
              <a:off x="3552" y="960"/>
              <a:ext cx="480" cy="2976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auto">
            <a:xfrm rot="5400000">
              <a:off x="2040" y="216"/>
              <a:ext cx="1392" cy="2976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auto">
            <a:xfrm>
              <a:off x="2400" y="1680"/>
              <a:ext cx="1824" cy="1344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AutoShape 28"/>
            <p:cNvSpPr>
              <a:spLocks noChangeArrowheads="1"/>
            </p:cNvSpPr>
            <p:nvPr/>
          </p:nvSpPr>
          <p:spPr bwMode="auto">
            <a:xfrm>
              <a:off x="1488" y="340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2592" y="340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" name="AutoShape 30"/>
            <p:cNvSpPr>
              <a:spLocks noChangeArrowheads="1"/>
            </p:cNvSpPr>
            <p:nvPr/>
          </p:nvSpPr>
          <p:spPr bwMode="auto">
            <a:xfrm>
              <a:off x="3648" y="3408"/>
              <a:ext cx="257" cy="258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auto">
            <a:xfrm rot="5400000">
              <a:off x="1944" y="2664"/>
              <a:ext cx="480" cy="1776"/>
            </a:xfrm>
            <a:custGeom>
              <a:avLst/>
              <a:gdLst>
                <a:gd name="T0" fmla="*/ 40 w 552"/>
                <a:gd name="T1" fmla="*/ 288 h 2064"/>
                <a:gd name="T2" fmla="*/ 40 w 552"/>
                <a:gd name="T3" fmla="*/ 1776 h 2064"/>
                <a:gd name="T4" fmla="*/ 280 w 552"/>
                <a:gd name="T5" fmla="*/ 2016 h 2064"/>
                <a:gd name="T6" fmla="*/ 520 w 552"/>
                <a:gd name="T7" fmla="*/ 1776 h 2064"/>
                <a:gd name="T8" fmla="*/ 472 w 552"/>
                <a:gd name="T9" fmla="*/ 288 h 2064"/>
                <a:gd name="T10" fmla="*/ 280 w 552"/>
                <a:gd name="T11" fmla="*/ 48 h 2064"/>
                <a:gd name="T12" fmla="*/ 40 w 552"/>
                <a:gd name="T13" fmla="*/ 288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2" h="2064">
                  <a:moveTo>
                    <a:pt x="40" y="288"/>
                  </a:moveTo>
                  <a:cubicBezTo>
                    <a:pt x="0" y="576"/>
                    <a:pt x="0" y="1488"/>
                    <a:pt x="40" y="1776"/>
                  </a:cubicBezTo>
                  <a:cubicBezTo>
                    <a:pt x="80" y="2064"/>
                    <a:pt x="200" y="2016"/>
                    <a:pt x="280" y="2016"/>
                  </a:cubicBezTo>
                  <a:cubicBezTo>
                    <a:pt x="360" y="2016"/>
                    <a:pt x="488" y="2064"/>
                    <a:pt x="520" y="1776"/>
                  </a:cubicBezTo>
                  <a:cubicBezTo>
                    <a:pt x="552" y="1488"/>
                    <a:pt x="512" y="576"/>
                    <a:pt x="472" y="288"/>
                  </a:cubicBezTo>
                  <a:cubicBezTo>
                    <a:pt x="432" y="0"/>
                    <a:pt x="352" y="48"/>
                    <a:pt x="280" y="48"/>
                  </a:cubicBezTo>
                  <a:cubicBezTo>
                    <a:pt x="208" y="48"/>
                    <a:pt x="80" y="0"/>
                    <a:pt x="40" y="288"/>
                  </a:cubicBezTo>
                  <a:close/>
                </a:path>
              </a:pathLst>
            </a:cu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3"/>
            <p:cNvSpPr>
              <a:spLocks/>
            </p:cNvSpPr>
            <p:nvPr/>
          </p:nvSpPr>
          <p:spPr bwMode="auto">
            <a:xfrm>
              <a:off x="1296" y="960"/>
              <a:ext cx="1728" cy="2832"/>
            </a:xfrm>
            <a:custGeom>
              <a:avLst/>
              <a:gdLst>
                <a:gd name="T0" fmla="*/ 1056 w 1672"/>
                <a:gd name="T1" fmla="*/ 328 h 2832"/>
                <a:gd name="T2" fmla="*/ 1104 w 1672"/>
                <a:gd name="T3" fmla="*/ 1528 h 2832"/>
                <a:gd name="T4" fmla="*/ 240 w 1672"/>
                <a:gd name="T5" fmla="*/ 1528 h 2832"/>
                <a:gd name="T6" fmla="*/ 0 w 1672"/>
                <a:gd name="T7" fmla="*/ 1768 h 2832"/>
                <a:gd name="T8" fmla="*/ 240 w 1672"/>
                <a:gd name="T9" fmla="*/ 1960 h 2832"/>
                <a:gd name="T10" fmla="*/ 1104 w 1672"/>
                <a:gd name="T11" fmla="*/ 1912 h 2832"/>
                <a:gd name="T12" fmla="*/ 1152 w 1672"/>
                <a:gd name="T13" fmla="*/ 2584 h 2832"/>
                <a:gd name="T14" fmla="*/ 1392 w 1672"/>
                <a:gd name="T15" fmla="*/ 2824 h 2832"/>
                <a:gd name="T16" fmla="*/ 1632 w 1672"/>
                <a:gd name="T17" fmla="*/ 2536 h 2832"/>
                <a:gd name="T18" fmla="*/ 1584 w 1672"/>
                <a:gd name="T19" fmla="*/ 1720 h 2832"/>
                <a:gd name="T20" fmla="*/ 1632 w 1672"/>
                <a:gd name="T21" fmla="*/ 280 h 2832"/>
                <a:gd name="T22" fmla="*/ 1344 w 1672"/>
                <a:gd name="T23" fmla="*/ 40 h 2832"/>
                <a:gd name="T24" fmla="*/ 1056 w 1672"/>
                <a:gd name="T25" fmla="*/ 328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72" h="2832">
                  <a:moveTo>
                    <a:pt x="1056" y="328"/>
                  </a:moveTo>
                  <a:cubicBezTo>
                    <a:pt x="1016" y="576"/>
                    <a:pt x="1240" y="1328"/>
                    <a:pt x="1104" y="1528"/>
                  </a:cubicBezTo>
                  <a:cubicBezTo>
                    <a:pt x="968" y="1728"/>
                    <a:pt x="424" y="1488"/>
                    <a:pt x="240" y="1528"/>
                  </a:cubicBezTo>
                  <a:cubicBezTo>
                    <a:pt x="56" y="1568"/>
                    <a:pt x="0" y="1696"/>
                    <a:pt x="0" y="1768"/>
                  </a:cubicBezTo>
                  <a:cubicBezTo>
                    <a:pt x="0" y="1840"/>
                    <a:pt x="56" y="1936"/>
                    <a:pt x="240" y="1960"/>
                  </a:cubicBezTo>
                  <a:cubicBezTo>
                    <a:pt x="424" y="1984"/>
                    <a:pt x="952" y="1808"/>
                    <a:pt x="1104" y="1912"/>
                  </a:cubicBezTo>
                  <a:cubicBezTo>
                    <a:pt x="1256" y="2016"/>
                    <a:pt x="1104" y="2432"/>
                    <a:pt x="1152" y="2584"/>
                  </a:cubicBezTo>
                  <a:cubicBezTo>
                    <a:pt x="1200" y="2736"/>
                    <a:pt x="1312" y="2832"/>
                    <a:pt x="1392" y="2824"/>
                  </a:cubicBezTo>
                  <a:cubicBezTo>
                    <a:pt x="1472" y="2816"/>
                    <a:pt x="1600" y="2720"/>
                    <a:pt x="1632" y="2536"/>
                  </a:cubicBezTo>
                  <a:cubicBezTo>
                    <a:pt x="1664" y="2352"/>
                    <a:pt x="1584" y="2096"/>
                    <a:pt x="1584" y="1720"/>
                  </a:cubicBezTo>
                  <a:cubicBezTo>
                    <a:pt x="1584" y="1344"/>
                    <a:pt x="1672" y="560"/>
                    <a:pt x="1632" y="280"/>
                  </a:cubicBezTo>
                  <a:cubicBezTo>
                    <a:pt x="1592" y="0"/>
                    <a:pt x="1440" y="32"/>
                    <a:pt x="1344" y="40"/>
                  </a:cubicBezTo>
                  <a:cubicBezTo>
                    <a:pt x="1248" y="48"/>
                    <a:pt x="1096" y="80"/>
                    <a:pt x="1056" y="328"/>
                  </a:cubicBezTo>
                  <a:close/>
                </a:path>
              </a:pathLst>
            </a:custGeom>
            <a:noFill/>
            <a:ln w="15875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AutoShape 36"/>
          <p:cNvSpPr>
            <a:spLocks noChangeArrowheads="1"/>
          </p:cNvSpPr>
          <p:nvPr/>
        </p:nvSpPr>
        <p:spPr bwMode="auto">
          <a:xfrm>
            <a:off x="8398208" y="2514600"/>
            <a:ext cx="1676400" cy="381000"/>
          </a:xfrm>
          <a:prstGeom prst="wedgeRectCallout">
            <a:avLst>
              <a:gd name="adj1" fmla="val -89739"/>
              <a:gd name="adj2" fmla="val 708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3</a:t>
            </a:r>
            <a:r>
              <a:rPr lang="en-US" sz="2000" b="1" baseline="30000" dirty="0">
                <a:solidFill>
                  <a:srgbClr val="FF0000"/>
                </a:solidFill>
              </a:rPr>
              <a:t>rd</a:t>
            </a:r>
            <a:r>
              <a:rPr lang="en-US" sz="2000" b="1" dirty="0">
                <a:solidFill>
                  <a:srgbClr val="FF0000"/>
                </a:solidFill>
              </a:rPr>
              <a:t> choice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AutoShape 37"/>
          <p:cNvSpPr>
            <a:spLocks noChangeArrowheads="1"/>
          </p:cNvSpPr>
          <p:nvPr/>
        </p:nvSpPr>
        <p:spPr bwMode="auto">
          <a:xfrm>
            <a:off x="1845008" y="1600201"/>
            <a:ext cx="1676400" cy="433387"/>
          </a:xfrm>
          <a:prstGeom prst="wedgeRectCallout">
            <a:avLst>
              <a:gd name="adj1" fmla="val 47396"/>
              <a:gd name="adj2" fmla="val 17717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1</a:t>
            </a:r>
            <a:r>
              <a:rPr lang="en-US" sz="2000" b="1" baseline="30000" dirty="0">
                <a:solidFill>
                  <a:srgbClr val="FF0000"/>
                </a:solidFill>
              </a:rPr>
              <a:t>st</a:t>
            </a:r>
            <a:r>
              <a:rPr lang="en-US" sz="2000" b="1" dirty="0">
                <a:solidFill>
                  <a:srgbClr val="FF0000"/>
                </a:solidFill>
              </a:rPr>
              <a:t> choice</a:t>
            </a:r>
          </a:p>
        </p:txBody>
      </p:sp>
      <p:sp>
        <p:nvSpPr>
          <p:cNvPr id="25" name="AutoShape 38"/>
          <p:cNvSpPr>
            <a:spLocks noChangeArrowheads="1"/>
          </p:cNvSpPr>
          <p:nvPr/>
        </p:nvSpPr>
        <p:spPr bwMode="auto">
          <a:xfrm>
            <a:off x="1616408" y="3581400"/>
            <a:ext cx="1676400" cy="381000"/>
          </a:xfrm>
          <a:prstGeom prst="wedgeRectCallout">
            <a:avLst>
              <a:gd name="adj1" fmla="val 57102"/>
              <a:gd name="adj2" fmla="val 13041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2</a:t>
            </a:r>
            <a:r>
              <a:rPr lang="en-US" sz="2000" b="1" baseline="30000" dirty="0">
                <a:solidFill>
                  <a:srgbClr val="FF0000"/>
                </a:solidFill>
              </a:rPr>
              <a:t>nd</a:t>
            </a:r>
            <a:r>
              <a:rPr lang="en-US" sz="2000" b="1" dirty="0">
                <a:solidFill>
                  <a:srgbClr val="FF0000"/>
                </a:solidFill>
              </a:rPr>
              <a:t> choice</a:t>
            </a:r>
          </a:p>
        </p:txBody>
      </p:sp>
      <p:sp>
        <p:nvSpPr>
          <p:cNvPr id="26" name="AutoShape 39"/>
          <p:cNvSpPr>
            <a:spLocks noChangeArrowheads="1"/>
          </p:cNvSpPr>
          <p:nvPr/>
        </p:nvSpPr>
        <p:spPr bwMode="auto">
          <a:xfrm>
            <a:off x="1692608" y="5257800"/>
            <a:ext cx="1676400" cy="381000"/>
          </a:xfrm>
          <a:prstGeom prst="wedgeRectCallout">
            <a:avLst>
              <a:gd name="adj1" fmla="val 64676"/>
              <a:gd name="adj2" fmla="val -10958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4</a:t>
            </a:r>
            <a:r>
              <a:rPr lang="en-US" sz="2000" b="1" baseline="30000" dirty="0">
                <a:solidFill>
                  <a:srgbClr val="FF0000"/>
                </a:solidFill>
              </a:rPr>
              <a:t>th</a:t>
            </a:r>
            <a:r>
              <a:rPr lang="en-US" sz="2000" b="1" dirty="0">
                <a:solidFill>
                  <a:srgbClr val="FF0000"/>
                </a:solidFill>
              </a:rPr>
              <a:t> choice</a:t>
            </a:r>
          </a:p>
        </p:txBody>
      </p:sp>
      <p:sp>
        <p:nvSpPr>
          <p:cNvPr id="27" name="AutoShape 40"/>
          <p:cNvSpPr>
            <a:spLocks noChangeArrowheads="1"/>
          </p:cNvSpPr>
          <p:nvPr/>
        </p:nvSpPr>
        <p:spPr bwMode="auto">
          <a:xfrm>
            <a:off x="8166361" y="3962400"/>
            <a:ext cx="1676400" cy="1447800"/>
          </a:xfrm>
          <a:prstGeom prst="wedgeRectCallout">
            <a:avLst>
              <a:gd name="adj1" fmla="val -74553"/>
              <a:gd name="adj2" fmla="val 1712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Greedy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Covering set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size=4 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4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272808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Greedy Set Cover – Time Complexity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dirty="0"/>
              <a:t>This greedy algorithm is polynomial-time ρ(n)-approximation algorithm</a:t>
            </a:r>
          </a:p>
          <a:p>
            <a:pPr lvl="1"/>
            <a:endParaRPr lang="en-US" dirty="0"/>
          </a:p>
          <a:p>
            <a:pPr lvl="1"/>
            <a:r>
              <a:rPr lang="en-US" sz="3200" b="1" dirty="0">
                <a:solidFill>
                  <a:srgbClr val="C00000"/>
                </a:solidFill>
              </a:rPr>
              <a:t>ρ(n)=H(max{|S|</a:t>
            </a:r>
            <a:r>
              <a:rPr lang="en-US" sz="3200" b="1" dirty="0">
                <a:solidFill>
                  <a:srgbClr val="C00000"/>
                </a:solidFill>
                <a:sym typeface="Wingdings" pitchFamily="2" charset="2"/>
              </a:rPr>
              <a:t> : S </a:t>
            </a:r>
            <a:r>
              <a:rPr lang="en-US" sz="3200" b="1" dirty="0">
                <a:solidFill>
                  <a:srgbClr val="C00000"/>
                </a:solidFill>
              </a:rPr>
              <a:t>Є F})</a:t>
            </a:r>
          </a:p>
          <a:p>
            <a:pPr marL="344487" lvl="1" indent="0">
              <a:buNone/>
            </a:pPr>
            <a:endParaRPr lang="en-US" b="1" baseline="-25000" dirty="0"/>
          </a:p>
          <a:p>
            <a:r>
              <a:rPr lang="en-US" dirty="0"/>
              <a:t>The proof is beyond of scope of this course.</a:t>
            </a:r>
          </a:p>
          <a:p>
            <a:r>
              <a:rPr lang="en-US" b="1" i="1" dirty="0">
                <a:solidFill>
                  <a:srgbClr val="002060"/>
                </a:solidFill>
              </a:rPr>
              <a:t>H(x) </a:t>
            </a:r>
            <a:r>
              <a:rPr lang="en-US" dirty="0"/>
              <a:t>denotes the </a:t>
            </a:r>
            <a:r>
              <a:rPr lang="en-US" b="1" i="1" dirty="0" err="1">
                <a:solidFill>
                  <a:srgbClr val="002060"/>
                </a:solidFill>
              </a:rPr>
              <a:t>x</a:t>
            </a:r>
            <a:r>
              <a:rPr lang="en-US" baseline="30000" dirty="0" err="1"/>
              <a:t>th</a:t>
            </a:r>
            <a:r>
              <a:rPr lang="en-US" dirty="0"/>
              <a:t> Harmonic number.</a:t>
            </a:r>
          </a:p>
          <a:p>
            <a:endParaRPr lang="en-US" dirty="0"/>
          </a:p>
          <a:p>
            <a:pPr marL="0" indent="0">
              <a:spcBef>
                <a:spcPts val="0"/>
              </a:spcBef>
            </a:pPr>
            <a:r>
              <a:rPr lang="en-US" dirty="0"/>
              <a:t>A complete exposition of the proof can be found in CLRS.</a:t>
            </a:r>
          </a:p>
          <a:p>
            <a:pPr marL="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4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84790" y="258326"/>
            <a:ext cx="8064896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Common Mistakes in Academia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884790" y="836710"/>
            <a:ext cx="10827834" cy="5544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Never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assume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(or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NP-Hard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) just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you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it is.</a:t>
            </a:r>
            <a:endParaRPr lang="en-US" sz="2600" b="1" dirty="0">
              <a:cs typeface="Calibri" panose="020F0502020204030204" pitchFamily="34" charset="0"/>
            </a:endParaRP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marriage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en-US" sz="2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problems.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Suppose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FYP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wants to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Sudoku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Sudoku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It is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very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clever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advised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, that you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that can be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solved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optimally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polynomial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Fortunately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, in the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academic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there is a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proof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Turing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Sudoku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proves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that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Sudoku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NP-Complete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may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exponential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time.</a:t>
            </a:r>
          </a:p>
          <a:p>
            <a:pPr eaLnBrk="1" hangingPunct="1">
              <a:spcBef>
                <a:spcPts val="0"/>
              </a:spcBef>
              <a:buClr>
                <a:srgbClr val="00800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can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proceed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, or some other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technique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, to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Sudoku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C815B6-1D17-5426-E76F-222FEB0F6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2492896"/>
            <a:ext cx="4221088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4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342900" lvl="1" indent="-342900"/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0070C0"/>
                </a:solidFill>
              </a:rPr>
              <a:t>genetic algorithm</a:t>
            </a:r>
            <a:r>
              <a:rPr lang="en-US" altLang="en-US" sz="2800" dirty="0">
                <a:solidFill>
                  <a:srgbClr val="0070C0"/>
                </a:solidFill>
              </a:rPr>
              <a:t> </a:t>
            </a:r>
            <a:r>
              <a:rPr lang="en-US" altLang="en-US" sz="2800" dirty="0"/>
              <a:t>(or </a:t>
            </a:r>
            <a:r>
              <a:rPr lang="en-US" altLang="en-US" sz="2800" b="1" dirty="0">
                <a:solidFill>
                  <a:srgbClr val="0070C0"/>
                </a:solidFill>
              </a:rPr>
              <a:t>GA</a:t>
            </a:r>
            <a:r>
              <a:rPr lang="en-US" altLang="en-US" sz="2800" dirty="0"/>
              <a:t>) is a search technique used in computing to find optimal or approximate solutions to NP-Hard optimization and search problems. </a:t>
            </a:r>
          </a:p>
          <a:p>
            <a:pPr marL="342900" lvl="1" indent="-342900"/>
            <a:r>
              <a:rPr lang="en-US" altLang="en-US" sz="2800" dirty="0"/>
              <a:t>Genetic algorithms are categorized as </a:t>
            </a:r>
            <a:r>
              <a:rPr lang="en-US" altLang="en-US" sz="2800" b="1" dirty="0">
                <a:solidFill>
                  <a:srgbClr val="0070C0"/>
                </a:solidFill>
              </a:rPr>
              <a:t>global search heuristics</a:t>
            </a:r>
            <a:r>
              <a:rPr lang="en-US" altLang="en-US" sz="2800" dirty="0"/>
              <a:t>. </a:t>
            </a:r>
          </a:p>
          <a:p>
            <a:pPr marL="342900" lvl="1" indent="-342900"/>
            <a:r>
              <a:rPr lang="en-US" altLang="en-US" sz="2800" dirty="0"/>
              <a:t>Genetic algorithms are a particular class of </a:t>
            </a:r>
            <a:r>
              <a:rPr lang="en-US" altLang="en-US" sz="2800" b="1" dirty="0">
                <a:solidFill>
                  <a:srgbClr val="0070C0"/>
                </a:solidFill>
              </a:rPr>
              <a:t>evolutionary algorithms </a:t>
            </a:r>
            <a:r>
              <a:rPr lang="en-US" altLang="en-US" sz="2800" dirty="0"/>
              <a:t>that use techniques inspired by evolutionary biology such as </a:t>
            </a:r>
            <a:r>
              <a:rPr lang="en-US" altLang="en-US" sz="2800" dirty="0">
                <a:solidFill>
                  <a:srgbClr val="C00000"/>
                </a:solidFill>
              </a:rPr>
              <a:t>inheritance</a:t>
            </a:r>
            <a:r>
              <a:rPr lang="en-US" altLang="en-US" sz="2800" dirty="0"/>
              <a:t>, </a:t>
            </a:r>
            <a:r>
              <a:rPr lang="en-US" altLang="en-US" sz="2800" dirty="0">
                <a:solidFill>
                  <a:srgbClr val="C00000"/>
                </a:solidFill>
              </a:rPr>
              <a:t>mutation</a:t>
            </a:r>
            <a:r>
              <a:rPr lang="en-US" altLang="en-US" sz="2800" dirty="0"/>
              <a:t>, </a:t>
            </a:r>
            <a:r>
              <a:rPr lang="en-US" altLang="en-US" sz="2800" dirty="0">
                <a:solidFill>
                  <a:srgbClr val="C00000"/>
                </a:solidFill>
              </a:rPr>
              <a:t>selection</a:t>
            </a:r>
            <a:r>
              <a:rPr lang="en-US" altLang="en-US" sz="2800" dirty="0"/>
              <a:t>, and </a:t>
            </a:r>
            <a:r>
              <a:rPr lang="en-US" altLang="en-US" sz="2800" dirty="0">
                <a:solidFill>
                  <a:srgbClr val="C00000"/>
                </a:solidFill>
              </a:rPr>
              <a:t>crossover</a:t>
            </a:r>
            <a:r>
              <a:rPr lang="en-US" altLang="en-US" sz="2800" dirty="0"/>
              <a:t> (also called recombination).</a:t>
            </a:r>
          </a:p>
          <a:p>
            <a:pPr marL="342900" lvl="1" indent="-342900"/>
            <a:endParaRPr lang="en-US" alt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3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 - Motivation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161" y="2564905"/>
            <a:ext cx="4019550" cy="2676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77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3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 - Motivation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107" y="2492896"/>
            <a:ext cx="7847659" cy="34502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78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 - Motivation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628800"/>
            <a:ext cx="7092280" cy="39894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79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7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 - Motivation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342900" lvl="1" indent="-342900"/>
            <a:r>
              <a:rPr lang="en-US" dirty="0"/>
              <a:t>How do bacteria modify their genome to become resistant to antibiotics?</a:t>
            </a:r>
          </a:p>
          <a:p>
            <a:pPr marL="342900" lvl="1" indent="-342900"/>
            <a:r>
              <a:rPr lang="en-US" dirty="0"/>
              <a:t>A genome has billions of DNA bases. How do you modify a genome to make a species ‘better’ – react to a changing environment?</a:t>
            </a:r>
          </a:p>
          <a:p>
            <a:pPr marL="342900" lvl="1" indent="-342900"/>
            <a:r>
              <a:rPr lang="en-US" dirty="0"/>
              <a:t>Darwin explained how this happens in his The Origin of Species.</a:t>
            </a:r>
          </a:p>
          <a:p>
            <a:pPr marL="342900" lvl="1" indent="-342900"/>
            <a:r>
              <a:rPr lang="en-US" dirty="0"/>
              <a:t>Species, Darwin argued, evolve in order to adapt to a changing environment.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80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4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 - Motivation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342900" lvl="1" indent="-342900"/>
            <a:r>
              <a:rPr lang="en-US" dirty="0"/>
              <a:t>How does one design a paper plane?</a:t>
            </a:r>
          </a:p>
          <a:p>
            <a:pPr marL="342900" lvl="1" indent="-342900"/>
            <a:r>
              <a:rPr lang="en-US" dirty="0"/>
              <a:t>Try many (billions) of different designs and choose the best one. 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2758686"/>
            <a:ext cx="3268096" cy="15344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1" y="2791172"/>
            <a:ext cx="2382957" cy="14893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548" y="4764800"/>
            <a:ext cx="2957314" cy="1798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685" y="2708921"/>
            <a:ext cx="1828649" cy="19200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06" y="4772197"/>
            <a:ext cx="2851138" cy="17324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81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4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056784" cy="536104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Genetic Algorithms</a:t>
            </a:r>
            <a:endParaRPr lang="en-GB" dirty="0">
              <a:solidFill>
                <a:srgbClr val="FF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91544" y="1268760"/>
            <a:ext cx="7344816" cy="5040560"/>
          </a:xfrm>
          <a:prstGeom prst="rect">
            <a:avLst/>
          </a:prstGeom>
        </p:spPr>
        <p:txBody>
          <a:bodyPr/>
          <a:lstStyle/>
          <a:p>
            <a:pPr marL="342900" lvl="1" indent="-342900"/>
            <a:r>
              <a:rPr lang="en-US" dirty="0"/>
              <a:t>Genetic Algorithms (GAs) are now a very popular approximation technique.</a:t>
            </a:r>
          </a:p>
          <a:p>
            <a:pPr marL="342900" lvl="1" indent="-342900"/>
            <a:r>
              <a:rPr lang="en-US" dirty="0"/>
              <a:t>GAs have a stochastic component and can therefore be, in some sense, considered </a:t>
            </a:r>
            <a:r>
              <a:rPr lang="en-US" b="1" i="1" dirty="0">
                <a:solidFill>
                  <a:srgbClr val="002060"/>
                </a:solidFill>
              </a:rPr>
              <a:t>non-deterministic</a:t>
            </a:r>
            <a:r>
              <a:rPr lang="en-US" dirty="0"/>
              <a:t>.</a:t>
            </a:r>
          </a:p>
          <a:p>
            <a:pPr marL="342900" lvl="1" indent="-342900"/>
            <a:r>
              <a:rPr lang="en-US" dirty="0"/>
              <a:t>GAs are often referred to as a </a:t>
            </a:r>
            <a:r>
              <a:rPr lang="en-US" b="1" i="1" dirty="0">
                <a:solidFill>
                  <a:srgbClr val="002060"/>
                </a:solidFill>
              </a:rPr>
              <a:t>meta-heuristic</a:t>
            </a:r>
            <a:r>
              <a:rPr lang="en-US" dirty="0"/>
              <a:t>. This is because they employ general, non-problem specific, heuristics.</a:t>
            </a:r>
          </a:p>
          <a:p>
            <a:pPr marL="342900" lvl="1" indent="-342900"/>
            <a:r>
              <a:rPr lang="en-US" dirty="0"/>
              <a:t>Unlike Neural Networks, there is no general GA algorithm. One usually designs a GA for the task at hand. </a:t>
            </a:r>
          </a:p>
          <a:p>
            <a:pPr marL="342900" lvl="1" indent="-342900"/>
            <a:r>
              <a:rPr lang="en-US" dirty="0"/>
              <a:t>Covered in more depth in </a:t>
            </a:r>
            <a:r>
              <a:rPr lang="en-US" b="1" dirty="0">
                <a:solidFill>
                  <a:srgbClr val="C00000"/>
                </a:solidFill>
              </a:rPr>
              <a:t>ICS2207 </a:t>
            </a:r>
            <a:r>
              <a:rPr lang="en-US" dirty="0"/>
              <a:t>/</a:t>
            </a:r>
            <a:r>
              <a:rPr lang="en-US" b="1" dirty="0">
                <a:solidFill>
                  <a:srgbClr val="C00000"/>
                </a:solidFill>
              </a:rPr>
              <a:t> ICS3222</a:t>
            </a:r>
          </a:p>
          <a:p>
            <a:pPr marL="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82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2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D2FDF2F-E417-4AE1-A6CE-56759E4EC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1916832"/>
            <a:ext cx="2258531" cy="1897794"/>
          </a:xfrm>
          <a:prstGeom prst="rect">
            <a:avLst/>
          </a:prstGeom>
        </p:spPr>
      </p:pic>
      <p:pic>
        <p:nvPicPr>
          <p:cNvPr id="1026" name="Picture 2" descr="Image result for darwin natural selection">
            <a:extLst>
              <a:ext uri="{FF2B5EF4-FFF2-40B4-BE49-F238E27FC236}">
                <a16:creationId xmlns:a16="http://schemas.microsoft.com/office/drawing/2014/main" id="{4E919653-78E7-4BB4-B331-8F3001E17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4166211"/>
            <a:ext cx="3589052" cy="269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000" y="180000"/>
            <a:ext cx="9360000" cy="648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6600"/>
                </a:solidFill>
                <a:latin typeface="+mn-lt"/>
              </a:rPr>
              <a:t>Genetic Algorithms</a:t>
            </a: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648000" y="1008000"/>
            <a:ext cx="10129877" cy="4061284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</a:pPr>
            <a:r>
              <a:rPr lang="en-US" sz="2400" b="1" dirty="0">
                <a:solidFill>
                  <a:srgbClr val="0070C0"/>
                </a:solidFill>
              </a:rPr>
              <a:t>Genetic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Algorithms</a:t>
            </a:r>
            <a:r>
              <a:rPr lang="en-US" sz="2400" dirty="0"/>
              <a:t> are a </a:t>
            </a:r>
            <a:r>
              <a:rPr lang="en-US" sz="2400" b="1" dirty="0">
                <a:solidFill>
                  <a:srgbClr val="0070C0"/>
                </a:solidFill>
              </a:rPr>
              <a:t>popular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metaheuristic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0070C0"/>
                </a:solidFill>
              </a:rPr>
              <a:t>search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technique</a:t>
            </a:r>
            <a:r>
              <a:rPr lang="en-US" sz="2400" dirty="0"/>
              <a:t>). based on </a:t>
            </a:r>
            <a:r>
              <a:rPr lang="en-US" sz="2400" b="1" dirty="0">
                <a:solidFill>
                  <a:srgbClr val="0070C0"/>
                </a:solidFill>
              </a:rPr>
              <a:t>Darwinian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evolution</a:t>
            </a:r>
            <a:r>
              <a:rPr lang="en-US" sz="2400" dirty="0"/>
              <a:t>.</a:t>
            </a:r>
          </a:p>
          <a:p>
            <a:pPr>
              <a:buClr>
                <a:srgbClr val="C00000"/>
              </a:buClr>
            </a:pPr>
            <a:r>
              <a:rPr lang="en-US" sz="2400" b="1" dirty="0">
                <a:solidFill>
                  <a:srgbClr val="0070C0"/>
                </a:solidFill>
              </a:rPr>
              <a:t>Suppose</a:t>
            </a:r>
            <a:r>
              <a:rPr lang="en-US" sz="2400" dirty="0"/>
              <a:t> you </a:t>
            </a:r>
            <a:r>
              <a:rPr lang="en-US" sz="2400" b="1" dirty="0">
                <a:solidFill>
                  <a:srgbClr val="0070C0"/>
                </a:solidFill>
              </a:rPr>
              <a:t>want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0070C0"/>
                </a:solidFill>
              </a:rPr>
              <a:t>design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0070C0"/>
                </a:solidFill>
              </a:rPr>
              <a:t>paper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plane</a:t>
            </a:r>
            <a:r>
              <a:rPr lang="en-US" sz="2400" dirty="0"/>
              <a:t>.</a:t>
            </a:r>
          </a:p>
          <a:p>
            <a:pPr>
              <a:buClr>
                <a:srgbClr val="C00000"/>
              </a:buClr>
            </a:pPr>
            <a:r>
              <a:rPr lang="en-US" sz="2400" dirty="0"/>
              <a:t>Represent a </a:t>
            </a:r>
            <a:r>
              <a:rPr lang="en-US" sz="2400" b="1" dirty="0">
                <a:solidFill>
                  <a:srgbClr val="0070C0"/>
                </a:solidFill>
              </a:rPr>
              <a:t>paper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plane</a:t>
            </a:r>
            <a:r>
              <a:rPr lang="en-US" sz="2400" dirty="0"/>
              <a:t> by a </a:t>
            </a:r>
            <a:r>
              <a:rPr lang="en-US" sz="2400" b="1" dirty="0">
                <a:solidFill>
                  <a:srgbClr val="0070C0"/>
                </a:solidFill>
              </a:rPr>
              <a:t>chromosome</a:t>
            </a:r>
            <a:r>
              <a:rPr lang="en-US" sz="2400" dirty="0"/>
              <a:t> (a </a:t>
            </a:r>
            <a:r>
              <a:rPr lang="en-US" sz="2400" b="1" dirty="0">
                <a:solidFill>
                  <a:srgbClr val="0070C0"/>
                </a:solidFill>
              </a:rPr>
              <a:t>string</a:t>
            </a:r>
            <a:r>
              <a:rPr lang="en-US" sz="2400" dirty="0"/>
              <a:t>).</a:t>
            </a:r>
          </a:p>
          <a:p>
            <a:pPr>
              <a:buClr>
                <a:srgbClr val="C00000"/>
              </a:buClr>
            </a:pPr>
            <a:r>
              <a:rPr lang="en-US" sz="2400" b="1" dirty="0">
                <a:solidFill>
                  <a:srgbClr val="0070C0"/>
                </a:solidFill>
              </a:rPr>
              <a:t>Create</a:t>
            </a:r>
            <a:r>
              <a:rPr lang="en-US" sz="2400" dirty="0"/>
              <a:t> an </a:t>
            </a:r>
            <a:r>
              <a:rPr lang="en-US" sz="2400" b="1" dirty="0">
                <a:solidFill>
                  <a:srgbClr val="0070C0"/>
                </a:solidFill>
              </a:rPr>
              <a:t>initial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random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population</a:t>
            </a:r>
            <a:r>
              <a:rPr lang="en-US" sz="2400" dirty="0"/>
              <a:t> of chromosomes.</a:t>
            </a:r>
          </a:p>
          <a:p>
            <a:pPr>
              <a:buClr>
                <a:srgbClr val="C00000"/>
              </a:buClr>
            </a:pPr>
            <a:r>
              <a:rPr lang="en-US" sz="2400" dirty="0"/>
              <a:t>Use </a:t>
            </a:r>
            <a:r>
              <a:rPr lang="en-US" sz="2400" b="1" dirty="0">
                <a:solidFill>
                  <a:srgbClr val="0070C0"/>
                </a:solidFill>
              </a:rPr>
              <a:t>cross-over</a:t>
            </a:r>
            <a:r>
              <a:rPr lang="en-US" sz="2400" dirty="0"/>
              <a:t> &amp; </a:t>
            </a:r>
            <a:r>
              <a:rPr lang="en-US" sz="2400" b="1" dirty="0">
                <a:solidFill>
                  <a:srgbClr val="0070C0"/>
                </a:solidFill>
              </a:rPr>
              <a:t>mutation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0070C0"/>
                </a:solidFill>
              </a:rPr>
              <a:t>increase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population</a:t>
            </a:r>
            <a:r>
              <a:rPr lang="en-US" sz="2400" dirty="0"/>
              <a:t>.</a:t>
            </a:r>
          </a:p>
          <a:p>
            <a:pPr>
              <a:buClr>
                <a:srgbClr val="C00000"/>
              </a:buClr>
            </a:pPr>
            <a:r>
              <a:rPr lang="en-US" sz="2400" b="1" dirty="0">
                <a:solidFill>
                  <a:srgbClr val="0070C0"/>
                </a:solidFill>
              </a:rPr>
              <a:t>Apply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0070C0"/>
                </a:solidFill>
              </a:rPr>
              <a:t>fitness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function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0070C0"/>
                </a:solidFill>
              </a:rPr>
              <a:t>select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70C0"/>
                </a:solidFill>
              </a:rPr>
              <a:t>best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individuals</a:t>
            </a:r>
            <a:r>
              <a:rPr lang="en-US" sz="2400" dirty="0"/>
              <a:t>.</a:t>
            </a:r>
          </a:p>
          <a:p>
            <a:pPr>
              <a:buClr>
                <a:srgbClr val="C00000"/>
              </a:buClr>
            </a:pPr>
            <a:r>
              <a:rPr lang="en-US" sz="2400" b="1" dirty="0">
                <a:solidFill>
                  <a:srgbClr val="0070C0"/>
                </a:solidFill>
              </a:rPr>
              <a:t>Repeat</a:t>
            </a:r>
            <a:r>
              <a:rPr lang="en-US" sz="2400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923" y="4390069"/>
            <a:ext cx="2244457" cy="22444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303F68-0493-44A8-A7EC-B203C79FE0D5}"/>
              </a:ext>
            </a:extLst>
          </p:cNvPr>
          <p:cNvSpPr txBox="1"/>
          <p:nvPr/>
        </p:nvSpPr>
        <p:spPr>
          <a:xfrm>
            <a:off x="3935760" y="6412832"/>
            <a:ext cx="2021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12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Charles Darwin</a:t>
            </a:r>
            <a:endParaRPr lang="en-GB" sz="12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A1AB10C-FA11-4B29-9AB5-8825A1B88EA1}"/>
              </a:ext>
            </a:extLst>
          </p:cNvPr>
          <p:cNvSpPr/>
          <p:nvPr/>
        </p:nvSpPr>
        <p:spPr>
          <a:xfrm rot="5400000">
            <a:off x="11938451" y="6616856"/>
            <a:ext cx="200924" cy="206289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83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48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4" grpId="0"/>
      <p:bldP spid="1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13" y="1392934"/>
            <a:ext cx="4964147" cy="45446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067" y="578507"/>
            <a:ext cx="3703247" cy="57863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723" y="2379706"/>
            <a:ext cx="3127571" cy="1682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000" y="180000"/>
            <a:ext cx="7538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rgbClr val="FF6600"/>
                </a:solidFill>
                <a:ea typeface="+mj-ea"/>
                <a:cs typeface="+mj-cs"/>
              </a:rPr>
              <a:t>How Genetic Algorithms Work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55E1C3-FD74-4B49-90B8-B43FF48385BB}"/>
              </a:ext>
            </a:extLst>
          </p:cNvPr>
          <p:cNvSpPr/>
          <p:nvPr/>
        </p:nvSpPr>
        <p:spPr>
          <a:xfrm rot="5400000">
            <a:off x="11938451" y="6616856"/>
            <a:ext cx="200924" cy="206289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84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470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ED4716-79C7-4D8E-8C29-51691C36F5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020" y="865151"/>
            <a:ext cx="2722112" cy="207267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43391D-ADD9-4D14-BDDE-511D6862E58F}"/>
              </a:ext>
            </a:extLst>
          </p:cNvPr>
          <p:cNvSpPr/>
          <p:nvPr/>
        </p:nvSpPr>
        <p:spPr>
          <a:xfrm>
            <a:off x="2431081" y="3157060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101010101100010101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9D8E96-72DC-4BFD-8C40-48FC00DCB79E}"/>
              </a:ext>
            </a:extLst>
          </p:cNvPr>
          <p:cNvSpPr/>
          <p:nvPr/>
        </p:nvSpPr>
        <p:spPr>
          <a:xfrm>
            <a:off x="2431086" y="3351024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100010101110011100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4CAC86-98BC-4A89-A6A6-BED48690D013}"/>
              </a:ext>
            </a:extLst>
          </p:cNvPr>
          <p:cNvSpPr/>
          <p:nvPr/>
        </p:nvSpPr>
        <p:spPr>
          <a:xfrm>
            <a:off x="2431091" y="3544988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000010101100010101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8BA6DD-8A98-49A0-B747-78D694DACCB3}"/>
              </a:ext>
            </a:extLst>
          </p:cNvPr>
          <p:cNvSpPr/>
          <p:nvPr/>
        </p:nvSpPr>
        <p:spPr>
          <a:xfrm>
            <a:off x="2431097" y="3738952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100010101100010100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7C3940-6BE1-41E9-B901-BCB40FC12E94}"/>
              </a:ext>
            </a:extLst>
          </p:cNvPr>
          <p:cNvSpPr/>
          <p:nvPr/>
        </p:nvSpPr>
        <p:spPr>
          <a:xfrm>
            <a:off x="2431102" y="3932916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100010101001010101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106797-2808-488C-BBF4-2A2F57202A77}"/>
              </a:ext>
            </a:extLst>
          </p:cNvPr>
          <p:cNvSpPr/>
          <p:nvPr/>
        </p:nvSpPr>
        <p:spPr>
          <a:xfrm>
            <a:off x="2431107" y="4126880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000010101100010101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250E85-060B-4505-8E83-27ADF9D9A298}"/>
              </a:ext>
            </a:extLst>
          </p:cNvPr>
          <p:cNvSpPr/>
          <p:nvPr/>
        </p:nvSpPr>
        <p:spPr>
          <a:xfrm>
            <a:off x="2431113" y="4320844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100010101100010100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9270F2-8184-43ED-95FA-73F1054CE79F}"/>
              </a:ext>
            </a:extLst>
          </p:cNvPr>
          <p:cNvSpPr/>
          <p:nvPr/>
        </p:nvSpPr>
        <p:spPr>
          <a:xfrm>
            <a:off x="2431118" y="4514808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100010101100010101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823CDA-AF2B-44DB-952C-F9314D832BC3}"/>
              </a:ext>
            </a:extLst>
          </p:cNvPr>
          <p:cNvSpPr/>
          <p:nvPr/>
        </p:nvSpPr>
        <p:spPr>
          <a:xfrm>
            <a:off x="2431123" y="4708772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001010101100010100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CD64AE-866D-446F-9AC2-2C858BBEA2D7}"/>
              </a:ext>
            </a:extLst>
          </p:cNvPr>
          <p:cNvSpPr/>
          <p:nvPr/>
        </p:nvSpPr>
        <p:spPr>
          <a:xfrm>
            <a:off x="2431129" y="4902736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010010101001010100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97D64-EF48-4519-84ED-D3F4A0CF91BD}"/>
              </a:ext>
            </a:extLst>
          </p:cNvPr>
          <p:cNvSpPr/>
          <p:nvPr/>
        </p:nvSpPr>
        <p:spPr>
          <a:xfrm>
            <a:off x="2431134" y="5096700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100010101100010101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076CA9-8C53-43BA-BB32-242FF3425836}"/>
              </a:ext>
            </a:extLst>
          </p:cNvPr>
          <p:cNvSpPr/>
          <p:nvPr/>
        </p:nvSpPr>
        <p:spPr>
          <a:xfrm>
            <a:off x="2431139" y="5290664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000010101101000010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F417A3-7EE3-4006-909E-BD6C6D48961A}"/>
              </a:ext>
            </a:extLst>
          </p:cNvPr>
          <p:cNvSpPr/>
          <p:nvPr/>
        </p:nvSpPr>
        <p:spPr>
          <a:xfrm>
            <a:off x="2431145" y="5484628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100010101000011000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031648-9166-4C50-BC32-B7EF58061CB3}"/>
              </a:ext>
            </a:extLst>
          </p:cNvPr>
          <p:cNvSpPr/>
          <p:nvPr/>
        </p:nvSpPr>
        <p:spPr>
          <a:xfrm>
            <a:off x="2431150" y="5678592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100010101100011101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9A1890-797D-4C7A-A6E9-711CC801EC9F}"/>
              </a:ext>
            </a:extLst>
          </p:cNvPr>
          <p:cNvSpPr/>
          <p:nvPr/>
        </p:nvSpPr>
        <p:spPr>
          <a:xfrm>
            <a:off x="5583593" y="1978186"/>
            <a:ext cx="2139223" cy="209996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101010101</a:t>
            </a: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29AF11-D242-42BD-A7DA-AAF4FFFA01BB}"/>
              </a:ext>
            </a:extLst>
          </p:cNvPr>
          <p:cNvSpPr/>
          <p:nvPr/>
        </p:nvSpPr>
        <p:spPr>
          <a:xfrm>
            <a:off x="5583598" y="2188457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</a:t>
            </a:r>
            <a:r>
              <a:rPr lang="en-GB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110011100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13399D-5641-4688-8825-D5C95E1A04B3}"/>
              </a:ext>
            </a:extLst>
          </p:cNvPr>
          <p:cNvSpPr/>
          <p:nvPr/>
        </p:nvSpPr>
        <p:spPr>
          <a:xfrm>
            <a:off x="5583593" y="2687513"/>
            <a:ext cx="2139223" cy="209996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100010101100010101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D8E520-A38E-49D4-A38F-7B1CDE035662}"/>
              </a:ext>
            </a:extLst>
          </p:cNvPr>
          <p:cNvSpPr/>
          <p:nvPr/>
        </p:nvSpPr>
        <p:spPr>
          <a:xfrm>
            <a:off x="5583598" y="2897784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101010101110011100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D1931E-B627-4975-AB80-4150FEF97EBD}"/>
              </a:ext>
            </a:extLst>
          </p:cNvPr>
          <p:cNvSpPr/>
          <p:nvPr/>
        </p:nvSpPr>
        <p:spPr>
          <a:xfrm>
            <a:off x="5585631" y="4122092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101011000</a:t>
            </a: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0101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D1C3E8-D3C5-4CB3-B136-F991E923A70F}"/>
              </a:ext>
            </a:extLst>
          </p:cNvPr>
          <p:cNvSpPr/>
          <p:nvPr/>
        </p:nvSpPr>
        <p:spPr>
          <a:xfrm>
            <a:off x="5585631" y="4677936"/>
            <a:ext cx="2139223" cy="193688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101011000</a:t>
            </a:r>
            <a:r>
              <a:rPr lang="en-GB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GB" sz="1600" dirty="0">
                <a:solidFill>
                  <a:srgbClr val="007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33040A-4CE5-4ECC-9007-EF06A0B3EB4D}"/>
              </a:ext>
            </a:extLst>
          </p:cNvPr>
          <p:cNvSpPr txBox="1"/>
          <p:nvPr/>
        </p:nvSpPr>
        <p:spPr>
          <a:xfrm>
            <a:off x="648000" y="180000"/>
            <a:ext cx="7538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rgbClr val="FF6600"/>
                </a:solidFill>
                <a:ea typeface="+mj-ea"/>
                <a:cs typeface="+mj-cs"/>
              </a:rPr>
              <a:t>How Genetic Algorithms Work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BCA002-3CD5-414B-A93C-151A7ADC719A}"/>
              </a:ext>
            </a:extLst>
          </p:cNvPr>
          <p:cNvSpPr/>
          <p:nvPr/>
        </p:nvSpPr>
        <p:spPr>
          <a:xfrm>
            <a:off x="8448821" y="2897508"/>
            <a:ext cx="1219200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sz="2400" dirty="0"/>
              <a:t>CFD</a:t>
            </a:r>
          </a:p>
          <a:p>
            <a:pPr algn="ctr">
              <a:buNone/>
            </a:pPr>
            <a:r>
              <a:rPr lang="en-GB" sz="2400" dirty="0"/>
              <a:t>Flow</a:t>
            </a:r>
          </a:p>
          <a:p>
            <a:pPr algn="ctr">
              <a:buNone/>
            </a:pPr>
            <a:r>
              <a:rPr lang="en-GB" sz="2400" dirty="0"/>
              <a:t>Solver</a:t>
            </a: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F08F395B-6F45-47E9-B11A-7D917B6EBA7B}"/>
              </a:ext>
            </a:extLst>
          </p:cNvPr>
          <p:cNvSpPr/>
          <p:nvPr/>
        </p:nvSpPr>
        <p:spPr>
          <a:xfrm>
            <a:off x="191407" y="1800147"/>
            <a:ext cx="1425247" cy="1425247"/>
          </a:xfrm>
          <a:prstGeom prst="wedgeRectCallout">
            <a:avLst>
              <a:gd name="adj1" fmla="val 77023"/>
              <a:gd name="adj2" fmla="val -31468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7"/>
              </a:lnSpc>
              <a:buNone/>
            </a:pPr>
            <a:r>
              <a:rPr lang="en-GB" sz="1867" dirty="0"/>
              <a:t>Randomly create 100 paper planes</a:t>
            </a: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13EE132F-FC03-4B4F-B638-09C45171D94D}"/>
              </a:ext>
            </a:extLst>
          </p:cNvPr>
          <p:cNvSpPr/>
          <p:nvPr/>
        </p:nvSpPr>
        <p:spPr>
          <a:xfrm>
            <a:off x="571607" y="4447034"/>
            <a:ext cx="1425247" cy="1425247"/>
          </a:xfrm>
          <a:prstGeom prst="wedgeRectCallout">
            <a:avLst>
              <a:gd name="adj1" fmla="val 78967"/>
              <a:gd name="adj2" fmla="val -14619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7"/>
              </a:lnSpc>
              <a:buNone/>
            </a:pPr>
            <a:r>
              <a:rPr lang="en-GB" sz="1867" dirty="0"/>
              <a:t>Encode the planes as binary strings</a:t>
            </a: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CFDF86E2-367A-4392-9562-7E58268830A2}"/>
              </a:ext>
            </a:extLst>
          </p:cNvPr>
          <p:cNvSpPr/>
          <p:nvPr/>
        </p:nvSpPr>
        <p:spPr>
          <a:xfrm>
            <a:off x="7354116" y="129903"/>
            <a:ext cx="1425247" cy="1425247"/>
          </a:xfrm>
          <a:prstGeom prst="wedgeRectCallout">
            <a:avLst>
              <a:gd name="adj1" fmla="val -43062"/>
              <a:gd name="adj2" fmla="val 74748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7"/>
              </a:lnSpc>
              <a:buNone/>
            </a:pPr>
            <a:r>
              <a:rPr lang="en-GB" sz="1867" dirty="0"/>
              <a:t>Create ‘baby’ planes using </a:t>
            </a:r>
            <a:r>
              <a:rPr lang="en-GB" sz="1867" dirty="0">
                <a:solidFill>
                  <a:srgbClr val="FFFF00"/>
                </a:solidFill>
              </a:rPr>
              <a:t>crossover</a:t>
            </a: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E6BBD15B-C643-4A5C-8DB5-76EA5B987B67}"/>
              </a:ext>
            </a:extLst>
          </p:cNvPr>
          <p:cNvSpPr/>
          <p:nvPr/>
        </p:nvSpPr>
        <p:spPr>
          <a:xfrm>
            <a:off x="6502070" y="5261770"/>
            <a:ext cx="1425247" cy="1425247"/>
          </a:xfrm>
          <a:prstGeom prst="wedgeRectCallout">
            <a:avLst>
              <a:gd name="adj1" fmla="val -45783"/>
              <a:gd name="adj2" fmla="val -75989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7"/>
              </a:lnSpc>
              <a:buNone/>
            </a:pPr>
            <a:r>
              <a:rPr lang="en-GB" sz="1867" dirty="0"/>
              <a:t>Create more ‘baby’ planes using </a:t>
            </a:r>
            <a:r>
              <a:rPr lang="en-GB" sz="1867" dirty="0">
                <a:solidFill>
                  <a:srgbClr val="FFFF00"/>
                </a:solidFill>
              </a:rPr>
              <a:t>mutation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F6BF6EAD-F90B-4D37-8288-4DB03CCB8E96}"/>
              </a:ext>
            </a:extLst>
          </p:cNvPr>
          <p:cNvSpPr/>
          <p:nvPr/>
        </p:nvSpPr>
        <p:spPr>
          <a:xfrm>
            <a:off x="9377357" y="749983"/>
            <a:ext cx="1425247" cy="1425247"/>
          </a:xfrm>
          <a:prstGeom prst="wedgeRectCallout">
            <a:avLst>
              <a:gd name="adj1" fmla="val -68271"/>
              <a:gd name="adj2" fmla="val 9833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7"/>
              </a:lnSpc>
              <a:buNone/>
            </a:pPr>
            <a:r>
              <a:rPr lang="en-GB" sz="1867" b="1" dirty="0"/>
              <a:t>1. Apply fitness function</a:t>
            </a:r>
            <a:endParaRPr lang="en-GB" sz="1867" b="1" dirty="0">
              <a:solidFill>
                <a:srgbClr val="FFFF00"/>
              </a:solidFill>
            </a:endParaRPr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FF534515-862B-49FB-AC0C-64D68D7FDFC6}"/>
              </a:ext>
            </a:extLst>
          </p:cNvPr>
          <p:cNvSpPr/>
          <p:nvPr/>
        </p:nvSpPr>
        <p:spPr>
          <a:xfrm>
            <a:off x="9732229" y="5096425"/>
            <a:ext cx="1425247" cy="1425247"/>
          </a:xfrm>
          <a:prstGeom prst="wedgeRectCallout">
            <a:avLst>
              <a:gd name="adj1" fmla="val -85445"/>
              <a:gd name="adj2" fmla="val -116622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7"/>
              </a:lnSpc>
            </a:pPr>
            <a:endParaRPr lang="en-GB" sz="1867" dirty="0">
              <a:solidFill>
                <a:srgbClr val="FFFF00"/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383176E-F7A7-40BA-A4F8-65EAC20974E4}"/>
              </a:ext>
            </a:extLst>
          </p:cNvPr>
          <p:cNvSpPr/>
          <p:nvPr/>
        </p:nvSpPr>
        <p:spPr>
          <a:xfrm>
            <a:off x="6566311" y="2417701"/>
            <a:ext cx="140509" cy="2400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EF495C99-C838-4B37-90C5-B28456188844}"/>
              </a:ext>
            </a:extLst>
          </p:cNvPr>
          <p:cNvSpPr/>
          <p:nvPr/>
        </p:nvSpPr>
        <p:spPr>
          <a:xfrm>
            <a:off x="6566311" y="4378601"/>
            <a:ext cx="140509" cy="2400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Image result for flow solver aircraft">
            <a:extLst>
              <a:ext uri="{FF2B5EF4-FFF2-40B4-BE49-F238E27FC236}">
                <a16:creationId xmlns:a16="http://schemas.microsoft.com/office/drawing/2014/main" id="{3D95AB7F-CF89-4075-8505-7E656D4DB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690" y="1537681"/>
            <a:ext cx="8742887" cy="44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4E859A96-61A9-4EEB-B600-23248562208A}"/>
              </a:ext>
            </a:extLst>
          </p:cNvPr>
          <p:cNvSpPr/>
          <p:nvPr/>
        </p:nvSpPr>
        <p:spPr>
          <a:xfrm rot="5400000">
            <a:off x="11938451" y="6616856"/>
            <a:ext cx="200924" cy="206289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47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85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81328"/>
            <a:ext cx="548013" cy="48530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67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5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https://t3.ftcdn.net/jpg/02/92/36/76/240_F_292367633_TwzHFo2XLSSbcihgxESm2sKcQ0NlwrIG.jpg">
            <a:extLst>
              <a:ext uri="{FF2B5EF4-FFF2-40B4-BE49-F238E27FC236}">
                <a16:creationId xmlns:a16="http://schemas.microsoft.com/office/drawing/2014/main" id="{A3D9FC05-0F0D-4813-9B44-A8665F6B8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58" y="2286017"/>
            <a:ext cx="6124488" cy="228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F726E3D-D7F2-4A63-90A6-857CF2F96296}"/>
              </a:ext>
            </a:extLst>
          </p:cNvPr>
          <p:cNvSpPr txBox="1">
            <a:spLocks noChangeArrowheads="1"/>
          </p:cNvSpPr>
          <p:nvPr/>
        </p:nvSpPr>
        <p:spPr>
          <a:xfrm>
            <a:off x="635343" y="176533"/>
            <a:ext cx="9177173" cy="635343"/>
          </a:xfrm>
          <a:prstGeom prst="rect">
            <a:avLst/>
          </a:prstGeom>
        </p:spPr>
        <p:txBody>
          <a:bodyPr vert="horz" wrap="square" lIns="143446" tIns="89654" rIns="143446" bIns="89654" rtlCol="0" anchor="t">
            <a:normAutofit fontScale="92500" lnSpcReduction="20000"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lang="en-US" altLang="en-US" sz="4000" b="1" dirty="0">
                <a:solidFill>
                  <a:srgbClr val="FF66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Approximation of NP-Hard Problems</a:t>
            </a:r>
            <a:endParaRPr lang="en-GB" altLang="en-US" sz="4300" b="1" dirty="0">
              <a:solidFill>
                <a:srgbClr val="FF6600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AE037F7-5BE2-4CFB-8101-B4792C240BAB}"/>
              </a:ext>
            </a:extLst>
          </p:cNvPr>
          <p:cNvSpPr txBox="1">
            <a:spLocks/>
          </p:cNvSpPr>
          <p:nvPr/>
        </p:nvSpPr>
        <p:spPr>
          <a:xfrm>
            <a:off x="-6016" y="1128"/>
            <a:ext cx="432260" cy="257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fld id="{B82CCC60-E8CD-4174-8B1A-7DF615B22EEF}" type="slidenum">
              <a:rPr lang="en-US" sz="1000" b="1" smtClean="0">
                <a:solidFill>
                  <a:srgbClr val="C00000"/>
                </a:solidFill>
              </a:rPr>
              <a:pPr algn="ctr">
                <a:buNone/>
              </a:pPr>
              <a:t>86</a:t>
            </a:fld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85193E-7860-4D01-9329-445D89F84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" y="6367514"/>
            <a:ext cx="548013" cy="4853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70" y="15043"/>
            <a:ext cx="853136" cy="9479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52384" y="109231"/>
            <a:ext cx="201622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736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s training presentation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GB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GB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 training presentation</Template>
  <TotalTime>4836</TotalTime>
  <Words>5803</Words>
  <Application>Microsoft Office PowerPoint</Application>
  <PresentationFormat>Widescreen</PresentationFormat>
  <Paragraphs>924</Paragraphs>
  <Slides>86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6" baseType="lpstr">
      <vt:lpstr>Arial</vt:lpstr>
      <vt:lpstr>Arial Rounded MT Bold</vt:lpstr>
      <vt:lpstr>Calibri</vt:lpstr>
      <vt:lpstr>Courier New</vt:lpstr>
      <vt:lpstr>Monotype Sorts</vt:lpstr>
      <vt:lpstr>Symbol</vt:lpstr>
      <vt:lpstr>Times New Roman</vt:lpstr>
      <vt:lpstr>Wingdings</vt:lpstr>
      <vt:lpstr>Sales training presentation</vt:lpstr>
      <vt:lpstr>Bitmap Image</vt:lpstr>
      <vt:lpstr>PowerPoint Presentation</vt:lpstr>
      <vt:lpstr>Module Overview</vt:lpstr>
      <vt:lpstr>We Cannot Throw NP-Complete and NP-Hard Problems out of the Window</vt:lpstr>
      <vt:lpstr>Approximating NP-Hard Problems</vt:lpstr>
      <vt:lpstr>Important Note!</vt:lpstr>
      <vt:lpstr>Choices we must make</vt:lpstr>
      <vt:lpstr>The Curse of Local Minima</vt:lpstr>
      <vt:lpstr>PowerPoint Presentation</vt:lpstr>
      <vt:lpstr>PowerPoint Presentation</vt:lpstr>
      <vt:lpstr>Cormen, Leiserson, Ronald, Stein</vt:lpstr>
      <vt:lpstr>Book by Dorit S.Hochbaum</vt:lpstr>
      <vt:lpstr>Sequence Comparison - Chao, Zhang</vt:lpstr>
      <vt:lpstr>Complement of a Graph</vt:lpstr>
      <vt:lpstr>Examples of Graph Complement</vt:lpstr>
      <vt:lpstr>Dick Karp’s Work Remember this?</vt:lpstr>
      <vt:lpstr>Dick Karp’s Work</vt:lpstr>
      <vt:lpstr>Question 1 Answer</vt:lpstr>
      <vt:lpstr>Polynomial Time Equilvalence</vt:lpstr>
      <vt:lpstr>The Equivalence Argument</vt:lpstr>
      <vt:lpstr>PowerPoint Presentation</vt:lpstr>
      <vt:lpstr>Question 2 Answer</vt:lpstr>
      <vt:lpstr>Question 3</vt:lpstr>
      <vt:lpstr>What is a Clique?</vt:lpstr>
      <vt:lpstr>What is an Independent Set?</vt:lpstr>
      <vt:lpstr>What is a Vertex Cover?</vt:lpstr>
      <vt:lpstr>VC-IS-Clique Problems – Simple but Cool</vt:lpstr>
      <vt:lpstr>PowerPoint Presentation</vt:lpstr>
      <vt:lpstr>PowerPoint Presentation</vt:lpstr>
      <vt:lpstr>Vertex Cover to Clique (homework)</vt:lpstr>
      <vt:lpstr>Strategies for Turing Reduction</vt:lpstr>
      <vt:lpstr>Approximation Algorithms</vt:lpstr>
      <vt:lpstr>Approximation Algorithms</vt:lpstr>
      <vt:lpstr>Dealing with NP-Hard/Complete Problems</vt:lpstr>
      <vt:lpstr>Some Approximation Techniques</vt:lpstr>
      <vt:lpstr>Some Definitions</vt:lpstr>
      <vt:lpstr>Performance Ratios</vt:lpstr>
      <vt:lpstr>Performance Ratios</vt:lpstr>
      <vt:lpstr>Approximation Schemes</vt:lpstr>
      <vt:lpstr>Approximation Schemes</vt:lpstr>
      <vt:lpstr>Approximation Schemes</vt:lpstr>
      <vt:lpstr>Some Algorithmic Paradigms</vt:lpstr>
      <vt:lpstr>What is a Greedy Algorithm?</vt:lpstr>
      <vt:lpstr>The Greedy Technique</vt:lpstr>
      <vt:lpstr>Giving Change</vt:lpstr>
      <vt:lpstr>Minimum Spanning Trees (MSTs)</vt:lpstr>
      <vt:lpstr>Prim’s Greedy Algorithm for MST</vt:lpstr>
      <vt:lpstr>Prim’s Greedy Algorithm for MST</vt:lpstr>
      <vt:lpstr>Remarks on Prim’s Algorithm</vt:lpstr>
      <vt:lpstr>The Cut Theorem for MSTs</vt:lpstr>
      <vt:lpstr>The Coding Problem</vt:lpstr>
      <vt:lpstr>Building a Huffman Code</vt:lpstr>
      <vt:lpstr>Dynamic Programming</vt:lpstr>
      <vt:lpstr>Dynamic Programming</vt:lpstr>
      <vt:lpstr>Dynamic Programming Examples</vt:lpstr>
      <vt:lpstr>Main Loop of Wagner-Fischer Alg.</vt:lpstr>
      <vt:lpstr>Levensthein Distance</vt:lpstr>
      <vt:lpstr>Some Examples of Approximation Algorithms</vt:lpstr>
      <vt:lpstr>The Vertex Cover Problem</vt:lpstr>
      <vt:lpstr>The Vertex Cover Problem</vt:lpstr>
      <vt:lpstr>The Vertex Cover Problem</vt:lpstr>
      <vt:lpstr>The Vertex Cover Problem</vt:lpstr>
      <vt:lpstr>The Vertex Cover Problem</vt:lpstr>
      <vt:lpstr>All Edges must be covered</vt:lpstr>
      <vt:lpstr>Explaining the 2-Approximation Bound</vt:lpstr>
      <vt:lpstr>TSP Approximation</vt:lpstr>
      <vt:lpstr>Euclidean TSP Approximation</vt:lpstr>
      <vt:lpstr>Euclidean TSP Approximation</vt:lpstr>
      <vt:lpstr>Euclidean TSP Approximation</vt:lpstr>
      <vt:lpstr>TSP Approximation in General</vt:lpstr>
      <vt:lpstr>Approximaton for Set Cover (SC)</vt:lpstr>
      <vt:lpstr>An Instance of Set Cover</vt:lpstr>
      <vt:lpstr>A Greedy Set Cover Algorithm</vt:lpstr>
      <vt:lpstr>Greedy (Non-Optimal) Set Cover</vt:lpstr>
      <vt:lpstr>Greedy Set Cover – Time Complexity</vt:lpstr>
      <vt:lpstr>Common Mistakes in Academia</vt:lpstr>
      <vt:lpstr>Genetic Algorithms</vt:lpstr>
      <vt:lpstr>Genetic Algorithms - Motivation</vt:lpstr>
      <vt:lpstr>Genetic Algorithms - Motivation</vt:lpstr>
      <vt:lpstr>Genetic Algorithms - Motivation</vt:lpstr>
      <vt:lpstr>Genetic Algorithms - Motivation</vt:lpstr>
      <vt:lpstr>Genetic Algorithms - Motivation</vt:lpstr>
      <vt:lpstr>Genetic Algorithms</vt:lpstr>
      <vt:lpstr>Genetic Algorithms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value to MS SharePoint</dc:title>
  <dc:creator>Joseph Sultana</dc:creator>
  <cp:lastModifiedBy>John Abela</cp:lastModifiedBy>
  <cp:revision>369</cp:revision>
  <dcterms:created xsi:type="dcterms:W3CDTF">2010-09-27T11:20:05Z</dcterms:created>
  <dcterms:modified xsi:type="dcterms:W3CDTF">2025-04-08T10:00:40Z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TC012137211033</vt:lpwstr>
  </property>
</Properties>
</file>